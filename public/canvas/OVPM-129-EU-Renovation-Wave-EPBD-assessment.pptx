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OVPM Co-Design Toolkit  ·  Tool 129 of 133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85760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0" i="1">
                <a:solidFill>
                  <a:srgbClr val="0D0D0D"/>
                </a:solidFill>
                <a:latin typeface="Palatino Linotype"/>
              </a:rPr>
              <a:t>Method canvas for co-design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947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200" b="0" i="0">
                <a:solidFill>
                  <a:srgbClr val="0D0D0D"/>
                </a:solidFill>
                <a:latin typeface="Palatino Linotype"/>
              </a:rPr>
              <a:t>EU Renovation Wave / EPBD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D0D0D"/>
                </a:solidFill>
                <a:latin typeface="Source Sans Pro"/>
              </a:rPr>
              <a:t>What this tool produces  ·  </a:t>
            </a:r>
            <a:r>
              <a:rPr sz="1500" b="0" i="1">
                <a:solidFill>
                  <a:srgbClr val="0D0D0D"/>
                </a:solidFill>
                <a:latin typeface="Palatino Linotype"/>
              </a:rPr>
              <a:t>A Whole-Life Carbon (WLC) assessment report and a standardized Energy Performance Certificate (EPC) demonstrating compliance with Zero-Emission Building (ZEB)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FFFFFF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360" y="5212080"/>
            <a:ext cx="2194560" cy="384048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G1 · Proof of 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669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0D0D0D"/>
                </a:solidFill>
                <a:latin typeface="Source Sans Pro"/>
              </a:rPr>
              <a:t>Dimensions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943600"/>
            <a:ext cx="1376172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Environmental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34540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Economic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2988" y="5943600"/>
            <a:ext cx="1188720" cy="329184"/>
          </a:xfrm>
          <a:prstGeom prst="roundRect">
            <a:avLst>
              <a:gd name="adj" fmla="val 50000"/>
            </a:avLst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000">
                <a:solidFill>
                  <a:srgbClr val="0D0D0D"/>
                </a:solidFill>
                <a:latin typeface="Source Sans Pro"/>
              </a:rPr>
              <a:t>Spatial</a:t>
            </a:r>
          </a:p>
        </p:txBody>
      </p:sp>
      <p:pic>
        <p:nvPicPr>
          <p:cNvPr id="13" name="Picture 1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1760" y="6024114"/>
            <a:ext cx="1371600" cy="33096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271760" y="639508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129  ·  FACILITATOR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Preparing the workshop  ·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EU Renovation Wave / EPBD assessment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G2 · Proof of Fit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Why this tool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Looking at a neglected, inefficient building not as a liability, but as a dormant battery of embodied history and materials that merely requires the right care to protect both the climate and its inhabitants.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03120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2267712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240280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Evidence we produce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06040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A Whole-Life Carbon (WLC) assessment report and a standardized Energy Performance Certificate (EPC) demonstrating compliance with Zero-Emission Building (ZEB) thresholds.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9436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Duration &amp; Material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Duration  ·  4 to 8 weeks for technical calculation per asset
Material  ·  LCA software (e.g., One Click LCA), Level(s) framework manuals, EPBD national guidelines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4160519"/>
            <a:ext cx="5440680" cy="187451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4325111"/>
            <a:ext cx="45720" cy="274320"/>
          </a:xfrm>
          <a:prstGeom prst="rect">
            <a:avLst/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5080" y="4297679"/>
            <a:ext cx="4983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D0D0D"/>
                </a:solidFill>
                <a:latin typeface="Source Sans Pro"/>
              </a:rPr>
              <a:t>Reference case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4663439"/>
            <a:ext cx="4983480" cy="1234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0D0D0D"/>
                </a:solidFill>
                <a:latin typeface="Source Sans Pro"/>
              </a:rPr>
              <a:t>Following the recast of the Energy Performance of Buildings Directive (EPBD), public authorities must ensure all new public buildings meet Zero-Emission Building (ZEB) standards by 2028, with mandatory whole-life carbon assessments. Concurrently, municipalities utilize Socially Fair National Building Renovation Plans to prioritize the deep retrofit of the worst-performing 16% of non-residential buildings by 2030, ensuring energy reductions are achieved without leaving low-in…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03504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0D0D0D"/>
                </a:solidFill>
                <a:latin typeface="Source Sans Pro"/>
              </a:rPr>
              <a:t>Suggested agenda  ·  </a:t>
            </a:r>
            <a:r>
              <a:rPr sz="1000" b="0" i="0">
                <a:solidFill>
                  <a:srgbClr val="757575"/>
                </a:solidFill>
                <a:latin typeface="Source Sans Pro"/>
              </a:rPr>
              <a:t>Brief (10 min)  ›  Method walk-through (15 min)  ›  Animation canvas (60–90 min)  ›  Harvest (20 min)</a:t>
            </a:r>
          </a:p>
        </p:txBody>
      </p:sp>
      <p:pic>
        <p:nvPicPr>
          <p:cNvPr id="23" name="Picture 22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129  ·  ANIMATION CANVAS  ·  </a:t>
            </a:r>
            <a:r>
              <a:rPr sz="1000" b="1" i="0">
                <a:solidFill>
                  <a:srgbClr val="0D0D0D"/>
                </a:solidFill>
                <a:latin typeface="Source Sans Pro"/>
              </a:rPr>
              <a:t>EU RENOVATION WAVE / EPBD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0" i="0">
                <a:solidFill>
                  <a:srgbClr val="0D0D0D"/>
                </a:solidFill>
                <a:latin typeface="Palatino Linotype"/>
              </a:rPr>
              <a:t>Whole-life carbon · operational + embodied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0" y="64008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50" b="1" i="0">
                <a:solidFill>
                  <a:srgbClr val="757575"/>
                </a:solidFill>
                <a:latin typeface="Source Sans Pro"/>
              </a:rPr>
              <a:t>Duration</a:t>
            </a:r>
          </a:p>
          <a:p>
            <a:pPr algn="r"/>
            <a:r>
              <a:rPr sz="1000" b="0" i="0">
                <a:solidFill>
                  <a:srgbClr val="0D0D0D"/>
                </a:solidFill>
                <a:latin typeface="Source Sans Pro"/>
              </a:rPr>
              <a:t>4 to 8 weeks for technical calculation per asset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Energy class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EPC · A → 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.0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85800.0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.0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85800.0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85800.0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85800.0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85800.0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85800.0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.0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.0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.0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745638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974238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Operational carbon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74238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use phase emissions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974238.4" y="274320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974238.4" y="303580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974238.4" y="332841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974238.4" y="362102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974238.4" y="391363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974238.4" y="420624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74238.4" y="4498848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4238.4" y="4791456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974238.4" y="5084064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974238.4" y="5376672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4238.4" y="5669280.0"/>
            <a:ext cx="1666646.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034076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262676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0D0D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Embodied carbon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62676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materials · construction · demolition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262676.8" y="274320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262676.8" y="303580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5262676.8" y="332841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262676.8" y="362102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262676.8" y="391363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5262676.8" y="420624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262676.8" y="4498848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262676.8" y="4791456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5262676.8" y="5084064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5262676.8" y="5376672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5262676.8" y="5669280.0"/>
            <a:ext cx="1666646.399999999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7322515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7551115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459A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Smart-readiness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1115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controllability · interoperability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51115.199999999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7551115.199999999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7551115.199999999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7551115.199999999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551115.199999999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7551115.199999999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7551115.199999999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7551115.199999999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551115.199999999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7551115.199999999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7551115.199999999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9610953" y="1417320"/>
            <a:ext cx="2123846" cy="4754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839553" y="1600200"/>
            <a:ext cx="1666646" cy="365760"/>
          </a:xfrm>
          <a:prstGeom prst="roundRect">
            <a:avLst>
              <a:gd name="adj" fmla="val 50000"/>
            </a:avLst>
          </a:prstGeom>
          <a:solidFill>
            <a:srgbClr val="EF9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100">
                <a:solidFill>
                  <a:srgbClr val="0D0D0D"/>
                </a:solidFill>
                <a:latin typeface="Source Sans Pro"/>
              </a:rPr>
              <a:t>Social fairness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839553" y="2103120"/>
            <a:ext cx="166664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1">
                <a:solidFill>
                  <a:srgbClr val="757575"/>
                </a:solidFill>
                <a:latin typeface="Palatino Linotype"/>
              </a:rPr>
              <a:t>no displacement of vulnerable tenants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9839553.6" y="274320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839553.6" y="303580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839553.6" y="332841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839553.6" y="362102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839553.6" y="391363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39553.6" y="420624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9839553.6" y="4498848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9839553.6" y="4791456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9839553.6" y="5084064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9839553.6" y="5376672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9839553.6" y="5669280.0"/>
            <a:ext cx="1666646.4000000004" cy="0.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6" name="Picture 75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77" name="TextBox 76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4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757575"/>
                </a:solidFill>
                <a:latin typeface="Source Sans Pro"/>
              </a:rPr>
              <a:t>TOOL 129  ·  HARVEST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0D0D0D"/>
                </a:solidFill>
                <a:latin typeface="Palatino Linotype"/>
              </a:rPr>
              <a:t>Harvesting our  </a:t>
            </a:r>
            <a:r>
              <a:rPr sz="2800" b="0" i="1">
                <a:solidFill>
                  <a:srgbClr val="0D0D0D"/>
                </a:solidFill>
                <a:latin typeface="Palatino Linotype"/>
              </a:rPr>
              <a:t>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757575"/>
                </a:solidFill>
                <a:latin typeface="Palatino Linotype"/>
              </a:rPr>
              <a:t>After running the canvas, capture three layers of insight.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Stand-out signals, surprising stories, ideas to remember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772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772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772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72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926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126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Concrete adaptations to our context, our team, our constraints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126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6126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46126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6126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126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6126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46126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128000" y="2011680"/>
            <a:ext cx="3606800" cy="40233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0D0D0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48040" y="2514600"/>
            <a:ext cx="2966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757575"/>
                </a:solidFill>
                <a:latin typeface="Palatino Linotype"/>
              </a:rPr>
              <a:t>Skills, allies, resources, decisions still to secure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48040.0" y="315468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448040.0" y="353872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8448040.0" y="3922776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448040.0" y="4306824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8448040.0" y="4690872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8448040.0" y="5074920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8448040.0" y="5458968"/>
            <a:ext cx="2966720.0" cy="0"/>
          </a:xfrm>
          <a:prstGeom prst="line">
            <a:avLst/>
          </a:prstGeom>
          <a:ln w="5080">
            <a:solidFill>
              <a:srgbClr val="C8C8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1035304" y="1801368"/>
            <a:ext cx="2450592" cy="420624"/>
          </a:xfrm>
          <a:prstGeom prst="roundRect">
            <a:avLst>
              <a:gd name="adj" fmla="val 50000"/>
            </a:avLst>
          </a:prstGeom>
          <a:solidFill>
            <a:srgbClr val="FFD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inspires 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32960" y="1801368"/>
            <a:ext cx="2926080" cy="420624"/>
          </a:xfrm>
          <a:prstGeom prst="roundRect">
            <a:avLst>
              <a:gd name="adj" fmla="val 50000"/>
            </a:avLst>
          </a:prstGeom>
          <a:solidFill>
            <a:srgbClr val="FF6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How to apply it 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02600" y="1801368"/>
            <a:ext cx="3657600" cy="420624"/>
          </a:xfrm>
          <a:prstGeom prst="roundRect">
            <a:avLst>
              <a:gd name="adj" fmla="val 50000"/>
            </a:avLst>
          </a:prstGeom>
          <a:solidFill>
            <a:srgbClr val="00ED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0000" bIns="20000" lIns="80000" rIns="80000" wrap="none"/>
          <a:lstStyle/>
          <a:p>
            <a:pPr algn="ctr"/>
            <a:r>
              <a:rPr b="1" i="0" sz="1200">
                <a:solidFill>
                  <a:srgbClr val="0D0D0D"/>
                </a:solidFill>
                <a:latin typeface="Source Sans Pro"/>
              </a:rPr>
              <a:t>What we need to be autonomous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27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757575"/>
                </a:solidFill>
                <a:latin typeface="Palatino Linotype"/>
              </a:rPr>
              <a:t>Each participant fills a copy. Then debrief together to surface patterns and next steps.</a:t>
            </a:r>
          </a:p>
        </p:txBody>
      </p:sp>
      <p:pic>
        <p:nvPicPr>
          <p:cNvPr id="37" name="Picture 36" descr="aktan_black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74680" y="6214844"/>
            <a:ext cx="960120" cy="231676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10774680" y="6466520"/>
            <a:ext cx="9601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1">
                <a:solidFill>
                  <a:srgbClr val="0D0D0D"/>
                </a:solidFill>
                <a:latin typeface="Palatino Linotype"/>
              </a:rPr>
              <a:t>With simplexity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