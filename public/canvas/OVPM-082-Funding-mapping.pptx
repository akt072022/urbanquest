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82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6400" b="0" i="0">
                <a:solidFill>
                  <a:srgbClr val="0D0D0D"/>
                </a:solidFill>
                <a:latin typeface="Palatino Linotype"/>
              </a:rPr>
              <a:t>Funding mapping</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visual funding map detailing available generic and thematic financial instruments, plotted against project maturity stages and eligible expenditure categories.</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G3 · Proof of Anchoring</a:t>
            </a:r>
          </a:p>
        </p:txBody>
      </p:sp>
      <p:sp>
        <p:nvSpPr>
          <p:cNvPr id="8" name="Rounded Rectangle 7"/>
          <p:cNvSpPr/>
          <p:nvPr/>
        </p:nvSpPr>
        <p:spPr>
          <a:xfrm>
            <a:off x="2880360" y="5212080"/>
            <a:ext cx="2194560" cy="384048"/>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G4 · Proof of Sustainability</a:t>
            </a:r>
          </a:p>
        </p:txBody>
      </p:sp>
      <p:sp>
        <p:nvSpPr>
          <p:cNvPr id="9" name="TextBox 8"/>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10" name="Rounded Rectangle 9"/>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Economic</a:t>
            </a:r>
          </a:p>
        </p:txBody>
      </p:sp>
      <p:sp>
        <p:nvSpPr>
          <p:cNvPr id="11" name="Rounded Rectangle 10"/>
          <p:cNvSpPr/>
          <p:nvPr/>
        </p:nvSpPr>
        <p:spPr>
          <a:xfrm>
            <a:off x="1847088"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Regulation</a:t>
            </a:r>
          </a:p>
        </p:txBody>
      </p:sp>
      <p:pic>
        <p:nvPicPr>
          <p:cNvPr id="12" name="Picture 11"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3" name="TextBox 12"/>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82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Funding mapping</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G3 · Proof of Anchoring</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Demystifying the opaque world of institutional finance, giving local actors the navigational tools to fund their civic ambitions and retain financial sovereignty.</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visual funding map detailing available generic and thematic financial instruments, plotted against project maturity stages and eligible expenditure categories.</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3 to 4 weeks
Material  ·  Financial instrument databases, project maturity scales, timeline mapping software</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To implement Smart Specialisation Strategies, policymakers map European Structural and Investment Funds (ESIF) and plot them alongside tools like Horizon 2020 or European Investment Bank (EIB) loans. By visually charting these funding sources based on thematic scope and eligible beneficiaries, cities can blend grants with financial instruments to cover different project phases sequentially.</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82  ·  ANIMATION CANVAS  ·  </a:t>
            </a:r>
            <a:r>
              <a:rPr sz="1000" b="1" i="0">
                <a:solidFill>
                  <a:srgbClr val="0D0D0D"/>
                </a:solidFill>
                <a:latin typeface="Source Sans Pro"/>
              </a:rPr>
              <a:t>FUNDING MAPPING</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Funding sources × eligibility × match × deadline</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3 to 4 weeks</a:t>
            </a:r>
          </a:p>
        </p:txBody>
      </p:sp>
      <p:sp>
        <p:nvSpPr>
          <p:cNvPr id="6" name="Rounded Rectangle 5"/>
          <p:cNvSpPr/>
          <p:nvPr/>
        </p:nvSpPr>
        <p:spPr>
          <a:xfrm>
            <a:off x="457200" y="1417320"/>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00200"/>
            <a:ext cx="3192272" cy="365760"/>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European</a:t>
            </a:r>
          </a:p>
        </p:txBody>
      </p:sp>
      <p:sp>
        <p:nvSpPr>
          <p:cNvPr id="8" name="TextBox 7"/>
          <p:cNvSpPr txBox="1"/>
          <p:nvPr/>
        </p:nvSpPr>
        <p:spPr>
          <a:xfrm>
            <a:off x="685800" y="2103120"/>
            <a:ext cx="3192272" cy="457200"/>
          </a:xfrm>
          <a:prstGeom prst="rect">
            <a:avLst/>
          </a:prstGeom>
          <a:noFill/>
        </p:spPr>
        <p:txBody>
          <a:bodyPr wrap="square" lIns="0" rIns="0" tIns="0" bIns="0">
            <a:spAutoFit/>
          </a:bodyPr>
          <a:lstStyle/>
          <a:p>
            <a:pPr algn="l"/>
            <a:r>
              <a:rPr sz="1050" b="0" i="1">
                <a:solidFill>
                  <a:srgbClr val="757575"/>
                </a:solidFill>
                <a:latin typeface="Palatino Linotype"/>
              </a:rPr>
              <a:t>ERDF · ESF · Horizon · LIFE</a:t>
            </a:r>
          </a:p>
        </p:txBody>
      </p:sp>
      <p:cxnSp>
        <p:nvCxnSpPr>
          <p:cNvPr id="9" name="Connector 8"/>
          <p:cNvCxnSpPr/>
          <p:nvPr/>
        </p:nvCxnSpPr>
        <p:spPr>
          <a:xfrm>
            <a:off x="685800.0" y="274320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0" y="303580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85800.0" y="332841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271264" y="1417320"/>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499864" y="1600200"/>
            <a:ext cx="3192272" cy="365760"/>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National</a:t>
            </a:r>
          </a:p>
        </p:txBody>
      </p:sp>
      <p:sp>
        <p:nvSpPr>
          <p:cNvPr id="14" name="TextBox 13"/>
          <p:cNvSpPr txBox="1"/>
          <p:nvPr/>
        </p:nvSpPr>
        <p:spPr>
          <a:xfrm>
            <a:off x="4499864" y="2103120"/>
            <a:ext cx="3192272" cy="457200"/>
          </a:xfrm>
          <a:prstGeom prst="rect">
            <a:avLst/>
          </a:prstGeom>
          <a:noFill/>
        </p:spPr>
        <p:txBody>
          <a:bodyPr wrap="square" lIns="0" rIns="0" tIns="0" bIns="0">
            <a:spAutoFit/>
          </a:bodyPr>
          <a:lstStyle/>
          <a:p>
            <a:pPr algn="l"/>
            <a:r>
              <a:rPr sz="1050" b="0" i="1">
                <a:solidFill>
                  <a:srgbClr val="757575"/>
                </a:solidFill>
                <a:latin typeface="Palatino Linotype"/>
              </a:rPr>
              <a:t>ANRU · ANCT · ANR · ADEME</a:t>
            </a:r>
          </a:p>
        </p:txBody>
      </p:sp>
      <p:cxnSp>
        <p:nvCxnSpPr>
          <p:cNvPr id="15" name="Connector 14"/>
          <p:cNvCxnSpPr/>
          <p:nvPr/>
        </p:nvCxnSpPr>
        <p:spPr>
          <a:xfrm>
            <a:off x="4499864.0" y="274320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499864.0" y="303580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499864.0" y="332841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085328" y="1417320"/>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313928" y="1600200"/>
            <a:ext cx="3192272" cy="365760"/>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Regional</a:t>
            </a:r>
          </a:p>
        </p:txBody>
      </p:sp>
      <p:sp>
        <p:nvSpPr>
          <p:cNvPr id="20" name="TextBox 19"/>
          <p:cNvSpPr txBox="1"/>
          <p:nvPr/>
        </p:nvSpPr>
        <p:spPr>
          <a:xfrm>
            <a:off x="8313928" y="2103120"/>
            <a:ext cx="3192272" cy="457200"/>
          </a:xfrm>
          <a:prstGeom prst="rect">
            <a:avLst/>
          </a:prstGeom>
          <a:noFill/>
        </p:spPr>
        <p:txBody>
          <a:bodyPr wrap="square" lIns="0" rIns="0" tIns="0" bIns="0">
            <a:spAutoFit/>
          </a:bodyPr>
          <a:lstStyle/>
          <a:p>
            <a:pPr algn="l"/>
            <a:r>
              <a:rPr sz="1050" b="0" i="1">
                <a:solidFill>
                  <a:srgbClr val="757575"/>
                </a:solidFill>
                <a:latin typeface="Palatino Linotype"/>
              </a:rPr>
              <a:t>plans climat, fonds européens régionaux</a:t>
            </a:r>
          </a:p>
        </p:txBody>
      </p:sp>
      <p:cxnSp>
        <p:nvCxnSpPr>
          <p:cNvPr id="21" name="Connector 20"/>
          <p:cNvCxnSpPr/>
          <p:nvPr/>
        </p:nvCxnSpPr>
        <p:spPr>
          <a:xfrm>
            <a:off x="8313928.0" y="274320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313928.0" y="303580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313928.0" y="332841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57200" y="3877056"/>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85800" y="4059936"/>
            <a:ext cx="3192272" cy="365760"/>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Local</a:t>
            </a:r>
          </a:p>
        </p:txBody>
      </p:sp>
      <p:sp>
        <p:nvSpPr>
          <p:cNvPr id="26" name="TextBox 25"/>
          <p:cNvSpPr txBox="1"/>
          <p:nvPr/>
        </p:nvSpPr>
        <p:spPr>
          <a:xfrm>
            <a:off x="685800" y="4562856"/>
            <a:ext cx="3192272" cy="457200"/>
          </a:xfrm>
          <a:prstGeom prst="rect">
            <a:avLst/>
          </a:prstGeom>
          <a:noFill/>
        </p:spPr>
        <p:txBody>
          <a:bodyPr wrap="square" lIns="0" rIns="0" tIns="0" bIns="0">
            <a:spAutoFit/>
          </a:bodyPr>
          <a:lstStyle/>
          <a:p>
            <a:pPr algn="l"/>
            <a:r>
              <a:rPr sz="1050" b="0" i="1">
                <a:solidFill>
                  <a:srgbClr val="757575"/>
                </a:solidFill>
                <a:latin typeface="Palatino Linotype"/>
              </a:rPr>
              <a:t>budget propre, dotations</a:t>
            </a:r>
          </a:p>
        </p:txBody>
      </p:sp>
      <p:cxnSp>
        <p:nvCxnSpPr>
          <p:cNvPr id="27" name="Connector 26"/>
          <p:cNvCxnSpPr/>
          <p:nvPr/>
        </p:nvCxnSpPr>
        <p:spPr>
          <a:xfrm>
            <a:off x="685800.0" y="520293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85800.0" y="549554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85800.0" y="578815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4271264" y="3877056"/>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4499864" y="4059936"/>
            <a:ext cx="3192272" cy="365760"/>
          </a:xfrm>
          <a:prstGeom prst="roundRect">
            <a:avLst>
              <a:gd name="adj" fmla="val 50000"/>
            </a:avLst>
          </a:prstGeom>
          <a:solidFill>
            <a:srgbClr val="EF98D6"/>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Private</a:t>
            </a:r>
          </a:p>
        </p:txBody>
      </p:sp>
      <p:sp>
        <p:nvSpPr>
          <p:cNvPr id="32" name="TextBox 31"/>
          <p:cNvSpPr txBox="1"/>
          <p:nvPr/>
        </p:nvSpPr>
        <p:spPr>
          <a:xfrm>
            <a:off x="4499864" y="4562856"/>
            <a:ext cx="3192272" cy="457200"/>
          </a:xfrm>
          <a:prstGeom prst="rect">
            <a:avLst/>
          </a:prstGeom>
          <a:noFill/>
        </p:spPr>
        <p:txBody>
          <a:bodyPr wrap="square" lIns="0" rIns="0" tIns="0" bIns="0">
            <a:spAutoFit/>
          </a:bodyPr>
          <a:lstStyle/>
          <a:p>
            <a:pPr algn="l"/>
            <a:r>
              <a:rPr sz="1050" b="0" i="1">
                <a:solidFill>
                  <a:srgbClr val="757575"/>
                </a:solidFill>
                <a:latin typeface="Palatino Linotype"/>
              </a:rPr>
              <a:t>mécénat, sponsoring, RSE</a:t>
            </a:r>
          </a:p>
        </p:txBody>
      </p:sp>
      <p:cxnSp>
        <p:nvCxnSpPr>
          <p:cNvPr id="33" name="Connector 32"/>
          <p:cNvCxnSpPr/>
          <p:nvPr/>
        </p:nvCxnSpPr>
        <p:spPr>
          <a:xfrm>
            <a:off x="4499864.0" y="520293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499864.0" y="549554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499864.0" y="578815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085328" y="3877056"/>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313928" y="4059936"/>
            <a:ext cx="3192272" cy="365760"/>
          </a:xfrm>
          <a:prstGeom prst="roundRect">
            <a:avLst>
              <a:gd name="adj" fmla="val 50000"/>
            </a:avLst>
          </a:prstGeom>
          <a:solidFill>
            <a:srgbClr val="C48B4F"/>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Foundations</a:t>
            </a:r>
          </a:p>
        </p:txBody>
      </p:sp>
      <p:sp>
        <p:nvSpPr>
          <p:cNvPr id="38" name="TextBox 37"/>
          <p:cNvSpPr txBox="1"/>
          <p:nvPr/>
        </p:nvSpPr>
        <p:spPr>
          <a:xfrm>
            <a:off x="8313928" y="4562856"/>
            <a:ext cx="3192272" cy="457200"/>
          </a:xfrm>
          <a:prstGeom prst="rect">
            <a:avLst/>
          </a:prstGeom>
          <a:noFill/>
        </p:spPr>
        <p:txBody>
          <a:bodyPr wrap="square" lIns="0" rIns="0" tIns="0" bIns="0">
            <a:spAutoFit/>
          </a:bodyPr>
          <a:lstStyle/>
          <a:p>
            <a:pPr algn="l"/>
            <a:r>
              <a:rPr sz="1050" b="0" i="1">
                <a:solidFill>
                  <a:srgbClr val="757575"/>
                </a:solidFill>
                <a:latin typeface="Palatino Linotype"/>
              </a:rPr>
              <a:t>philanthropie, programmes</a:t>
            </a:r>
          </a:p>
        </p:txBody>
      </p:sp>
      <p:cxnSp>
        <p:nvCxnSpPr>
          <p:cNvPr id="39" name="Connector 38"/>
          <p:cNvCxnSpPr/>
          <p:nvPr/>
        </p:nvCxnSpPr>
        <p:spPr>
          <a:xfrm>
            <a:off x="8313928.0" y="520293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313928.0" y="549554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313928.0" y="578815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For each source · eligibility · co-finance %, deadline, application length.</a:t>
            </a:r>
          </a:p>
        </p:txBody>
      </p:sp>
      <p:pic>
        <p:nvPicPr>
          <p:cNvPr id="43" name="Picture 4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44" name="TextBox 4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82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