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45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0" i="0">
                <a:solidFill>
                  <a:srgbClr val="0D0D0D"/>
                </a:solidFill>
                <a:latin typeface="Palatino Linotype"/>
              </a:rPr>
              <a:t>Intangible Cultural Heritage (ICH) inventory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A structured, community-validated database recording the oral traditions, artisanal skills, and social rituals inextricably linked to specific urban spaces,.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G1 · Proof of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943600"/>
            <a:ext cx="1376172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Social / User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345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Heritage</a:t>
            </a:r>
          </a:p>
        </p:txBody>
      </p:sp>
      <p:pic>
        <p:nvPicPr>
          <p:cNvPr id="11" name="Picture 10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45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Intangible Cultural Heritage (ICH) inventory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G1 · Proof of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Recognizing that the true wealth of a city resides not in its physical monuments, but in the songs, crafts, rituals, and memories carried in the minds and hands of its people.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A structured, community-validated database recording the oral traditions, artisanal skills, and social rituals inextricably linked to specific urban spaces,.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3 to 6 months of community engagement and documentation
Material  ·  Consent forms, audio/video recording equipment, standardized ICH inventory entries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In Kingston, Jamaica, a UNESCO-supported project implemented community-based inventorying of intangible heritage in urban areas. This initiative empowered local residents to document their own living heritage, providing the essential evidence base required to promote culture-engaged, people-centered urban development models that respect local diversity.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45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INTANGIBLE CULTURAL HERITAGE (ICH)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Five domains of intangible heritage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3 to 6 months of community engagement and documentation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212384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1666646" cy="365760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Oral traditions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166664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language, storytelling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.0" y="2743200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.0" y="3035808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5800.0" y="3328416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85800.0" y="3621024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85800.0" y="3913632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85800.0" y="4206240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85800.0" y="4498848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5800.0" y="4791456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5800.0" y="5084064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5800.0" y="5376672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5800.0" y="5669280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745638" y="1417320"/>
            <a:ext cx="212384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4238" y="1600200"/>
            <a:ext cx="1666646" cy="365760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Performing arts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4238" y="2103120"/>
            <a:ext cx="166664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music, dance, theatre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974238.4" y="2743200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974238.4" y="3035808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974238.4" y="3328416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974238.4" y="3621024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974238.4" y="3913632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974238.4" y="4206240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74238.4" y="4498848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74238.4" y="4791456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974238.4" y="5084064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974238.4" y="5376672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974238.4" y="5669280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034076" y="1417320"/>
            <a:ext cx="212384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262676" y="1600200"/>
            <a:ext cx="1666646" cy="365760"/>
          </a:xfrm>
          <a:prstGeom prst="roundRect">
            <a:avLst>
              <a:gd name="adj" fmla="val 50000"/>
            </a:avLst>
          </a:prstGeom>
          <a:solidFill>
            <a:srgbClr val="EF9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Social practices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62676" y="2103120"/>
            <a:ext cx="166664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rituals, festivals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262676.8" y="2743200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262676.8" y="3035808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262676.8" y="3328416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262676.8" y="3621024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262676.8" y="3913632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262676.8" y="4206240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262676.8" y="4498848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262676.8" y="4791456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262676.8" y="5084064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262676.8" y="5376672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262676.8" y="5669280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7322515" y="1417320"/>
            <a:ext cx="212384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551115" y="1600200"/>
            <a:ext cx="1666646" cy="365760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Knowledge of nature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51115" y="2103120"/>
            <a:ext cx="166664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agro, healing, weather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7551115.199999999" y="2743200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551115.199999999" y="3035808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551115.199999999" y="3328416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551115.199999999" y="3621024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551115.199999999" y="3913632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551115.199999999" y="4206240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551115.199999999" y="4498848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551115.199999999" y="4791456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551115.199999999" y="5084064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551115.199999999" y="5376672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7551115.199999999" y="5669280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9610953" y="1417320"/>
            <a:ext cx="212384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839553" y="1600200"/>
            <a:ext cx="1666646" cy="365760"/>
          </a:xfrm>
          <a:prstGeom prst="roundRect">
            <a:avLst>
              <a:gd name="adj" fmla="val 50000"/>
            </a:avLst>
          </a:prstGeom>
          <a:solidFill>
            <a:srgbClr val="459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Craftsmanship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39553" y="2103120"/>
            <a:ext cx="166664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making, repairing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9839553.6" y="2743200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839553.6" y="3035808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839553.6" y="3328416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839553.6" y="3621024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839553.6" y="3913632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839553.6" y="4206240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9839553.6" y="4498848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9839553.6" y="4791456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9839553.6" y="5084064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9839553.6" y="5376672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9839553.6" y="5669280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For each domain · who carries it, who learns it, what threatens it.</a:t>
            </a:r>
          </a:p>
        </p:txBody>
      </p:sp>
      <p:pic>
        <p:nvPicPr>
          <p:cNvPr id="77" name="Picture 7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45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