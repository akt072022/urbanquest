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22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Social network analysis (SNA)</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Visual network graphs and data models highlighting the strength, density, and vulnerabilities in relationships between local organizations, resources, and individuals,.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Social network analysis (SNA)</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Revealing the hidden architecture of human solidarity; showing that a city’s true wealth lies not in its physical buildings, but in the invisible threads connecting its people.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Visual network graphs and data models highlighting the strength, density, and vulnerabilities in relationships between local organizations, resources, and individuals,.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weeks of data collection and mapping
Material  ·  SNA software (e.g., NodeXL, PARTNER CPRM), relationship surveys, interview guides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Visible Network Labs utilizes the PARTNER CPRM platform to blend community asset mapping with Social Network Analysis. By mapping how local coalitions, religious congregations, and volunteer networks interact, public sector leaders are able to visually understand relationships, identify unique leverage points for systems change, and accurately manage community networks,,.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22  ·  ANIMATION CANVAS  ·  </a:t>
            </a:r>
            <a:r>
              <a:rPr sz="1000" b="1" i="0">
                <a:solidFill>
                  <a:srgbClr val="0D0D0D"/>
                </a:solidFill>
                <a:latin typeface="Source Sans Pro"/>
              </a:rPr>
              <a:t>SOCIAL NETWORK ANALYSIS (SNA)</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Network graph · actors · ties · centrality</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weeks of data collection and mapping</a:t>
            </a:r>
          </a:p>
        </p:txBody>
      </p:sp>
      <p:sp>
        <p:nvSpPr>
          <p:cNvPr id="6" name="Rounded Rectangle 5"/>
          <p:cNvSpPr/>
          <p:nvPr/>
        </p:nvSpPr>
        <p:spPr>
          <a:xfrm>
            <a:off x="457200" y="1417320"/>
            <a:ext cx="64008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5943600" cy="365760"/>
          </a:xfrm>
          <a:prstGeom prst="rect">
            <a:avLst/>
          </a:prstGeom>
          <a:noFill/>
        </p:spPr>
        <p:txBody>
          <a:bodyPr wrap="square" lIns="0" rIns="0" tIns="0" bIns="0">
            <a:spAutoFit/>
          </a:bodyPr>
          <a:lstStyle/>
          <a:p>
            <a:pPr algn="l"/>
            <a:r>
              <a:rPr sz="1400" b="0" i="1">
                <a:solidFill>
                  <a:srgbClr val="0D0D0D"/>
                </a:solidFill>
                <a:latin typeface="Palatino Linotype"/>
              </a:rPr>
              <a:t>Actor network</a:t>
            </a:r>
          </a:p>
        </p:txBody>
      </p:sp>
      <p:cxnSp>
        <p:nvCxnSpPr>
          <p:cNvPr id="8" name="Connector 7"/>
          <p:cNvCxnSpPr/>
          <p:nvPr/>
        </p:nvCxnSpPr>
        <p:spPr>
          <a:xfrm flipH="1" flipV="1">
            <a:off x="1828800" y="3154680"/>
            <a:ext cx="1828800" cy="91440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657600" y="2971800"/>
            <a:ext cx="1828800" cy="109728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286000" y="4069080"/>
            <a:ext cx="1371600" cy="109728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57600" y="4069080"/>
            <a:ext cx="1645920" cy="91440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657600" y="2697480"/>
            <a:ext cx="0" cy="137160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280160" y="3154680"/>
            <a:ext cx="548640" cy="109728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86400" y="2971800"/>
            <a:ext cx="548640" cy="109728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1280160" y="4251960"/>
            <a:ext cx="1005840" cy="91440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303520" y="4069080"/>
            <a:ext cx="731520" cy="91440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828800" y="2697480"/>
            <a:ext cx="1828800" cy="45720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3657600" y="2697480"/>
            <a:ext cx="1828800" cy="274320"/>
          </a:xfrm>
          <a:prstGeom prst="line">
            <a:avLst/>
          </a:prstGeom>
          <a:ln w="8890">
            <a:solidFill>
              <a:srgbClr val="C8C8C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383280" y="3794760"/>
            <a:ext cx="548640" cy="548640"/>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3280" y="3794760"/>
            <a:ext cx="548640" cy="548640"/>
          </a:xfrm>
          <a:prstGeom prst="rect">
            <a:avLst/>
          </a:prstGeom>
          <a:noFill/>
        </p:spPr>
        <p:txBody>
          <a:bodyPr wrap="square" lIns="0" rIns="0" tIns="0" bIns="0" anchor="ctr">
            <a:spAutoFit/>
          </a:bodyPr>
          <a:lstStyle/>
          <a:p>
            <a:pPr algn="ctr"/>
            <a:r>
              <a:rPr sz="1000" b="1" i="0">
                <a:solidFill>
                  <a:srgbClr val="0D0D0D"/>
                </a:solidFill>
                <a:latin typeface="Source Sans Pro"/>
              </a:rPr>
              <a:t>A</a:t>
            </a:r>
          </a:p>
        </p:txBody>
      </p:sp>
      <p:sp>
        <p:nvSpPr>
          <p:cNvPr id="21" name="Oval 20"/>
          <p:cNvSpPr/>
          <p:nvPr/>
        </p:nvSpPr>
        <p:spPr>
          <a:xfrm>
            <a:off x="1645920" y="2971800"/>
            <a:ext cx="365760" cy="365760"/>
          </a:xfrm>
          <a:prstGeom prst="ellipse">
            <a:avLst/>
          </a:prstGeom>
          <a:solidFill>
            <a:srgbClr val="459ACB"/>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2971800"/>
            <a:ext cx="365760" cy="365760"/>
          </a:xfrm>
          <a:prstGeom prst="rect">
            <a:avLst/>
          </a:prstGeom>
          <a:noFill/>
        </p:spPr>
        <p:txBody>
          <a:bodyPr wrap="square" lIns="0" rIns="0" tIns="0" bIns="0" anchor="ctr">
            <a:spAutoFit/>
          </a:bodyPr>
          <a:lstStyle/>
          <a:p>
            <a:pPr algn="ctr"/>
            <a:r>
              <a:rPr sz="1000" b="1" i="0">
                <a:solidFill>
                  <a:srgbClr val="0D0D0D"/>
                </a:solidFill>
                <a:latin typeface="Source Sans Pro"/>
              </a:rPr>
              <a:t>B</a:t>
            </a:r>
          </a:p>
        </p:txBody>
      </p:sp>
      <p:sp>
        <p:nvSpPr>
          <p:cNvPr id="23" name="Oval 22"/>
          <p:cNvSpPr/>
          <p:nvPr/>
        </p:nvSpPr>
        <p:spPr>
          <a:xfrm>
            <a:off x="5303520" y="2788920"/>
            <a:ext cx="365760" cy="365760"/>
          </a:xfrm>
          <a:prstGeom prst="ellipse">
            <a:avLst/>
          </a:prstGeom>
          <a:solidFill>
            <a:srgbClr val="459ACB"/>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0" y="2788920"/>
            <a:ext cx="365760" cy="365760"/>
          </a:xfrm>
          <a:prstGeom prst="rect">
            <a:avLst/>
          </a:prstGeom>
          <a:noFill/>
        </p:spPr>
        <p:txBody>
          <a:bodyPr wrap="square" lIns="0" rIns="0" tIns="0" bIns="0" anchor="ctr">
            <a:spAutoFit/>
          </a:bodyPr>
          <a:lstStyle/>
          <a:p>
            <a:pPr algn="ctr"/>
            <a:r>
              <a:rPr sz="1000" b="1" i="0">
                <a:solidFill>
                  <a:srgbClr val="0D0D0D"/>
                </a:solidFill>
                <a:latin typeface="Source Sans Pro"/>
              </a:rPr>
              <a:t>C</a:t>
            </a:r>
          </a:p>
        </p:txBody>
      </p:sp>
      <p:sp>
        <p:nvSpPr>
          <p:cNvPr id="25" name="Oval 24"/>
          <p:cNvSpPr/>
          <p:nvPr/>
        </p:nvSpPr>
        <p:spPr>
          <a:xfrm>
            <a:off x="2103120" y="4983480"/>
            <a:ext cx="365760" cy="365760"/>
          </a:xfrm>
          <a:prstGeom prst="ellipse">
            <a:avLst/>
          </a:prstGeom>
          <a:solidFill>
            <a:srgbClr val="459ACB"/>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4983480"/>
            <a:ext cx="365760" cy="365760"/>
          </a:xfrm>
          <a:prstGeom prst="rect">
            <a:avLst/>
          </a:prstGeom>
          <a:noFill/>
        </p:spPr>
        <p:txBody>
          <a:bodyPr wrap="square" lIns="0" rIns="0" tIns="0" bIns="0" anchor="ctr">
            <a:spAutoFit/>
          </a:bodyPr>
          <a:lstStyle/>
          <a:p>
            <a:pPr algn="ctr"/>
            <a:r>
              <a:rPr sz="1000" b="1" i="0">
                <a:solidFill>
                  <a:srgbClr val="0D0D0D"/>
                </a:solidFill>
                <a:latin typeface="Source Sans Pro"/>
              </a:rPr>
              <a:t>D</a:t>
            </a:r>
          </a:p>
        </p:txBody>
      </p:sp>
      <p:sp>
        <p:nvSpPr>
          <p:cNvPr id="27" name="Oval 26"/>
          <p:cNvSpPr/>
          <p:nvPr/>
        </p:nvSpPr>
        <p:spPr>
          <a:xfrm>
            <a:off x="5120640" y="4800600"/>
            <a:ext cx="365760" cy="365760"/>
          </a:xfrm>
          <a:prstGeom prst="ellipse">
            <a:avLst/>
          </a:prstGeom>
          <a:solidFill>
            <a:srgbClr val="459ACB"/>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4800600"/>
            <a:ext cx="365760" cy="365760"/>
          </a:xfrm>
          <a:prstGeom prst="rect">
            <a:avLst/>
          </a:prstGeom>
          <a:noFill/>
        </p:spPr>
        <p:txBody>
          <a:bodyPr wrap="square" lIns="0" rIns="0" tIns="0" bIns="0" anchor="ctr">
            <a:spAutoFit/>
          </a:bodyPr>
          <a:lstStyle/>
          <a:p>
            <a:pPr algn="ctr"/>
            <a:r>
              <a:rPr sz="1000" b="1" i="0">
                <a:solidFill>
                  <a:srgbClr val="0D0D0D"/>
                </a:solidFill>
                <a:latin typeface="Source Sans Pro"/>
              </a:rPr>
              <a:t>E</a:t>
            </a:r>
          </a:p>
        </p:txBody>
      </p:sp>
      <p:sp>
        <p:nvSpPr>
          <p:cNvPr id="29" name="Oval 28"/>
          <p:cNvSpPr/>
          <p:nvPr/>
        </p:nvSpPr>
        <p:spPr>
          <a:xfrm>
            <a:off x="1143000" y="4114800"/>
            <a:ext cx="274320" cy="274320"/>
          </a:xfrm>
          <a:prstGeom prst="ellipse">
            <a:avLst/>
          </a:prstGeom>
          <a:solidFill>
            <a:srgbClr val="EF98D6"/>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4114800"/>
            <a:ext cx="274320" cy="274320"/>
          </a:xfrm>
          <a:prstGeom prst="rect">
            <a:avLst/>
          </a:prstGeom>
          <a:noFill/>
        </p:spPr>
        <p:txBody>
          <a:bodyPr wrap="square" lIns="0" rIns="0" tIns="0" bIns="0" anchor="ctr">
            <a:spAutoFit/>
          </a:bodyPr>
          <a:lstStyle/>
          <a:p>
            <a:pPr algn="ctr"/>
            <a:r>
              <a:rPr sz="1000" b="1" i="0">
                <a:solidFill>
                  <a:srgbClr val="0D0D0D"/>
                </a:solidFill>
                <a:latin typeface="Source Sans Pro"/>
              </a:rPr>
              <a:t>F</a:t>
            </a:r>
          </a:p>
        </p:txBody>
      </p:sp>
      <p:sp>
        <p:nvSpPr>
          <p:cNvPr id="31" name="Oval 30"/>
          <p:cNvSpPr/>
          <p:nvPr/>
        </p:nvSpPr>
        <p:spPr>
          <a:xfrm>
            <a:off x="5897880" y="3931920"/>
            <a:ext cx="274320" cy="274320"/>
          </a:xfrm>
          <a:prstGeom prst="ellipse">
            <a:avLst/>
          </a:prstGeom>
          <a:solidFill>
            <a:srgbClr val="EF98D6"/>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97880" y="3931920"/>
            <a:ext cx="274320" cy="274320"/>
          </a:xfrm>
          <a:prstGeom prst="rect">
            <a:avLst/>
          </a:prstGeom>
          <a:noFill/>
        </p:spPr>
        <p:txBody>
          <a:bodyPr wrap="square" lIns="0" rIns="0" tIns="0" bIns="0" anchor="ctr">
            <a:spAutoFit/>
          </a:bodyPr>
          <a:lstStyle/>
          <a:p>
            <a:pPr algn="ctr"/>
            <a:r>
              <a:rPr sz="1000" b="1" i="0">
                <a:solidFill>
                  <a:srgbClr val="0D0D0D"/>
                </a:solidFill>
                <a:latin typeface="Source Sans Pro"/>
              </a:rPr>
              <a:t>G</a:t>
            </a:r>
          </a:p>
        </p:txBody>
      </p:sp>
      <p:sp>
        <p:nvSpPr>
          <p:cNvPr id="33" name="Oval 32"/>
          <p:cNvSpPr/>
          <p:nvPr/>
        </p:nvSpPr>
        <p:spPr>
          <a:xfrm>
            <a:off x="3497580" y="2537460"/>
            <a:ext cx="320040" cy="320040"/>
          </a:xfrm>
          <a:prstGeom prst="ellipse">
            <a:avLst/>
          </a:prstGeom>
          <a:solidFill>
            <a:srgbClr val="00ED93"/>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97580" y="2537460"/>
            <a:ext cx="320040" cy="320040"/>
          </a:xfrm>
          <a:prstGeom prst="rect">
            <a:avLst/>
          </a:prstGeom>
          <a:noFill/>
        </p:spPr>
        <p:txBody>
          <a:bodyPr wrap="square" lIns="0" rIns="0" tIns="0" bIns="0" anchor="ctr">
            <a:spAutoFit/>
          </a:bodyPr>
          <a:lstStyle/>
          <a:p>
            <a:pPr algn="ctr"/>
            <a:r>
              <a:rPr sz="1000" b="1" i="0">
                <a:solidFill>
                  <a:srgbClr val="0D0D0D"/>
                </a:solidFill>
                <a:latin typeface="Source Sans Pro"/>
              </a:rPr>
              <a:t>H</a:t>
            </a:r>
          </a:p>
        </p:txBody>
      </p:sp>
      <p:sp>
        <p:nvSpPr>
          <p:cNvPr id="35" name="Rounded Rectangle 34"/>
          <p:cNvSpPr/>
          <p:nvPr/>
        </p:nvSpPr>
        <p:spPr>
          <a:xfrm>
            <a:off x="7086600" y="1417320"/>
            <a:ext cx="4648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0" y="1600200"/>
            <a:ext cx="4191000" cy="365760"/>
          </a:xfrm>
          <a:prstGeom prst="rect">
            <a:avLst/>
          </a:prstGeom>
          <a:noFill/>
        </p:spPr>
        <p:txBody>
          <a:bodyPr wrap="square" lIns="0" rIns="0" tIns="0" bIns="0">
            <a:spAutoFit/>
          </a:bodyPr>
          <a:lstStyle/>
          <a:p>
            <a:pPr algn="l"/>
            <a:r>
              <a:rPr sz="1300" b="0" i="1">
                <a:solidFill>
                  <a:srgbClr val="0D0D0D"/>
                </a:solidFill>
                <a:latin typeface="Palatino Linotype"/>
              </a:rPr>
              <a:t>Centrality scoring</a:t>
            </a:r>
          </a:p>
        </p:txBody>
      </p:sp>
      <p:sp>
        <p:nvSpPr>
          <p:cNvPr id="37" name="Rounded Rectangle 36"/>
          <p:cNvSpPr/>
          <p:nvPr/>
        </p:nvSpPr>
        <p:spPr>
          <a:xfrm>
            <a:off x="7315200" y="2057400"/>
            <a:ext cx="2011680" cy="310896"/>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Degree</a:t>
            </a:r>
          </a:p>
        </p:txBody>
      </p:sp>
      <p:cxnSp>
        <p:nvCxnSpPr>
          <p:cNvPr id="38" name="Connector 37"/>
          <p:cNvCxnSpPr/>
          <p:nvPr/>
        </p:nvCxnSpPr>
        <p:spPr>
          <a:xfrm>
            <a:off x="7315200" y="2468880"/>
            <a:ext cx="41910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315200" y="2560320"/>
            <a:ext cx="2011680" cy="310896"/>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Betweenness</a:t>
            </a:r>
          </a:p>
        </p:txBody>
      </p:sp>
      <p:cxnSp>
        <p:nvCxnSpPr>
          <p:cNvPr id="40" name="Connector 39"/>
          <p:cNvCxnSpPr/>
          <p:nvPr/>
        </p:nvCxnSpPr>
        <p:spPr>
          <a:xfrm>
            <a:off x="7315200" y="2971800"/>
            <a:ext cx="41910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315200" y="3063240"/>
            <a:ext cx="2011680" cy="310896"/>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Closeness</a:t>
            </a:r>
          </a:p>
        </p:txBody>
      </p:sp>
      <p:cxnSp>
        <p:nvCxnSpPr>
          <p:cNvPr id="42" name="Connector 41"/>
          <p:cNvCxnSpPr/>
          <p:nvPr/>
        </p:nvCxnSpPr>
        <p:spPr>
          <a:xfrm>
            <a:off x="7315200" y="3474720"/>
            <a:ext cx="41910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7315200" y="3566160"/>
            <a:ext cx="2011680" cy="310896"/>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Eigenvector</a:t>
            </a:r>
          </a:p>
        </p:txBody>
      </p:sp>
      <p:cxnSp>
        <p:nvCxnSpPr>
          <p:cNvPr id="44" name="Connector 43"/>
          <p:cNvCxnSpPr/>
          <p:nvPr/>
        </p:nvCxnSpPr>
        <p:spPr>
          <a:xfrm>
            <a:off x="7315200" y="3977640"/>
            <a:ext cx="41910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315200" y="4251960"/>
            <a:ext cx="4191000" cy="274320"/>
          </a:xfrm>
          <a:prstGeom prst="rect">
            <a:avLst/>
          </a:prstGeom>
          <a:noFill/>
        </p:spPr>
        <p:txBody>
          <a:bodyPr wrap="square" lIns="0" rIns="0" tIns="0" bIns="0">
            <a:spAutoFit/>
          </a:bodyPr>
          <a:lstStyle/>
          <a:p>
            <a:pPr algn="l"/>
            <a:r>
              <a:rPr sz="1100" b="1" i="0">
                <a:solidFill>
                  <a:srgbClr val="0D0D0D"/>
                </a:solidFill>
                <a:latin typeface="Source Sans Pro"/>
              </a:rPr>
              <a:t>Top 5 connectors</a:t>
            </a:r>
          </a:p>
        </p:txBody>
      </p:sp>
      <p:sp>
        <p:nvSpPr>
          <p:cNvPr id="46" name="TextBox 45"/>
          <p:cNvSpPr txBox="1"/>
          <p:nvPr/>
        </p:nvSpPr>
        <p:spPr>
          <a:xfrm>
            <a:off x="7315200" y="4617720"/>
            <a:ext cx="457200" cy="274320"/>
          </a:xfrm>
          <a:prstGeom prst="rect">
            <a:avLst/>
          </a:prstGeom>
          <a:noFill/>
        </p:spPr>
        <p:txBody>
          <a:bodyPr wrap="square" lIns="0" rIns="0" tIns="0" bIns="0">
            <a:spAutoFit/>
          </a:bodyPr>
          <a:lstStyle/>
          <a:p>
            <a:pPr algn="l"/>
            <a:r>
              <a:rPr sz="1000" b="1" i="0">
                <a:solidFill>
                  <a:srgbClr val="757575"/>
                </a:solidFill>
                <a:latin typeface="Source Sans Pro"/>
              </a:rPr>
              <a:t>1.</a:t>
            </a:r>
          </a:p>
        </p:txBody>
      </p:sp>
      <p:cxnSp>
        <p:nvCxnSpPr>
          <p:cNvPr id="47" name="Connector 46"/>
          <p:cNvCxnSpPr/>
          <p:nvPr/>
        </p:nvCxnSpPr>
        <p:spPr>
          <a:xfrm>
            <a:off x="7680960" y="4818888"/>
            <a:ext cx="38252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315200" y="4910328"/>
            <a:ext cx="457200" cy="274320"/>
          </a:xfrm>
          <a:prstGeom prst="rect">
            <a:avLst/>
          </a:prstGeom>
          <a:noFill/>
        </p:spPr>
        <p:txBody>
          <a:bodyPr wrap="square" lIns="0" rIns="0" tIns="0" bIns="0">
            <a:spAutoFit/>
          </a:bodyPr>
          <a:lstStyle/>
          <a:p>
            <a:pPr algn="l"/>
            <a:r>
              <a:rPr sz="1000" b="1" i="0">
                <a:solidFill>
                  <a:srgbClr val="757575"/>
                </a:solidFill>
                <a:latin typeface="Source Sans Pro"/>
              </a:rPr>
              <a:t>2.</a:t>
            </a:r>
          </a:p>
        </p:txBody>
      </p:sp>
      <p:cxnSp>
        <p:nvCxnSpPr>
          <p:cNvPr id="49" name="Connector 48"/>
          <p:cNvCxnSpPr/>
          <p:nvPr/>
        </p:nvCxnSpPr>
        <p:spPr>
          <a:xfrm>
            <a:off x="7680960" y="5111496"/>
            <a:ext cx="38252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315200" y="5202936"/>
            <a:ext cx="457200" cy="274320"/>
          </a:xfrm>
          <a:prstGeom prst="rect">
            <a:avLst/>
          </a:prstGeom>
          <a:noFill/>
        </p:spPr>
        <p:txBody>
          <a:bodyPr wrap="square" lIns="0" rIns="0" tIns="0" bIns="0">
            <a:spAutoFit/>
          </a:bodyPr>
          <a:lstStyle/>
          <a:p>
            <a:pPr algn="l"/>
            <a:r>
              <a:rPr sz="1000" b="1" i="0">
                <a:solidFill>
                  <a:srgbClr val="757575"/>
                </a:solidFill>
                <a:latin typeface="Source Sans Pro"/>
              </a:rPr>
              <a:t>3.</a:t>
            </a:r>
          </a:p>
        </p:txBody>
      </p:sp>
      <p:cxnSp>
        <p:nvCxnSpPr>
          <p:cNvPr id="51" name="Connector 50"/>
          <p:cNvCxnSpPr/>
          <p:nvPr/>
        </p:nvCxnSpPr>
        <p:spPr>
          <a:xfrm>
            <a:off x="7680960" y="5404104"/>
            <a:ext cx="38252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315200" y="5495544"/>
            <a:ext cx="457200" cy="274320"/>
          </a:xfrm>
          <a:prstGeom prst="rect">
            <a:avLst/>
          </a:prstGeom>
          <a:noFill/>
        </p:spPr>
        <p:txBody>
          <a:bodyPr wrap="square" lIns="0" rIns="0" tIns="0" bIns="0">
            <a:spAutoFit/>
          </a:bodyPr>
          <a:lstStyle/>
          <a:p>
            <a:pPr algn="l"/>
            <a:r>
              <a:rPr sz="1000" b="1" i="0">
                <a:solidFill>
                  <a:srgbClr val="757575"/>
                </a:solidFill>
                <a:latin typeface="Source Sans Pro"/>
              </a:rPr>
              <a:t>4.</a:t>
            </a:r>
          </a:p>
        </p:txBody>
      </p:sp>
      <p:cxnSp>
        <p:nvCxnSpPr>
          <p:cNvPr id="53" name="Connector 52"/>
          <p:cNvCxnSpPr/>
          <p:nvPr/>
        </p:nvCxnSpPr>
        <p:spPr>
          <a:xfrm>
            <a:off x="7680960" y="5696712"/>
            <a:ext cx="38252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315200" y="5788152"/>
            <a:ext cx="457200" cy="274320"/>
          </a:xfrm>
          <a:prstGeom prst="rect">
            <a:avLst/>
          </a:prstGeom>
          <a:noFill/>
        </p:spPr>
        <p:txBody>
          <a:bodyPr wrap="square" lIns="0" rIns="0" tIns="0" bIns="0">
            <a:spAutoFit/>
          </a:bodyPr>
          <a:lstStyle/>
          <a:p>
            <a:pPr algn="l"/>
            <a:r>
              <a:rPr sz="1000" b="1" i="0">
                <a:solidFill>
                  <a:srgbClr val="757575"/>
                </a:solidFill>
                <a:latin typeface="Source Sans Pro"/>
              </a:rPr>
              <a:t>5.</a:t>
            </a:r>
          </a:p>
        </p:txBody>
      </p:sp>
      <p:cxnSp>
        <p:nvCxnSpPr>
          <p:cNvPr id="55" name="Connector 54"/>
          <p:cNvCxnSpPr/>
          <p:nvPr/>
        </p:nvCxnSpPr>
        <p:spPr>
          <a:xfrm>
            <a:off x="7680960" y="5989320"/>
            <a:ext cx="382524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56" name="Picture 5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7" name="TextBox 5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