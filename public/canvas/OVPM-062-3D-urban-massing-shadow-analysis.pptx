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62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3D urban massing &amp; shadow analysis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Visual and quantitative reports detailing exact shadow trajectories, solar exposure hours, and the visual obstruction caused by proposed building volumes on the surrounding public space.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1" name="Rounded Rectangle 10"/>
          <p:cNvSpPr/>
          <p:nvPr/>
        </p:nvSpPr>
        <p:spPr>
          <a:xfrm>
            <a:off x="3145536"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3D urban massing &amp; shadow analysis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Defending the fundamental human right to light and sky; using geometry to hold developers accountable for the shadows they cast over the lives of their neighbors.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Visual and quantitative reports detailing exact shadow trajectories, solar exposure hours, and the visual obstruction caused by proposed building volumes on the surrounding public space.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to 3 weeks of modeling and simulation
Material  ·  3D modeling software (e.g., Rhinoceros, SketchUp), GIS analysis tools, cadastral maps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Within the Kalasatama Digital Twins Project, the semantic 3D models were utilized to conduct precise "Sun Studies" and shadow analyses. Planners could instantly evaluate how the massing of new urban blocks would cast shadows on nearby residential areas, ensuring that proposed developments adhered to environmental comfort standards before granting planning permissions.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62  ·  ANIMATION CANVAS  ·  </a:t>
            </a:r>
            <a:r>
              <a:rPr sz="1000" b="1" i="0">
                <a:solidFill>
                  <a:srgbClr val="0D0D0D"/>
                </a:solidFill>
                <a:latin typeface="Source Sans Pro"/>
              </a:rPr>
              <a:t>3D URBAN MASSING &amp; SHADOW ANALYSIS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Sun positions · shadows × times of year</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to 3 weeks of modeling and simulation</a:t>
            </a:r>
          </a:p>
        </p:txBody>
      </p:sp>
      <p:sp>
        <p:nvSpPr>
          <p:cNvPr id="6" name="Rounded Rectangle 5"/>
          <p:cNvSpPr/>
          <p:nvPr/>
        </p:nvSpPr>
        <p:spPr>
          <a:xfrm>
            <a:off x="457200"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Winter solstice</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Dec 21 · 12h00 · long shadows</a:t>
            </a:r>
          </a:p>
        </p:txBody>
      </p:sp>
      <p:sp>
        <p:nvSpPr>
          <p:cNvPr id="9" name="Rectangle 8"/>
          <p:cNvSpPr/>
          <p:nvPr/>
        </p:nvSpPr>
        <p:spPr>
          <a:xfrm>
            <a:off x="731520" y="2788920"/>
            <a:ext cx="2147316" cy="1828800"/>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788920"/>
            <a:ext cx="2147316" cy="1828800"/>
          </a:xfrm>
          <a:prstGeom prst="rect">
            <a:avLst/>
          </a:prstGeom>
          <a:noFill/>
        </p:spPr>
        <p:txBody>
          <a:bodyPr wrap="square" lIns="0" rIns="0" tIns="0" bIns="0" anchor="ctr">
            <a:spAutoFit/>
          </a:bodyPr>
          <a:lstStyle/>
          <a:p>
            <a:pPr algn="ctr"/>
            <a:r>
              <a:rPr sz="1000" b="0" i="1">
                <a:solidFill>
                  <a:srgbClr val="757575"/>
                </a:solidFill>
                <a:latin typeface="Palatino Linotype"/>
              </a:rPr>
              <a:t>shadow render</a:t>
            </a:r>
          </a:p>
        </p:txBody>
      </p:sp>
      <p:sp>
        <p:nvSpPr>
          <p:cNvPr id="11" name="TextBox 10"/>
          <p:cNvSpPr txBox="1"/>
          <p:nvPr/>
        </p:nvSpPr>
        <p:spPr>
          <a:xfrm>
            <a:off x="685800" y="4800600"/>
            <a:ext cx="2238756" cy="274320"/>
          </a:xfrm>
          <a:prstGeom prst="rect">
            <a:avLst/>
          </a:prstGeom>
          <a:noFill/>
        </p:spPr>
        <p:txBody>
          <a:bodyPr wrap="square" lIns="0" rIns="0" tIns="0" bIns="0">
            <a:spAutoFit/>
          </a:bodyPr>
          <a:lstStyle/>
          <a:p>
            <a:pPr algn="l"/>
            <a:r>
              <a:rPr sz="900" b="1" i="0">
                <a:solidFill>
                  <a:srgbClr val="757575"/>
                </a:solidFill>
                <a:latin typeface="Source Sans Pro"/>
              </a:rPr>
              <a:t>Finding #1</a:t>
            </a:r>
          </a:p>
        </p:txBody>
      </p:sp>
      <p:cxnSp>
        <p:nvCxnSpPr>
          <p:cNvPr id="12" name="Connector 11"/>
          <p:cNvCxnSpPr/>
          <p:nvPr/>
        </p:nvCxnSpPr>
        <p:spPr>
          <a:xfrm>
            <a:off x="685800.0" y="51663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5257800"/>
            <a:ext cx="2238756" cy="274320"/>
          </a:xfrm>
          <a:prstGeom prst="rect">
            <a:avLst/>
          </a:prstGeom>
          <a:noFill/>
        </p:spPr>
        <p:txBody>
          <a:bodyPr wrap="square" lIns="0" rIns="0" tIns="0" bIns="0">
            <a:spAutoFit/>
          </a:bodyPr>
          <a:lstStyle/>
          <a:p>
            <a:pPr algn="l"/>
            <a:r>
              <a:rPr sz="900" b="1" i="0">
                <a:solidFill>
                  <a:srgbClr val="757575"/>
                </a:solidFill>
                <a:latin typeface="Source Sans Pro"/>
              </a:rPr>
              <a:t>Finding #2</a:t>
            </a:r>
          </a:p>
        </p:txBody>
      </p:sp>
      <p:cxnSp>
        <p:nvCxnSpPr>
          <p:cNvPr id="14" name="Connector 13"/>
          <p:cNvCxnSpPr/>
          <p:nvPr/>
        </p:nvCxnSpPr>
        <p:spPr>
          <a:xfrm>
            <a:off x="685800.0" y="56235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17748"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46348"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Equinox</a:t>
            </a:r>
          </a:p>
        </p:txBody>
      </p:sp>
      <p:sp>
        <p:nvSpPr>
          <p:cNvPr id="17" name="TextBox 16"/>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Mar 21 · 12h00 · medium shadows</a:t>
            </a:r>
          </a:p>
        </p:txBody>
      </p:sp>
      <p:sp>
        <p:nvSpPr>
          <p:cNvPr id="18" name="Rectangle 17"/>
          <p:cNvSpPr/>
          <p:nvPr/>
        </p:nvSpPr>
        <p:spPr>
          <a:xfrm>
            <a:off x="3592068" y="2788920"/>
            <a:ext cx="2147316" cy="1828800"/>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92068" y="2788920"/>
            <a:ext cx="2147316" cy="1828800"/>
          </a:xfrm>
          <a:prstGeom prst="rect">
            <a:avLst/>
          </a:prstGeom>
          <a:noFill/>
        </p:spPr>
        <p:txBody>
          <a:bodyPr wrap="square" lIns="0" rIns="0" tIns="0" bIns="0" anchor="ctr">
            <a:spAutoFit/>
          </a:bodyPr>
          <a:lstStyle/>
          <a:p>
            <a:pPr algn="ctr"/>
            <a:r>
              <a:rPr sz="1000" b="0" i="1">
                <a:solidFill>
                  <a:srgbClr val="757575"/>
                </a:solidFill>
                <a:latin typeface="Palatino Linotype"/>
              </a:rPr>
              <a:t>shadow render</a:t>
            </a:r>
          </a:p>
        </p:txBody>
      </p:sp>
      <p:sp>
        <p:nvSpPr>
          <p:cNvPr id="20" name="TextBox 19"/>
          <p:cNvSpPr txBox="1"/>
          <p:nvPr/>
        </p:nvSpPr>
        <p:spPr>
          <a:xfrm>
            <a:off x="3546348" y="4800600"/>
            <a:ext cx="2238756" cy="274320"/>
          </a:xfrm>
          <a:prstGeom prst="rect">
            <a:avLst/>
          </a:prstGeom>
          <a:noFill/>
        </p:spPr>
        <p:txBody>
          <a:bodyPr wrap="square" lIns="0" rIns="0" tIns="0" bIns="0">
            <a:spAutoFit/>
          </a:bodyPr>
          <a:lstStyle/>
          <a:p>
            <a:pPr algn="l"/>
            <a:r>
              <a:rPr sz="900" b="1" i="0">
                <a:solidFill>
                  <a:srgbClr val="757575"/>
                </a:solidFill>
                <a:latin typeface="Source Sans Pro"/>
              </a:rPr>
              <a:t>Finding #1</a:t>
            </a:r>
          </a:p>
        </p:txBody>
      </p:sp>
      <p:cxnSp>
        <p:nvCxnSpPr>
          <p:cNvPr id="21" name="Connector 20"/>
          <p:cNvCxnSpPr/>
          <p:nvPr/>
        </p:nvCxnSpPr>
        <p:spPr>
          <a:xfrm>
            <a:off x="3546348.0" y="51663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546348" y="5257800"/>
            <a:ext cx="2238756" cy="274320"/>
          </a:xfrm>
          <a:prstGeom prst="rect">
            <a:avLst/>
          </a:prstGeom>
          <a:noFill/>
        </p:spPr>
        <p:txBody>
          <a:bodyPr wrap="square" lIns="0" rIns="0" tIns="0" bIns="0">
            <a:spAutoFit/>
          </a:bodyPr>
          <a:lstStyle/>
          <a:p>
            <a:pPr algn="l"/>
            <a:r>
              <a:rPr sz="900" b="1" i="0">
                <a:solidFill>
                  <a:srgbClr val="757575"/>
                </a:solidFill>
                <a:latin typeface="Source Sans Pro"/>
              </a:rPr>
              <a:t>Finding #2</a:t>
            </a:r>
          </a:p>
        </p:txBody>
      </p:sp>
      <p:cxnSp>
        <p:nvCxnSpPr>
          <p:cNvPr id="23" name="Connector 22"/>
          <p:cNvCxnSpPr/>
          <p:nvPr/>
        </p:nvCxnSpPr>
        <p:spPr>
          <a:xfrm>
            <a:off x="3546348.0" y="56235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178296"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Summer solstice</a:t>
            </a:r>
          </a:p>
        </p:txBody>
      </p:sp>
      <p:sp>
        <p:nvSpPr>
          <p:cNvPr id="26" name="TextBox 25"/>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Jun 21 · 12h00 · short shadows</a:t>
            </a:r>
          </a:p>
        </p:txBody>
      </p:sp>
      <p:sp>
        <p:nvSpPr>
          <p:cNvPr id="27" name="Rectangle 26"/>
          <p:cNvSpPr/>
          <p:nvPr/>
        </p:nvSpPr>
        <p:spPr>
          <a:xfrm>
            <a:off x="6452616" y="2788920"/>
            <a:ext cx="2147316" cy="1828800"/>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2616" y="2788920"/>
            <a:ext cx="2147316" cy="1828800"/>
          </a:xfrm>
          <a:prstGeom prst="rect">
            <a:avLst/>
          </a:prstGeom>
          <a:noFill/>
        </p:spPr>
        <p:txBody>
          <a:bodyPr wrap="square" lIns="0" rIns="0" tIns="0" bIns="0" anchor="ctr">
            <a:spAutoFit/>
          </a:bodyPr>
          <a:lstStyle/>
          <a:p>
            <a:pPr algn="ctr"/>
            <a:r>
              <a:rPr sz="1000" b="0" i="1">
                <a:solidFill>
                  <a:srgbClr val="757575"/>
                </a:solidFill>
                <a:latin typeface="Palatino Linotype"/>
              </a:rPr>
              <a:t>shadow render</a:t>
            </a:r>
          </a:p>
        </p:txBody>
      </p:sp>
      <p:sp>
        <p:nvSpPr>
          <p:cNvPr id="29" name="TextBox 28"/>
          <p:cNvSpPr txBox="1"/>
          <p:nvPr/>
        </p:nvSpPr>
        <p:spPr>
          <a:xfrm>
            <a:off x="6406896" y="4800600"/>
            <a:ext cx="2238756" cy="274320"/>
          </a:xfrm>
          <a:prstGeom prst="rect">
            <a:avLst/>
          </a:prstGeom>
          <a:noFill/>
        </p:spPr>
        <p:txBody>
          <a:bodyPr wrap="square" lIns="0" rIns="0" tIns="0" bIns="0">
            <a:spAutoFit/>
          </a:bodyPr>
          <a:lstStyle/>
          <a:p>
            <a:pPr algn="l"/>
            <a:r>
              <a:rPr sz="900" b="1" i="0">
                <a:solidFill>
                  <a:srgbClr val="757575"/>
                </a:solidFill>
                <a:latin typeface="Source Sans Pro"/>
              </a:rPr>
              <a:t>Finding #1</a:t>
            </a:r>
          </a:p>
        </p:txBody>
      </p:sp>
      <p:cxnSp>
        <p:nvCxnSpPr>
          <p:cNvPr id="30" name="Connector 29"/>
          <p:cNvCxnSpPr/>
          <p:nvPr/>
        </p:nvCxnSpPr>
        <p:spPr>
          <a:xfrm>
            <a:off x="6406896.0" y="51663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6896" y="5257800"/>
            <a:ext cx="2238756" cy="274320"/>
          </a:xfrm>
          <a:prstGeom prst="rect">
            <a:avLst/>
          </a:prstGeom>
          <a:noFill/>
        </p:spPr>
        <p:txBody>
          <a:bodyPr wrap="square" lIns="0" rIns="0" tIns="0" bIns="0">
            <a:spAutoFit/>
          </a:bodyPr>
          <a:lstStyle/>
          <a:p>
            <a:pPr algn="l"/>
            <a:r>
              <a:rPr sz="900" b="1" i="0">
                <a:solidFill>
                  <a:srgbClr val="757575"/>
                </a:solidFill>
                <a:latin typeface="Source Sans Pro"/>
              </a:rPr>
              <a:t>Finding #2</a:t>
            </a:r>
          </a:p>
        </p:txBody>
      </p:sp>
      <p:cxnSp>
        <p:nvCxnSpPr>
          <p:cNvPr id="32" name="Connector 31"/>
          <p:cNvCxnSpPr/>
          <p:nvPr/>
        </p:nvCxnSpPr>
        <p:spPr>
          <a:xfrm>
            <a:off x="6406896.0" y="56235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038844"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267444" y="1600200"/>
            <a:ext cx="2238756" cy="365760"/>
          </a:xfrm>
          <a:prstGeom prst="roundRect">
            <a:avLst>
              <a:gd name="adj" fmla="val 50000"/>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Hottest hour</a:t>
            </a:r>
          </a:p>
        </p:txBody>
      </p:sp>
      <p:sp>
        <p:nvSpPr>
          <p:cNvPr id="35" name="TextBox 34"/>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Jul · 16h00 · west-facing heat</a:t>
            </a:r>
          </a:p>
        </p:txBody>
      </p:sp>
      <p:sp>
        <p:nvSpPr>
          <p:cNvPr id="36" name="Rectangle 35"/>
          <p:cNvSpPr/>
          <p:nvPr/>
        </p:nvSpPr>
        <p:spPr>
          <a:xfrm>
            <a:off x="9313164" y="2788920"/>
            <a:ext cx="2147316" cy="1828800"/>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13164" y="2788920"/>
            <a:ext cx="2147316" cy="1828800"/>
          </a:xfrm>
          <a:prstGeom prst="rect">
            <a:avLst/>
          </a:prstGeom>
          <a:noFill/>
        </p:spPr>
        <p:txBody>
          <a:bodyPr wrap="square" lIns="0" rIns="0" tIns="0" bIns="0" anchor="ctr">
            <a:spAutoFit/>
          </a:bodyPr>
          <a:lstStyle/>
          <a:p>
            <a:pPr algn="ctr"/>
            <a:r>
              <a:rPr sz="1000" b="0" i="1">
                <a:solidFill>
                  <a:srgbClr val="757575"/>
                </a:solidFill>
                <a:latin typeface="Palatino Linotype"/>
              </a:rPr>
              <a:t>shadow render</a:t>
            </a:r>
          </a:p>
        </p:txBody>
      </p:sp>
      <p:sp>
        <p:nvSpPr>
          <p:cNvPr id="38" name="TextBox 37"/>
          <p:cNvSpPr txBox="1"/>
          <p:nvPr/>
        </p:nvSpPr>
        <p:spPr>
          <a:xfrm>
            <a:off x="9267444" y="4800600"/>
            <a:ext cx="2238756" cy="274320"/>
          </a:xfrm>
          <a:prstGeom prst="rect">
            <a:avLst/>
          </a:prstGeom>
          <a:noFill/>
        </p:spPr>
        <p:txBody>
          <a:bodyPr wrap="square" lIns="0" rIns="0" tIns="0" bIns="0">
            <a:spAutoFit/>
          </a:bodyPr>
          <a:lstStyle/>
          <a:p>
            <a:pPr algn="l"/>
            <a:r>
              <a:rPr sz="900" b="1" i="0">
                <a:solidFill>
                  <a:srgbClr val="757575"/>
                </a:solidFill>
                <a:latin typeface="Source Sans Pro"/>
              </a:rPr>
              <a:t>Finding #1</a:t>
            </a:r>
          </a:p>
        </p:txBody>
      </p:sp>
      <p:cxnSp>
        <p:nvCxnSpPr>
          <p:cNvPr id="39" name="Connector 38"/>
          <p:cNvCxnSpPr/>
          <p:nvPr/>
        </p:nvCxnSpPr>
        <p:spPr>
          <a:xfrm>
            <a:off x="9267444.0" y="51663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267444" y="5257800"/>
            <a:ext cx="2238756" cy="274320"/>
          </a:xfrm>
          <a:prstGeom prst="rect">
            <a:avLst/>
          </a:prstGeom>
          <a:noFill/>
        </p:spPr>
        <p:txBody>
          <a:bodyPr wrap="square" lIns="0" rIns="0" tIns="0" bIns="0">
            <a:spAutoFit/>
          </a:bodyPr>
          <a:lstStyle/>
          <a:p>
            <a:pPr algn="l"/>
            <a:r>
              <a:rPr sz="900" b="1" i="0">
                <a:solidFill>
                  <a:srgbClr val="757575"/>
                </a:solidFill>
                <a:latin typeface="Source Sans Pro"/>
              </a:rPr>
              <a:t>Finding #2</a:t>
            </a:r>
          </a:p>
        </p:txBody>
      </p:sp>
      <p:cxnSp>
        <p:nvCxnSpPr>
          <p:cNvPr id="41" name="Connector 40"/>
          <p:cNvCxnSpPr/>
          <p:nvPr/>
        </p:nvCxnSpPr>
        <p:spPr>
          <a:xfrm>
            <a:off x="9267444.0" y="562356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2" name="Picture 4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3" name="TextBox 4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