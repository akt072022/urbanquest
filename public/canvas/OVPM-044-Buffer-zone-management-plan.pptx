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spAutoFit/>
          </a:bodyPr>
          <a:lstStyle/>
          <a:p>
            <a:pPr algn="l"/>
            <a:r>
              <a:rPr sz="1100" b="1" i="0">
                <a:solidFill>
                  <a:srgbClr val="0D0D0D"/>
                </a:solidFill>
                <a:latin typeface="Source Sans Pro"/>
              </a:rPr>
              <a:t>OVPM Co-Design Toolkit  ·  Tool 44 of 133</a:t>
            </a:r>
          </a:p>
        </p:txBody>
      </p:sp>
      <p:sp>
        <p:nvSpPr>
          <p:cNvPr id="4" name="TextBox 3"/>
          <p:cNvSpPr txBox="1"/>
          <p:nvPr/>
        </p:nvSpPr>
        <p:spPr>
          <a:xfrm>
            <a:off x="7985760" y="502920"/>
            <a:ext cx="3657600" cy="274320"/>
          </a:xfrm>
          <a:prstGeom prst="rect">
            <a:avLst/>
          </a:prstGeom>
          <a:noFill/>
        </p:spPr>
        <p:txBody>
          <a:bodyPr wrap="square" lIns="0" rIns="0" tIns="0" bIns="0">
            <a:spAutoFit/>
          </a:bodyPr>
          <a:lstStyle/>
          <a:p>
            <a:pPr algn="r"/>
            <a:r>
              <a:rPr sz="1200" b="0" i="1">
                <a:solidFill>
                  <a:srgbClr val="0D0D0D"/>
                </a:solidFill>
                <a:latin typeface="Palatino Linotype"/>
              </a:rPr>
              <a:t>Method canvas for co-design</a:t>
            </a:r>
          </a:p>
        </p:txBody>
      </p:sp>
      <p:sp>
        <p:nvSpPr>
          <p:cNvPr id="5" name="TextBox 4"/>
          <p:cNvSpPr txBox="1"/>
          <p:nvPr/>
        </p:nvSpPr>
        <p:spPr>
          <a:xfrm>
            <a:off x="548640" y="1554480"/>
            <a:ext cx="11094720" cy="2194560"/>
          </a:xfrm>
          <a:prstGeom prst="rect">
            <a:avLst/>
          </a:prstGeom>
          <a:noFill/>
        </p:spPr>
        <p:txBody>
          <a:bodyPr wrap="square" lIns="0" rIns="0" tIns="0" bIns="0">
            <a:spAutoFit/>
          </a:bodyPr>
          <a:lstStyle/>
          <a:p>
            <a:pPr algn="l"/>
            <a:r>
              <a:rPr sz="5200" b="0" i="0">
                <a:solidFill>
                  <a:srgbClr val="0D0D0D"/>
                </a:solidFill>
                <a:latin typeface="Palatino Linotype"/>
              </a:rPr>
              <a:t>Buffer zone management plan</a:t>
            </a:r>
          </a:p>
        </p:txBody>
      </p:sp>
      <p:sp>
        <p:nvSpPr>
          <p:cNvPr id="6" name="TextBox 5"/>
          <p:cNvSpPr txBox="1"/>
          <p:nvPr/>
        </p:nvSpPr>
        <p:spPr>
          <a:xfrm>
            <a:off x="548640" y="3931920"/>
            <a:ext cx="10058400" cy="1280160"/>
          </a:xfrm>
          <a:prstGeom prst="rect">
            <a:avLst/>
          </a:prstGeom>
          <a:noFill/>
        </p:spPr>
        <p:txBody>
          <a:bodyPr wrap="square" lIns="0" rIns="0" tIns="0" bIns="0">
            <a:spAutoFit/>
          </a:bodyPr>
          <a:lstStyle/>
          <a:p>
            <a:pPr algn="l"/>
            <a:r>
              <a:rPr sz="1100" b="1" i="0">
                <a:solidFill>
                  <a:srgbClr val="0D0D0D"/>
                </a:solidFill>
                <a:latin typeface="Source Sans Pro"/>
              </a:rPr>
              <a:t>What this tool produces  ·  </a:t>
            </a:r>
            <a:r>
              <a:rPr sz="1500" b="0" i="1">
                <a:solidFill>
                  <a:srgbClr val="0D0D0D"/>
                </a:solidFill>
                <a:latin typeface="Palatino Linotype"/>
              </a:rPr>
              <a:t>A statutory planning document that restricts building heights, materials, and land uses in the areas adjacent to a heritage asset to protect its visual and functional integrity,.</a:t>
            </a:r>
          </a:p>
        </p:txBody>
      </p:sp>
      <p:sp>
        <p:nvSpPr>
          <p:cNvPr id="7" name="Rounded Rectangle 6"/>
          <p:cNvSpPr/>
          <p:nvPr/>
        </p:nvSpPr>
        <p:spPr>
          <a:xfrm>
            <a:off x="548640" y="5212080"/>
            <a:ext cx="2194560" cy="384048"/>
          </a:xfrm>
          <a:prstGeom prst="roundRect">
            <a:avLst>
              <a:gd name="adj" fmla="val 5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FFFFFF"/>
                </a:solidFill>
                <a:latin typeface="Source Sans Pro"/>
              </a:rPr>
              <a:t>G3 · Proof of Anchoring</a:t>
            </a:r>
          </a:p>
        </p:txBody>
      </p:sp>
      <p:sp>
        <p:nvSpPr>
          <p:cNvPr id="8" name="TextBox 7"/>
          <p:cNvSpPr txBox="1"/>
          <p:nvPr/>
        </p:nvSpPr>
        <p:spPr>
          <a:xfrm>
            <a:off x="548640" y="5669280"/>
            <a:ext cx="1828800" cy="274320"/>
          </a:xfrm>
          <a:prstGeom prst="rect">
            <a:avLst/>
          </a:prstGeom>
          <a:noFill/>
        </p:spPr>
        <p:txBody>
          <a:bodyPr wrap="square" lIns="0" rIns="0" tIns="0" bIns="0">
            <a:spAutoFit/>
          </a:bodyPr>
          <a:lstStyle/>
          <a:p>
            <a:pPr algn="l"/>
            <a:r>
              <a:rPr sz="900" b="1" i="0">
                <a:solidFill>
                  <a:srgbClr val="0D0D0D"/>
                </a:solidFill>
                <a:latin typeface="Source Sans Pro"/>
              </a:rPr>
              <a:t>Dimensions</a:t>
            </a:r>
          </a:p>
        </p:txBody>
      </p:sp>
      <p:sp>
        <p:nvSpPr>
          <p:cNvPr id="9" name="Rounded Rectangle 8"/>
          <p:cNvSpPr/>
          <p:nvPr/>
        </p:nvSpPr>
        <p:spPr>
          <a:xfrm>
            <a:off x="548640"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Regulation</a:t>
            </a:r>
          </a:p>
        </p:txBody>
      </p:sp>
      <p:sp>
        <p:nvSpPr>
          <p:cNvPr id="10" name="Rounded Rectangle 9"/>
          <p:cNvSpPr/>
          <p:nvPr/>
        </p:nvSpPr>
        <p:spPr>
          <a:xfrm>
            <a:off x="1847088"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Spatial</a:t>
            </a:r>
          </a:p>
        </p:txBody>
      </p:sp>
      <p:sp>
        <p:nvSpPr>
          <p:cNvPr id="11" name="Rounded Rectangle 10"/>
          <p:cNvSpPr/>
          <p:nvPr/>
        </p:nvSpPr>
        <p:spPr>
          <a:xfrm>
            <a:off x="3145536"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Heritage</a:t>
            </a:r>
          </a:p>
        </p:txBody>
      </p:sp>
      <p:pic>
        <p:nvPicPr>
          <p:cNvPr id="12" name="Picture 11" descr="aktan_black_transparent.png"/>
          <p:cNvPicPr>
            <a:picLocks noChangeAspect="1"/>
          </p:cNvPicPr>
          <p:nvPr/>
        </p:nvPicPr>
        <p:blipFill>
          <a:blip r:embed="rId2"/>
          <a:stretch>
            <a:fillRect/>
          </a:stretch>
        </p:blipFill>
        <p:spPr>
          <a:xfrm>
            <a:off x="10271760" y="6024114"/>
            <a:ext cx="1371600" cy="330966"/>
          </a:xfrm>
          <a:prstGeom prst="rect">
            <a:avLst/>
          </a:prstGeom>
        </p:spPr>
      </p:pic>
      <p:sp>
        <p:nvSpPr>
          <p:cNvPr id="13" name="TextBox 12"/>
          <p:cNvSpPr txBox="1"/>
          <p:nvPr/>
        </p:nvSpPr>
        <p:spPr>
          <a:xfrm>
            <a:off x="10271760" y="6395080"/>
            <a:ext cx="1371600" cy="274320"/>
          </a:xfrm>
          <a:prstGeom prst="rect">
            <a:avLst/>
          </a:prstGeom>
          <a:noFill/>
        </p:spPr>
        <p:txBody>
          <a:bodyPr wrap="square" lIns="0" rIns="0" tIns="0" bIns="0">
            <a:spAutoFit/>
          </a:bodyPr>
          <a:lstStyle/>
          <a:p>
            <a:pPr algn="ctr"/>
            <a:r>
              <a:rPr sz="1200" b="0" i="1">
                <a:solidFill>
                  <a:srgbClr val="0D0D0D"/>
                </a:solidFill>
                <a:latin typeface="Palatino Linotype"/>
              </a:rPr>
              <a:t>With simplexity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44  ·  FACILITATOR PREPARATION</a:t>
            </a:r>
          </a:p>
        </p:txBody>
      </p:sp>
      <p:sp>
        <p:nvSpPr>
          <p:cNvPr id="4" name="TextBox 3"/>
          <p:cNvSpPr txBox="1"/>
          <p:nvPr/>
        </p:nvSpPr>
        <p:spPr>
          <a:xfrm>
            <a:off x="457200" y="594360"/>
            <a:ext cx="10515600" cy="914400"/>
          </a:xfrm>
          <a:prstGeom prst="rect">
            <a:avLst/>
          </a:prstGeom>
          <a:noFill/>
        </p:spPr>
        <p:txBody>
          <a:bodyPr wrap="square" lIns="0" rIns="0" tIns="0" bIns="0">
            <a:spAutoFit/>
          </a:bodyPr>
          <a:lstStyle/>
          <a:p>
            <a:pPr algn="l"/>
            <a:r>
              <a:rPr sz="2800" b="0" i="0">
                <a:solidFill>
                  <a:srgbClr val="0D0D0D"/>
                </a:solidFill>
                <a:latin typeface="Palatino Linotype"/>
              </a:rPr>
              <a:t>Preparing the workshop  ·  </a:t>
            </a:r>
            <a:r>
              <a:rPr sz="2800" b="0" i="1">
                <a:solidFill>
                  <a:srgbClr val="0D0D0D"/>
                </a:solidFill>
                <a:latin typeface="Palatino Linotype"/>
              </a:rPr>
              <a:t>Buffer zone management plan</a:t>
            </a:r>
          </a:p>
        </p:txBody>
      </p:sp>
      <p:sp>
        <p:nvSpPr>
          <p:cNvPr id="5" name="Rounded Rectangle 4"/>
          <p:cNvSpPr/>
          <p:nvPr/>
        </p:nvSpPr>
        <p:spPr>
          <a:xfrm>
            <a:off x="457200" y="1554480"/>
            <a:ext cx="2468880" cy="384048"/>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G3 · Proof of Anchoring</a:t>
            </a:r>
          </a:p>
        </p:txBody>
      </p:sp>
      <p:sp>
        <p:nvSpPr>
          <p:cNvPr id="6" name="Rounded Rectangle 5"/>
          <p:cNvSpPr/>
          <p:nvPr/>
        </p:nvSpPr>
        <p:spPr>
          <a:xfrm>
            <a:off x="45720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Why this tool matters</a:t>
            </a:r>
          </a:p>
        </p:txBody>
      </p:sp>
      <p:sp>
        <p:nvSpPr>
          <p:cNvPr id="9" name="TextBox 8"/>
          <p:cNvSpPr txBox="1"/>
          <p:nvPr/>
        </p:nvSpPr>
        <p:spPr>
          <a:xfrm>
            <a:off x="73152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Guarding the breathing room of a monument; ensuring that the historic center is not choked, shadowed, or diminished by the aggressive skyline of unregulated real estate capital.</a:t>
            </a:r>
          </a:p>
        </p:txBody>
      </p:sp>
      <p:sp>
        <p:nvSpPr>
          <p:cNvPr id="10" name="Rounded Rectangle 9"/>
          <p:cNvSpPr/>
          <p:nvPr/>
        </p:nvSpPr>
        <p:spPr>
          <a:xfrm>
            <a:off x="608076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Evidence we produce</a:t>
            </a:r>
          </a:p>
        </p:txBody>
      </p:sp>
      <p:sp>
        <p:nvSpPr>
          <p:cNvPr id="13" name="TextBox 12"/>
          <p:cNvSpPr txBox="1"/>
          <p:nvPr/>
        </p:nvSpPr>
        <p:spPr>
          <a:xfrm>
            <a:off x="635508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A statutory planning document that restricts building heights, materials, and land uses in the areas adjacent to a heritage asset to protect its visual and functional integrity,.</a:t>
            </a:r>
          </a:p>
        </p:txBody>
      </p:sp>
      <p:sp>
        <p:nvSpPr>
          <p:cNvPr id="14" name="Rounded Rectangle 13"/>
          <p:cNvSpPr/>
          <p:nvPr/>
        </p:nvSpPr>
        <p:spPr>
          <a:xfrm>
            <a:off x="45720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Duration &amp; Material</a:t>
            </a:r>
          </a:p>
        </p:txBody>
      </p:sp>
      <p:sp>
        <p:nvSpPr>
          <p:cNvPr id="17" name="TextBox 16"/>
          <p:cNvSpPr txBox="1"/>
          <p:nvPr/>
        </p:nvSpPr>
        <p:spPr>
          <a:xfrm>
            <a:off x="73152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Duration  ·  6 to 12 months for drafting and legal adoption
Material  ·  Spatial zoning maps, visual impact assessment tools, municipal policy frameworks</a:t>
            </a:r>
          </a:p>
        </p:txBody>
      </p:sp>
      <p:sp>
        <p:nvSpPr>
          <p:cNvPr id="18" name="Rounded Rectangle 17"/>
          <p:cNvSpPr/>
          <p:nvPr/>
        </p:nvSpPr>
        <p:spPr>
          <a:xfrm>
            <a:off x="608076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Reference case</a:t>
            </a:r>
          </a:p>
        </p:txBody>
      </p:sp>
      <p:sp>
        <p:nvSpPr>
          <p:cNvPr id="21" name="TextBox 20"/>
          <p:cNvSpPr txBox="1"/>
          <p:nvPr/>
        </p:nvSpPr>
        <p:spPr>
          <a:xfrm>
            <a:off x="635508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The Action Area Plan for the Buffer Zone of the Aapravasi Ghat World Heritage Property in Mauritius graded all buildings in the vicinity based on their significance. It established strict Planning Policy Guidance dictating building heights, facade materials, and the provision of public walkways. This ensured that new projects in the port area were executed under a single, integrated vision that protected the Outstanding Universal Value of the site,,.</a:t>
            </a:r>
          </a:p>
        </p:txBody>
      </p:sp>
      <p:sp>
        <p:nvSpPr>
          <p:cNvPr id="22" name="TextBox 21"/>
          <p:cNvSpPr txBox="1"/>
          <p:nvPr/>
        </p:nvSpPr>
        <p:spPr>
          <a:xfrm>
            <a:off x="457200" y="6035040"/>
            <a:ext cx="10515600" cy="274320"/>
          </a:xfrm>
          <a:prstGeom prst="rect">
            <a:avLst/>
          </a:prstGeom>
          <a:noFill/>
        </p:spPr>
        <p:txBody>
          <a:bodyPr wrap="square" lIns="0" rIns="0" tIns="0" bIns="0">
            <a:spAutoFit/>
          </a:bodyPr>
          <a:lstStyle/>
          <a:p>
            <a:pPr algn="l"/>
            <a:r>
              <a:rPr sz="1000" b="1" i="0">
                <a:solidFill>
                  <a:srgbClr val="0D0D0D"/>
                </a:solidFill>
                <a:latin typeface="Source Sans Pro"/>
              </a:rPr>
              <a:t>Suggested agenda  ·  </a:t>
            </a:r>
            <a:r>
              <a:rPr sz="1000" b="0" i="0">
                <a:solidFill>
                  <a:srgbClr val="757575"/>
                </a:solidFill>
                <a:latin typeface="Source Sans Pro"/>
              </a:rPr>
              <a:t>Brief (10 min)  ›  Method walk-through (15 min)  ›  Animation canvas (60–90 min)  ›  Harvest (20 min)</a:t>
            </a:r>
          </a:p>
        </p:txBody>
      </p:sp>
      <p:pic>
        <p:nvPicPr>
          <p:cNvPr id="23" name="Picture 22"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24" name="TextBox 23"/>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058400" cy="274320"/>
          </a:xfrm>
          <a:prstGeom prst="rect">
            <a:avLst/>
          </a:prstGeom>
          <a:noFill/>
        </p:spPr>
        <p:txBody>
          <a:bodyPr wrap="square" lIns="0" rIns="0" tIns="0" bIns="0">
            <a:spAutoFit/>
          </a:bodyPr>
          <a:lstStyle/>
          <a:p>
            <a:pPr algn="l"/>
            <a:r>
              <a:rPr sz="1000" b="1" i="0">
                <a:solidFill>
                  <a:srgbClr val="757575"/>
                </a:solidFill>
                <a:latin typeface="Source Sans Pro"/>
              </a:rPr>
              <a:t>TOOL 44  ·  ANIMATION CANVAS  ·  </a:t>
            </a:r>
            <a:r>
              <a:rPr sz="1000" b="1" i="0">
                <a:solidFill>
                  <a:srgbClr val="0D0D0D"/>
                </a:solidFill>
                <a:latin typeface="Source Sans Pro"/>
              </a:rPr>
              <a:t>BUFFER ZONE MANAGEMENT PLAN</a:t>
            </a:r>
          </a:p>
        </p:txBody>
      </p:sp>
      <p:sp>
        <p:nvSpPr>
          <p:cNvPr id="4" name="TextBox 3"/>
          <p:cNvSpPr txBox="1"/>
          <p:nvPr/>
        </p:nvSpPr>
        <p:spPr>
          <a:xfrm>
            <a:off x="457200" y="640080"/>
            <a:ext cx="8229600" cy="640080"/>
          </a:xfrm>
          <a:prstGeom prst="rect">
            <a:avLst/>
          </a:prstGeom>
          <a:noFill/>
        </p:spPr>
        <p:txBody>
          <a:bodyPr wrap="square" lIns="0" rIns="0" tIns="0" bIns="0">
            <a:spAutoFit/>
          </a:bodyPr>
          <a:lstStyle/>
          <a:p>
            <a:pPr algn="l"/>
            <a:r>
              <a:rPr sz="2400" b="0" i="0">
                <a:solidFill>
                  <a:srgbClr val="0D0D0D"/>
                </a:solidFill>
                <a:latin typeface="Palatino Linotype"/>
              </a:rPr>
              <a:t>Core × buffer × transition zones</a:t>
            </a:r>
          </a:p>
        </p:txBody>
      </p:sp>
      <p:sp>
        <p:nvSpPr>
          <p:cNvPr id="5" name="TextBox 4"/>
          <p:cNvSpPr txBox="1"/>
          <p:nvPr/>
        </p:nvSpPr>
        <p:spPr>
          <a:xfrm>
            <a:off x="8778240" y="640080"/>
            <a:ext cx="2926080" cy="640080"/>
          </a:xfrm>
          <a:prstGeom prst="rect">
            <a:avLst/>
          </a:prstGeom>
          <a:noFill/>
        </p:spPr>
        <p:txBody>
          <a:bodyPr wrap="square" lIns="0" rIns="0" tIns="0" bIns="0">
            <a:spAutoFit/>
          </a:bodyPr>
          <a:lstStyle/>
          <a:p>
            <a:pPr algn="r"/>
            <a:r>
              <a:rPr sz="850" b="1" i="0">
                <a:solidFill>
                  <a:srgbClr val="757575"/>
                </a:solidFill>
                <a:latin typeface="Source Sans Pro"/>
              </a:rPr>
              <a:t>Duration</a:t>
            </a:r>
          </a:p>
          <a:p>
            <a:pPr algn="r"/>
            <a:r>
              <a:rPr sz="1000" b="0" i="0">
                <a:solidFill>
                  <a:srgbClr val="0D0D0D"/>
                </a:solidFill>
                <a:latin typeface="Source Sans Pro"/>
              </a:rPr>
              <a:t>6 to 12 months for drafting and legal adoption</a:t>
            </a:r>
          </a:p>
        </p:txBody>
      </p:sp>
      <p:sp>
        <p:nvSpPr>
          <p:cNvPr id="6" name="Rounded Rectangle 5"/>
          <p:cNvSpPr/>
          <p:nvPr/>
        </p:nvSpPr>
        <p:spPr>
          <a:xfrm>
            <a:off x="457200" y="1417320"/>
            <a:ext cx="5029200"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600200"/>
            <a:ext cx="4572000" cy="365760"/>
          </a:xfrm>
          <a:prstGeom prst="rect">
            <a:avLst/>
          </a:prstGeom>
          <a:noFill/>
        </p:spPr>
        <p:txBody>
          <a:bodyPr wrap="square" lIns="0" rIns="0" tIns="0" bIns="0">
            <a:spAutoFit/>
          </a:bodyPr>
          <a:lstStyle/>
          <a:p>
            <a:pPr algn="l"/>
            <a:r>
              <a:rPr sz="1300" b="0" i="1">
                <a:solidFill>
                  <a:srgbClr val="0D0D0D"/>
                </a:solidFill>
                <a:latin typeface="Palatino Linotype"/>
              </a:rPr>
              <a:t>Zone diagram</a:t>
            </a:r>
          </a:p>
        </p:txBody>
      </p:sp>
      <p:sp>
        <p:nvSpPr>
          <p:cNvPr id="8" name="Oval 7"/>
          <p:cNvSpPr/>
          <p:nvPr/>
        </p:nvSpPr>
        <p:spPr>
          <a:xfrm>
            <a:off x="1143000" y="2148840"/>
            <a:ext cx="3657600" cy="3657600"/>
          </a:xfrm>
          <a:prstGeom prst="ellipse">
            <a:avLst/>
          </a:prstGeom>
          <a:solidFill>
            <a:srgbClr val="B0DAF1"/>
          </a:solidFill>
          <a:ln w="1016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91640" y="2697480"/>
            <a:ext cx="2560320" cy="2560320"/>
          </a:xfrm>
          <a:prstGeom prst="ellipse">
            <a:avLst/>
          </a:prstGeom>
          <a:solidFill>
            <a:srgbClr val="FFD200"/>
          </a:solidFill>
          <a:ln w="1016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331720" y="3337560"/>
            <a:ext cx="1280160" cy="1280160"/>
          </a:xfrm>
          <a:prstGeom prst="ellipse">
            <a:avLst/>
          </a:prstGeom>
          <a:solidFill>
            <a:srgbClr val="FF674D"/>
          </a:solidFill>
          <a:ln w="1016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057400" y="2194560"/>
            <a:ext cx="1828800" cy="274320"/>
          </a:xfrm>
          <a:prstGeom prst="rect">
            <a:avLst/>
          </a:prstGeom>
          <a:noFill/>
        </p:spPr>
        <p:txBody>
          <a:bodyPr wrap="square" lIns="0" rIns="0" tIns="0" bIns="0">
            <a:spAutoFit/>
          </a:bodyPr>
          <a:lstStyle/>
          <a:p>
            <a:pPr algn="ctr"/>
            <a:r>
              <a:rPr sz="1000" b="1" i="0">
                <a:solidFill>
                  <a:srgbClr val="0D0D0D"/>
                </a:solidFill>
                <a:latin typeface="Source Sans Pro"/>
              </a:rPr>
              <a:t>Transition</a:t>
            </a:r>
          </a:p>
        </p:txBody>
      </p:sp>
      <p:sp>
        <p:nvSpPr>
          <p:cNvPr id="12" name="TextBox 11"/>
          <p:cNvSpPr txBox="1"/>
          <p:nvPr/>
        </p:nvSpPr>
        <p:spPr>
          <a:xfrm>
            <a:off x="2057400" y="2743200"/>
            <a:ext cx="1828800" cy="274320"/>
          </a:xfrm>
          <a:prstGeom prst="rect">
            <a:avLst/>
          </a:prstGeom>
          <a:noFill/>
        </p:spPr>
        <p:txBody>
          <a:bodyPr wrap="square" lIns="0" rIns="0" tIns="0" bIns="0">
            <a:spAutoFit/>
          </a:bodyPr>
          <a:lstStyle/>
          <a:p>
            <a:pPr algn="ctr"/>
            <a:r>
              <a:rPr sz="1000" b="1" i="0">
                <a:solidFill>
                  <a:srgbClr val="0D0D0D"/>
                </a:solidFill>
                <a:latin typeface="Source Sans Pro"/>
              </a:rPr>
              <a:t>Buffer</a:t>
            </a:r>
          </a:p>
        </p:txBody>
      </p:sp>
      <p:sp>
        <p:nvSpPr>
          <p:cNvPr id="13" name="TextBox 12"/>
          <p:cNvSpPr txBox="1"/>
          <p:nvPr/>
        </p:nvSpPr>
        <p:spPr>
          <a:xfrm>
            <a:off x="2057400" y="3383280"/>
            <a:ext cx="1828800" cy="274320"/>
          </a:xfrm>
          <a:prstGeom prst="rect">
            <a:avLst/>
          </a:prstGeom>
          <a:noFill/>
        </p:spPr>
        <p:txBody>
          <a:bodyPr wrap="square" lIns="0" rIns="0" tIns="0" bIns="0">
            <a:spAutoFit/>
          </a:bodyPr>
          <a:lstStyle/>
          <a:p>
            <a:pPr algn="ctr"/>
            <a:r>
              <a:rPr sz="1000" b="1" i="0">
                <a:solidFill>
                  <a:srgbClr val="0D0D0D"/>
                </a:solidFill>
                <a:latin typeface="Source Sans Pro"/>
              </a:rPr>
              <a:t>Core</a:t>
            </a:r>
          </a:p>
        </p:txBody>
      </p:sp>
      <p:sp>
        <p:nvSpPr>
          <p:cNvPr id="14" name="Rounded Rectangle 13"/>
          <p:cNvSpPr/>
          <p:nvPr/>
        </p:nvSpPr>
        <p:spPr>
          <a:xfrm>
            <a:off x="5715000" y="1600200"/>
            <a:ext cx="6019800" cy="105156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897880" y="1737360"/>
            <a:ext cx="1828800" cy="310896"/>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Core</a:t>
            </a:r>
          </a:p>
        </p:txBody>
      </p:sp>
      <p:sp>
        <p:nvSpPr>
          <p:cNvPr id="16" name="TextBox 15"/>
          <p:cNvSpPr txBox="1"/>
          <p:nvPr/>
        </p:nvSpPr>
        <p:spPr>
          <a:xfrm>
            <a:off x="5897880" y="2148840"/>
            <a:ext cx="5654040" cy="365760"/>
          </a:xfrm>
          <a:prstGeom prst="rect">
            <a:avLst/>
          </a:prstGeom>
          <a:noFill/>
        </p:spPr>
        <p:txBody>
          <a:bodyPr wrap="square" lIns="0" rIns="0" tIns="0" bIns="0">
            <a:spAutoFit/>
          </a:bodyPr>
          <a:lstStyle/>
          <a:p>
            <a:pPr algn="l"/>
            <a:r>
              <a:rPr sz="1050" b="0" i="1">
                <a:solidFill>
                  <a:srgbClr val="757575"/>
                </a:solidFill>
                <a:latin typeface="Palatino Linotype"/>
              </a:rPr>
              <a:t>no new building, restoration only</a:t>
            </a:r>
          </a:p>
        </p:txBody>
      </p:sp>
      <p:sp>
        <p:nvSpPr>
          <p:cNvPr id="17" name="Rounded Rectangle 16"/>
          <p:cNvSpPr/>
          <p:nvPr/>
        </p:nvSpPr>
        <p:spPr>
          <a:xfrm>
            <a:off x="5715000" y="2788920"/>
            <a:ext cx="6019800" cy="105156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897880" y="2926080"/>
            <a:ext cx="1828800" cy="310896"/>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Buffer</a:t>
            </a:r>
          </a:p>
        </p:txBody>
      </p:sp>
      <p:sp>
        <p:nvSpPr>
          <p:cNvPr id="19" name="TextBox 18"/>
          <p:cNvSpPr txBox="1"/>
          <p:nvPr/>
        </p:nvSpPr>
        <p:spPr>
          <a:xfrm>
            <a:off x="5897880" y="3337560"/>
            <a:ext cx="5654040" cy="365760"/>
          </a:xfrm>
          <a:prstGeom prst="rect">
            <a:avLst/>
          </a:prstGeom>
          <a:noFill/>
        </p:spPr>
        <p:txBody>
          <a:bodyPr wrap="square" lIns="0" rIns="0" tIns="0" bIns="0">
            <a:spAutoFit/>
          </a:bodyPr>
          <a:lstStyle/>
          <a:p>
            <a:pPr algn="l"/>
            <a:r>
              <a:rPr sz="1050" b="0" i="1">
                <a:solidFill>
                  <a:srgbClr val="757575"/>
                </a:solidFill>
                <a:latin typeface="Palatino Linotype"/>
              </a:rPr>
              <a:t>controlled, low impact</a:t>
            </a:r>
          </a:p>
        </p:txBody>
      </p:sp>
      <p:sp>
        <p:nvSpPr>
          <p:cNvPr id="20" name="Rounded Rectangle 19"/>
          <p:cNvSpPr/>
          <p:nvPr/>
        </p:nvSpPr>
        <p:spPr>
          <a:xfrm>
            <a:off x="5715000" y="3977640"/>
            <a:ext cx="6019800" cy="105156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897880" y="4114800"/>
            <a:ext cx="1828800" cy="310896"/>
          </a:xfrm>
          <a:prstGeom prst="roundRect">
            <a:avLst>
              <a:gd name="adj" fmla="val 50000"/>
            </a:avLst>
          </a:prstGeom>
          <a:solidFill>
            <a:srgbClr val="B0DAF1"/>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Transition</a:t>
            </a:r>
          </a:p>
        </p:txBody>
      </p:sp>
      <p:sp>
        <p:nvSpPr>
          <p:cNvPr id="22" name="TextBox 21"/>
          <p:cNvSpPr txBox="1"/>
          <p:nvPr/>
        </p:nvSpPr>
        <p:spPr>
          <a:xfrm>
            <a:off x="5897880" y="4526280"/>
            <a:ext cx="5654040" cy="365760"/>
          </a:xfrm>
          <a:prstGeom prst="rect">
            <a:avLst/>
          </a:prstGeom>
          <a:noFill/>
        </p:spPr>
        <p:txBody>
          <a:bodyPr wrap="square" lIns="0" rIns="0" tIns="0" bIns="0">
            <a:spAutoFit/>
          </a:bodyPr>
          <a:lstStyle/>
          <a:p>
            <a:pPr algn="l"/>
            <a:r>
              <a:rPr sz="1050" b="0" i="1">
                <a:solidFill>
                  <a:srgbClr val="757575"/>
                </a:solidFill>
                <a:latin typeface="Palatino Linotype"/>
              </a:rPr>
              <a:t>integrated, scaled</a:t>
            </a:r>
          </a:p>
        </p:txBody>
      </p:sp>
      <p:sp>
        <p:nvSpPr>
          <p:cNvPr id="23" name="Rounded Rectangle 22"/>
          <p:cNvSpPr/>
          <p:nvPr/>
        </p:nvSpPr>
        <p:spPr>
          <a:xfrm>
            <a:off x="5715000" y="5166360"/>
            <a:ext cx="6019800" cy="105156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897880" y="5303520"/>
            <a:ext cx="1828800" cy="310896"/>
          </a:xfrm>
          <a:prstGeom prst="roundRect">
            <a:avLst>
              <a:gd name="adj" fmla="val 50000"/>
            </a:avLst>
          </a:prstGeom>
          <a:solidFill>
            <a:srgbClr val="EEECE6"/>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Outside</a:t>
            </a:r>
          </a:p>
        </p:txBody>
      </p:sp>
      <p:sp>
        <p:nvSpPr>
          <p:cNvPr id="25" name="TextBox 24"/>
          <p:cNvSpPr txBox="1"/>
          <p:nvPr/>
        </p:nvSpPr>
        <p:spPr>
          <a:xfrm>
            <a:off x="5897880" y="5715000"/>
            <a:ext cx="5654040" cy="365760"/>
          </a:xfrm>
          <a:prstGeom prst="rect">
            <a:avLst/>
          </a:prstGeom>
          <a:noFill/>
        </p:spPr>
        <p:txBody>
          <a:bodyPr wrap="square" lIns="0" rIns="0" tIns="0" bIns="0">
            <a:spAutoFit/>
          </a:bodyPr>
          <a:lstStyle/>
          <a:p>
            <a:pPr algn="l"/>
            <a:r>
              <a:rPr sz="1050" b="0" i="1">
                <a:solidFill>
                  <a:srgbClr val="757575"/>
                </a:solidFill>
                <a:latin typeface="Palatino Linotype"/>
              </a:rPr>
              <a:t>standard rules</a:t>
            </a:r>
          </a:p>
        </p:txBody>
      </p:sp>
      <p:pic>
        <p:nvPicPr>
          <p:cNvPr id="26" name="Picture 25"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27" name="TextBox 26"/>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44  ·  HARVEST</a:t>
            </a:r>
          </a:p>
        </p:txBody>
      </p:sp>
      <p:sp>
        <p:nvSpPr>
          <p:cNvPr id="4" name="TextBox 3"/>
          <p:cNvSpPr txBox="1"/>
          <p:nvPr/>
        </p:nvSpPr>
        <p:spPr>
          <a:xfrm>
            <a:off x="457200" y="594360"/>
            <a:ext cx="10515600" cy="640080"/>
          </a:xfrm>
          <a:prstGeom prst="rect">
            <a:avLst/>
          </a:prstGeom>
          <a:noFill/>
        </p:spPr>
        <p:txBody>
          <a:bodyPr wrap="square" lIns="0" rIns="0" tIns="0" bIns="0">
            <a:spAutoFit/>
          </a:bodyPr>
          <a:lstStyle/>
          <a:p>
            <a:pPr algn="l"/>
            <a:r>
              <a:rPr sz="2800" b="0" i="0">
                <a:solidFill>
                  <a:srgbClr val="0D0D0D"/>
                </a:solidFill>
                <a:latin typeface="Palatino Linotype"/>
              </a:rPr>
              <a:t>Harvesting our  </a:t>
            </a:r>
            <a:r>
              <a:rPr sz="2800" b="0" i="1">
                <a:solidFill>
                  <a:srgbClr val="0D0D0D"/>
                </a:solidFill>
                <a:latin typeface="Palatino Linotype"/>
              </a:rPr>
              <a:t>learnings</a:t>
            </a:r>
          </a:p>
        </p:txBody>
      </p:sp>
      <p:sp>
        <p:nvSpPr>
          <p:cNvPr id="5" name="TextBox 4"/>
          <p:cNvSpPr txBox="1"/>
          <p:nvPr/>
        </p:nvSpPr>
        <p:spPr>
          <a:xfrm>
            <a:off x="457200" y="1234440"/>
            <a:ext cx="10515600" cy="365760"/>
          </a:xfrm>
          <a:prstGeom prst="rect">
            <a:avLst/>
          </a:prstGeom>
          <a:noFill/>
        </p:spPr>
        <p:txBody>
          <a:bodyPr wrap="square" lIns="0" rIns="0" tIns="0" bIns="0">
            <a:spAutoFit/>
          </a:bodyPr>
          <a:lstStyle/>
          <a:p>
            <a:pPr algn="l"/>
            <a:r>
              <a:rPr sz="1300" b="0" i="1">
                <a:solidFill>
                  <a:srgbClr val="757575"/>
                </a:solidFill>
                <a:latin typeface="Palatino Linotype"/>
              </a:rPr>
              <a:t>After running the canvas, capture three layers of insight.</a:t>
            </a:r>
          </a:p>
        </p:txBody>
      </p:sp>
      <p:sp>
        <p:nvSpPr>
          <p:cNvPr id="6" name="Rounded Rectangle 5"/>
          <p:cNvSpPr/>
          <p:nvPr/>
        </p:nvSpPr>
        <p:spPr>
          <a:xfrm>
            <a:off x="4572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Stand-out signals, surprising stories, ideas to remember</a:t>
            </a:r>
          </a:p>
        </p:txBody>
      </p:sp>
      <p:cxnSp>
        <p:nvCxnSpPr>
          <p:cNvPr id="8" name="Connector 7"/>
          <p:cNvCxnSpPr/>
          <p:nvPr/>
        </p:nvCxnSpPr>
        <p:spPr>
          <a:xfrm>
            <a:off x="7772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772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772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772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772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772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772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926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26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Concrete adaptations to our context, our team, our constraints</a:t>
            </a:r>
          </a:p>
        </p:txBody>
      </p:sp>
      <p:cxnSp>
        <p:nvCxnSpPr>
          <p:cNvPr id="17" name="Connector 16"/>
          <p:cNvCxnSpPr/>
          <p:nvPr/>
        </p:nvCxnSpPr>
        <p:spPr>
          <a:xfrm>
            <a:off x="46126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6126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6126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6126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6126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6126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6126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280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480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Skills, allies, resources, decisions still to secure</a:t>
            </a:r>
          </a:p>
        </p:txBody>
      </p:sp>
      <p:cxnSp>
        <p:nvCxnSpPr>
          <p:cNvPr id="26" name="Connector 25"/>
          <p:cNvCxnSpPr/>
          <p:nvPr/>
        </p:nvCxnSpPr>
        <p:spPr>
          <a:xfrm>
            <a:off x="84480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4480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4480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4480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4480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4480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4480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035304" y="1801368"/>
            <a:ext cx="2450592" cy="42062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inspires me</a:t>
            </a:r>
          </a:p>
        </p:txBody>
      </p:sp>
      <p:sp>
        <p:nvSpPr>
          <p:cNvPr id="34" name="Rounded Rectangle 33"/>
          <p:cNvSpPr/>
          <p:nvPr/>
        </p:nvSpPr>
        <p:spPr>
          <a:xfrm>
            <a:off x="4632960" y="1801368"/>
            <a:ext cx="2926080" cy="42062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How to apply it here</a:t>
            </a:r>
          </a:p>
        </p:txBody>
      </p:sp>
      <p:sp>
        <p:nvSpPr>
          <p:cNvPr id="35" name="Rounded Rectangle 34"/>
          <p:cNvSpPr/>
          <p:nvPr/>
        </p:nvSpPr>
        <p:spPr>
          <a:xfrm>
            <a:off x="8102600" y="1801368"/>
            <a:ext cx="3657600" cy="420624"/>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we need to be autonomous</a:t>
            </a:r>
          </a:p>
        </p:txBody>
      </p:sp>
      <p:sp>
        <p:nvSpPr>
          <p:cNvPr id="36" name="TextBox 35"/>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Each participant fills a copy. Then debrief together to surface patterns and next steps.</a:t>
            </a:r>
          </a:p>
        </p:txBody>
      </p:sp>
      <p:pic>
        <p:nvPicPr>
          <p:cNvPr id="37" name="Picture 3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38" name="TextBox 3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