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40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Photogrammetry &amp; LiDAR point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highly accurate, millimeter-precision 3D digital representation (point cloud) of the physical asset, revealing structural deformations and material decay invisible to the naked eye,.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40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Photogrammetry &amp; LiDAR point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Freezing a fragile moment in time with beams of light; digitally immortalizing the exact scars, textures, and geometry of ancient stones before they fade 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highly accurate, millimeter-precision 3D digital representation (point cloud) of the physical asset, revealing structural deformations and material decay invisible to the naked eye,.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5 days of scanning, 1 to 2 weeks of digital processing
Material  ·  Terrestrial Laser Scanners (TLS), UAVs (drones), point cloud processing software (e.g., Leica Cyclone, RealityCapture)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During the documentation of the Worms Synagogue in Germany, a combination of Terrestrial Laser Scanning (TLS), mobile SLAM scanning, and UAV photogrammetry was used. This multi-layered scanning approach captured precise geometries of both subterranean elements and inaccessible roofscapes, providing critical data for the site's structural monitoring and conservation,.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40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PHOTOGRAMMETRY &amp; LIDAR POINT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Capture · process · publish ·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5 days of scanning, 1 to 2 weeks of digital proces…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822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FFD200"/>
          </a:solidFill>
          <a:ln w="889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91640"/>
            <a:ext cx="172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D0D0D"/>
                </a:solidFill>
                <a:latin typeface="Palatino Linotype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22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plan flight paths
control-points, lighting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Equipment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20.0" y="327355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474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Resolution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74520.0" y="363931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Output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20.0" y="400507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206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Owner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20.0" y="437083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22320" y="1417320"/>
            <a:ext cx="26822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50920" y="1645920"/>
            <a:ext cx="457200" cy="457200"/>
          </a:xfrm>
          <a:prstGeom prst="ellipse">
            <a:avLst/>
          </a:prstGeom>
          <a:solidFill>
            <a:srgbClr val="FFD200"/>
          </a:solidFill>
          <a:ln w="889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092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560" y="1691640"/>
            <a:ext cx="172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D0D0D"/>
                </a:solidFill>
                <a:latin typeface="Palatino Linotype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0920" y="2286000"/>
            <a:ext cx="222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align, mesh, texture
clean 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092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Equipment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39640.0" y="327355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50920" y="3474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Resolution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39640.0" y="363931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50920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39640.0" y="400507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50920" y="4206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Owner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39640.0" y="437083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87440" y="1417320"/>
            <a:ext cx="26822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16040" y="1645920"/>
            <a:ext cx="457200" cy="457200"/>
          </a:xfrm>
          <a:prstGeom prst="ellipse">
            <a:avLst/>
          </a:prstGeom>
          <a:solidFill>
            <a:srgbClr val="FFD200"/>
          </a:solidFill>
          <a:ln w="889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604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4680" y="1691640"/>
            <a:ext cx="172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D0D0D"/>
                </a:solidFill>
                <a:latin typeface="Palatino Linotype"/>
              </a:rPr>
              <a:t>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6040" y="2286000"/>
            <a:ext cx="222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point cloud, mesh, drawings
delivery formats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60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Equipment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04760.0" y="327355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16040" y="3474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Resolution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04760.0" y="363931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16040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Output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04760.0" y="400507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16040" y="4206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Owner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04760.0" y="437083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052560" y="1417320"/>
            <a:ext cx="26822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81160" y="1645920"/>
            <a:ext cx="457200" cy="457200"/>
          </a:xfrm>
          <a:prstGeom prst="ellipse">
            <a:avLst/>
          </a:prstGeom>
          <a:solidFill>
            <a:srgbClr val="FFD200"/>
          </a:solidFill>
          <a:ln w="889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1691640"/>
            <a:ext cx="172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D0D0D"/>
                </a:solidFill>
                <a:latin typeface="Palatino Linotype"/>
              </a:rPr>
              <a:t>Reuse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2286000"/>
            <a:ext cx="222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BIM, AR, monitoring
stewardship-ready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Equipment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469880.0" y="327355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281160" y="3474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Resolution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469880.0" y="363931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81160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Output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469880.0" y="400507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81160" y="4206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57575"/>
                </a:solidFill>
                <a:latin typeface="Source Sans Pro"/>
              </a:rPr>
              <a:t>Owner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469880.0" y="4370832"/>
            <a:ext cx="10363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7200" y="4892040"/>
            <a:ext cx="112776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983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Quality gates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534924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950">
                <a:solidFill>
                  <a:srgbClr val="0D0D0D"/>
                </a:solidFill>
                <a:latin typeface="Source Sans Pro"/>
              </a:rPr>
              <a:t>Geo-referenced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49880" y="534924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950">
                <a:solidFill>
                  <a:srgbClr val="0D0D0D"/>
                </a:solidFill>
                <a:latin typeface="Source Sans Pro"/>
              </a:rPr>
              <a:t>Within tolerance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13960" y="534924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950">
                <a:solidFill>
                  <a:srgbClr val="0D0D0D"/>
                </a:solidFill>
                <a:latin typeface="Source Sans Pro"/>
              </a:rPr>
              <a:t>Documented metadata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78040" y="534924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950">
                <a:solidFill>
                  <a:srgbClr val="0D0D0D"/>
                </a:solidFill>
                <a:latin typeface="Source Sans Pro"/>
              </a:rPr>
              <a:t>Open formats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42120" y="5349240"/>
            <a:ext cx="207264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950">
                <a:solidFill>
                  <a:srgbClr val="0D0D0D"/>
                </a:solidFill>
                <a:latin typeface="Source Sans Pro"/>
              </a:rPr>
              <a:t>Archive plan</a:t>
            </a:r>
          </a:p>
        </p:txBody>
      </p:sp>
      <p:pic>
        <p:nvPicPr>
          <p:cNvPr id="65" name="Picture 64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40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