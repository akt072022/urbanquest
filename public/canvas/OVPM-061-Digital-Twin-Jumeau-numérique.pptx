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61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Digital Twin / Jumeau numérique</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3D, semantically rich digital replica of the city that integrates real-time sensor data, spatial geography, and infrastructure models to simulate urban processes.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1" name="Rounded Rectangle 10"/>
          <p:cNvSpPr/>
          <p:nvPr/>
        </p:nvSpPr>
        <p:spPr>
          <a:xfrm>
            <a:off x="3145536"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61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Digital Twin / Jumeau numérique</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Building a mirror world where the consequences of our political and architectural decisions can be explored safely, democratizing urban planning by making complex data visible to everyone.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3D, semantically rich digital replica of the city that integrates real-time sensor data, spatial geography, and infrastructure models to simulate urban processes.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 to 3 years for city-scale platform development
Material  ·  3D city models, CityGML format, IoT sensor networks, cloud infrastructure, visualization platforms (e.g., Cesium)</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Kalasatama Digital Twins Project in Helsinki produced a high-quality CityGML information model shared as open data. This digital twin serves as a smart development platform for the entire lifecycle of the built environment. It allows the city, construction actors, and stakeholders to run simulations and collaboratively plan services before executing them in the physical world.</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61  ·  ANIMATION CANVAS  ·  </a:t>
            </a:r>
            <a:r>
              <a:rPr sz="1000" b="1" i="0">
                <a:solidFill>
                  <a:srgbClr val="0D0D0D"/>
                </a:solidFill>
                <a:latin typeface="Source Sans Pro"/>
              </a:rPr>
              <a:t>DIGITAL TWIN / JUMEAU NUMÉRIQUE</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Digital twin · 5 layers integrated</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 to 3 years for city-scale platform development</a:t>
            </a:r>
          </a:p>
        </p:txBody>
      </p:sp>
      <p:sp>
        <p:nvSpPr>
          <p:cNvPr id="6" name="Rounded Rectangle 5"/>
          <p:cNvSpPr/>
          <p:nvPr/>
        </p:nvSpPr>
        <p:spPr>
          <a:xfrm>
            <a:off x="457200"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66664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Geometry</a:t>
            </a:r>
          </a:p>
        </p:txBody>
      </p:sp>
      <p:sp>
        <p:nvSpPr>
          <p:cNvPr id="8" name="TextBox 7"/>
          <p:cNvSpPr txBox="1"/>
          <p:nvPr/>
        </p:nvSpPr>
        <p:spPr>
          <a:xfrm>
            <a:off x="685800"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BIM · GIS · point cloud</a:t>
            </a:r>
          </a:p>
        </p:txBody>
      </p:sp>
      <p:cxnSp>
        <p:nvCxnSpPr>
          <p:cNvPr id="9" name="Connector 8"/>
          <p:cNvCxnSpPr/>
          <p:nvPr/>
        </p:nvCxnSpPr>
        <p:spPr>
          <a:xfrm>
            <a:off x="685800.0"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5638"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4238" y="1600200"/>
            <a:ext cx="166664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Live data</a:t>
            </a:r>
          </a:p>
        </p:txBody>
      </p:sp>
      <p:sp>
        <p:nvSpPr>
          <p:cNvPr id="22" name="TextBox 21"/>
          <p:cNvSpPr txBox="1"/>
          <p:nvPr/>
        </p:nvSpPr>
        <p:spPr>
          <a:xfrm>
            <a:off x="2974238"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sensors · feeds · APIs</a:t>
            </a:r>
          </a:p>
        </p:txBody>
      </p:sp>
      <p:cxnSp>
        <p:nvCxnSpPr>
          <p:cNvPr id="23" name="Connector 22"/>
          <p:cNvCxnSpPr/>
          <p:nvPr/>
        </p:nvCxnSpPr>
        <p:spPr>
          <a:xfrm>
            <a:off x="2974238.4"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74238.4"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74238.4"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974238.4"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974238.4"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74238.4"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74238.4"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974238.4"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974238.4"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74238.4"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74238.4"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34076"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262676" y="1600200"/>
            <a:ext cx="166664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Simulation</a:t>
            </a:r>
          </a:p>
        </p:txBody>
      </p:sp>
      <p:sp>
        <p:nvSpPr>
          <p:cNvPr id="36" name="TextBox 35"/>
          <p:cNvSpPr txBox="1"/>
          <p:nvPr/>
        </p:nvSpPr>
        <p:spPr>
          <a:xfrm>
            <a:off x="5262676"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physics · AI · scenarios</a:t>
            </a:r>
          </a:p>
        </p:txBody>
      </p:sp>
      <p:cxnSp>
        <p:nvCxnSpPr>
          <p:cNvPr id="37" name="Connector 36"/>
          <p:cNvCxnSpPr/>
          <p:nvPr/>
        </p:nvCxnSpPr>
        <p:spPr>
          <a:xfrm>
            <a:off x="5262676.8" y="274320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62676.8" y="303580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262676.8" y="332841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262676.8" y="362102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262676.8" y="391363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62676.8" y="420624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262676.8" y="449884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262676.8" y="479145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62676.8" y="508406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62676.8" y="537667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62676.8" y="566928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322515"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551115" y="1600200"/>
            <a:ext cx="166664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Decision</a:t>
            </a:r>
          </a:p>
        </p:txBody>
      </p:sp>
      <p:sp>
        <p:nvSpPr>
          <p:cNvPr id="50" name="TextBox 49"/>
          <p:cNvSpPr txBox="1"/>
          <p:nvPr/>
        </p:nvSpPr>
        <p:spPr>
          <a:xfrm>
            <a:off x="7551115"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KPIs · alerts · workflows</a:t>
            </a:r>
          </a:p>
        </p:txBody>
      </p:sp>
      <p:cxnSp>
        <p:nvCxnSpPr>
          <p:cNvPr id="51" name="Connector 50"/>
          <p:cNvCxnSpPr/>
          <p:nvPr/>
        </p:nvCxnSpPr>
        <p:spPr>
          <a:xfrm>
            <a:off x="7551115.199999999"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51115.199999999"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551115.199999999"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551115.199999999"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51115.199999999"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51115.199999999"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551115.199999999"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51115.199999999"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51115.199999999"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551115.199999999"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551115.199999999"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9610953"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839553" y="1600200"/>
            <a:ext cx="166664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Stewardship</a:t>
            </a:r>
          </a:p>
        </p:txBody>
      </p:sp>
      <p:sp>
        <p:nvSpPr>
          <p:cNvPr id="64" name="TextBox 63"/>
          <p:cNvSpPr txBox="1"/>
          <p:nvPr/>
        </p:nvSpPr>
        <p:spPr>
          <a:xfrm>
            <a:off x="9839553"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roles · access · update cycle</a:t>
            </a:r>
          </a:p>
        </p:txBody>
      </p:sp>
      <p:cxnSp>
        <p:nvCxnSpPr>
          <p:cNvPr id="65" name="Connector 64"/>
          <p:cNvCxnSpPr/>
          <p:nvPr/>
        </p:nvCxnSpPr>
        <p:spPr>
          <a:xfrm>
            <a:off x="9839553.6"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839553.6"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839553.6"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839553.6"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839553.6"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839553.6"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839553.6"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839553.6"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839553.6"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39553.6"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39553.6"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A twin is only useful if it changes a real decision · scope to that.</a:t>
            </a:r>
          </a:p>
        </p:txBody>
      </p:sp>
      <p:pic>
        <p:nvPicPr>
          <p:cNvPr id="77" name="Picture 7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8" name="TextBox 7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61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