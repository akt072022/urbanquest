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100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4200" b="0" i="0">
                <a:solidFill>
                  <a:srgbClr val="0D0D0D"/>
                </a:solidFill>
                <a:latin typeface="Palatino Linotype"/>
              </a:rPr>
              <a:t>Strategic Environmental Assessment (SEA)</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strategic environmental report that evaluates the cumulative effects of a proposed policy or plan, ensuring alignment with overarching sustainability goals.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G3 · Proof of Anchoring</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sp>
        <p:nvSpPr>
          <p:cNvPr id="11" name="Rounded Rectangle 10"/>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sp>
        <p:nvSpPr>
          <p:cNvPr id="12" name="Rounded Rectangle 11"/>
          <p:cNvSpPr/>
          <p:nvPr/>
        </p:nvSpPr>
        <p:spPr>
          <a:xfrm>
            <a:off x="33329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pic>
        <p:nvPicPr>
          <p:cNvPr id="13" name="Picture 12"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4" name="TextBox 13"/>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100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Strategic Environmental Assessment (SEA)</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G3 · Proof of Anchoring</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Elevating environmental care from a site-specific afterthought into a foundational principle of governance, ensuring that entire cities are planned with the health of the biosphere in mind.</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strategic environmental report that evaluates the cumulative effects of a proposed policy or plan, ensuring alignment with overarching sustainability goals.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6 to 12 months, running parallel to the plan-making process
Material  ·  Regional environmental data, cumulative impact matrices, SEA Quality Assurance checklists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INTERREG Central Europe Programme 2021-2027 underwent a rigorous SEA to evaluate the potential environmental impacts of its cross-border funding strategy. By systematically assessing how the program's objectives would interact with regional biodiversity, climate mitigation targets, and public health, the SEA ensured that structural funding strictly promoted sustainable territorial development across multiple European nations.</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100  ·  ANIMATION CANVAS  ·  </a:t>
            </a:r>
            <a:r>
              <a:rPr sz="1000" b="1" i="0">
                <a:solidFill>
                  <a:srgbClr val="0D0D0D"/>
                </a:solidFill>
                <a:latin typeface="Source Sans Pro"/>
              </a:rPr>
              <a:t>STRATEGIC ENVIRONMENTAL ASSESSMENT (SEA)</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SEA · plan-level environmental assessment</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6 to 12 months, running parallel to the plan-making pro…</a:t>
            </a:r>
          </a:p>
        </p:txBody>
      </p:sp>
      <p:sp>
        <p:nvSpPr>
          <p:cNvPr id="6" name="Rounded Rectangle 5"/>
          <p:cNvSpPr/>
          <p:nvPr/>
        </p:nvSpPr>
        <p:spPr>
          <a:xfrm>
            <a:off x="457200"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3192272"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Scoping</a:t>
            </a:r>
          </a:p>
        </p:txBody>
      </p:sp>
      <p:sp>
        <p:nvSpPr>
          <p:cNvPr id="8" name="TextBox 7"/>
          <p:cNvSpPr txBox="1"/>
          <p:nvPr/>
        </p:nvSpPr>
        <p:spPr>
          <a:xfrm>
            <a:off x="685800"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what to assess · who decides</a:t>
            </a:r>
          </a:p>
        </p:txBody>
      </p:sp>
      <p:cxnSp>
        <p:nvCxnSpPr>
          <p:cNvPr id="9" name="Connector 8"/>
          <p:cNvCxnSpPr/>
          <p:nvPr/>
        </p:nvCxnSpPr>
        <p:spPr>
          <a:xfrm>
            <a:off x="685800.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71264"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99864" y="1600200"/>
            <a:ext cx="3192272"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Baseline</a:t>
            </a:r>
          </a:p>
        </p:txBody>
      </p:sp>
      <p:sp>
        <p:nvSpPr>
          <p:cNvPr id="14" name="TextBox 13"/>
          <p:cNvSpPr txBox="1"/>
          <p:nvPr/>
        </p:nvSpPr>
        <p:spPr>
          <a:xfrm>
            <a:off x="4499864"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current state of environment</a:t>
            </a:r>
          </a:p>
        </p:txBody>
      </p:sp>
      <p:cxnSp>
        <p:nvCxnSpPr>
          <p:cNvPr id="15" name="Connector 14"/>
          <p:cNvCxnSpPr/>
          <p:nvPr/>
        </p:nvCxnSpPr>
        <p:spPr>
          <a:xfrm>
            <a:off x="4499864.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499864.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499864.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085328"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13928" y="1600200"/>
            <a:ext cx="3192272"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Impacts</a:t>
            </a:r>
          </a:p>
        </p:txBody>
      </p:sp>
      <p:sp>
        <p:nvSpPr>
          <p:cNvPr id="20" name="TextBox 19"/>
          <p:cNvSpPr txBox="1"/>
          <p:nvPr/>
        </p:nvSpPr>
        <p:spPr>
          <a:xfrm>
            <a:off x="8313928"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cumulative · indirect · synergistic</a:t>
            </a:r>
          </a:p>
        </p:txBody>
      </p:sp>
      <p:cxnSp>
        <p:nvCxnSpPr>
          <p:cNvPr id="21" name="Connector 20"/>
          <p:cNvCxnSpPr/>
          <p:nvPr/>
        </p:nvCxnSpPr>
        <p:spPr>
          <a:xfrm>
            <a:off x="8313928.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313928.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313928.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57200"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85800" y="4059936"/>
            <a:ext cx="3192272"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Alternatives</a:t>
            </a:r>
          </a:p>
        </p:txBody>
      </p:sp>
      <p:sp>
        <p:nvSpPr>
          <p:cNvPr id="26" name="TextBox 25"/>
          <p:cNvSpPr txBox="1"/>
          <p:nvPr/>
        </p:nvSpPr>
        <p:spPr>
          <a:xfrm>
            <a:off x="685800"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reasonable options including no-action</a:t>
            </a:r>
          </a:p>
        </p:txBody>
      </p:sp>
      <p:cxnSp>
        <p:nvCxnSpPr>
          <p:cNvPr id="27" name="Connector 26"/>
          <p:cNvCxnSpPr/>
          <p:nvPr/>
        </p:nvCxnSpPr>
        <p:spPr>
          <a:xfrm>
            <a:off x="685800.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85800.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85800.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271264"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499864" y="4059936"/>
            <a:ext cx="3192272"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Mitigation</a:t>
            </a:r>
          </a:p>
        </p:txBody>
      </p:sp>
      <p:sp>
        <p:nvSpPr>
          <p:cNvPr id="32" name="TextBox 31"/>
          <p:cNvSpPr txBox="1"/>
          <p:nvPr/>
        </p:nvSpPr>
        <p:spPr>
          <a:xfrm>
            <a:off x="4499864"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avoid · reduce · compensate</a:t>
            </a:r>
          </a:p>
        </p:txBody>
      </p:sp>
      <p:cxnSp>
        <p:nvCxnSpPr>
          <p:cNvPr id="33" name="Connector 32"/>
          <p:cNvCxnSpPr/>
          <p:nvPr/>
        </p:nvCxnSpPr>
        <p:spPr>
          <a:xfrm>
            <a:off x="4499864.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499864.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499864.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85328"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313928" y="4059936"/>
            <a:ext cx="3192272" cy="365760"/>
          </a:xfrm>
          <a:prstGeom prst="roundRect">
            <a:avLst>
              <a:gd name="adj" fmla="val 50000"/>
            </a:avLst>
          </a:prstGeom>
          <a:solidFill>
            <a:srgbClr val="C48B4F"/>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Monitoring</a:t>
            </a:r>
          </a:p>
        </p:txBody>
      </p:sp>
      <p:sp>
        <p:nvSpPr>
          <p:cNvPr id="38" name="TextBox 37"/>
          <p:cNvSpPr txBox="1"/>
          <p:nvPr/>
        </p:nvSpPr>
        <p:spPr>
          <a:xfrm>
            <a:off x="8313928"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follow-up · adaptive management</a:t>
            </a:r>
          </a:p>
        </p:txBody>
      </p:sp>
      <p:cxnSp>
        <p:nvCxnSpPr>
          <p:cNvPr id="39" name="Connector 38"/>
          <p:cNvCxnSpPr/>
          <p:nvPr/>
        </p:nvCxnSpPr>
        <p:spPr>
          <a:xfrm>
            <a:off x="8313928.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313928.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313928.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42" name="Picture 41"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43" name="TextBox 42"/>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100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