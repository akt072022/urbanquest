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54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UX spatial journey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chronological matrix highlighting the specific "pain points" and emotional responses of an individual moving through an urban environment, identifying precise locations for improvement.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UX spatial journey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Validating the individual's struggle against the city; proving that a minor curb or a dark alleyway is not a mere technical detail, but a profound barrier to human freedom.</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chronological matrix highlighting the specific "pain points" and emotional responses of an individual moving through an urban environment, identifying precise locations for improvement.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day of field tracking and 1 day of workshop synthesis
Material  ·  Empathy maps, user journey matrices, cameras, field recording notebooks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URBACT "Re-Gen" network meeting in Dobrich, cities employed Empathy Maps and User journey mapping within a Service Design workshop. Participants tracked the experiences of young people navigating urban sports spaces. By systematically identifying pain points and barriers to participation, planners transitioned from isolated events to designing genuinely inclusive, long-lasting sports hubs.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54  ·  ANIMATION CANVAS  ·  </a:t>
            </a:r>
            <a:r>
              <a:rPr sz="1000" b="1" i="0">
                <a:solidFill>
                  <a:srgbClr val="0D0D0D"/>
                </a:solidFill>
                <a:latin typeface="Source Sans Pro"/>
              </a:rPr>
              <a:t>UX SPATIAL JOURNEY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Spatial journey · place × moment × experience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day of field tracking and 1 day of workshop synthesis</a:t>
            </a:r>
          </a:p>
        </p:txBody>
      </p:sp>
      <p:sp>
        <p:nvSpPr>
          <p:cNvPr id="6" name="Rectangle 5"/>
          <p:cNvSpPr/>
          <p:nvPr/>
        </p:nvSpPr>
        <p:spPr>
          <a:xfrm>
            <a:off x="457200" y="1417320"/>
            <a:ext cx="1280160" cy="653796"/>
          </a:xfrm>
          <a:prstGeom prst="rect">
            <a:avLst/>
          </a:prstGeom>
          <a:solidFill>
            <a:srgbClr val="0D0D0D"/>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1280160" cy="653796"/>
          </a:xfrm>
          <a:prstGeom prst="rect">
            <a:avLst/>
          </a:prstGeom>
          <a:noFill/>
        </p:spPr>
        <p:txBody>
          <a:bodyPr wrap="square" lIns="0" rIns="0" tIns="0" bIns="0" anchor="ctr">
            <a:spAutoFit/>
          </a:bodyPr>
          <a:lstStyle/>
          <a:p>
            <a:pPr algn="ctr"/>
            <a:r>
              <a:rPr sz="1000" b="1" i="0">
                <a:solidFill>
                  <a:srgbClr val="FFD200"/>
                </a:solidFill>
                <a:latin typeface="Source Sans Pro"/>
              </a:rPr>
              <a:t>Place</a:t>
            </a:r>
          </a:p>
        </p:txBody>
      </p:sp>
      <p:sp>
        <p:nvSpPr>
          <p:cNvPr id="8" name="Rectangle 7"/>
          <p:cNvSpPr/>
          <p:nvPr/>
        </p:nvSpPr>
        <p:spPr>
          <a:xfrm>
            <a:off x="173736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1</a:t>
            </a:r>
          </a:p>
        </p:txBody>
      </p:sp>
      <p:sp>
        <p:nvSpPr>
          <p:cNvPr id="10" name="Rectangle 9"/>
          <p:cNvSpPr/>
          <p:nvPr/>
        </p:nvSpPr>
        <p:spPr>
          <a:xfrm>
            <a:off x="340360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360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2</a:t>
            </a:r>
          </a:p>
        </p:txBody>
      </p:sp>
      <p:sp>
        <p:nvSpPr>
          <p:cNvPr id="12" name="Rectangle 11"/>
          <p:cNvSpPr/>
          <p:nvPr/>
        </p:nvSpPr>
        <p:spPr>
          <a:xfrm>
            <a:off x="506984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6984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3</a:t>
            </a:r>
          </a:p>
        </p:txBody>
      </p:sp>
      <p:sp>
        <p:nvSpPr>
          <p:cNvPr id="14" name="Rectangle 13"/>
          <p:cNvSpPr/>
          <p:nvPr/>
        </p:nvSpPr>
        <p:spPr>
          <a:xfrm>
            <a:off x="673608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608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4</a:t>
            </a:r>
          </a:p>
        </p:txBody>
      </p:sp>
      <p:sp>
        <p:nvSpPr>
          <p:cNvPr id="16" name="Rectangle 15"/>
          <p:cNvSpPr/>
          <p:nvPr/>
        </p:nvSpPr>
        <p:spPr>
          <a:xfrm>
            <a:off x="840232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232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5</a:t>
            </a:r>
          </a:p>
        </p:txBody>
      </p:sp>
      <p:sp>
        <p:nvSpPr>
          <p:cNvPr id="18" name="Rectangle 17"/>
          <p:cNvSpPr/>
          <p:nvPr/>
        </p:nvSpPr>
        <p:spPr>
          <a:xfrm>
            <a:off x="10068560" y="1417320"/>
            <a:ext cx="1666240" cy="653796"/>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68560" y="1417320"/>
            <a:ext cx="1666240" cy="653796"/>
          </a:xfrm>
          <a:prstGeom prst="rect">
            <a:avLst/>
          </a:prstGeom>
          <a:noFill/>
        </p:spPr>
        <p:txBody>
          <a:bodyPr wrap="square" lIns="0" rIns="0" tIns="0" bIns="0" anchor="ctr">
            <a:spAutoFit/>
          </a:bodyPr>
          <a:lstStyle/>
          <a:p>
            <a:pPr algn="ctr"/>
            <a:r>
              <a:rPr sz="1000" b="1" i="0">
                <a:solidFill>
                  <a:srgbClr val="0D0D0D"/>
                </a:solidFill>
                <a:latin typeface="Source Sans Pro"/>
              </a:rPr>
              <a:t>Place 6</a:t>
            </a:r>
          </a:p>
        </p:txBody>
      </p:sp>
      <p:sp>
        <p:nvSpPr>
          <p:cNvPr id="20" name="Rectangle 19"/>
          <p:cNvSpPr/>
          <p:nvPr/>
        </p:nvSpPr>
        <p:spPr>
          <a:xfrm>
            <a:off x="457200" y="2071116"/>
            <a:ext cx="128016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162556"/>
            <a:ext cx="54864" cy="8275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071116"/>
            <a:ext cx="1005840" cy="1010412"/>
          </a:xfrm>
          <a:prstGeom prst="rect">
            <a:avLst/>
          </a:prstGeom>
          <a:noFill/>
        </p:spPr>
        <p:txBody>
          <a:bodyPr wrap="square" lIns="0" rIns="0" tIns="0" bIns="0" anchor="ctr">
            <a:spAutoFit/>
          </a:bodyPr>
          <a:lstStyle/>
          <a:p>
            <a:pPr algn="l"/>
            <a:r>
              <a:rPr sz="900" b="1" i="0">
                <a:solidFill>
                  <a:srgbClr val="0D0D0D"/>
                </a:solidFill>
                <a:latin typeface="Source Sans Pro"/>
              </a:rPr>
              <a:t>User actions</a:t>
            </a:r>
          </a:p>
        </p:txBody>
      </p:sp>
      <p:sp>
        <p:nvSpPr>
          <p:cNvPr id="23" name="Rectangle 22"/>
          <p:cNvSpPr/>
          <p:nvPr/>
        </p:nvSpPr>
        <p:spPr>
          <a:xfrm>
            <a:off x="173736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0360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6984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3608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0232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68560" y="2071116"/>
            <a:ext cx="1666240" cy="101041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81528"/>
            <a:ext cx="128016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172968"/>
            <a:ext cx="54864" cy="649224"/>
          </a:xfrm>
          <a:prstGeom prst="rect">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081528"/>
            <a:ext cx="1005840" cy="832104"/>
          </a:xfrm>
          <a:prstGeom prst="rect">
            <a:avLst/>
          </a:prstGeom>
          <a:noFill/>
        </p:spPr>
        <p:txBody>
          <a:bodyPr wrap="square" lIns="0" rIns="0" tIns="0" bIns="0" anchor="ctr">
            <a:spAutoFit/>
          </a:bodyPr>
          <a:lstStyle/>
          <a:p>
            <a:pPr algn="l"/>
            <a:r>
              <a:rPr sz="900" b="1" i="0">
                <a:solidFill>
                  <a:srgbClr val="0D0D0D"/>
                </a:solidFill>
                <a:latin typeface="Source Sans Pro"/>
              </a:rPr>
              <a:t>Emotion</a:t>
            </a:r>
          </a:p>
        </p:txBody>
      </p:sp>
      <p:sp>
        <p:nvSpPr>
          <p:cNvPr id="32" name="Rectangle 31"/>
          <p:cNvSpPr/>
          <p:nvPr/>
        </p:nvSpPr>
        <p:spPr>
          <a:xfrm>
            <a:off x="173736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0360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6984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3608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0232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68560" y="3081528"/>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913632"/>
            <a:ext cx="128016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4005072"/>
            <a:ext cx="54864" cy="649224"/>
          </a:xfrm>
          <a:prstGeom prst="rect">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3913632"/>
            <a:ext cx="1005840" cy="832104"/>
          </a:xfrm>
          <a:prstGeom prst="rect">
            <a:avLst/>
          </a:prstGeom>
          <a:noFill/>
        </p:spPr>
        <p:txBody>
          <a:bodyPr wrap="square" lIns="0" rIns="0" tIns="0" bIns="0" anchor="ctr">
            <a:spAutoFit/>
          </a:bodyPr>
          <a:lstStyle/>
          <a:p>
            <a:pPr algn="l"/>
            <a:r>
              <a:rPr sz="900" b="1" i="0">
                <a:solidFill>
                  <a:srgbClr val="0D0D0D"/>
                </a:solidFill>
                <a:latin typeface="Source Sans Pro"/>
              </a:rPr>
              <a:t>Sensory cues</a:t>
            </a:r>
          </a:p>
        </p:txBody>
      </p:sp>
      <p:sp>
        <p:nvSpPr>
          <p:cNvPr id="41" name="Rectangle 40"/>
          <p:cNvSpPr/>
          <p:nvPr/>
        </p:nvSpPr>
        <p:spPr>
          <a:xfrm>
            <a:off x="173736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40360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6984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73608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40232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068560" y="3913632"/>
            <a:ext cx="1666240" cy="832104"/>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4745736"/>
            <a:ext cx="128016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48640" y="4837176"/>
            <a:ext cx="54864" cy="530352"/>
          </a:xfrm>
          <a:prstGeom prst="rect">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4745736"/>
            <a:ext cx="1005840" cy="713232"/>
          </a:xfrm>
          <a:prstGeom prst="rect">
            <a:avLst/>
          </a:prstGeom>
          <a:noFill/>
        </p:spPr>
        <p:txBody>
          <a:bodyPr wrap="square" lIns="0" rIns="0" tIns="0" bIns="0" anchor="ctr">
            <a:spAutoFit/>
          </a:bodyPr>
          <a:lstStyle/>
          <a:p>
            <a:pPr algn="l"/>
            <a:r>
              <a:rPr sz="900" b="1" i="0">
                <a:solidFill>
                  <a:srgbClr val="0D0D0D"/>
                </a:solidFill>
                <a:latin typeface="Source Sans Pro"/>
              </a:rPr>
              <a:t>Friction</a:t>
            </a:r>
          </a:p>
        </p:txBody>
      </p:sp>
      <p:sp>
        <p:nvSpPr>
          <p:cNvPr id="50" name="Rectangle 49"/>
          <p:cNvSpPr/>
          <p:nvPr/>
        </p:nvSpPr>
        <p:spPr>
          <a:xfrm>
            <a:off x="173736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40360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06984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73608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40232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068560" y="4745736"/>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5458968"/>
            <a:ext cx="128016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48640" y="5550408"/>
            <a:ext cx="54864" cy="530352"/>
          </a:xfrm>
          <a:prstGeom prst="rect">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458968"/>
            <a:ext cx="1005840" cy="713232"/>
          </a:xfrm>
          <a:prstGeom prst="rect">
            <a:avLst/>
          </a:prstGeom>
          <a:noFill/>
        </p:spPr>
        <p:txBody>
          <a:bodyPr wrap="square" lIns="0" rIns="0" tIns="0" bIns="0" anchor="ctr">
            <a:spAutoFit/>
          </a:bodyPr>
          <a:lstStyle/>
          <a:p>
            <a:pPr algn="l"/>
            <a:r>
              <a:rPr sz="900" b="1" i="0">
                <a:solidFill>
                  <a:srgbClr val="0D0D0D"/>
                </a:solidFill>
                <a:latin typeface="Source Sans Pro"/>
              </a:rPr>
              <a:t>Spatial cue</a:t>
            </a:r>
          </a:p>
        </p:txBody>
      </p:sp>
      <p:sp>
        <p:nvSpPr>
          <p:cNvPr id="59" name="Rectangle 58"/>
          <p:cNvSpPr/>
          <p:nvPr/>
        </p:nvSpPr>
        <p:spPr>
          <a:xfrm>
            <a:off x="173736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360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06984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73608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40232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068560" y="5458968"/>
            <a:ext cx="1666240" cy="713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6" name="TextBox 65"/>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