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58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0D0D0D"/>
                </a:solidFill>
                <a:latin typeface="Palatino Linotype"/>
              </a:rPr>
              <a:t>Space Syntax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Topological graphs and color-coded maps quantifying the "closeness" and "betweenness" of every street, mathematically predicting where pedestrian flows and economic vitality will naturally concentrate.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58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Space Syntax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Exposing the hidden mathematical skeleton of the city; proving that human movement is not random, but deeply guided by the invisible geometry of the streets we build.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Topological graphs and color-coded maps quantifying the "closeness" and "betweenness" of every street, mathematically predicting where pedestrian flows and economic vitality will naturally concentrate.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to 4 weeks of data processing and modeling
Material  ·  GIS street networks, Space Syntax software (Depthmap, sDNA), land-use databases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Researchers analyzing the Kadıköy Region in Istanbul combined Space Syntax metrics (like street centrality and angular closeness) with GIS-based built-environment measures. By mathematically calculating the structural properties of the street network, they were able to precisely interpret and compare the determinant factors driving actual pedestrian volumes and land-use activities across different zones.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58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SPACE SYNTAX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Axial map · integration · choice ·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to 4 weeks of data processing and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4008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Axial map abstraction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788920"/>
            <a:ext cx="1828800" cy="0"/>
          </a:xfrm>
          <a:prstGeom prst="line">
            <a:avLst/>
          </a:prstGeom>
          <a:ln w="2540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2788920"/>
            <a:ext cx="1828800" cy="0"/>
          </a:xfrm>
          <a:prstGeom prst="line">
            <a:avLst/>
          </a:prstGeom>
          <a:ln w="2540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4617720"/>
            <a:ext cx="1828800" cy="0"/>
          </a:xfrm>
          <a:prstGeom prst="line">
            <a:avLst/>
          </a:prstGeom>
          <a:ln w="25400">
            <a:solidFill>
              <a:srgbClr val="FF6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0" y="4617720"/>
            <a:ext cx="1828800" cy="0"/>
          </a:xfrm>
          <a:prstGeom prst="line">
            <a:avLst/>
          </a:prstGeom>
          <a:ln w="2540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" y="6446520"/>
            <a:ext cx="1828800" cy="0"/>
          </a:xfrm>
          <a:prstGeom prst="line">
            <a:avLst/>
          </a:prstGeom>
          <a:ln w="25400">
            <a:solidFill>
              <a:srgbClr val="459A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0" y="6446520"/>
            <a:ext cx="1828800" cy="0"/>
          </a:xfrm>
          <a:prstGeom prst="line">
            <a:avLst/>
          </a:prstGeom>
          <a:ln w="25400">
            <a:solidFill>
              <a:srgbClr val="459A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0" y="2788920"/>
            <a:ext cx="0" cy="1828800"/>
          </a:xfrm>
          <a:prstGeom prst="line">
            <a:avLst/>
          </a:prstGeom>
          <a:ln w="2540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28800" y="4617720"/>
            <a:ext cx="0" cy="1828800"/>
          </a:xfrm>
          <a:prstGeom prst="line">
            <a:avLst/>
          </a:prstGeom>
          <a:ln w="25400">
            <a:solidFill>
              <a:srgbClr val="459A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0" y="2788920"/>
            <a:ext cx="0" cy="1828800"/>
          </a:xfrm>
          <a:prstGeom prst="line">
            <a:avLst/>
          </a:prstGeom>
          <a:ln w="25400">
            <a:solidFill>
              <a:srgbClr val="FF6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4617720"/>
            <a:ext cx="0" cy="1828800"/>
          </a:xfrm>
          <a:prstGeom prst="line">
            <a:avLst/>
          </a:prstGeom>
          <a:ln w="25400">
            <a:solidFill>
              <a:srgbClr val="459A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0" y="2788920"/>
            <a:ext cx="0" cy="1828800"/>
          </a:xfrm>
          <a:prstGeom prst="line">
            <a:avLst/>
          </a:prstGeom>
          <a:ln w="25400">
            <a:solidFill>
              <a:srgbClr val="FFD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4617720"/>
            <a:ext cx="0" cy="1828800"/>
          </a:xfrm>
          <a:prstGeom prst="line">
            <a:avLst/>
          </a:prstGeom>
          <a:ln w="25400">
            <a:solidFill>
              <a:srgbClr val="459A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743200" y="4617720"/>
            <a:ext cx="914400" cy="914400"/>
          </a:xfrm>
          <a:prstGeom prst="line">
            <a:avLst/>
          </a:prstGeom>
          <a:ln w="254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657600" y="3703320"/>
            <a:ext cx="914400" cy="914400"/>
          </a:xfrm>
          <a:prstGeom prst="line">
            <a:avLst/>
          </a:prstGeom>
          <a:ln w="254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86600" y="1417320"/>
            <a:ext cx="4648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1554480"/>
            <a:ext cx="4282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Legend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2194560"/>
            <a:ext cx="457200" cy="54864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057400"/>
            <a:ext cx="3688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Integration (high)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2697480"/>
            <a:ext cx="457200" cy="54864"/>
          </a:xfrm>
          <a:prstGeom prst="rect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560320"/>
            <a:ext cx="3688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Integration (medium)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3200400"/>
            <a:ext cx="457200" cy="54864"/>
          </a:xfrm>
          <a:prstGeom prst="rect">
            <a:avLst/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063240"/>
            <a:ext cx="3688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Integration (low)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3703320"/>
            <a:ext cx="457200" cy="5486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566160"/>
            <a:ext cx="3688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Choice (cul-de-sac)</a:t>
            </a:r>
          </a:p>
        </p:txBody>
      </p:sp>
      <p:pic>
        <p:nvPicPr>
          <p:cNvPr id="32" name="Picture 3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58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