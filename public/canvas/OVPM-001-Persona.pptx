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01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Persona</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set of documented, visual profiles representing the extremes of your target groups, integrating their rational objectives, emotional drivers, and the specific barriers they face in public spaces.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01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Persona</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Giving a face, a name, and a human voice to cold statistics; forcing decision-makers to look the residents in the eye and address their complex human realities.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set of documented, visual profiles representing the extremes of your target groups, integrating their rational objectives, emotional drivers, and the specific barriers they face in public spaces.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weeks of field inquiry, 1 synthesis workshop (3 hours)
Material  ·  Printed persona cards (photos, quotes, characteristics), behavior observation grids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Public organizations use personas to encapsulate the extreme needs of different citizen groups, ensuring that public services reflect the diversity of the population. Creating structured personas prevents designing in an administrative vacuum and ensures outcomes reflect complex human realities.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01  ·  ANIMATION CANVAS  ·  </a:t>
            </a:r>
            <a:r>
              <a:rPr sz="1000" b="1" i="0">
                <a:solidFill>
                  <a:srgbClr val="0D0D0D"/>
                </a:solidFill>
                <a:latin typeface="Source Sans Pro"/>
              </a:rPr>
              <a:t>PERSONA</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Six to eight personas · extreme profiles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weeks of field inquiry, 1 synthesis workshop (3 hours)</a:t>
            </a:r>
          </a:p>
        </p:txBody>
      </p:sp>
      <p:sp>
        <p:nvSpPr>
          <p:cNvPr id="6" name="Rounded Rectangle 5"/>
          <p:cNvSpPr/>
          <p:nvPr/>
        </p:nvSpPr>
        <p:spPr>
          <a:xfrm>
            <a:off x="457200" y="1371600"/>
            <a:ext cx="2468880" cy="4754880"/>
          </a:xfrm>
          <a:prstGeom prst="roundRect">
            <a:avLst>
              <a:gd name="adj" fmla="val 4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2011680" cy="365760"/>
          </a:xfrm>
          <a:prstGeom prst="rect">
            <a:avLst/>
          </a:prstGeom>
          <a:noFill/>
        </p:spPr>
        <p:txBody>
          <a:bodyPr wrap="square" lIns="0" rIns="0" tIns="0" bIns="0">
            <a:spAutoFit/>
          </a:bodyPr>
          <a:lstStyle/>
          <a:p>
            <a:pPr algn="l"/>
            <a:r>
              <a:rPr sz="1100" b="1" i="0">
                <a:solidFill>
                  <a:srgbClr val="FFD200"/>
                </a:solidFill>
                <a:latin typeface="Source Sans Pro"/>
              </a:rPr>
              <a:t>Method</a:t>
            </a:r>
          </a:p>
        </p:txBody>
      </p:sp>
      <p:sp>
        <p:nvSpPr>
          <p:cNvPr id="8" name="TextBox 7"/>
          <p:cNvSpPr txBox="1"/>
          <p:nvPr/>
        </p:nvSpPr>
        <p:spPr>
          <a:xfrm>
            <a:off x="685800" y="2011680"/>
            <a:ext cx="2011680" cy="3840480"/>
          </a:xfrm>
          <a:prstGeom prst="rect">
            <a:avLst/>
          </a:prstGeom>
          <a:noFill/>
        </p:spPr>
        <p:txBody>
          <a:bodyPr wrap="square" lIns="0" rIns="0" tIns="0" bIns="0">
            <a:spAutoFit/>
          </a:bodyPr>
          <a:lstStyle/>
          <a:p>
            <a:pPr algn="l"/>
            <a:r>
              <a:rPr sz="1100" b="1" i="0">
                <a:solidFill>
                  <a:srgbClr val="FFD200"/>
                </a:solidFill>
                <a:latin typeface="Source Sans Pro"/>
              </a:rPr>
              <a:t>1.  </a:t>
            </a:r>
            <a:r>
              <a:rPr sz="1050" b="0" i="0">
                <a:solidFill>
                  <a:srgbClr val="FFFFFF"/>
                </a:solidFill>
                <a:latin typeface="Source Sans Pro"/>
              </a:rPr>
              <a:t>Conduct field interviews &amp; ethnographic observations.</a:t>
            </a:r>
          </a:p>
          <a:p>
            <a:pPr algn="l">
              <a:spcBef>
                <a:spcPts val="800"/>
              </a:spcBef>
            </a:pPr>
            <a:r>
              <a:rPr sz="1100" b="1" i="0">
                <a:solidFill>
                  <a:srgbClr val="FFD200"/>
                </a:solidFill>
                <a:latin typeface="Source Sans Pro"/>
              </a:rPr>
              <a:t>2.  </a:t>
            </a:r>
            <a:r>
              <a:rPr sz="1050" b="0" i="0">
                <a:solidFill>
                  <a:srgbClr val="FFFFFF"/>
                </a:solidFill>
                <a:latin typeface="Source Sans Pro"/>
              </a:rPr>
              <a:t>Identify the characteristics that most heavily impact use.</a:t>
            </a:r>
          </a:p>
          <a:p>
            <a:pPr algn="l">
              <a:spcBef>
                <a:spcPts val="800"/>
              </a:spcBef>
            </a:pPr>
            <a:r>
              <a:rPr sz="1100" b="1" i="0">
                <a:solidFill>
                  <a:srgbClr val="FFD200"/>
                </a:solidFill>
                <a:latin typeface="Source Sans Pro"/>
              </a:rPr>
              <a:t>3.  </a:t>
            </a:r>
            <a:r>
              <a:rPr sz="1050" b="0" i="0">
                <a:solidFill>
                  <a:srgbClr val="FFFFFF"/>
                </a:solidFill>
                <a:latin typeface="Source Sans Pro"/>
              </a:rPr>
              <a:t>Pick extremes · guarantee diversity, not averages.</a:t>
            </a:r>
          </a:p>
          <a:p>
            <a:pPr algn="l">
              <a:spcBef>
                <a:spcPts val="800"/>
              </a:spcBef>
            </a:pPr>
            <a:r>
              <a:rPr sz="1100" b="1" i="0">
                <a:solidFill>
                  <a:srgbClr val="FFD200"/>
                </a:solidFill>
                <a:latin typeface="Source Sans Pro"/>
              </a:rPr>
              <a:t>4.  </a:t>
            </a:r>
            <a:r>
              <a:rPr sz="1050" b="0" i="0">
                <a:solidFill>
                  <a:srgbClr val="FFFFFF"/>
                </a:solidFill>
                <a:latin typeface="Source Sans Pro"/>
              </a:rPr>
              <a:t>Build 6–8 fictional characters (name, photo, quote, frustrations).</a:t>
            </a:r>
          </a:p>
          <a:p>
            <a:pPr algn="l">
              <a:spcBef>
                <a:spcPts val="800"/>
              </a:spcBef>
            </a:pPr>
            <a:r>
              <a:rPr sz="1100" b="1" i="0">
                <a:solidFill>
                  <a:srgbClr val="FFD200"/>
                </a:solidFill>
                <a:latin typeface="Source Sans Pro"/>
              </a:rPr>
              <a:t>5.  </a:t>
            </a:r>
            <a:r>
              <a:rPr sz="1050" b="0" i="0">
                <a:solidFill>
                  <a:srgbClr val="FFFFFF"/>
                </a:solidFill>
                <a:latin typeface="Source Sans Pro"/>
              </a:rPr>
              <a:t>Test every project decision through these eyes.</a:t>
            </a:r>
          </a:p>
        </p:txBody>
      </p:sp>
      <p:sp>
        <p:nvSpPr>
          <p:cNvPr id="9" name="Rounded Rectangle 8"/>
          <p:cNvSpPr/>
          <p:nvPr/>
        </p:nvSpPr>
        <p:spPr>
          <a:xfrm>
            <a:off x="3154680" y="1371600"/>
            <a:ext cx="2750312" cy="4754880"/>
          </a:xfrm>
          <a:prstGeom prst="roundRect">
            <a:avLst>
              <a:gd name="adj" fmla="val 3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600200"/>
            <a:ext cx="1097280" cy="1097280"/>
          </a:xfrm>
          <a:prstGeom prst="rect">
            <a:avLst/>
          </a:prstGeom>
          <a:solidFill>
            <a:srgbClr val="EEECE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2011680"/>
            <a:ext cx="1097280" cy="274320"/>
          </a:xfrm>
          <a:prstGeom prst="rect">
            <a:avLst/>
          </a:prstGeom>
          <a:noFill/>
        </p:spPr>
        <p:txBody>
          <a:bodyPr wrap="square" lIns="0" rIns="0" tIns="0" bIns="0">
            <a:spAutoFit/>
          </a:bodyPr>
          <a:lstStyle/>
          <a:p>
            <a:pPr algn="ctr"/>
            <a:r>
              <a:rPr sz="1000" b="0" i="1">
                <a:solidFill>
                  <a:srgbClr val="757575"/>
                </a:solidFill>
                <a:latin typeface="Palatino Linotype"/>
              </a:rPr>
              <a:t>photo</a:t>
            </a:r>
          </a:p>
        </p:txBody>
      </p:sp>
      <p:sp>
        <p:nvSpPr>
          <p:cNvPr id="12" name="Rounded Rectangle 11"/>
          <p:cNvSpPr/>
          <p:nvPr/>
        </p:nvSpPr>
        <p:spPr>
          <a:xfrm>
            <a:off x="5036312" y="1600200"/>
            <a:ext cx="640080" cy="29260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#1</a:t>
            </a:r>
          </a:p>
        </p:txBody>
      </p:sp>
      <p:sp>
        <p:nvSpPr>
          <p:cNvPr id="13" name="TextBox 12"/>
          <p:cNvSpPr txBox="1"/>
          <p:nvPr/>
        </p:nvSpPr>
        <p:spPr>
          <a:xfrm>
            <a:off x="3383280" y="2788920"/>
            <a:ext cx="2293112" cy="411480"/>
          </a:xfrm>
          <a:prstGeom prst="rect">
            <a:avLst/>
          </a:prstGeom>
          <a:noFill/>
        </p:spPr>
        <p:txBody>
          <a:bodyPr wrap="square" lIns="0" rIns="0" tIns="0" bIns="0">
            <a:spAutoFit/>
          </a:bodyPr>
          <a:lstStyle/>
          <a:p>
            <a:pPr algn="l"/>
            <a:r>
              <a:rPr sz="2200" b="0" i="0">
                <a:solidFill>
                  <a:srgbClr val="0D0D0D"/>
                </a:solidFill>
                <a:latin typeface="Palatino Linotype"/>
              </a:rPr>
              <a:t>Name</a:t>
            </a:r>
          </a:p>
        </p:txBody>
      </p:sp>
      <p:sp>
        <p:nvSpPr>
          <p:cNvPr id="14" name="TextBox 13"/>
          <p:cNvSpPr txBox="1"/>
          <p:nvPr/>
        </p:nvSpPr>
        <p:spPr>
          <a:xfrm>
            <a:off x="3383280" y="3246120"/>
            <a:ext cx="2293112" cy="256032"/>
          </a:xfrm>
          <a:prstGeom prst="rect">
            <a:avLst/>
          </a:prstGeom>
          <a:noFill/>
        </p:spPr>
        <p:txBody>
          <a:bodyPr wrap="square" lIns="0" rIns="0" tIns="0" bIns="0">
            <a:spAutoFit/>
          </a:bodyPr>
          <a:lstStyle/>
          <a:p>
            <a:pPr algn="l"/>
            <a:r>
              <a:rPr sz="1050" b="0" i="1">
                <a:solidFill>
                  <a:srgbClr val="757575"/>
                </a:solidFill>
                <a:latin typeface="Palatino Linotype"/>
              </a:rPr>
              <a:t>Role  ·  age  ·  district</a:t>
            </a:r>
          </a:p>
        </p:txBody>
      </p:sp>
      <p:sp>
        <p:nvSpPr>
          <p:cNvPr id="15" name="TextBox 14"/>
          <p:cNvSpPr txBox="1"/>
          <p:nvPr/>
        </p:nvSpPr>
        <p:spPr>
          <a:xfrm>
            <a:off x="3383280" y="3538728"/>
            <a:ext cx="2293112" cy="384048"/>
          </a:xfrm>
          <a:prstGeom prst="rect">
            <a:avLst/>
          </a:prstGeom>
          <a:noFill/>
        </p:spPr>
        <p:txBody>
          <a:bodyPr wrap="square" lIns="0" rIns="0" tIns="0" bIns="0">
            <a:spAutoFit/>
          </a:bodyPr>
          <a:lstStyle/>
          <a:p>
            <a:pPr algn="l"/>
            <a:r>
              <a:rPr sz="1000" b="0" i="1">
                <a:solidFill>
                  <a:srgbClr val="757575"/>
                </a:solidFill>
                <a:latin typeface="Palatino Linotype"/>
              </a:rPr>
              <a:t>“ Verbatim quote from field interview ”</a:t>
            </a:r>
          </a:p>
        </p:txBody>
      </p:sp>
      <p:cxnSp>
        <p:nvCxnSpPr>
          <p:cNvPr id="16" name="Connector 15"/>
          <p:cNvCxnSpPr/>
          <p:nvPr/>
        </p:nvCxnSpPr>
        <p:spPr>
          <a:xfrm>
            <a:off x="3337560.0" y="397764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383280" y="4032504"/>
            <a:ext cx="2293112" cy="274320"/>
          </a:xfrm>
          <a:prstGeom prst="rect">
            <a:avLst/>
          </a:prstGeom>
          <a:noFill/>
        </p:spPr>
        <p:txBody>
          <a:bodyPr wrap="square" lIns="0" rIns="0" tIns="0" bIns="0">
            <a:spAutoFit/>
          </a:bodyPr>
          <a:lstStyle/>
          <a:p>
            <a:pPr algn="l"/>
            <a:r>
              <a:rPr sz="900" b="1" i="0">
                <a:solidFill>
                  <a:srgbClr val="0D0D0D"/>
                </a:solidFill>
                <a:latin typeface="Source Sans Pro"/>
              </a:rPr>
              <a:t>Daily context</a:t>
            </a:r>
          </a:p>
        </p:txBody>
      </p:sp>
      <p:sp>
        <p:nvSpPr>
          <p:cNvPr id="18" name="TextBox 17"/>
          <p:cNvSpPr txBox="1"/>
          <p:nvPr/>
        </p:nvSpPr>
        <p:spPr>
          <a:xfrm>
            <a:off x="3383280" y="4270248"/>
            <a:ext cx="2293112" cy="148590"/>
          </a:xfrm>
          <a:prstGeom prst="rect">
            <a:avLst/>
          </a:prstGeom>
          <a:noFill/>
        </p:spPr>
        <p:txBody>
          <a:bodyPr wrap="square" lIns="0" rIns="0" tIns="0" bIns="0">
            <a:spAutoFit/>
          </a:bodyPr>
          <a:lstStyle/>
          <a:p>
            <a:pPr algn="l"/>
            <a:r>
              <a:rPr sz="850" b="0" i="1">
                <a:solidFill>
                  <a:srgbClr val="757575"/>
                </a:solidFill>
                <a:latin typeface="Source Sans Pro"/>
              </a:rPr>
              <a:t>where, when, with whom</a:t>
            </a:r>
          </a:p>
        </p:txBody>
      </p:sp>
      <p:cxnSp>
        <p:nvCxnSpPr>
          <p:cNvPr id="19" name="Connector 18"/>
          <p:cNvCxnSpPr/>
          <p:nvPr/>
        </p:nvCxnSpPr>
        <p:spPr>
          <a:xfrm>
            <a:off x="3337560.0" y="449199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383280" y="4546854"/>
            <a:ext cx="2293112" cy="274320"/>
          </a:xfrm>
          <a:prstGeom prst="rect">
            <a:avLst/>
          </a:prstGeom>
          <a:noFill/>
        </p:spPr>
        <p:txBody>
          <a:bodyPr wrap="square" lIns="0" rIns="0" tIns="0" bIns="0">
            <a:spAutoFit/>
          </a:bodyPr>
          <a:lstStyle/>
          <a:p>
            <a:pPr algn="l"/>
            <a:r>
              <a:rPr sz="900" b="1" i="0">
                <a:solidFill>
                  <a:srgbClr val="C8A000"/>
                </a:solidFill>
                <a:latin typeface="Source Sans Pro"/>
              </a:rPr>
              <a:t>Goals &amp; needs</a:t>
            </a:r>
          </a:p>
        </p:txBody>
      </p:sp>
      <p:sp>
        <p:nvSpPr>
          <p:cNvPr id="21" name="TextBox 20"/>
          <p:cNvSpPr txBox="1"/>
          <p:nvPr/>
        </p:nvSpPr>
        <p:spPr>
          <a:xfrm>
            <a:off x="3383280" y="4784598"/>
            <a:ext cx="2293112" cy="148590"/>
          </a:xfrm>
          <a:prstGeom prst="rect">
            <a:avLst/>
          </a:prstGeom>
          <a:noFill/>
        </p:spPr>
        <p:txBody>
          <a:bodyPr wrap="square" lIns="0" rIns="0" tIns="0" bIns="0">
            <a:spAutoFit/>
          </a:bodyPr>
          <a:lstStyle/>
          <a:p>
            <a:pPr algn="l"/>
            <a:r>
              <a:rPr sz="850" b="0" i="1">
                <a:solidFill>
                  <a:srgbClr val="757575"/>
                </a:solidFill>
                <a:latin typeface="Source Sans Pro"/>
              </a:rPr>
              <a:t>what they try to achieve</a:t>
            </a:r>
          </a:p>
        </p:txBody>
      </p:sp>
      <p:cxnSp>
        <p:nvCxnSpPr>
          <p:cNvPr id="22" name="Connector 21"/>
          <p:cNvCxnSpPr/>
          <p:nvPr/>
        </p:nvCxnSpPr>
        <p:spPr>
          <a:xfrm>
            <a:off x="3337560.0" y="500634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83280" y="5061204"/>
            <a:ext cx="2293112" cy="274320"/>
          </a:xfrm>
          <a:prstGeom prst="rect">
            <a:avLst/>
          </a:prstGeom>
          <a:noFill/>
        </p:spPr>
        <p:txBody>
          <a:bodyPr wrap="square" lIns="0" rIns="0" tIns="0" bIns="0">
            <a:spAutoFit/>
          </a:bodyPr>
          <a:lstStyle/>
          <a:p>
            <a:pPr algn="l"/>
            <a:r>
              <a:rPr sz="900" b="1" i="0">
                <a:solidFill>
                  <a:srgbClr val="FF674D"/>
                </a:solidFill>
                <a:latin typeface="Source Sans Pro"/>
              </a:rPr>
              <a:t>Frustrations</a:t>
            </a:r>
          </a:p>
        </p:txBody>
      </p:sp>
      <p:sp>
        <p:nvSpPr>
          <p:cNvPr id="24" name="TextBox 23"/>
          <p:cNvSpPr txBox="1"/>
          <p:nvPr/>
        </p:nvSpPr>
        <p:spPr>
          <a:xfrm>
            <a:off x="3383280" y="5298948"/>
            <a:ext cx="2293112" cy="148590"/>
          </a:xfrm>
          <a:prstGeom prst="rect">
            <a:avLst/>
          </a:prstGeom>
          <a:noFill/>
        </p:spPr>
        <p:txBody>
          <a:bodyPr wrap="square" lIns="0" rIns="0" tIns="0" bIns="0">
            <a:spAutoFit/>
          </a:bodyPr>
          <a:lstStyle/>
          <a:p>
            <a:pPr algn="l"/>
            <a:r>
              <a:rPr sz="850" b="0" i="1">
                <a:solidFill>
                  <a:srgbClr val="757575"/>
                </a:solidFill>
                <a:latin typeface="Source Sans Pro"/>
              </a:rPr>
              <a:t>where the service breaks</a:t>
            </a:r>
          </a:p>
        </p:txBody>
      </p:sp>
      <p:cxnSp>
        <p:nvCxnSpPr>
          <p:cNvPr id="25" name="Connector 24"/>
          <p:cNvCxnSpPr/>
          <p:nvPr/>
        </p:nvCxnSpPr>
        <p:spPr>
          <a:xfrm>
            <a:off x="3337560.0" y="552069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383280" y="5575554"/>
            <a:ext cx="2293112" cy="274320"/>
          </a:xfrm>
          <a:prstGeom prst="rect">
            <a:avLst/>
          </a:prstGeom>
          <a:noFill/>
        </p:spPr>
        <p:txBody>
          <a:bodyPr wrap="square" lIns="0" rIns="0" tIns="0" bIns="0">
            <a:spAutoFit/>
          </a:bodyPr>
          <a:lstStyle/>
          <a:p>
            <a:pPr algn="l"/>
            <a:r>
              <a:rPr sz="900" b="1" i="0">
                <a:solidFill>
                  <a:srgbClr val="0D0D0D"/>
                </a:solidFill>
                <a:latin typeface="Source Sans Pro"/>
              </a:rPr>
              <a:t>Behaviours</a:t>
            </a:r>
          </a:p>
        </p:txBody>
      </p:sp>
      <p:sp>
        <p:nvSpPr>
          <p:cNvPr id="27" name="TextBox 26"/>
          <p:cNvSpPr txBox="1"/>
          <p:nvPr/>
        </p:nvSpPr>
        <p:spPr>
          <a:xfrm>
            <a:off x="3383280" y="5813298"/>
            <a:ext cx="2293112" cy="148590"/>
          </a:xfrm>
          <a:prstGeom prst="rect">
            <a:avLst/>
          </a:prstGeom>
          <a:noFill/>
        </p:spPr>
        <p:txBody>
          <a:bodyPr wrap="square" lIns="0" rIns="0" tIns="0" bIns="0">
            <a:spAutoFit/>
          </a:bodyPr>
          <a:lstStyle/>
          <a:p>
            <a:pPr algn="l"/>
            <a:r>
              <a:rPr sz="850" b="0" i="1">
                <a:solidFill>
                  <a:srgbClr val="757575"/>
                </a:solidFill>
                <a:latin typeface="Source Sans Pro"/>
              </a:rPr>
              <a:t>observed habits &amp; coping</a:t>
            </a:r>
          </a:p>
        </p:txBody>
      </p:sp>
      <p:sp>
        <p:nvSpPr>
          <p:cNvPr id="28" name="Rounded Rectangle 27"/>
          <p:cNvSpPr/>
          <p:nvPr/>
        </p:nvSpPr>
        <p:spPr>
          <a:xfrm>
            <a:off x="6069584" y="1371600"/>
            <a:ext cx="2750312" cy="4754880"/>
          </a:xfrm>
          <a:prstGeom prst="roundRect">
            <a:avLst>
              <a:gd name="adj" fmla="val 3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98184" y="1600200"/>
            <a:ext cx="1097280" cy="1097280"/>
          </a:xfrm>
          <a:prstGeom prst="rect">
            <a:avLst/>
          </a:prstGeom>
          <a:solidFill>
            <a:srgbClr val="EEECE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98184" y="2011680"/>
            <a:ext cx="1097280" cy="274320"/>
          </a:xfrm>
          <a:prstGeom prst="rect">
            <a:avLst/>
          </a:prstGeom>
          <a:noFill/>
        </p:spPr>
        <p:txBody>
          <a:bodyPr wrap="square" lIns="0" rIns="0" tIns="0" bIns="0">
            <a:spAutoFit/>
          </a:bodyPr>
          <a:lstStyle/>
          <a:p>
            <a:pPr algn="ctr"/>
            <a:r>
              <a:rPr sz="1000" b="0" i="1">
                <a:solidFill>
                  <a:srgbClr val="757575"/>
                </a:solidFill>
                <a:latin typeface="Palatino Linotype"/>
              </a:rPr>
              <a:t>photo</a:t>
            </a:r>
          </a:p>
        </p:txBody>
      </p:sp>
      <p:sp>
        <p:nvSpPr>
          <p:cNvPr id="31" name="Rounded Rectangle 30"/>
          <p:cNvSpPr/>
          <p:nvPr/>
        </p:nvSpPr>
        <p:spPr>
          <a:xfrm>
            <a:off x="7951216" y="1600200"/>
            <a:ext cx="640080" cy="292608"/>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#2</a:t>
            </a:r>
          </a:p>
        </p:txBody>
      </p:sp>
      <p:sp>
        <p:nvSpPr>
          <p:cNvPr id="32" name="TextBox 31"/>
          <p:cNvSpPr txBox="1"/>
          <p:nvPr/>
        </p:nvSpPr>
        <p:spPr>
          <a:xfrm>
            <a:off x="6298184" y="2788920"/>
            <a:ext cx="2293112" cy="411480"/>
          </a:xfrm>
          <a:prstGeom prst="rect">
            <a:avLst/>
          </a:prstGeom>
          <a:noFill/>
        </p:spPr>
        <p:txBody>
          <a:bodyPr wrap="square" lIns="0" rIns="0" tIns="0" bIns="0">
            <a:spAutoFit/>
          </a:bodyPr>
          <a:lstStyle/>
          <a:p>
            <a:pPr algn="l"/>
            <a:r>
              <a:rPr sz="2200" b="0" i="0">
                <a:solidFill>
                  <a:srgbClr val="0D0D0D"/>
                </a:solidFill>
                <a:latin typeface="Palatino Linotype"/>
              </a:rPr>
              <a:t>Name</a:t>
            </a:r>
          </a:p>
        </p:txBody>
      </p:sp>
      <p:sp>
        <p:nvSpPr>
          <p:cNvPr id="33" name="TextBox 32"/>
          <p:cNvSpPr txBox="1"/>
          <p:nvPr/>
        </p:nvSpPr>
        <p:spPr>
          <a:xfrm>
            <a:off x="6298184" y="3246120"/>
            <a:ext cx="2293112" cy="256032"/>
          </a:xfrm>
          <a:prstGeom prst="rect">
            <a:avLst/>
          </a:prstGeom>
          <a:noFill/>
        </p:spPr>
        <p:txBody>
          <a:bodyPr wrap="square" lIns="0" rIns="0" tIns="0" bIns="0">
            <a:spAutoFit/>
          </a:bodyPr>
          <a:lstStyle/>
          <a:p>
            <a:pPr algn="l"/>
            <a:r>
              <a:rPr sz="1050" b="0" i="1">
                <a:solidFill>
                  <a:srgbClr val="757575"/>
                </a:solidFill>
                <a:latin typeface="Palatino Linotype"/>
              </a:rPr>
              <a:t>Role  ·  age  ·  district</a:t>
            </a:r>
          </a:p>
        </p:txBody>
      </p:sp>
      <p:sp>
        <p:nvSpPr>
          <p:cNvPr id="34" name="TextBox 33"/>
          <p:cNvSpPr txBox="1"/>
          <p:nvPr/>
        </p:nvSpPr>
        <p:spPr>
          <a:xfrm>
            <a:off x="6298184" y="3538728"/>
            <a:ext cx="2293112" cy="384048"/>
          </a:xfrm>
          <a:prstGeom prst="rect">
            <a:avLst/>
          </a:prstGeom>
          <a:noFill/>
        </p:spPr>
        <p:txBody>
          <a:bodyPr wrap="square" lIns="0" rIns="0" tIns="0" bIns="0">
            <a:spAutoFit/>
          </a:bodyPr>
          <a:lstStyle/>
          <a:p>
            <a:pPr algn="l"/>
            <a:r>
              <a:rPr sz="1000" b="0" i="1">
                <a:solidFill>
                  <a:srgbClr val="757575"/>
                </a:solidFill>
                <a:latin typeface="Palatino Linotype"/>
              </a:rPr>
              <a:t>“ Verbatim quote from field interview ”</a:t>
            </a:r>
          </a:p>
        </p:txBody>
      </p:sp>
      <p:cxnSp>
        <p:nvCxnSpPr>
          <p:cNvPr id="35" name="Connector 34"/>
          <p:cNvCxnSpPr/>
          <p:nvPr/>
        </p:nvCxnSpPr>
        <p:spPr>
          <a:xfrm>
            <a:off x="6252464.0" y="397764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98184" y="4032504"/>
            <a:ext cx="2293112" cy="274320"/>
          </a:xfrm>
          <a:prstGeom prst="rect">
            <a:avLst/>
          </a:prstGeom>
          <a:noFill/>
        </p:spPr>
        <p:txBody>
          <a:bodyPr wrap="square" lIns="0" rIns="0" tIns="0" bIns="0">
            <a:spAutoFit/>
          </a:bodyPr>
          <a:lstStyle/>
          <a:p>
            <a:pPr algn="l"/>
            <a:r>
              <a:rPr sz="900" b="1" i="0">
                <a:solidFill>
                  <a:srgbClr val="0D0D0D"/>
                </a:solidFill>
                <a:latin typeface="Source Sans Pro"/>
              </a:rPr>
              <a:t>Daily context</a:t>
            </a:r>
          </a:p>
        </p:txBody>
      </p:sp>
      <p:sp>
        <p:nvSpPr>
          <p:cNvPr id="37" name="TextBox 36"/>
          <p:cNvSpPr txBox="1"/>
          <p:nvPr/>
        </p:nvSpPr>
        <p:spPr>
          <a:xfrm>
            <a:off x="6298184" y="4270248"/>
            <a:ext cx="2293112" cy="148590"/>
          </a:xfrm>
          <a:prstGeom prst="rect">
            <a:avLst/>
          </a:prstGeom>
          <a:noFill/>
        </p:spPr>
        <p:txBody>
          <a:bodyPr wrap="square" lIns="0" rIns="0" tIns="0" bIns="0">
            <a:spAutoFit/>
          </a:bodyPr>
          <a:lstStyle/>
          <a:p>
            <a:pPr algn="l"/>
            <a:r>
              <a:rPr sz="850" b="0" i="1">
                <a:solidFill>
                  <a:srgbClr val="757575"/>
                </a:solidFill>
                <a:latin typeface="Source Sans Pro"/>
              </a:rPr>
              <a:t>where, when, with whom</a:t>
            </a:r>
          </a:p>
        </p:txBody>
      </p:sp>
      <p:cxnSp>
        <p:nvCxnSpPr>
          <p:cNvPr id="38" name="Connector 37"/>
          <p:cNvCxnSpPr/>
          <p:nvPr/>
        </p:nvCxnSpPr>
        <p:spPr>
          <a:xfrm>
            <a:off x="6252464.0" y="449199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298184" y="4546854"/>
            <a:ext cx="2293112" cy="274320"/>
          </a:xfrm>
          <a:prstGeom prst="rect">
            <a:avLst/>
          </a:prstGeom>
          <a:noFill/>
        </p:spPr>
        <p:txBody>
          <a:bodyPr wrap="square" lIns="0" rIns="0" tIns="0" bIns="0">
            <a:spAutoFit/>
          </a:bodyPr>
          <a:lstStyle/>
          <a:p>
            <a:pPr algn="l"/>
            <a:r>
              <a:rPr sz="900" b="1" i="0">
                <a:solidFill>
                  <a:srgbClr val="C8A000"/>
                </a:solidFill>
                <a:latin typeface="Source Sans Pro"/>
              </a:rPr>
              <a:t>Goals &amp; needs</a:t>
            </a:r>
          </a:p>
        </p:txBody>
      </p:sp>
      <p:sp>
        <p:nvSpPr>
          <p:cNvPr id="40" name="TextBox 39"/>
          <p:cNvSpPr txBox="1"/>
          <p:nvPr/>
        </p:nvSpPr>
        <p:spPr>
          <a:xfrm>
            <a:off x="6298184" y="4784598"/>
            <a:ext cx="2293112" cy="148590"/>
          </a:xfrm>
          <a:prstGeom prst="rect">
            <a:avLst/>
          </a:prstGeom>
          <a:noFill/>
        </p:spPr>
        <p:txBody>
          <a:bodyPr wrap="square" lIns="0" rIns="0" tIns="0" bIns="0">
            <a:spAutoFit/>
          </a:bodyPr>
          <a:lstStyle/>
          <a:p>
            <a:pPr algn="l"/>
            <a:r>
              <a:rPr sz="850" b="0" i="1">
                <a:solidFill>
                  <a:srgbClr val="757575"/>
                </a:solidFill>
                <a:latin typeface="Source Sans Pro"/>
              </a:rPr>
              <a:t>what they try to achieve</a:t>
            </a:r>
          </a:p>
        </p:txBody>
      </p:sp>
      <p:cxnSp>
        <p:nvCxnSpPr>
          <p:cNvPr id="41" name="Connector 40"/>
          <p:cNvCxnSpPr/>
          <p:nvPr/>
        </p:nvCxnSpPr>
        <p:spPr>
          <a:xfrm>
            <a:off x="6252464.0" y="500634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298184" y="5061204"/>
            <a:ext cx="2293112" cy="274320"/>
          </a:xfrm>
          <a:prstGeom prst="rect">
            <a:avLst/>
          </a:prstGeom>
          <a:noFill/>
        </p:spPr>
        <p:txBody>
          <a:bodyPr wrap="square" lIns="0" rIns="0" tIns="0" bIns="0">
            <a:spAutoFit/>
          </a:bodyPr>
          <a:lstStyle/>
          <a:p>
            <a:pPr algn="l"/>
            <a:r>
              <a:rPr sz="900" b="1" i="0">
                <a:solidFill>
                  <a:srgbClr val="FF674D"/>
                </a:solidFill>
                <a:latin typeface="Source Sans Pro"/>
              </a:rPr>
              <a:t>Frustrations</a:t>
            </a:r>
          </a:p>
        </p:txBody>
      </p:sp>
      <p:sp>
        <p:nvSpPr>
          <p:cNvPr id="43" name="TextBox 42"/>
          <p:cNvSpPr txBox="1"/>
          <p:nvPr/>
        </p:nvSpPr>
        <p:spPr>
          <a:xfrm>
            <a:off x="6298184" y="5298948"/>
            <a:ext cx="2293112" cy="148590"/>
          </a:xfrm>
          <a:prstGeom prst="rect">
            <a:avLst/>
          </a:prstGeom>
          <a:noFill/>
        </p:spPr>
        <p:txBody>
          <a:bodyPr wrap="square" lIns="0" rIns="0" tIns="0" bIns="0">
            <a:spAutoFit/>
          </a:bodyPr>
          <a:lstStyle/>
          <a:p>
            <a:pPr algn="l"/>
            <a:r>
              <a:rPr sz="850" b="0" i="1">
                <a:solidFill>
                  <a:srgbClr val="757575"/>
                </a:solidFill>
                <a:latin typeface="Source Sans Pro"/>
              </a:rPr>
              <a:t>where the service breaks</a:t>
            </a:r>
          </a:p>
        </p:txBody>
      </p:sp>
      <p:cxnSp>
        <p:nvCxnSpPr>
          <p:cNvPr id="44" name="Connector 43"/>
          <p:cNvCxnSpPr/>
          <p:nvPr/>
        </p:nvCxnSpPr>
        <p:spPr>
          <a:xfrm>
            <a:off x="6252464.0" y="552069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298184" y="5575554"/>
            <a:ext cx="2293112" cy="274320"/>
          </a:xfrm>
          <a:prstGeom prst="rect">
            <a:avLst/>
          </a:prstGeom>
          <a:noFill/>
        </p:spPr>
        <p:txBody>
          <a:bodyPr wrap="square" lIns="0" rIns="0" tIns="0" bIns="0">
            <a:spAutoFit/>
          </a:bodyPr>
          <a:lstStyle/>
          <a:p>
            <a:pPr algn="l"/>
            <a:r>
              <a:rPr sz="900" b="1" i="0">
                <a:solidFill>
                  <a:srgbClr val="0D0D0D"/>
                </a:solidFill>
                <a:latin typeface="Source Sans Pro"/>
              </a:rPr>
              <a:t>Behaviours</a:t>
            </a:r>
          </a:p>
        </p:txBody>
      </p:sp>
      <p:sp>
        <p:nvSpPr>
          <p:cNvPr id="46" name="TextBox 45"/>
          <p:cNvSpPr txBox="1"/>
          <p:nvPr/>
        </p:nvSpPr>
        <p:spPr>
          <a:xfrm>
            <a:off x="6298184" y="5813298"/>
            <a:ext cx="2293112" cy="148590"/>
          </a:xfrm>
          <a:prstGeom prst="rect">
            <a:avLst/>
          </a:prstGeom>
          <a:noFill/>
        </p:spPr>
        <p:txBody>
          <a:bodyPr wrap="square" lIns="0" rIns="0" tIns="0" bIns="0">
            <a:spAutoFit/>
          </a:bodyPr>
          <a:lstStyle/>
          <a:p>
            <a:pPr algn="l"/>
            <a:r>
              <a:rPr sz="850" b="0" i="1">
                <a:solidFill>
                  <a:srgbClr val="757575"/>
                </a:solidFill>
                <a:latin typeface="Source Sans Pro"/>
              </a:rPr>
              <a:t>observed habits &amp; coping</a:t>
            </a:r>
          </a:p>
        </p:txBody>
      </p:sp>
      <p:sp>
        <p:nvSpPr>
          <p:cNvPr id="47" name="Rounded Rectangle 46"/>
          <p:cNvSpPr/>
          <p:nvPr/>
        </p:nvSpPr>
        <p:spPr>
          <a:xfrm>
            <a:off x="8984488" y="1371600"/>
            <a:ext cx="2750312" cy="4754880"/>
          </a:xfrm>
          <a:prstGeom prst="roundRect">
            <a:avLst>
              <a:gd name="adj" fmla="val 3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213088" y="1600200"/>
            <a:ext cx="1097280" cy="1097280"/>
          </a:xfrm>
          <a:prstGeom prst="rect">
            <a:avLst/>
          </a:prstGeom>
          <a:solidFill>
            <a:srgbClr val="EEECE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13088" y="2011680"/>
            <a:ext cx="1097280" cy="274320"/>
          </a:xfrm>
          <a:prstGeom prst="rect">
            <a:avLst/>
          </a:prstGeom>
          <a:noFill/>
        </p:spPr>
        <p:txBody>
          <a:bodyPr wrap="square" lIns="0" rIns="0" tIns="0" bIns="0">
            <a:spAutoFit/>
          </a:bodyPr>
          <a:lstStyle/>
          <a:p>
            <a:pPr algn="ctr"/>
            <a:r>
              <a:rPr sz="1000" b="0" i="1">
                <a:solidFill>
                  <a:srgbClr val="757575"/>
                </a:solidFill>
                <a:latin typeface="Palatino Linotype"/>
              </a:rPr>
              <a:t>photo</a:t>
            </a:r>
          </a:p>
        </p:txBody>
      </p:sp>
      <p:sp>
        <p:nvSpPr>
          <p:cNvPr id="50" name="Rounded Rectangle 49"/>
          <p:cNvSpPr/>
          <p:nvPr/>
        </p:nvSpPr>
        <p:spPr>
          <a:xfrm>
            <a:off x="10866120" y="1600200"/>
            <a:ext cx="640080" cy="292608"/>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#3</a:t>
            </a:r>
          </a:p>
        </p:txBody>
      </p:sp>
      <p:sp>
        <p:nvSpPr>
          <p:cNvPr id="51" name="TextBox 50"/>
          <p:cNvSpPr txBox="1"/>
          <p:nvPr/>
        </p:nvSpPr>
        <p:spPr>
          <a:xfrm>
            <a:off x="9213088" y="2788920"/>
            <a:ext cx="2293112" cy="411480"/>
          </a:xfrm>
          <a:prstGeom prst="rect">
            <a:avLst/>
          </a:prstGeom>
          <a:noFill/>
        </p:spPr>
        <p:txBody>
          <a:bodyPr wrap="square" lIns="0" rIns="0" tIns="0" bIns="0">
            <a:spAutoFit/>
          </a:bodyPr>
          <a:lstStyle/>
          <a:p>
            <a:pPr algn="l"/>
            <a:r>
              <a:rPr sz="2200" b="0" i="0">
                <a:solidFill>
                  <a:srgbClr val="0D0D0D"/>
                </a:solidFill>
                <a:latin typeface="Palatino Linotype"/>
              </a:rPr>
              <a:t>Name</a:t>
            </a:r>
          </a:p>
        </p:txBody>
      </p:sp>
      <p:sp>
        <p:nvSpPr>
          <p:cNvPr id="52" name="TextBox 51"/>
          <p:cNvSpPr txBox="1"/>
          <p:nvPr/>
        </p:nvSpPr>
        <p:spPr>
          <a:xfrm>
            <a:off x="9213088" y="3246120"/>
            <a:ext cx="2293112" cy="256032"/>
          </a:xfrm>
          <a:prstGeom prst="rect">
            <a:avLst/>
          </a:prstGeom>
          <a:noFill/>
        </p:spPr>
        <p:txBody>
          <a:bodyPr wrap="square" lIns="0" rIns="0" tIns="0" bIns="0">
            <a:spAutoFit/>
          </a:bodyPr>
          <a:lstStyle/>
          <a:p>
            <a:pPr algn="l"/>
            <a:r>
              <a:rPr sz="1050" b="0" i="1">
                <a:solidFill>
                  <a:srgbClr val="757575"/>
                </a:solidFill>
                <a:latin typeface="Palatino Linotype"/>
              </a:rPr>
              <a:t>Role  ·  age  ·  district</a:t>
            </a:r>
          </a:p>
        </p:txBody>
      </p:sp>
      <p:sp>
        <p:nvSpPr>
          <p:cNvPr id="53" name="TextBox 52"/>
          <p:cNvSpPr txBox="1"/>
          <p:nvPr/>
        </p:nvSpPr>
        <p:spPr>
          <a:xfrm>
            <a:off x="9213088" y="3538728"/>
            <a:ext cx="2293112" cy="384048"/>
          </a:xfrm>
          <a:prstGeom prst="rect">
            <a:avLst/>
          </a:prstGeom>
          <a:noFill/>
        </p:spPr>
        <p:txBody>
          <a:bodyPr wrap="square" lIns="0" rIns="0" tIns="0" bIns="0">
            <a:spAutoFit/>
          </a:bodyPr>
          <a:lstStyle/>
          <a:p>
            <a:pPr algn="l"/>
            <a:r>
              <a:rPr sz="1000" b="0" i="1">
                <a:solidFill>
                  <a:srgbClr val="757575"/>
                </a:solidFill>
                <a:latin typeface="Palatino Linotype"/>
              </a:rPr>
              <a:t>“ Verbatim quote from field interview ”</a:t>
            </a:r>
          </a:p>
        </p:txBody>
      </p:sp>
      <p:cxnSp>
        <p:nvCxnSpPr>
          <p:cNvPr id="54" name="Connector 53"/>
          <p:cNvCxnSpPr/>
          <p:nvPr/>
        </p:nvCxnSpPr>
        <p:spPr>
          <a:xfrm>
            <a:off x="9167368.0" y="397764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213088" y="4032504"/>
            <a:ext cx="2293112" cy="274320"/>
          </a:xfrm>
          <a:prstGeom prst="rect">
            <a:avLst/>
          </a:prstGeom>
          <a:noFill/>
        </p:spPr>
        <p:txBody>
          <a:bodyPr wrap="square" lIns="0" rIns="0" tIns="0" bIns="0">
            <a:spAutoFit/>
          </a:bodyPr>
          <a:lstStyle/>
          <a:p>
            <a:pPr algn="l"/>
            <a:r>
              <a:rPr sz="900" b="1" i="0">
                <a:solidFill>
                  <a:srgbClr val="0D0D0D"/>
                </a:solidFill>
                <a:latin typeface="Source Sans Pro"/>
              </a:rPr>
              <a:t>Daily context</a:t>
            </a:r>
          </a:p>
        </p:txBody>
      </p:sp>
      <p:sp>
        <p:nvSpPr>
          <p:cNvPr id="56" name="TextBox 55"/>
          <p:cNvSpPr txBox="1"/>
          <p:nvPr/>
        </p:nvSpPr>
        <p:spPr>
          <a:xfrm>
            <a:off x="9213088" y="4270248"/>
            <a:ext cx="2293112" cy="148590"/>
          </a:xfrm>
          <a:prstGeom prst="rect">
            <a:avLst/>
          </a:prstGeom>
          <a:noFill/>
        </p:spPr>
        <p:txBody>
          <a:bodyPr wrap="square" lIns="0" rIns="0" tIns="0" bIns="0">
            <a:spAutoFit/>
          </a:bodyPr>
          <a:lstStyle/>
          <a:p>
            <a:pPr algn="l"/>
            <a:r>
              <a:rPr sz="850" b="0" i="1">
                <a:solidFill>
                  <a:srgbClr val="757575"/>
                </a:solidFill>
                <a:latin typeface="Source Sans Pro"/>
              </a:rPr>
              <a:t>where, when, with whom</a:t>
            </a:r>
          </a:p>
        </p:txBody>
      </p:sp>
      <p:cxnSp>
        <p:nvCxnSpPr>
          <p:cNvPr id="57" name="Connector 56"/>
          <p:cNvCxnSpPr/>
          <p:nvPr/>
        </p:nvCxnSpPr>
        <p:spPr>
          <a:xfrm>
            <a:off x="9167368.0" y="449199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213088" y="4546854"/>
            <a:ext cx="2293112" cy="274320"/>
          </a:xfrm>
          <a:prstGeom prst="rect">
            <a:avLst/>
          </a:prstGeom>
          <a:noFill/>
        </p:spPr>
        <p:txBody>
          <a:bodyPr wrap="square" lIns="0" rIns="0" tIns="0" bIns="0">
            <a:spAutoFit/>
          </a:bodyPr>
          <a:lstStyle/>
          <a:p>
            <a:pPr algn="l"/>
            <a:r>
              <a:rPr sz="900" b="1" i="0">
                <a:solidFill>
                  <a:srgbClr val="C8A000"/>
                </a:solidFill>
                <a:latin typeface="Source Sans Pro"/>
              </a:rPr>
              <a:t>Goals &amp; needs</a:t>
            </a:r>
          </a:p>
        </p:txBody>
      </p:sp>
      <p:sp>
        <p:nvSpPr>
          <p:cNvPr id="59" name="TextBox 58"/>
          <p:cNvSpPr txBox="1"/>
          <p:nvPr/>
        </p:nvSpPr>
        <p:spPr>
          <a:xfrm>
            <a:off x="9213088" y="4784598"/>
            <a:ext cx="2293112" cy="148590"/>
          </a:xfrm>
          <a:prstGeom prst="rect">
            <a:avLst/>
          </a:prstGeom>
          <a:noFill/>
        </p:spPr>
        <p:txBody>
          <a:bodyPr wrap="square" lIns="0" rIns="0" tIns="0" bIns="0">
            <a:spAutoFit/>
          </a:bodyPr>
          <a:lstStyle/>
          <a:p>
            <a:pPr algn="l"/>
            <a:r>
              <a:rPr sz="850" b="0" i="1">
                <a:solidFill>
                  <a:srgbClr val="757575"/>
                </a:solidFill>
                <a:latin typeface="Source Sans Pro"/>
              </a:rPr>
              <a:t>what they try to achieve</a:t>
            </a:r>
          </a:p>
        </p:txBody>
      </p:sp>
      <p:cxnSp>
        <p:nvCxnSpPr>
          <p:cNvPr id="60" name="Connector 59"/>
          <p:cNvCxnSpPr/>
          <p:nvPr/>
        </p:nvCxnSpPr>
        <p:spPr>
          <a:xfrm>
            <a:off x="9167368.0" y="500634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213088" y="5061204"/>
            <a:ext cx="2293112" cy="274320"/>
          </a:xfrm>
          <a:prstGeom prst="rect">
            <a:avLst/>
          </a:prstGeom>
          <a:noFill/>
        </p:spPr>
        <p:txBody>
          <a:bodyPr wrap="square" lIns="0" rIns="0" tIns="0" bIns="0">
            <a:spAutoFit/>
          </a:bodyPr>
          <a:lstStyle/>
          <a:p>
            <a:pPr algn="l"/>
            <a:r>
              <a:rPr sz="900" b="1" i="0">
                <a:solidFill>
                  <a:srgbClr val="FF674D"/>
                </a:solidFill>
                <a:latin typeface="Source Sans Pro"/>
              </a:rPr>
              <a:t>Frustrations</a:t>
            </a:r>
          </a:p>
        </p:txBody>
      </p:sp>
      <p:sp>
        <p:nvSpPr>
          <p:cNvPr id="62" name="TextBox 61"/>
          <p:cNvSpPr txBox="1"/>
          <p:nvPr/>
        </p:nvSpPr>
        <p:spPr>
          <a:xfrm>
            <a:off x="9213088" y="5298948"/>
            <a:ext cx="2293112" cy="148590"/>
          </a:xfrm>
          <a:prstGeom prst="rect">
            <a:avLst/>
          </a:prstGeom>
          <a:noFill/>
        </p:spPr>
        <p:txBody>
          <a:bodyPr wrap="square" lIns="0" rIns="0" tIns="0" bIns="0">
            <a:spAutoFit/>
          </a:bodyPr>
          <a:lstStyle/>
          <a:p>
            <a:pPr algn="l"/>
            <a:r>
              <a:rPr sz="850" b="0" i="1">
                <a:solidFill>
                  <a:srgbClr val="757575"/>
                </a:solidFill>
                <a:latin typeface="Source Sans Pro"/>
              </a:rPr>
              <a:t>where the service breaks</a:t>
            </a:r>
          </a:p>
        </p:txBody>
      </p:sp>
      <p:cxnSp>
        <p:nvCxnSpPr>
          <p:cNvPr id="63" name="Connector 62"/>
          <p:cNvCxnSpPr/>
          <p:nvPr/>
        </p:nvCxnSpPr>
        <p:spPr>
          <a:xfrm>
            <a:off x="9167368.0" y="5520690.0"/>
            <a:ext cx="2384552.0" cy="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9213088" y="5575554"/>
            <a:ext cx="2293112" cy="274320"/>
          </a:xfrm>
          <a:prstGeom prst="rect">
            <a:avLst/>
          </a:prstGeom>
          <a:noFill/>
        </p:spPr>
        <p:txBody>
          <a:bodyPr wrap="square" lIns="0" rIns="0" tIns="0" bIns="0">
            <a:spAutoFit/>
          </a:bodyPr>
          <a:lstStyle/>
          <a:p>
            <a:pPr algn="l"/>
            <a:r>
              <a:rPr sz="900" b="1" i="0">
                <a:solidFill>
                  <a:srgbClr val="0D0D0D"/>
                </a:solidFill>
                <a:latin typeface="Source Sans Pro"/>
              </a:rPr>
              <a:t>Behaviours</a:t>
            </a:r>
          </a:p>
        </p:txBody>
      </p:sp>
      <p:sp>
        <p:nvSpPr>
          <p:cNvPr id="65" name="TextBox 64"/>
          <p:cNvSpPr txBox="1"/>
          <p:nvPr/>
        </p:nvSpPr>
        <p:spPr>
          <a:xfrm>
            <a:off x="9213088" y="5813298"/>
            <a:ext cx="2293112" cy="148590"/>
          </a:xfrm>
          <a:prstGeom prst="rect">
            <a:avLst/>
          </a:prstGeom>
          <a:noFill/>
        </p:spPr>
        <p:txBody>
          <a:bodyPr wrap="square" lIns="0" rIns="0" tIns="0" bIns="0">
            <a:spAutoFit/>
          </a:bodyPr>
          <a:lstStyle/>
          <a:p>
            <a:pPr algn="l"/>
            <a:r>
              <a:rPr sz="850" b="0" i="1">
                <a:solidFill>
                  <a:srgbClr val="757575"/>
                </a:solidFill>
                <a:latin typeface="Source Sans Pro"/>
              </a:rPr>
              <a:t>observed habits &amp; coping</a:t>
            </a:r>
          </a:p>
        </p:txBody>
      </p:sp>
      <p:sp>
        <p:nvSpPr>
          <p:cNvPr id="66" name="TextBox 6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Repeat the card pattern until you reach 6–8 personas covering extreme profiles  ·  not averages.</a:t>
            </a:r>
          </a:p>
        </p:txBody>
      </p:sp>
      <p:pic>
        <p:nvPicPr>
          <p:cNvPr id="67" name="Picture 6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8" name="TextBox 6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01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