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35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Historic Urban Landscape (HUL) scan</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comprehensive inventory defining the specific heritage attributes, community values, and socio-economic vulnerabilities of the urban landscape.</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1" name="Rounded Rectangle 10"/>
          <p:cNvSpPr/>
          <p:nvPr/>
        </p:nvSpPr>
        <p:spPr>
          <a:xfrm>
            <a:off x="3145536"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35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Historic Urban Landscape (HUL) scan</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Shifting the focus from isolated, frozen monuments to the living, breathing tissue of the city, recognizing that everyday human practices are just as valuable as ancient stones.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comprehensive inventory defining the specific heritage attributes, community values, and socio-economic vulnerabilities of the urban landscape.</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6 to 12 months for a complete urban scan
Material  ·  HUL Guidebook toolkits, spatial mapping software, citizen workshop facilitation guides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In Cuenca (Ecuador), the HUL approach was applied through a detailed scanning process involving 16 citizen workshops and multi-disciplinary mapping. By layering data on density, historical assets, and community rituals, the city identified distinct landscape units and drafted strategic development plans that protected both tangible buildings and intangible heritage like local markets,,.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35  ·  ANIMATION CANVAS  ·  </a:t>
            </a:r>
            <a:r>
              <a:rPr sz="1000" b="1" i="0">
                <a:solidFill>
                  <a:srgbClr val="0D0D0D"/>
                </a:solidFill>
                <a:latin typeface="Source Sans Pro"/>
              </a:rPr>
              <a:t>HISTORIC URBAN LANDSCAPE (HUL) SCAN</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HUL · 6 dimensions of the urban heritage</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6 to 12 months for a complete urban scan</a:t>
            </a:r>
          </a:p>
        </p:txBody>
      </p:sp>
      <p:sp>
        <p:nvSpPr>
          <p:cNvPr id="6" name="Rounded Rectangle 5"/>
          <p:cNvSpPr/>
          <p:nvPr/>
        </p:nvSpPr>
        <p:spPr>
          <a:xfrm>
            <a:off x="457200" y="1417320"/>
            <a:ext cx="3637280" cy="22860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3180080"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Topography &amp; geomorphology</a:t>
            </a:r>
          </a:p>
        </p:txBody>
      </p:sp>
      <p:sp>
        <p:nvSpPr>
          <p:cNvPr id="8" name="TextBox 7"/>
          <p:cNvSpPr txBox="1"/>
          <p:nvPr/>
        </p:nvSpPr>
        <p:spPr>
          <a:xfrm>
            <a:off x="685800" y="2103120"/>
            <a:ext cx="3180080" cy="365760"/>
          </a:xfrm>
          <a:prstGeom prst="rect">
            <a:avLst/>
          </a:prstGeom>
          <a:noFill/>
        </p:spPr>
        <p:txBody>
          <a:bodyPr wrap="square" lIns="0" rIns="0" tIns="0" bIns="0">
            <a:spAutoFit/>
          </a:bodyPr>
          <a:lstStyle/>
          <a:p>
            <a:pPr algn="l"/>
            <a:r>
              <a:rPr sz="1050" b="0" i="1">
                <a:solidFill>
                  <a:srgbClr val="757575"/>
                </a:solidFill>
                <a:latin typeface="Palatino Linotype"/>
              </a:rPr>
              <a:t>natural form, ridge lines, watercourses</a:t>
            </a:r>
          </a:p>
        </p:txBody>
      </p:sp>
      <p:sp>
        <p:nvSpPr>
          <p:cNvPr id="9" name="Rounded Rectangle 8"/>
          <p:cNvSpPr/>
          <p:nvPr/>
        </p:nvSpPr>
        <p:spPr>
          <a:xfrm>
            <a:off x="685800" y="2651760"/>
            <a:ext cx="822960" cy="23774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State</a:t>
            </a:r>
          </a:p>
        </p:txBody>
      </p:sp>
      <p:cxnSp>
        <p:nvCxnSpPr>
          <p:cNvPr id="10" name="Connector 9"/>
          <p:cNvCxnSpPr/>
          <p:nvPr/>
        </p:nvCxnSpPr>
        <p:spPr>
          <a:xfrm>
            <a:off x="1600200.0" y="2816352.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85800" y="2944368"/>
            <a:ext cx="822960" cy="237744"/>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Trend</a:t>
            </a:r>
          </a:p>
        </p:txBody>
      </p:sp>
      <p:cxnSp>
        <p:nvCxnSpPr>
          <p:cNvPr id="12" name="Connector 11"/>
          <p:cNvCxnSpPr/>
          <p:nvPr/>
        </p:nvCxnSpPr>
        <p:spPr>
          <a:xfrm>
            <a:off x="1600200.0" y="3108960.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85800" y="3236976"/>
            <a:ext cx="822960" cy="23774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Threat</a:t>
            </a:r>
          </a:p>
        </p:txBody>
      </p:sp>
      <p:cxnSp>
        <p:nvCxnSpPr>
          <p:cNvPr id="14" name="Connector 13"/>
          <p:cNvCxnSpPr/>
          <p:nvPr/>
        </p:nvCxnSpPr>
        <p:spPr>
          <a:xfrm>
            <a:off x="1600200.0" y="3401568.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77360" y="1417320"/>
            <a:ext cx="3637280" cy="22860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05960" y="1600200"/>
            <a:ext cx="3180080"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Built environment</a:t>
            </a:r>
          </a:p>
        </p:txBody>
      </p:sp>
      <p:sp>
        <p:nvSpPr>
          <p:cNvPr id="17" name="TextBox 16"/>
          <p:cNvSpPr txBox="1"/>
          <p:nvPr/>
        </p:nvSpPr>
        <p:spPr>
          <a:xfrm>
            <a:off x="4505960" y="2103120"/>
            <a:ext cx="3180080" cy="365760"/>
          </a:xfrm>
          <a:prstGeom prst="rect">
            <a:avLst/>
          </a:prstGeom>
          <a:noFill/>
        </p:spPr>
        <p:txBody>
          <a:bodyPr wrap="square" lIns="0" rIns="0" tIns="0" bIns="0">
            <a:spAutoFit/>
          </a:bodyPr>
          <a:lstStyle/>
          <a:p>
            <a:pPr algn="l"/>
            <a:r>
              <a:rPr sz="1050" b="0" i="1">
                <a:solidFill>
                  <a:srgbClr val="757575"/>
                </a:solidFill>
                <a:latin typeface="Palatino Linotype"/>
              </a:rPr>
              <a:t>fabric, density, typologies</a:t>
            </a:r>
          </a:p>
        </p:txBody>
      </p:sp>
      <p:sp>
        <p:nvSpPr>
          <p:cNvPr id="18" name="Rounded Rectangle 17"/>
          <p:cNvSpPr/>
          <p:nvPr/>
        </p:nvSpPr>
        <p:spPr>
          <a:xfrm>
            <a:off x="4505960" y="2651760"/>
            <a:ext cx="822960" cy="23774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State</a:t>
            </a:r>
          </a:p>
        </p:txBody>
      </p:sp>
      <p:cxnSp>
        <p:nvCxnSpPr>
          <p:cNvPr id="19" name="Connector 18"/>
          <p:cNvCxnSpPr/>
          <p:nvPr/>
        </p:nvCxnSpPr>
        <p:spPr>
          <a:xfrm>
            <a:off x="5420360.0" y="2816352.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05960" y="2944368"/>
            <a:ext cx="822960" cy="237744"/>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Trend</a:t>
            </a:r>
          </a:p>
        </p:txBody>
      </p:sp>
      <p:cxnSp>
        <p:nvCxnSpPr>
          <p:cNvPr id="21" name="Connector 20"/>
          <p:cNvCxnSpPr/>
          <p:nvPr/>
        </p:nvCxnSpPr>
        <p:spPr>
          <a:xfrm>
            <a:off x="5420360.0" y="3108960.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505960" y="3236976"/>
            <a:ext cx="822960" cy="23774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Threat</a:t>
            </a:r>
          </a:p>
        </p:txBody>
      </p:sp>
      <p:cxnSp>
        <p:nvCxnSpPr>
          <p:cNvPr id="23" name="Connector 22"/>
          <p:cNvCxnSpPr/>
          <p:nvPr/>
        </p:nvCxnSpPr>
        <p:spPr>
          <a:xfrm>
            <a:off x="5420360.0" y="3401568.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097520" y="1417320"/>
            <a:ext cx="3637280" cy="22860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326120" y="1600200"/>
            <a:ext cx="3180080"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Open spaces &amp; gardens</a:t>
            </a:r>
          </a:p>
        </p:txBody>
      </p:sp>
      <p:sp>
        <p:nvSpPr>
          <p:cNvPr id="26" name="TextBox 25"/>
          <p:cNvSpPr txBox="1"/>
          <p:nvPr/>
        </p:nvSpPr>
        <p:spPr>
          <a:xfrm>
            <a:off x="8326120" y="2103120"/>
            <a:ext cx="3180080" cy="365760"/>
          </a:xfrm>
          <a:prstGeom prst="rect">
            <a:avLst/>
          </a:prstGeom>
          <a:noFill/>
        </p:spPr>
        <p:txBody>
          <a:bodyPr wrap="square" lIns="0" rIns="0" tIns="0" bIns="0">
            <a:spAutoFit/>
          </a:bodyPr>
          <a:lstStyle/>
          <a:p>
            <a:pPr algn="l"/>
            <a:r>
              <a:rPr sz="1050" b="0" i="1">
                <a:solidFill>
                  <a:srgbClr val="757575"/>
                </a:solidFill>
                <a:latin typeface="Palatino Linotype"/>
              </a:rPr>
              <a:t>parks, courtyards, plots</a:t>
            </a:r>
          </a:p>
        </p:txBody>
      </p:sp>
      <p:sp>
        <p:nvSpPr>
          <p:cNvPr id="27" name="Rounded Rectangle 26"/>
          <p:cNvSpPr/>
          <p:nvPr/>
        </p:nvSpPr>
        <p:spPr>
          <a:xfrm>
            <a:off x="8326120" y="2651760"/>
            <a:ext cx="822960" cy="23774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State</a:t>
            </a:r>
          </a:p>
        </p:txBody>
      </p:sp>
      <p:cxnSp>
        <p:nvCxnSpPr>
          <p:cNvPr id="28" name="Connector 27"/>
          <p:cNvCxnSpPr/>
          <p:nvPr/>
        </p:nvCxnSpPr>
        <p:spPr>
          <a:xfrm>
            <a:off x="9240520.0" y="2816352.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326120" y="2944368"/>
            <a:ext cx="822960" cy="237744"/>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Trend</a:t>
            </a:r>
          </a:p>
        </p:txBody>
      </p:sp>
      <p:cxnSp>
        <p:nvCxnSpPr>
          <p:cNvPr id="30" name="Connector 29"/>
          <p:cNvCxnSpPr/>
          <p:nvPr/>
        </p:nvCxnSpPr>
        <p:spPr>
          <a:xfrm>
            <a:off x="9240520.0" y="3108960.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326120" y="3236976"/>
            <a:ext cx="822960" cy="23774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Threat</a:t>
            </a:r>
          </a:p>
        </p:txBody>
      </p:sp>
      <p:cxnSp>
        <p:nvCxnSpPr>
          <p:cNvPr id="32" name="Connector 31"/>
          <p:cNvCxnSpPr/>
          <p:nvPr/>
        </p:nvCxnSpPr>
        <p:spPr>
          <a:xfrm>
            <a:off x="9240520.0" y="3401568.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57200" y="3886200"/>
            <a:ext cx="3637280" cy="22860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85800" y="4069080"/>
            <a:ext cx="3180080"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Land-use patterns</a:t>
            </a:r>
          </a:p>
        </p:txBody>
      </p:sp>
      <p:sp>
        <p:nvSpPr>
          <p:cNvPr id="35" name="TextBox 34"/>
          <p:cNvSpPr txBox="1"/>
          <p:nvPr/>
        </p:nvSpPr>
        <p:spPr>
          <a:xfrm>
            <a:off x="685800" y="4572000"/>
            <a:ext cx="3180080" cy="365760"/>
          </a:xfrm>
          <a:prstGeom prst="rect">
            <a:avLst/>
          </a:prstGeom>
          <a:noFill/>
        </p:spPr>
        <p:txBody>
          <a:bodyPr wrap="square" lIns="0" rIns="0" tIns="0" bIns="0">
            <a:spAutoFit/>
          </a:bodyPr>
          <a:lstStyle/>
          <a:p>
            <a:pPr algn="l"/>
            <a:r>
              <a:rPr sz="1050" b="0" i="1">
                <a:solidFill>
                  <a:srgbClr val="757575"/>
                </a:solidFill>
                <a:latin typeface="Palatino Linotype"/>
              </a:rPr>
              <a:t>mix, density, intensity</a:t>
            </a:r>
          </a:p>
        </p:txBody>
      </p:sp>
      <p:sp>
        <p:nvSpPr>
          <p:cNvPr id="36" name="Rounded Rectangle 35"/>
          <p:cNvSpPr/>
          <p:nvPr/>
        </p:nvSpPr>
        <p:spPr>
          <a:xfrm>
            <a:off x="685800" y="5120640"/>
            <a:ext cx="822960" cy="23774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State</a:t>
            </a:r>
          </a:p>
        </p:txBody>
      </p:sp>
      <p:cxnSp>
        <p:nvCxnSpPr>
          <p:cNvPr id="37" name="Connector 36"/>
          <p:cNvCxnSpPr/>
          <p:nvPr/>
        </p:nvCxnSpPr>
        <p:spPr>
          <a:xfrm>
            <a:off x="1600200.0" y="5285232.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85800" y="5413248"/>
            <a:ext cx="822960" cy="237744"/>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Trend</a:t>
            </a:r>
          </a:p>
        </p:txBody>
      </p:sp>
      <p:cxnSp>
        <p:nvCxnSpPr>
          <p:cNvPr id="39" name="Connector 38"/>
          <p:cNvCxnSpPr/>
          <p:nvPr/>
        </p:nvCxnSpPr>
        <p:spPr>
          <a:xfrm>
            <a:off x="1600200.0" y="5577840.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85800" y="5705856"/>
            <a:ext cx="822960" cy="23774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Threat</a:t>
            </a:r>
          </a:p>
        </p:txBody>
      </p:sp>
      <p:cxnSp>
        <p:nvCxnSpPr>
          <p:cNvPr id="41" name="Connector 40"/>
          <p:cNvCxnSpPr/>
          <p:nvPr/>
        </p:nvCxnSpPr>
        <p:spPr>
          <a:xfrm>
            <a:off x="1600200.0" y="5870448.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4277360" y="3886200"/>
            <a:ext cx="3637280" cy="22860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505960" y="4069080"/>
            <a:ext cx="3180080"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Visual relationships</a:t>
            </a:r>
          </a:p>
        </p:txBody>
      </p:sp>
      <p:sp>
        <p:nvSpPr>
          <p:cNvPr id="44" name="TextBox 43"/>
          <p:cNvSpPr txBox="1"/>
          <p:nvPr/>
        </p:nvSpPr>
        <p:spPr>
          <a:xfrm>
            <a:off x="4505960" y="4572000"/>
            <a:ext cx="3180080" cy="365760"/>
          </a:xfrm>
          <a:prstGeom prst="rect">
            <a:avLst/>
          </a:prstGeom>
          <a:noFill/>
        </p:spPr>
        <p:txBody>
          <a:bodyPr wrap="square" lIns="0" rIns="0" tIns="0" bIns="0">
            <a:spAutoFit/>
          </a:bodyPr>
          <a:lstStyle/>
          <a:p>
            <a:pPr algn="l"/>
            <a:r>
              <a:rPr sz="1050" b="0" i="1">
                <a:solidFill>
                  <a:srgbClr val="757575"/>
                </a:solidFill>
                <a:latin typeface="Palatino Linotype"/>
              </a:rPr>
              <a:t>sight-lines, skyline, landmarks</a:t>
            </a:r>
          </a:p>
        </p:txBody>
      </p:sp>
      <p:sp>
        <p:nvSpPr>
          <p:cNvPr id="45" name="Rounded Rectangle 44"/>
          <p:cNvSpPr/>
          <p:nvPr/>
        </p:nvSpPr>
        <p:spPr>
          <a:xfrm>
            <a:off x="4505960" y="5120640"/>
            <a:ext cx="822960" cy="23774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State</a:t>
            </a:r>
          </a:p>
        </p:txBody>
      </p:sp>
      <p:cxnSp>
        <p:nvCxnSpPr>
          <p:cNvPr id="46" name="Connector 45"/>
          <p:cNvCxnSpPr/>
          <p:nvPr/>
        </p:nvCxnSpPr>
        <p:spPr>
          <a:xfrm>
            <a:off x="5420360.0" y="5285232.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4505960" y="5413248"/>
            <a:ext cx="822960" cy="237744"/>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Trend</a:t>
            </a:r>
          </a:p>
        </p:txBody>
      </p:sp>
      <p:cxnSp>
        <p:nvCxnSpPr>
          <p:cNvPr id="48" name="Connector 47"/>
          <p:cNvCxnSpPr/>
          <p:nvPr/>
        </p:nvCxnSpPr>
        <p:spPr>
          <a:xfrm>
            <a:off x="5420360.0" y="5577840.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4505960" y="5705856"/>
            <a:ext cx="822960" cy="23774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Threat</a:t>
            </a:r>
          </a:p>
        </p:txBody>
      </p:sp>
      <p:cxnSp>
        <p:nvCxnSpPr>
          <p:cNvPr id="50" name="Connector 49"/>
          <p:cNvCxnSpPr/>
          <p:nvPr/>
        </p:nvCxnSpPr>
        <p:spPr>
          <a:xfrm>
            <a:off x="5420360.0" y="5870448.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8097520" y="3886200"/>
            <a:ext cx="3637280" cy="22860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8326120" y="4069080"/>
            <a:ext cx="3180080" cy="365760"/>
          </a:xfrm>
          <a:prstGeom prst="roundRect">
            <a:avLst>
              <a:gd name="adj" fmla="val 50000"/>
            </a:avLst>
          </a:prstGeom>
          <a:solidFill>
            <a:srgbClr val="C48B4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Intangible &amp; social</a:t>
            </a:r>
          </a:p>
        </p:txBody>
      </p:sp>
      <p:sp>
        <p:nvSpPr>
          <p:cNvPr id="53" name="TextBox 52"/>
          <p:cNvSpPr txBox="1"/>
          <p:nvPr/>
        </p:nvSpPr>
        <p:spPr>
          <a:xfrm>
            <a:off x="8326120" y="4572000"/>
            <a:ext cx="3180080" cy="365760"/>
          </a:xfrm>
          <a:prstGeom prst="rect">
            <a:avLst/>
          </a:prstGeom>
          <a:noFill/>
        </p:spPr>
        <p:txBody>
          <a:bodyPr wrap="square" lIns="0" rIns="0" tIns="0" bIns="0">
            <a:spAutoFit/>
          </a:bodyPr>
          <a:lstStyle/>
          <a:p>
            <a:pPr algn="l"/>
            <a:r>
              <a:rPr sz="1050" b="0" i="1">
                <a:solidFill>
                  <a:srgbClr val="757575"/>
                </a:solidFill>
                <a:latin typeface="Palatino Linotype"/>
              </a:rPr>
              <a:t>rituals, memories, identities</a:t>
            </a:r>
          </a:p>
        </p:txBody>
      </p:sp>
      <p:sp>
        <p:nvSpPr>
          <p:cNvPr id="54" name="Rounded Rectangle 53"/>
          <p:cNvSpPr/>
          <p:nvPr/>
        </p:nvSpPr>
        <p:spPr>
          <a:xfrm>
            <a:off x="8326120" y="5120640"/>
            <a:ext cx="822960" cy="23774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State</a:t>
            </a:r>
          </a:p>
        </p:txBody>
      </p:sp>
      <p:cxnSp>
        <p:nvCxnSpPr>
          <p:cNvPr id="55" name="Connector 54"/>
          <p:cNvCxnSpPr/>
          <p:nvPr/>
        </p:nvCxnSpPr>
        <p:spPr>
          <a:xfrm>
            <a:off x="9240520.0" y="5285232.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8326120" y="5413248"/>
            <a:ext cx="822960" cy="237744"/>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Trend</a:t>
            </a:r>
          </a:p>
        </p:txBody>
      </p:sp>
      <p:cxnSp>
        <p:nvCxnSpPr>
          <p:cNvPr id="57" name="Connector 56"/>
          <p:cNvCxnSpPr/>
          <p:nvPr/>
        </p:nvCxnSpPr>
        <p:spPr>
          <a:xfrm>
            <a:off x="9240520.0" y="5577840.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8326120" y="5705856"/>
            <a:ext cx="822960" cy="23774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800">
                <a:solidFill>
                  <a:srgbClr val="0D0D0D"/>
                </a:solidFill>
                <a:latin typeface="Source Sans Pro"/>
              </a:rPr>
              <a:t>Threat</a:t>
            </a:r>
          </a:p>
        </p:txBody>
      </p:sp>
      <p:cxnSp>
        <p:nvCxnSpPr>
          <p:cNvPr id="59" name="Connector 58"/>
          <p:cNvCxnSpPr/>
          <p:nvPr/>
        </p:nvCxnSpPr>
        <p:spPr>
          <a:xfrm>
            <a:off x="9240520.0" y="5870448.0"/>
            <a:ext cx="226568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60" name="Picture 59"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1" name="TextBox 60"/>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35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