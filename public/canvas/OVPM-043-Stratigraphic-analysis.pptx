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43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Stratigraphic analysis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chronological mapping (often visualized as a Harris Matrix) that sequences the different construction phases, additions, and demolitions of a historical building over centuries,.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43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Stratigraphic analysis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Treating the walls of a city as an open, living archive, where each overlapping layer of brick and mortar reveals the triumphs, crises, and daily labor of the generations who built it.</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chronological mapping (often visualized as a Harris Matrix) that sequences the different construction phases, additions, and demolitions of a historical building over centuries,.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4 weeks of structural observation and matrix generation
Material  ·  Architectural blueprints, photogrammetric meshes, Harris Matrix diagrams, historical archives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Shawbak Castle project utilized dense photogrammetric point clouds linked directly with an archaeological database. By applying chronotypology and the Harris Matrix, researchers classified the different masonry units (USM) across the medieval settlement. This stratigraphic analysis provided an exact timeline of the castle's evolution, fundamentally guiding the subsequent interpretation and restoration design,.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43  ·  ANIMATION CANVAS  ·  </a:t>
            </a:r>
            <a:r>
              <a:rPr sz="1000" b="1" i="0">
                <a:solidFill>
                  <a:srgbClr val="0D0D0D"/>
                </a:solidFill>
                <a:latin typeface="Source Sans Pro"/>
              </a:rPr>
              <a:t>STRATIGRAPHIC ANALYSIS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Vertical stratigraphy · eras × interventions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4 weeks of structural observation and matrix gener…</a:t>
            </a:r>
          </a:p>
        </p:txBody>
      </p:sp>
      <p:sp>
        <p:nvSpPr>
          <p:cNvPr id="6" name="Rounded Rectangle 5"/>
          <p:cNvSpPr/>
          <p:nvPr/>
        </p:nvSpPr>
        <p:spPr>
          <a:xfrm>
            <a:off x="457200" y="1417320"/>
            <a:ext cx="32004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2743200" cy="365760"/>
          </a:xfrm>
          <a:prstGeom prst="rect">
            <a:avLst/>
          </a:prstGeom>
          <a:noFill/>
        </p:spPr>
        <p:txBody>
          <a:bodyPr wrap="square" lIns="0" rIns="0" tIns="0" bIns="0">
            <a:spAutoFit/>
          </a:bodyPr>
          <a:lstStyle/>
          <a:p>
            <a:pPr algn="l"/>
            <a:r>
              <a:rPr sz="1300" b="0" i="1">
                <a:solidFill>
                  <a:srgbClr val="0D0D0D"/>
                </a:solidFill>
                <a:latin typeface="Palatino Linotype"/>
              </a:rPr>
              <a:t>Stratigraphic column</a:t>
            </a:r>
          </a:p>
        </p:txBody>
      </p:sp>
      <p:sp>
        <p:nvSpPr>
          <p:cNvPr id="8" name="Rectangle 7"/>
          <p:cNvSpPr/>
          <p:nvPr/>
        </p:nvSpPr>
        <p:spPr>
          <a:xfrm>
            <a:off x="914400" y="2011680"/>
            <a:ext cx="2286000" cy="795528"/>
          </a:xfrm>
          <a:prstGeom prst="rect">
            <a:avLst/>
          </a:prstGeom>
          <a:solidFill>
            <a:srgbClr val="00ED93"/>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11680"/>
            <a:ext cx="2286000" cy="795528"/>
          </a:xfrm>
          <a:prstGeom prst="rect">
            <a:avLst/>
          </a:prstGeom>
          <a:noFill/>
        </p:spPr>
        <p:txBody>
          <a:bodyPr wrap="square" lIns="0" rIns="0" tIns="0" bIns="0" anchor="ctr">
            <a:spAutoFit/>
          </a:bodyPr>
          <a:lstStyle/>
          <a:p>
            <a:pPr algn="ctr"/>
            <a:r>
              <a:rPr sz="1100" b="1" i="0">
                <a:solidFill>
                  <a:srgbClr val="0D0D0D"/>
                </a:solidFill>
                <a:latin typeface="Source Sans Pro"/>
              </a:rPr>
              <a:t>Modern</a:t>
            </a:r>
          </a:p>
        </p:txBody>
      </p:sp>
      <p:sp>
        <p:nvSpPr>
          <p:cNvPr id="10" name="Rectangle 9"/>
          <p:cNvSpPr/>
          <p:nvPr/>
        </p:nvSpPr>
        <p:spPr>
          <a:xfrm>
            <a:off x="914400" y="2807208"/>
            <a:ext cx="2286000" cy="795528"/>
          </a:xfrm>
          <a:prstGeom prst="rect">
            <a:avLst/>
          </a:prstGeom>
          <a:solidFill>
            <a:srgbClr val="459ACB"/>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07208"/>
            <a:ext cx="2286000" cy="795528"/>
          </a:xfrm>
          <a:prstGeom prst="rect">
            <a:avLst/>
          </a:prstGeom>
          <a:noFill/>
        </p:spPr>
        <p:txBody>
          <a:bodyPr wrap="square" lIns="0" rIns="0" tIns="0" bIns="0" anchor="ctr">
            <a:spAutoFit/>
          </a:bodyPr>
          <a:lstStyle/>
          <a:p>
            <a:pPr algn="ctr"/>
            <a:r>
              <a:rPr sz="1100" b="1" i="0">
                <a:solidFill>
                  <a:srgbClr val="0D0D0D"/>
                </a:solidFill>
                <a:latin typeface="Source Sans Pro"/>
              </a:rPr>
              <a:t>19th c.</a:t>
            </a:r>
          </a:p>
        </p:txBody>
      </p:sp>
      <p:sp>
        <p:nvSpPr>
          <p:cNvPr id="12" name="Rectangle 11"/>
          <p:cNvSpPr/>
          <p:nvPr/>
        </p:nvSpPr>
        <p:spPr>
          <a:xfrm>
            <a:off x="914400" y="3602736"/>
            <a:ext cx="2286000" cy="795528"/>
          </a:xfrm>
          <a:prstGeom prst="rect">
            <a:avLst/>
          </a:prstGeom>
          <a:solidFill>
            <a:srgbClr val="EF98D6"/>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02736"/>
            <a:ext cx="2286000" cy="795528"/>
          </a:xfrm>
          <a:prstGeom prst="rect">
            <a:avLst/>
          </a:prstGeom>
          <a:noFill/>
        </p:spPr>
        <p:txBody>
          <a:bodyPr wrap="square" lIns="0" rIns="0" tIns="0" bIns="0" anchor="ctr">
            <a:spAutoFit/>
          </a:bodyPr>
          <a:lstStyle/>
          <a:p>
            <a:pPr algn="ctr"/>
            <a:r>
              <a:rPr sz="1100" b="1" i="0">
                <a:solidFill>
                  <a:srgbClr val="0D0D0D"/>
                </a:solidFill>
                <a:latin typeface="Source Sans Pro"/>
              </a:rPr>
              <a:t>Medieval</a:t>
            </a:r>
          </a:p>
        </p:txBody>
      </p:sp>
      <p:sp>
        <p:nvSpPr>
          <p:cNvPr id="14" name="Rectangle 13"/>
          <p:cNvSpPr/>
          <p:nvPr/>
        </p:nvSpPr>
        <p:spPr>
          <a:xfrm>
            <a:off x="914400" y="4398264"/>
            <a:ext cx="2286000" cy="795528"/>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398264"/>
            <a:ext cx="2286000" cy="795528"/>
          </a:xfrm>
          <a:prstGeom prst="rect">
            <a:avLst/>
          </a:prstGeom>
          <a:noFill/>
        </p:spPr>
        <p:txBody>
          <a:bodyPr wrap="square" lIns="0" rIns="0" tIns="0" bIns="0" anchor="ctr">
            <a:spAutoFit/>
          </a:bodyPr>
          <a:lstStyle/>
          <a:p>
            <a:pPr algn="ctr"/>
            <a:r>
              <a:rPr sz="1100" b="1" i="0">
                <a:solidFill>
                  <a:srgbClr val="0D0D0D"/>
                </a:solidFill>
                <a:latin typeface="Source Sans Pro"/>
              </a:rPr>
              <a:t>Antique</a:t>
            </a:r>
          </a:p>
        </p:txBody>
      </p:sp>
      <p:sp>
        <p:nvSpPr>
          <p:cNvPr id="16" name="Rectangle 15"/>
          <p:cNvSpPr/>
          <p:nvPr/>
        </p:nvSpPr>
        <p:spPr>
          <a:xfrm>
            <a:off x="914400" y="5193792"/>
            <a:ext cx="2286000" cy="795528"/>
          </a:xfrm>
          <a:prstGeom prst="rect">
            <a:avLst/>
          </a:prstGeom>
          <a:solidFill>
            <a:srgbClr val="FF674D"/>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193792"/>
            <a:ext cx="2286000" cy="795528"/>
          </a:xfrm>
          <a:prstGeom prst="rect">
            <a:avLst/>
          </a:prstGeom>
          <a:noFill/>
        </p:spPr>
        <p:txBody>
          <a:bodyPr wrap="square" lIns="0" rIns="0" tIns="0" bIns="0" anchor="ctr">
            <a:spAutoFit/>
          </a:bodyPr>
          <a:lstStyle/>
          <a:p>
            <a:pPr algn="ctr"/>
            <a:r>
              <a:rPr sz="1100" b="1" i="0">
                <a:solidFill>
                  <a:srgbClr val="0D0D0D"/>
                </a:solidFill>
                <a:latin typeface="Source Sans Pro"/>
              </a:rPr>
              <a:t>Pre-historic</a:t>
            </a:r>
          </a:p>
        </p:txBody>
      </p:sp>
      <p:sp>
        <p:nvSpPr>
          <p:cNvPr id="18" name="Rounded Rectangle 17"/>
          <p:cNvSpPr/>
          <p:nvPr/>
        </p:nvSpPr>
        <p:spPr>
          <a:xfrm>
            <a:off x="3886200" y="1417320"/>
            <a:ext cx="78486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69080" y="1554480"/>
            <a:ext cx="7482840" cy="365760"/>
          </a:xfrm>
          <a:prstGeom prst="rect">
            <a:avLst/>
          </a:prstGeom>
          <a:noFill/>
        </p:spPr>
        <p:txBody>
          <a:bodyPr wrap="square" lIns="0" rIns="0" tIns="0" bIns="0">
            <a:spAutoFit/>
          </a:bodyPr>
          <a:lstStyle/>
          <a:p>
            <a:pPr algn="l"/>
            <a:r>
              <a:rPr sz="1300" b="0" i="1">
                <a:solidFill>
                  <a:srgbClr val="0D0D0D"/>
                </a:solidFill>
                <a:latin typeface="Palatino Linotype"/>
              </a:rPr>
              <a:t>Per-era documentation</a:t>
            </a:r>
          </a:p>
        </p:txBody>
      </p:sp>
      <p:sp>
        <p:nvSpPr>
          <p:cNvPr id="20" name="TextBox 19"/>
          <p:cNvSpPr txBox="1"/>
          <p:nvPr/>
        </p:nvSpPr>
        <p:spPr>
          <a:xfrm>
            <a:off x="4069080" y="2057400"/>
            <a:ext cx="7482840" cy="274320"/>
          </a:xfrm>
          <a:prstGeom prst="rect">
            <a:avLst/>
          </a:prstGeom>
          <a:noFill/>
        </p:spPr>
        <p:txBody>
          <a:bodyPr wrap="square" lIns="0" rIns="0" tIns="0" bIns="0">
            <a:spAutoFit/>
          </a:bodyPr>
          <a:lstStyle/>
          <a:p>
            <a:pPr algn="l"/>
            <a:r>
              <a:rPr sz="1050" b="1" i="0">
                <a:solidFill>
                  <a:srgbClr val="0D0D0D"/>
                </a:solidFill>
                <a:latin typeface="Source Sans Pro"/>
              </a:rPr>
              <a:t>Date range</a:t>
            </a:r>
          </a:p>
        </p:txBody>
      </p:sp>
      <p:cxnSp>
        <p:nvCxnSpPr>
          <p:cNvPr id="21" name="Connector 20"/>
          <p:cNvCxnSpPr/>
          <p:nvPr/>
        </p:nvCxnSpPr>
        <p:spPr>
          <a:xfrm>
            <a:off x="4069080" y="2377440"/>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069080" y="2523744"/>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069080" y="2697480"/>
            <a:ext cx="7482840" cy="274320"/>
          </a:xfrm>
          <a:prstGeom prst="rect">
            <a:avLst/>
          </a:prstGeom>
          <a:noFill/>
        </p:spPr>
        <p:txBody>
          <a:bodyPr wrap="square" lIns="0" rIns="0" tIns="0" bIns="0">
            <a:spAutoFit/>
          </a:bodyPr>
          <a:lstStyle/>
          <a:p>
            <a:pPr algn="l"/>
            <a:r>
              <a:rPr sz="1050" b="1" i="0">
                <a:solidFill>
                  <a:srgbClr val="0D0D0D"/>
                </a:solidFill>
                <a:latin typeface="Source Sans Pro"/>
              </a:rPr>
              <a:t>Materials</a:t>
            </a:r>
          </a:p>
        </p:txBody>
      </p:sp>
      <p:cxnSp>
        <p:nvCxnSpPr>
          <p:cNvPr id="24" name="Connector 23"/>
          <p:cNvCxnSpPr/>
          <p:nvPr/>
        </p:nvCxnSpPr>
        <p:spPr>
          <a:xfrm>
            <a:off x="4069080" y="3017520"/>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069080" y="3163824"/>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069080" y="3337560"/>
            <a:ext cx="7482840" cy="274320"/>
          </a:xfrm>
          <a:prstGeom prst="rect">
            <a:avLst/>
          </a:prstGeom>
          <a:noFill/>
        </p:spPr>
        <p:txBody>
          <a:bodyPr wrap="square" lIns="0" rIns="0" tIns="0" bIns="0">
            <a:spAutoFit/>
          </a:bodyPr>
          <a:lstStyle/>
          <a:p>
            <a:pPr algn="l"/>
            <a:r>
              <a:rPr sz="1050" b="1" i="0">
                <a:solidFill>
                  <a:srgbClr val="0D0D0D"/>
                </a:solidFill>
                <a:latin typeface="Source Sans Pro"/>
              </a:rPr>
              <a:t>Construction technique</a:t>
            </a:r>
          </a:p>
        </p:txBody>
      </p:sp>
      <p:cxnSp>
        <p:nvCxnSpPr>
          <p:cNvPr id="27" name="Connector 26"/>
          <p:cNvCxnSpPr/>
          <p:nvPr/>
        </p:nvCxnSpPr>
        <p:spPr>
          <a:xfrm>
            <a:off x="4069080" y="3657600"/>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069080" y="3803904"/>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069080" y="3977640"/>
            <a:ext cx="7482840" cy="274320"/>
          </a:xfrm>
          <a:prstGeom prst="rect">
            <a:avLst/>
          </a:prstGeom>
          <a:noFill/>
        </p:spPr>
        <p:txBody>
          <a:bodyPr wrap="square" lIns="0" rIns="0" tIns="0" bIns="0">
            <a:spAutoFit/>
          </a:bodyPr>
          <a:lstStyle/>
          <a:p>
            <a:pPr algn="l"/>
            <a:r>
              <a:rPr sz="1050" b="1" i="0">
                <a:solidFill>
                  <a:srgbClr val="0D0D0D"/>
                </a:solidFill>
                <a:latin typeface="Source Sans Pro"/>
              </a:rPr>
              <a:t>Function</a:t>
            </a:r>
          </a:p>
        </p:txBody>
      </p:sp>
      <p:cxnSp>
        <p:nvCxnSpPr>
          <p:cNvPr id="30" name="Connector 29"/>
          <p:cNvCxnSpPr/>
          <p:nvPr/>
        </p:nvCxnSpPr>
        <p:spPr>
          <a:xfrm>
            <a:off x="4069080" y="4297680"/>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069080" y="4443984"/>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069080" y="4617720"/>
            <a:ext cx="7482840" cy="274320"/>
          </a:xfrm>
          <a:prstGeom prst="rect">
            <a:avLst/>
          </a:prstGeom>
          <a:noFill/>
        </p:spPr>
        <p:txBody>
          <a:bodyPr wrap="square" lIns="0" rIns="0" tIns="0" bIns="0">
            <a:spAutoFit/>
          </a:bodyPr>
          <a:lstStyle/>
          <a:p>
            <a:pPr algn="l"/>
            <a:r>
              <a:rPr sz="1050" b="1" i="0">
                <a:solidFill>
                  <a:srgbClr val="0D0D0D"/>
                </a:solidFill>
                <a:latin typeface="Source Sans Pro"/>
              </a:rPr>
              <a:t>Visible interventions</a:t>
            </a:r>
          </a:p>
        </p:txBody>
      </p:sp>
      <p:cxnSp>
        <p:nvCxnSpPr>
          <p:cNvPr id="33" name="Connector 32"/>
          <p:cNvCxnSpPr/>
          <p:nvPr/>
        </p:nvCxnSpPr>
        <p:spPr>
          <a:xfrm>
            <a:off x="4069080" y="4937760"/>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069080" y="5084064"/>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069080" y="5257800"/>
            <a:ext cx="7482840" cy="274320"/>
          </a:xfrm>
          <a:prstGeom prst="rect">
            <a:avLst/>
          </a:prstGeom>
          <a:noFill/>
        </p:spPr>
        <p:txBody>
          <a:bodyPr wrap="square" lIns="0" rIns="0" tIns="0" bIns="0">
            <a:spAutoFit/>
          </a:bodyPr>
          <a:lstStyle/>
          <a:p>
            <a:pPr algn="l"/>
            <a:r>
              <a:rPr sz="1050" b="1" i="0">
                <a:solidFill>
                  <a:srgbClr val="0D0D0D"/>
                </a:solidFill>
                <a:latin typeface="Source Sans Pro"/>
              </a:rPr>
              <a:t>Disturbances</a:t>
            </a:r>
          </a:p>
        </p:txBody>
      </p:sp>
      <p:cxnSp>
        <p:nvCxnSpPr>
          <p:cNvPr id="36" name="Connector 35"/>
          <p:cNvCxnSpPr/>
          <p:nvPr/>
        </p:nvCxnSpPr>
        <p:spPr>
          <a:xfrm>
            <a:off x="4069080" y="5577840"/>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069080" y="5724144"/>
            <a:ext cx="74828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38" name="Picture 37"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9" name="TextBox 38"/>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43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