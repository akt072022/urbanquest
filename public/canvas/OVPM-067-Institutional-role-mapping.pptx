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spAutoFit/>
          </a:bodyPr>
          <a:lstStyle/>
          <a:p>
            <a:pPr algn="l"/>
            <a:r>
              <a:rPr sz="1100" b="1" i="0">
                <a:solidFill>
                  <a:srgbClr val="0D0D0D"/>
                </a:solidFill>
                <a:latin typeface="Source Sans Pro"/>
              </a:rPr>
              <a:t>OVPM Co-Design Toolkit  ·  Tool 67 of 133</a:t>
            </a:r>
          </a:p>
        </p:txBody>
      </p:sp>
      <p:sp>
        <p:nvSpPr>
          <p:cNvPr id="4" name="TextBox 3"/>
          <p:cNvSpPr txBox="1"/>
          <p:nvPr/>
        </p:nvSpPr>
        <p:spPr>
          <a:xfrm>
            <a:off x="7985760" y="502920"/>
            <a:ext cx="3657600" cy="274320"/>
          </a:xfrm>
          <a:prstGeom prst="rect">
            <a:avLst/>
          </a:prstGeom>
          <a:noFill/>
        </p:spPr>
        <p:txBody>
          <a:bodyPr wrap="square" lIns="0" rIns="0" tIns="0" bIns="0">
            <a:spAutoFit/>
          </a:bodyPr>
          <a:lstStyle/>
          <a:p>
            <a:pPr algn="r"/>
            <a:r>
              <a:rPr sz="1200" b="0" i="1">
                <a:solidFill>
                  <a:srgbClr val="0D0D0D"/>
                </a:solidFill>
                <a:latin typeface="Palatino Linotype"/>
              </a:rPr>
              <a:t>Method canvas for co-design</a:t>
            </a:r>
          </a:p>
        </p:txBody>
      </p:sp>
      <p:sp>
        <p:nvSpPr>
          <p:cNvPr id="5" name="TextBox 4"/>
          <p:cNvSpPr txBox="1"/>
          <p:nvPr/>
        </p:nvSpPr>
        <p:spPr>
          <a:xfrm>
            <a:off x="548640" y="1554480"/>
            <a:ext cx="11094720" cy="2194560"/>
          </a:xfrm>
          <a:prstGeom prst="rect">
            <a:avLst/>
          </a:prstGeom>
          <a:noFill/>
        </p:spPr>
        <p:txBody>
          <a:bodyPr wrap="square" lIns="0" rIns="0" tIns="0" bIns="0">
            <a:spAutoFit/>
          </a:bodyPr>
          <a:lstStyle/>
          <a:p>
            <a:pPr algn="l"/>
            <a:r>
              <a:rPr sz="5200" b="0" i="0">
                <a:solidFill>
                  <a:srgbClr val="0D0D0D"/>
                </a:solidFill>
                <a:latin typeface="Palatino Linotype"/>
              </a:rPr>
              <a:t>Institutional role mapping</a:t>
            </a:r>
          </a:p>
        </p:txBody>
      </p:sp>
      <p:sp>
        <p:nvSpPr>
          <p:cNvPr id="6" name="TextBox 5"/>
          <p:cNvSpPr txBox="1"/>
          <p:nvPr/>
        </p:nvSpPr>
        <p:spPr>
          <a:xfrm>
            <a:off x="548640" y="3931920"/>
            <a:ext cx="10058400" cy="1280160"/>
          </a:xfrm>
          <a:prstGeom prst="rect">
            <a:avLst/>
          </a:prstGeom>
          <a:noFill/>
        </p:spPr>
        <p:txBody>
          <a:bodyPr wrap="square" lIns="0" rIns="0" tIns="0" bIns="0">
            <a:spAutoFit/>
          </a:bodyPr>
          <a:lstStyle/>
          <a:p>
            <a:pPr algn="l"/>
            <a:r>
              <a:rPr sz="1100" b="1" i="0">
                <a:solidFill>
                  <a:srgbClr val="0D0D0D"/>
                </a:solidFill>
                <a:latin typeface="Source Sans Pro"/>
              </a:rPr>
              <a:t>What this tool produces  ·  </a:t>
            </a:r>
            <a:r>
              <a:rPr sz="1500" b="0" i="1">
                <a:solidFill>
                  <a:srgbClr val="0D0D0D"/>
                </a:solidFill>
                <a:latin typeface="Palatino Linotype"/>
              </a:rPr>
              <a:t>A verified institutional organogram that explicitly details the formal responsibilities, resource capacities, and hierarchical relationships of all public agencies acting on a specific territory,.</a:t>
            </a:r>
          </a:p>
        </p:txBody>
      </p:sp>
      <p:sp>
        <p:nvSpPr>
          <p:cNvPr id="7" name="Rounded Rectangle 6"/>
          <p:cNvSpPr/>
          <p:nvPr/>
        </p:nvSpPr>
        <p:spPr>
          <a:xfrm>
            <a:off x="548640" y="5212080"/>
            <a:ext cx="2194560" cy="384048"/>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FFFFFF"/>
                </a:solidFill>
                <a:latin typeface="Source Sans Pro"/>
              </a:rPr>
              <a:t>G1 · Proof of Impact</a:t>
            </a:r>
          </a:p>
        </p:txBody>
      </p:sp>
      <p:sp>
        <p:nvSpPr>
          <p:cNvPr id="8" name="TextBox 7"/>
          <p:cNvSpPr txBox="1"/>
          <p:nvPr/>
        </p:nvSpPr>
        <p:spPr>
          <a:xfrm>
            <a:off x="548640" y="5669280"/>
            <a:ext cx="1828800" cy="274320"/>
          </a:xfrm>
          <a:prstGeom prst="rect">
            <a:avLst/>
          </a:prstGeom>
          <a:noFill/>
        </p:spPr>
        <p:txBody>
          <a:bodyPr wrap="square" lIns="0" rIns="0" tIns="0" bIns="0">
            <a:spAutoFit/>
          </a:bodyPr>
          <a:lstStyle/>
          <a:p>
            <a:pPr algn="l"/>
            <a:r>
              <a:rPr sz="900" b="1" i="0">
                <a:solidFill>
                  <a:srgbClr val="0D0D0D"/>
                </a:solidFill>
                <a:latin typeface="Source Sans Pro"/>
              </a:rPr>
              <a:t>Dimensions</a:t>
            </a:r>
          </a:p>
        </p:txBody>
      </p:sp>
      <p:sp>
        <p:nvSpPr>
          <p:cNvPr id="9" name="Rounded Rectangle 8"/>
          <p:cNvSpPr/>
          <p:nvPr/>
        </p:nvSpPr>
        <p:spPr>
          <a:xfrm>
            <a:off x="548640"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Regulation</a:t>
            </a:r>
          </a:p>
        </p:txBody>
      </p:sp>
      <p:sp>
        <p:nvSpPr>
          <p:cNvPr id="10" name="Rounded Rectangle 9"/>
          <p:cNvSpPr/>
          <p:nvPr/>
        </p:nvSpPr>
        <p:spPr>
          <a:xfrm>
            <a:off x="1847088"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Economic</a:t>
            </a:r>
          </a:p>
        </p:txBody>
      </p:sp>
      <p:pic>
        <p:nvPicPr>
          <p:cNvPr id="11" name="Picture 10" descr="aktan_black_transparent.png"/>
          <p:cNvPicPr>
            <a:picLocks noChangeAspect="1"/>
          </p:cNvPicPr>
          <p:nvPr/>
        </p:nvPicPr>
        <p:blipFill>
          <a:blip r:embed="rId2"/>
          <a:stretch>
            <a:fillRect/>
          </a:stretch>
        </p:blipFill>
        <p:spPr>
          <a:xfrm>
            <a:off x="10271760" y="6024114"/>
            <a:ext cx="1371600" cy="330966"/>
          </a:xfrm>
          <a:prstGeom prst="rect">
            <a:avLst/>
          </a:prstGeom>
        </p:spPr>
      </p:pic>
      <p:sp>
        <p:nvSpPr>
          <p:cNvPr id="12" name="TextBox 11"/>
          <p:cNvSpPr txBox="1"/>
          <p:nvPr/>
        </p:nvSpPr>
        <p:spPr>
          <a:xfrm>
            <a:off x="10271760" y="6395080"/>
            <a:ext cx="1371600" cy="274320"/>
          </a:xfrm>
          <a:prstGeom prst="rect">
            <a:avLst/>
          </a:prstGeom>
          <a:noFill/>
        </p:spPr>
        <p:txBody>
          <a:bodyPr wrap="square" lIns="0" rIns="0" tIns="0" bIns="0">
            <a:spAutoFit/>
          </a:bodyPr>
          <a:lstStyle/>
          <a:p>
            <a:pPr algn="ctr"/>
            <a:r>
              <a:rPr sz="1200" b="0" i="1">
                <a:solidFill>
                  <a:srgbClr val="0D0D0D"/>
                </a:solidFill>
                <a:latin typeface="Palatino Linotype"/>
              </a:rPr>
              <a:t>With simplexity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67  ·  FACILITATOR PREPARATION</a:t>
            </a:r>
          </a:p>
        </p:txBody>
      </p:sp>
      <p:sp>
        <p:nvSpPr>
          <p:cNvPr id="4" name="TextBox 3"/>
          <p:cNvSpPr txBox="1"/>
          <p:nvPr/>
        </p:nvSpPr>
        <p:spPr>
          <a:xfrm>
            <a:off x="457200" y="594360"/>
            <a:ext cx="10515600" cy="914400"/>
          </a:xfrm>
          <a:prstGeom prst="rect">
            <a:avLst/>
          </a:prstGeom>
          <a:noFill/>
        </p:spPr>
        <p:txBody>
          <a:bodyPr wrap="square" lIns="0" rIns="0" tIns="0" bIns="0">
            <a:spAutoFit/>
          </a:bodyPr>
          <a:lstStyle/>
          <a:p>
            <a:pPr algn="l"/>
            <a:r>
              <a:rPr sz="2800" b="0" i="0">
                <a:solidFill>
                  <a:srgbClr val="0D0D0D"/>
                </a:solidFill>
                <a:latin typeface="Palatino Linotype"/>
              </a:rPr>
              <a:t>Preparing the workshop  ·  </a:t>
            </a:r>
            <a:r>
              <a:rPr sz="2800" b="0" i="1">
                <a:solidFill>
                  <a:srgbClr val="0D0D0D"/>
                </a:solidFill>
                <a:latin typeface="Palatino Linotype"/>
              </a:rPr>
              <a:t>Institutional role mapping</a:t>
            </a:r>
          </a:p>
        </p:txBody>
      </p:sp>
      <p:sp>
        <p:nvSpPr>
          <p:cNvPr id="5" name="Rounded Rectangle 4"/>
          <p:cNvSpPr/>
          <p:nvPr/>
        </p:nvSpPr>
        <p:spPr>
          <a:xfrm>
            <a:off x="457200" y="1554480"/>
            <a:ext cx="2468880" cy="384048"/>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G1 · Proof of Impact</a:t>
            </a:r>
          </a:p>
        </p:txBody>
      </p:sp>
      <p:sp>
        <p:nvSpPr>
          <p:cNvPr id="6" name="Rounded Rectangle 5"/>
          <p:cNvSpPr/>
          <p:nvPr/>
        </p:nvSpPr>
        <p:spPr>
          <a:xfrm>
            <a:off x="45720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Why this tool matters</a:t>
            </a:r>
          </a:p>
        </p:txBody>
      </p:sp>
      <p:sp>
        <p:nvSpPr>
          <p:cNvPr id="9" name="TextBox 8"/>
          <p:cNvSpPr txBox="1"/>
          <p:nvPr/>
        </p:nvSpPr>
        <p:spPr>
          <a:xfrm>
            <a:off x="73152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Untangling the bureaucratic labyrinth; showing citizens exactly who holds the pen and who holds the purse, making the faceless machinery of government visible and navigable.</a:t>
            </a:r>
          </a:p>
        </p:txBody>
      </p:sp>
      <p:sp>
        <p:nvSpPr>
          <p:cNvPr id="10" name="Rounded Rectangle 9"/>
          <p:cNvSpPr/>
          <p:nvPr/>
        </p:nvSpPr>
        <p:spPr>
          <a:xfrm>
            <a:off x="608076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Evidence we produce</a:t>
            </a:r>
          </a:p>
        </p:txBody>
      </p:sp>
      <p:sp>
        <p:nvSpPr>
          <p:cNvPr id="13" name="TextBox 12"/>
          <p:cNvSpPr txBox="1"/>
          <p:nvPr/>
        </p:nvSpPr>
        <p:spPr>
          <a:xfrm>
            <a:off x="635508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A verified institutional organogram that explicitly details the formal responsibilities, resource capacities, and hierarchical relationships of all public agencies acting on a specific territory,.</a:t>
            </a:r>
          </a:p>
        </p:txBody>
      </p:sp>
      <p:sp>
        <p:nvSpPr>
          <p:cNvPr id="14" name="Rounded Rectangle 13"/>
          <p:cNvSpPr/>
          <p:nvPr/>
        </p:nvSpPr>
        <p:spPr>
          <a:xfrm>
            <a:off x="45720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Duration &amp; Material</a:t>
            </a:r>
          </a:p>
        </p:txBody>
      </p:sp>
      <p:sp>
        <p:nvSpPr>
          <p:cNvPr id="17" name="TextBox 16"/>
          <p:cNvSpPr txBox="1"/>
          <p:nvPr/>
        </p:nvSpPr>
        <p:spPr>
          <a:xfrm>
            <a:off x="73152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Duration  ·  3 to 5 weeks of desk research and interviews
Material  ·  Legal frameworks, administrative organograms, interview guides</a:t>
            </a:r>
          </a:p>
        </p:txBody>
      </p:sp>
      <p:sp>
        <p:nvSpPr>
          <p:cNvPr id="18" name="Rounded Rectangle 17"/>
          <p:cNvSpPr/>
          <p:nvPr/>
        </p:nvSpPr>
        <p:spPr>
          <a:xfrm>
            <a:off x="608076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Reference case</a:t>
            </a:r>
          </a:p>
        </p:txBody>
      </p:sp>
      <p:sp>
        <p:nvSpPr>
          <p:cNvPr id="21" name="TextBox 20"/>
          <p:cNvSpPr txBox="1"/>
          <p:nvPr/>
        </p:nvSpPr>
        <p:spPr>
          <a:xfrm>
            <a:off x="635508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During the application of the Incremental and Participatory Toolbox for Urban Planning, teams draft an organogram of the current institutional framework specifically to analyse overlaps in responsibilities between different city departments. This articulated review prevents project delays caused by bureaucratic infighting and establishes a clear, accountable governance model for the neighborhood plan's execution.</a:t>
            </a:r>
          </a:p>
        </p:txBody>
      </p:sp>
      <p:sp>
        <p:nvSpPr>
          <p:cNvPr id="22" name="TextBox 21"/>
          <p:cNvSpPr txBox="1"/>
          <p:nvPr/>
        </p:nvSpPr>
        <p:spPr>
          <a:xfrm>
            <a:off x="457200" y="6035040"/>
            <a:ext cx="10515600" cy="274320"/>
          </a:xfrm>
          <a:prstGeom prst="rect">
            <a:avLst/>
          </a:prstGeom>
          <a:noFill/>
        </p:spPr>
        <p:txBody>
          <a:bodyPr wrap="square" lIns="0" rIns="0" tIns="0" bIns="0">
            <a:spAutoFit/>
          </a:bodyPr>
          <a:lstStyle/>
          <a:p>
            <a:pPr algn="l"/>
            <a:r>
              <a:rPr sz="1000" b="1" i="0">
                <a:solidFill>
                  <a:srgbClr val="0D0D0D"/>
                </a:solidFill>
                <a:latin typeface="Source Sans Pro"/>
              </a:rPr>
              <a:t>Suggested agenda  ·  </a:t>
            </a:r>
            <a:r>
              <a:rPr sz="1000" b="0" i="0">
                <a:solidFill>
                  <a:srgbClr val="757575"/>
                </a:solidFill>
                <a:latin typeface="Source Sans Pro"/>
              </a:rPr>
              <a:t>Brief (10 min)  ›  Method walk-through (15 min)  ›  Animation canvas (60–90 min)  ›  Harvest (20 min)</a:t>
            </a:r>
          </a:p>
        </p:txBody>
      </p:sp>
      <p:pic>
        <p:nvPicPr>
          <p:cNvPr id="23" name="Picture 2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24" name="TextBox 2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058400" cy="274320"/>
          </a:xfrm>
          <a:prstGeom prst="rect">
            <a:avLst/>
          </a:prstGeom>
          <a:noFill/>
        </p:spPr>
        <p:txBody>
          <a:bodyPr wrap="square" lIns="0" rIns="0" tIns="0" bIns="0">
            <a:spAutoFit/>
          </a:bodyPr>
          <a:lstStyle/>
          <a:p>
            <a:pPr algn="l"/>
            <a:r>
              <a:rPr sz="1000" b="1" i="0">
                <a:solidFill>
                  <a:srgbClr val="757575"/>
                </a:solidFill>
                <a:latin typeface="Source Sans Pro"/>
              </a:rPr>
              <a:t>TOOL 67  ·  ANIMATION CANVAS  ·  </a:t>
            </a:r>
            <a:r>
              <a:rPr sz="1000" b="1" i="0">
                <a:solidFill>
                  <a:srgbClr val="0D0D0D"/>
                </a:solidFill>
                <a:latin typeface="Source Sans Pro"/>
              </a:rPr>
              <a:t>INSTITUTIONAL ROLE MAPPING</a:t>
            </a:r>
          </a:p>
        </p:txBody>
      </p:sp>
      <p:sp>
        <p:nvSpPr>
          <p:cNvPr id="4" name="TextBox 3"/>
          <p:cNvSpPr txBox="1"/>
          <p:nvPr/>
        </p:nvSpPr>
        <p:spPr>
          <a:xfrm>
            <a:off x="457200" y="640080"/>
            <a:ext cx="8229600" cy="640080"/>
          </a:xfrm>
          <a:prstGeom prst="rect">
            <a:avLst/>
          </a:prstGeom>
          <a:noFill/>
        </p:spPr>
        <p:txBody>
          <a:bodyPr wrap="square" lIns="0" rIns="0" tIns="0" bIns="0">
            <a:spAutoFit/>
          </a:bodyPr>
          <a:lstStyle/>
          <a:p>
            <a:pPr algn="l"/>
            <a:r>
              <a:rPr sz="2400" b="0" i="0">
                <a:solidFill>
                  <a:srgbClr val="0D0D0D"/>
                </a:solidFill>
                <a:latin typeface="Palatino Linotype"/>
              </a:rPr>
              <a:t>Who decides · who delivers · who oversees</a:t>
            </a:r>
          </a:p>
        </p:txBody>
      </p:sp>
      <p:sp>
        <p:nvSpPr>
          <p:cNvPr id="5" name="TextBox 4"/>
          <p:cNvSpPr txBox="1"/>
          <p:nvPr/>
        </p:nvSpPr>
        <p:spPr>
          <a:xfrm>
            <a:off x="8778240" y="640080"/>
            <a:ext cx="2926080" cy="640080"/>
          </a:xfrm>
          <a:prstGeom prst="rect">
            <a:avLst/>
          </a:prstGeom>
          <a:noFill/>
        </p:spPr>
        <p:txBody>
          <a:bodyPr wrap="square" lIns="0" rIns="0" tIns="0" bIns="0">
            <a:spAutoFit/>
          </a:bodyPr>
          <a:lstStyle/>
          <a:p>
            <a:pPr algn="r"/>
            <a:r>
              <a:rPr sz="850" b="1" i="0">
                <a:solidFill>
                  <a:srgbClr val="757575"/>
                </a:solidFill>
                <a:latin typeface="Source Sans Pro"/>
              </a:rPr>
              <a:t>Duration</a:t>
            </a:r>
          </a:p>
          <a:p>
            <a:pPr algn="r"/>
            <a:r>
              <a:rPr sz="1000" b="0" i="0">
                <a:solidFill>
                  <a:srgbClr val="0D0D0D"/>
                </a:solidFill>
                <a:latin typeface="Source Sans Pro"/>
              </a:rPr>
              <a:t>3 to 5 weeks of desk research and interviews</a:t>
            </a:r>
          </a:p>
        </p:txBody>
      </p:sp>
      <p:sp>
        <p:nvSpPr>
          <p:cNvPr id="6" name="Rounded Rectangle 5"/>
          <p:cNvSpPr/>
          <p:nvPr/>
        </p:nvSpPr>
        <p:spPr>
          <a:xfrm>
            <a:off x="457200" y="1417320"/>
            <a:ext cx="269595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600200"/>
            <a:ext cx="2238756" cy="365760"/>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Strategic</a:t>
            </a:r>
          </a:p>
        </p:txBody>
      </p:sp>
      <p:sp>
        <p:nvSpPr>
          <p:cNvPr id="8" name="TextBox 7"/>
          <p:cNvSpPr txBox="1"/>
          <p:nvPr/>
        </p:nvSpPr>
        <p:spPr>
          <a:xfrm>
            <a:off x="685800" y="2103120"/>
            <a:ext cx="2238756" cy="457200"/>
          </a:xfrm>
          <a:prstGeom prst="rect">
            <a:avLst/>
          </a:prstGeom>
          <a:noFill/>
        </p:spPr>
        <p:txBody>
          <a:bodyPr wrap="square" lIns="0" rIns="0" tIns="0" bIns="0">
            <a:spAutoFit/>
          </a:bodyPr>
          <a:lstStyle/>
          <a:p>
            <a:pPr algn="l"/>
            <a:r>
              <a:rPr sz="1050" b="0" i="1">
                <a:solidFill>
                  <a:srgbClr val="757575"/>
                </a:solidFill>
                <a:latin typeface="Palatino Linotype"/>
              </a:rPr>
              <a:t>mandate · vision · trade-offs</a:t>
            </a:r>
          </a:p>
        </p:txBody>
      </p:sp>
      <p:cxnSp>
        <p:nvCxnSpPr>
          <p:cNvPr id="9" name="Connector 8"/>
          <p:cNvCxnSpPr/>
          <p:nvPr/>
        </p:nvCxnSpPr>
        <p:spPr>
          <a:xfrm>
            <a:off x="685800.0" y="274320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85800.0" y="3035808.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85800.0" y="3328416.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85800.0" y="3621024.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85800.0" y="3913632.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85800.0" y="420624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85800.0" y="4498848.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85800.0" y="4791456.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85800.0" y="5084064.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85800.0" y="5376672.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85800.0" y="566928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3317748" y="1417320"/>
            <a:ext cx="269595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3546348" y="1600200"/>
            <a:ext cx="2238756" cy="365760"/>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Operational</a:t>
            </a:r>
          </a:p>
        </p:txBody>
      </p:sp>
      <p:sp>
        <p:nvSpPr>
          <p:cNvPr id="22" name="TextBox 21"/>
          <p:cNvSpPr txBox="1"/>
          <p:nvPr/>
        </p:nvSpPr>
        <p:spPr>
          <a:xfrm>
            <a:off x="3546348" y="2103120"/>
            <a:ext cx="2238756" cy="457200"/>
          </a:xfrm>
          <a:prstGeom prst="rect">
            <a:avLst/>
          </a:prstGeom>
          <a:noFill/>
        </p:spPr>
        <p:txBody>
          <a:bodyPr wrap="square" lIns="0" rIns="0" tIns="0" bIns="0">
            <a:spAutoFit/>
          </a:bodyPr>
          <a:lstStyle/>
          <a:p>
            <a:pPr algn="l"/>
            <a:r>
              <a:rPr sz="1050" b="0" i="1">
                <a:solidFill>
                  <a:srgbClr val="757575"/>
                </a:solidFill>
                <a:latin typeface="Palatino Linotype"/>
              </a:rPr>
              <a:t>delivery · contracts · permits</a:t>
            </a:r>
          </a:p>
        </p:txBody>
      </p:sp>
      <p:cxnSp>
        <p:nvCxnSpPr>
          <p:cNvPr id="23" name="Connector 22"/>
          <p:cNvCxnSpPr/>
          <p:nvPr/>
        </p:nvCxnSpPr>
        <p:spPr>
          <a:xfrm>
            <a:off x="3546348.0" y="274320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3546348.0" y="3035808.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3546348.0" y="3328416.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3546348.0" y="3621024.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3546348.0" y="3913632.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3546348.0" y="420624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3546348.0" y="4498848.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3546348.0" y="4791456.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3546348.0" y="5084064.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3546348.0" y="5376672.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3546348.0" y="566928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6178296" y="1417320"/>
            <a:ext cx="269595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6406896" y="1600200"/>
            <a:ext cx="2238756" cy="365760"/>
          </a:xfrm>
          <a:prstGeom prst="roundRect">
            <a:avLst>
              <a:gd name="adj" fmla="val 50000"/>
            </a:avLst>
          </a:prstGeom>
          <a:solidFill>
            <a:srgbClr val="459ACB"/>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Oversight</a:t>
            </a:r>
          </a:p>
        </p:txBody>
      </p:sp>
      <p:sp>
        <p:nvSpPr>
          <p:cNvPr id="36" name="TextBox 35"/>
          <p:cNvSpPr txBox="1"/>
          <p:nvPr/>
        </p:nvSpPr>
        <p:spPr>
          <a:xfrm>
            <a:off x="6406896" y="2103120"/>
            <a:ext cx="2238756" cy="457200"/>
          </a:xfrm>
          <a:prstGeom prst="rect">
            <a:avLst/>
          </a:prstGeom>
          <a:noFill/>
        </p:spPr>
        <p:txBody>
          <a:bodyPr wrap="square" lIns="0" rIns="0" tIns="0" bIns="0">
            <a:spAutoFit/>
          </a:bodyPr>
          <a:lstStyle/>
          <a:p>
            <a:pPr algn="l"/>
            <a:r>
              <a:rPr sz="1050" b="0" i="1">
                <a:solidFill>
                  <a:srgbClr val="757575"/>
                </a:solidFill>
                <a:latin typeface="Palatino Linotype"/>
              </a:rPr>
              <a:t>audit · compliance · ethics</a:t>
            </a:r>
          </a:p>
        </p:txBody>
      </p:sp>
      <p:cxnSp>
        <p:nvCxnSpPr>
          <p:cNvPr id="37" name="Connector 36"/>
          <p:cNvCxnSpPr/>
          <p:nvPr/>
        </p:nvCxnSpPr>
        <p:spPr>
          <a:xfrm>
            <a:off x="6406896.0" y="274320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6406896.0" y="3035808.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6406896.0" y="3328416.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6406896.0" y="3621024.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6406896.0" y="3913632.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6406896.0" y="420624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6406896.0" y="4498848.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6406896.0" y="4791456.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6406896.0" y="5084064.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6406896.0" y="5376672.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6406896.0" y="566928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9038844" y="1417320"/>
            <a:ext cx="269595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9267444" y="1600200"/>
            <a:ext cx="2238756" cy="365760"/>
          </a:xfrm>
          <a:prstGeom prst="roundRect">
            <a:avLst>
              <a:gd name="adj" fmla="val 50000"/>
            </a:avLst>
          </a:prstGeom>
          <a:solidFill>
            <a:srgbClr val="EF98D6"/>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Voice</a:t>
            </a:r>
          </a:p>
        </p:txBody>
      </p:sp>
      <p:sp>
        <p:nvSpPr>
          <p:cNvPr id="50" name="TextBox 49"/>
          <p:cNvSpPr txBox="1"/>
          <p:nvPr/>
        </p:nvSpPr>
        <p:spPr>
          <a:xfrm>
            <a:off x="9267444" y="2103120"/>
            <a:ext cx="2238756" cy="457200"/>
          </a:xfrm>
          <a:prstGeom prst="rect">
            <a:avLst/>
          </a:prstGeom>
          <a:noFill/>
        </p:spPr>
        <p:txBody>
          <a:bodyPr wrap="square" lIns="0" rIns="0" tIns="0" bIns="0">
            <a:spAutoFit/>
          </a:bodyPr>
          <a:lstStyle/>
          <a:p>
            <a:pPr algn="l"/>
            <a:r>
              <a:rPr sz="1050" b="0" i="1">
                <a:solidFill>
                  <a:srgbClr val="757575"/>
                </a:solidFill>
                <a:latin typeface="Palatino Linotype"/>
              </a:rPr>
              <a:t>consultation · grievance · arbitration</a:t>
            </a:r>
          </a:p>
        </p:txBody>
      </p:sp>
      <p:cxnSp>
        <p:nvCxnSpPr>
          <p:cNvPr id="51" name="Connector 50"/>
          <p:cNvCxnSpPr/>
          <p:nvPr/>
        </p:nvCxnSpPr>
        <p:spPr>
          <a:xfrm>
            <a:off x="9267444.0" y="274320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9267444.0" y="3035808.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9267444.0" y="3328416.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9267444.0" y="3621024.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9267444.0" y="3913632.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9267444.0" y="420624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9267444.0" y="4498848.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9267444.0" y="4791456.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9267444.0" y="5084064.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9267444.0" y="5376672.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9267444.0" y="566928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For each role · name the institution · the person · the time commitment.</a:t>
            </a:r>
          </a:p>
        </p:txBody>
      </p:sp>
      <p:pic>
        <p:nvPicPr>
          <p:cNvPr id="63" name="Picture 6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64" name="TextBox 6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67  ·  HARVEST</a:t>
            </a:r>
          </a:p>
        </p:txBody>
      </p:sp>
      <p:sp>
        <p:nvSpPr>
          <p:cNvPr id="4" name="TextBox 3"/>
          <p:cNvSpPr txBox="1"/>
          <p:nvPr/>
        </p:nvSpPr>
        <p:spPr>
          <a:xfrm>
            <a:off x="457200" y="594360"/>
            <a:ext cx="10515600" cy="640080"/>
          </a:xfrm>
          <a:prstGeom prst="rect">
            <a:avLst/>
          </a:prstGeom>
          <a:noFill/>
        </p:spPr>
        <p:txBody>
          <a:bodyPr wrap="square" lIns="0" rIns="0" tIns="0" bIns="0">
            <a:spAutoFit/>
          </a:bodyPr>
          <a:lstStyle/>
          <a:p>
            <a:pPr algn="l"/>
            <a:r>
              <a:rPr sz="2800" b="0" i="0">
                <a:solidFill>
                  <a:srgbClr val="0D0D0D"/>
                </a:solidFill>
                <a:latin typeface="Palatino Linotype"/>
              </a:rPr>
              <a:t>Harvesting our  </a:t>
            </a:r>
            <a:r>
              <a:rPr sz="2800" b="0" i="1">
                <a:solidFill>
                  <a:srgbClr val="0D0D0D"/>
                </a:solidFill>
                <a:latin typeface="Palatino Linotype"/>
              </a:rPr>
              <a:t>learnings</a:t>
            </a:r>
          </a:p>
        </p:txBody>
      </p:sp>
      <p:sp>
        <p:nvSpPr>
          <p:cNvPr id="5" name="TextBox 4"/>
          <p:cNvSpPr txBox="1"/>
          <p:nvPr/>
        </p:nvSpPr>
        <p:spPr>
          <a:xfrm>
            <a:off x="457200" y="1234440"/>
            <a:ext cx="10515600" cy="365760"/>
          </a:xfrm>
          <a:prstGeom prst="rect">
            <a:avLst/>
          </a:prstGeom>
          <a:noFill/>
        </p:spPr>
        <p:txBody>
          <a:bodyPr wrap="square" lIns="0" rIns="0" tIns="0" bIns="0">
            <a:spAutoFit/>
          </a:bodyPr>
          <a:lstStyle/>
          <a:p>
            <a:pPr algn="l"/>
            <a:r>
              <a:rPr sz="1300" b="0" i="1">
                <a:solidFill>
                  <a:srgbClr val="757575"/>
                </a:solidFill>
                <a:latin typeface="Palatino Linotype"/>
              </a:rPr>
              <a:t>After running the canvas, capture three layers of insight.</a:t>
            </a:r>
          </a:p>
        </p:txBody>
      </p:sp>
      <p:sp>
        <p:nvSpPr>
          <p:cNvPr id="6" name="Rounded Rectangle 5"/>
          <p:cNvSpPr/>
          <p:nvPr/>
        </p:nvSpPr>
        <p:spPr>
          <a:xfrm>
            <a:off x="4572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Stand-out signals, surprising stories, ideas to remember</a:t>
            </a:r>
          </a:p>
        </p:txBody>
      </p:sp>
      <p:cxnSp>
        <p:nvCxnSpPr>
          <p:cNvPr id="8" name="Connector 7"/>
          <p:cNvCxnSpPr/>
          <p:nvPr/>
        </p:nvCxnSpPr>
        <p:spPr>
          <a:xfrm>
            <a:off x="7772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772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772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772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72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72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926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26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Concrete adaptations to our context, our team, our constraints</a:t>
            </a:r>
          </a:p>
        </p:txBody>
      </p:sp>
      <p:cxnSp>
        <p:nvCxnSpPr>
          <p:cNvPr id="17" name="Connector 16"/>
          <p:cNvCxnSpPr/>
          <p:nvPr/>
        </p:nvCxnSpPr>
        <p:spPr>
          <a:xfrm>
            <a:off x="46126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126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126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6126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126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6126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6126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280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480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Skills, allies, resources, decisions still to secure</a:t>
            </a:r>
          </a:p>
        </p:txBody>
      </p:sp>
      <p:cxnSp>
        <p:nvCxnSpPr>
          <p:cNvPr id="26" name="Connector 25"/>
          <p:cNvCxnSpPr/>
          <p:nvPr/>
        </p:nvCxnSpPr>
        <p:spPr>
          <a:xfrm>
            <a:off x="84480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480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4480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4480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4480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4480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4480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35304" y="1801368"/>
            <a:ext cx="2450592" cy="42062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inspires me</a:t>
            </a:r>
          </a:p>
        </p:txBody>
      </p:sp>
      <p:sp>
        <p:nvSpPr>
          <p:cNvPr id="34" name="Rounded Rectangle 33"/>
          <p:cNvSpPr/>
          <p:nvPr/>
        </p:nvSpPr>
        <p:spPr>
          <a:xfrm>
            <a:off x="4632960" y="1801368"/>
            <a:ext cx="2926080" cy="42062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How to apply it here</a:t>
            </a:r>
          </a:p>
        </p:txBody>
      </p:sp>
      <p:sp>
        <p:nvSpPr>
          <p:cNvPr id="35" name="Rounded Rectangle 34"/>
          <p:cNvSpPr/>
          <p:nvPr/>
        </p:nvSpPr>
        <p:spPr>
          <a:xfrm>
            <a:off x="8102600" y="1801368"/>
            <a:ext cx="3657600" cy="420624"/>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we need to be autonomous</a:t>
            </a:r>
          </a:p>
        </p:txBody>
      </p:sp>
      <p:sp>
        <p:nvSpPr>
          <p:cNvPr id="36" name="TextBox 3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Each participant fills a copy. Then debrief together to surface patterns and next steps.</a:t>
            </a:r>
          </a:p>
        </p:txBody>
      </p:sp>
      <p:pic>
        <p:nvPicPr>
          <p:cNvPr id="37" name="Picture 3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38" name="TextBox 3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