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spAutoFit/>
          </a:bodyPr>
          <a:lstStyle/>
          <a:p>
            <a:pPr algn="l"/>
            <a:r>
              <a:rPr sz="1100" b="1" i="0">
                <a:solidFill>
                  <a:srgbClr val="0D0D0D"/>
                </a:solidFill>
                <a:latin typeface="Source Sans Pro"/>
              </a:rPr>
              <a:t>OVPM Co-Design Toolkit  ·  Tool 77 of 133</a:t>
            </a:r>
          </a:p>
        </p:txBody>
      </p:sp>
      <p:sp>
        <p:nvSpPr>
          <p:cNvPr id="4" name="TextBox 3"/>
          <p:cNvSpPr txBox="1"/>
          <p:nvPr/>
        </p:nvSpPr>
        <p:spPr>
          <a:xfrm>
            <a:off x="7985760" y="502920"/>
            <a:ext cx="3657600" cy="274320"/>
          </a:xfrm>
          <a:prstGeom prst="rect">
            <a:avLst/>
          </a:prstGeom>
          <a:noFill/>
        </p:spPr>
        <p:txBody>
          <a:bodyPr wrap="square" lIns="0" rIns="0" tIns="0" bIns="0">
            <a:spAutoFit/>
          </a:bodyPr>
          <a:lstStyle/>
          <a:p>
            <a:pPr algn="r"/>
            <a:r>
              <a:rPr sz="1200" b="0" i="1">
                <a:solidFill>
                  <a:srgbClr val="0D0D0D"/>
                </a:solidFill>
                <a:latin typeface="Palatino Linotype"/>
              </a:rPr>
              <a:t>Method canvas for co-design</a:t>
            </a:r>
          </a:p>
        </p:txBody>
      </p:sp>
      <p:sp>
        <p:nvSpPr>
          <p:cNvPr id="5" name="TextBox 4"/>
          <p:cNvSpPr txBox="1"/>
          <p:nvPr/>
        </p:nvSpPr>
        <p:spPr>
          <a:xfrm>
            <a:off x="548640" y="1554480"/>
            <a:ext cx="11094720" cy="2194560"/>
          </a:xfrm>
          <a:prstGeom prst="rect">
            <a:avLst/>
          </a:prstGeom>
          <a:noFill/>
        </p:spPr>
        <p:txBody>
          <a:bodyPr wrap="square" lIns="0" rIns="0" tIns="0" bIns="0">
            <a:spAutoFit/>
          </a:bodyPr>
          <a:lstStyle/>
          <a:p>
            <a:pPr algn="l"/>
            <a:r>
              <a:rPr sz="5200" b="0" i="0">
                <a:solidFill>
                  <a:srgbClr val="0D0D0D"/>
                </a:solidFill>
                <a:latin typeface="Palatino Linotype"/>
              </a:rPr>
              <a:t>Masterplan / Local Development Plan</a:t>
            </a:r>
          </a:p>
        </p:txBody>
      </p:sp>
      <p:sp>
        <p:nvSpPr>
          <p:cNvPr id="6" name="TextBox 5"/>
          <p:cNvSpPr txBox="1"/>
          <p:nvPr/>
        </p:nvSpPr>
        <p:spPr>
          <a:xfrm>
            <a:off x="548640" y="3931920"/>
            <a:ext cx="10058400" cy="1280160"/>
          </a:xfrm>
          <a:prstGeom prst="rect">
            <a:avLst/>
          </a:prstGeom>
          <a:noFill/>
        </p:spPr>
        <p:txBody>
          <a:bodyPr wrap="square" lIns="0" rIns="0" tIns="0" bIns="0">
            <a:spAutoFit/>
          </a:bodyPr>
          <a:lstStyle/>
          <a:p>
            <a:pPr algn="l"/>
            <a:r>
              <a:rPr sz="1100" b="1" i="0">
                <a:solidFill>
                  <a:srgbClr val="0D0D0D"/>
                </a:solidFill>
                <a:latin typeface="Source Sans Pro"/>
              </a:rPr>
              <a:t>What this tool produces  ·  </a:t>
            </a:r>
            <a:r>
              <a:rPr sz="1500" b="0" i="1">
                <a:solidFill>
                  <a:srgbClr val="0D0D0D"/>
                </a:solidFill>
                <a:latin typeface="Palatino Linotype"/>
              </a:rPr>
              <a:t>A detailed spatial document comprising 3D illustrations, zoning layouts, movement hierarchies, and a phased delivery strategy.</a:t>
            </a:r>
          </a:p>
        </p:txBody>
      </p:sp>
      <p:sp>
        <p:nvSpPr>
          <p:cNvPr id="7" name="Rounded Rectangle 6"/>
          <p:cNvSpPr/>
          <p:nvPr/>
        </p:nvSpPr>
        <p:spPr>
          <a:xfrm>
            <a:off x="548640" y="5212080"/>
            <a:ext cx="2194560" cy="384048"/>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FFFFFF"/>
                </a:solidFill>
                <a:latin typeface="Source Sans Pro"/>
              </a:rPr>
              <a:t>G3 · Proof of Anchoring</a:t>
            </a:r>
          </a:p>
        </p:txBody>
      </p:sp>
      <p:sp>
        <p:nvSpPr>
          <p:cNvPr id="8" name="Rounded Rectangle 7"/>
          <p:cNvSpPr/>
          <p:nvPr/>
        </p:nvSpPr>
        <p:spPr>
          <a:xfrm>
            <a:off x="2880360" y="5212080"/>
            <a:ext cx="2194560" cy="384048"/>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G2 · Proof of Fit</a:t>
            </a:r>
          </a:p>
        </p:txBody>
      </p:sp>
      <p:sp>
        <p:nvSpPr>
          <p:cNvPr id="9" name="TextBox 8"/>
          <p:cNvSpPr txBox="1"/>
          <p:nvPr/>
        </p:nvSpPr>
        <p:spPr>
          <a:xfrm>
            <a:off x="548640" y="5669280"/>
            <a:ext cx="1828800" cy="274320"/>
          </a:xfrm>
          <a:prstGeom prst="rect">
            <a:avLst/>
          </a:prstGeom>
          <a:noFill/>
        </p:spPr>
        <p:txBody>
          <a:bodyPr wrap="square" lIns="0" rIns="0" tIns="0" bIns="0">
            <a:spAutoFit/>
          </a:bodyPr>
          <a:lstStyle/>
          <a:p>
            <a:pPr algn="l"/>
            <a:r>
              <a:rPr sz="900" b="1" i="0">
                <a:solidFill>
                  <a:srgbClr val="0D0D0D"/>
                </a:solidFill>
                <a:latin typeface="Source Sans Pro"/>
              </a:rPr>
              <a:t>Dimensions</a:t>
            </a:r>
          </a:p>
        </p:txBody>
      </p:sp>
      <p:sp>
        <p:nvSpPr>
          <p:cNvPr id="10" name="Rounded Rectangle 9"/>
          <p:cNvSpPr/>
          <p:nvPr/>
        </p:nvSpPr>
        <p:spPr>
          <a:xfrm>
            <a:off x="548640"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Spatial</a:t>
            </a:r>
          </a:p>
        </p:txBody>
      </p:sp>
      <p:sp>
        <p:nvSpPr>
          <p:cNvPr id="11" name="Rounded Rectangle 10"/>
          <p:cNvSpPr/>
          <p:nvPr/>
        </p:nvSpPr>
        <p:spPr>
          <a:xfrm>
            <a:off x="1847088"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Regulation</a:t>
            </a:r>
          </a:p>
        </p:txBody>
      </p:sp>
      <p:sp>
        <p:nvSpPr>
          <p:cNvPr id="12" name="Rounded Rectangle 11"/>
          <p:cNvSpPr/>
          <p:nvPr/>
        </p:nvSpPr>
        <p:spPr>
          <a:xfrm>
            <a:off x="3145536" y="5943600"/>
            <a:ext cx="1376172"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Social / User</a:t>
            </a:r>
          </a:p>
        </p:txBody>
      </p:sp>
      <p:pic>
        <p:nvPicPr>
          <p:cNvPr id="13" name="Picture 12" descr="aktan_black_transparent.png"/>
          <p:cNvPicPr>
            <a:picLocks noChangeAspect="1"/>
          </p:cNvPicPr>
          <p:nvPr/>
        </p:nvPicPr>
        <p:blipFill>
          <a:blip r:embed="rId2"/>
          <a:stretch>
            <a:fillRect/>
          </a:stretch>
        </p:blipFill>
        <p:spPr>
          <a:xfrm>
            <a:off x="10271760" y="6024114"/>
            <a:ext cx="1371600" cy="330966"/>
          </a:xfrm>
          <a:prstGeom prst="rect">
            <a:avLst/>
          </a:prstGeom>
        </p:spPr>
      </p:pic>
      <p:sp>
        <p:nvSpPr>
          <p:cNvPr id="14" name="TextBox 13"/>
          <p:cNvSpPr txBox="1"/>
          <p:nvPr/>
        </p:nvSpPr>
        <p:spPr>
          <a:xfrm>
            <a:off x="10271760" y="6395080"/>
            <a:ext cx="1371600" cy="274320"/>
          </a:xfrm>
          <a:prstGeom prst="rect">
            <a:avLst/>
          </a:prstGeom>
          <a:noFill/>
        </p:spPr>
        <p:txBody>
          <a:bodyPr wrap="square" lIns="0" rIns="0" tIns="0" bIns="0">
            <a:spAutoFit/>
          </a:bodyPr>
          <a:lstStyle/>
          <a:p>
            <a:pPr algn="ctr"/>
            <a:r>
              <a:rPr sz="1200" b="0" i="1">
                <a:solidFill>
                  <a:srgbClr val="0D0D0D"/>
                </a:solidFill>
                <a:latin typeface="Palatino Linotype"/>
              </a:rPr>
              <a:t>With simplexity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77  ·  FACILITATOR PREPARATION</a:t>
            </a:r>
          </a:p>
        </p:txBody>
      </p:sp>
      <p:sp>
        <p:nvSpPr>
          <p:cNvPr id="4" name="TextBox 3"/>
          <p:cNvSpPr txBox="1"/>
          <p:nvPr/>
        </p:nvSpPr>
        <p:spPr>
          <a:xfrm>
            <a:off x="457200" y="594360"/>
            <a:ext cx="10515600" cy="914400"/>
          </a:xfrm>
          <a:prstGeom prst="rect">
            <a:avLst/>
          </a:prstGeom>
          <a:noFill/>
        </p:spPr>
        <p:txBody>
          <a:bodyPr wrap="square" lIns="0" rIns="0" tIns="0" bIns="0">
            <a:spAutoFit/>
          </a:bodyPr>
          <a:lstStyle/>
          <a:p>
            <a:pPr algn="l"/>
            <a:r>
              <a:rPr sz="2800" b="0" i="0">
                <a:solidFill>
                  <a:srgbClr val="0D0D0D"/>
                </a:solidFill>
                <a:latin typeface="Palatino Linotype"/>
              </a:rPr>
              <a:t>Preparing the workshop  ·  </a:t>
            </a:r>
            <a:r>
              <a:rPr sz="2800" b="0" i="1">
                <a:solidFill>
                  <a:srgbClr val="0D0D0D"/>
                </a:solidFill>
                <a:latin typeface="Palatino Linotype"/>
              </a:rPr>
              <a:t>Masterplan / Local Development Plan</a:t>
            </a:r>
          </a:p>
        </p:txBody>
      </p:sp>
      <p:sp>
        <p:nvSpPr>
          <p:cNvPr id="5" name="Rounded Rectangle 4"/>
          <p:cNvSpPr/>
          <p:nvPr/>
        </p:nvSpPr>
        <p:spPr>
          <a:xfrm>
            <a:off x="457200" y="1554480"/>
            <a:ext cx="246888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G3 · Proof of Anchoring</a:t>
            </a:r>
          </a:p>
        </p:txBody>
      </p:sp>
      <p:sp>
        <p:nvSpPr>
          <p:cNvPr id="6" name="Rounded Rectangle 5"/>
          <p:cNvSpPr/>
          <p:nvPr/>
        </p:nvSpPr>
        <p:spPr>
          <a:xfrm>
            <a:off x="45720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Why this tool matters</a:t>
            </a:r>
          </a:p>
        </p:txBody>
      </p:sp>
      <p:sp>
        <p:nvSpPr>
          <p:cNvPr id="9" name="TextBox 8"/>
          <p:cNvSpPr txBox="1"/>
          <p:nvPr/>
        </p:nvSpPr>
        <p:spPr>
          <a:xfrm>
            <a:off x="73152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Translating the collective aspirations of a community into a three-dimensional canvas, orchestrating the physical form where everyday life, movement, and memory will unfold for generations.</a:t>
            </a:r>
          </a:p>
        </p:txBody>
      </p:sp>
      <p:sp>
        <p:nvSpPr>
          <p:cNvPr id="10" name="Rounded Rectangle 9"/>
          <p:cNvSpPr/>
          <p:nvPr/>
        </p:nvSpPr>
        <p:spPr>
          <a:xfrm>
            <a:off x="608076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Evidence we produce</a:t>
            </a:r>
          </a:p>
        </p:txBody>
      </p:sp>
      <p:sp>
        <p:nvSpPr>
          <p:cNvPr id="13" name="TextBox 12"/>
          <p:cNvSpPr txBox="1"/>
          <p:nvPr/>
        </p:nvSpPr>
        <p:spPr>
          <a:xfrm>
            <a:off x="635508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A detailed spatial document comprising 3D illustrations, zoning layouts, movement hierarchies, and a phased delivery strategy.</a:t>
            </a:r>
          </a:p>
        </p:txBody>
      </p:sp>
      <p:sp>
        <p:nvSpPr>
          <p:cNvPr id="14" name="Rounded Rectangle 13"/>
          <p:cNvSpPr/>
          <p:nvPr/>
        </p:nvSpPr>
        <p:spPr>
          <a:xfrm>
            <a:off x="45720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Duration &amp; Material</a:t>
            </a:r>
          </a:p>
        </p:txBody>
      </p:sp>
      <p:sp>
        <p:nvSpPr>
          <p:cNvPr id="17" name="TextBox 16"/>
          <p:cNvSpPr txBox="1"/>
          <p:nvPr/>
        </p:nvSpPr>
        <p:spPr>
          <a:xfrm>
            <a:off x="73152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Duration  ·  6 to 12 months
Material  ·  3D spatial modeling software, base maps, demographic and environmental data, consultation platforms</a:t>
            </a:r>
          </a:p>
        </p:txBody>
      </p:sp>
      <p:sp>
        <p:nvSpPr>
          <p:cNvPr id="18" name="Rounded Rectangle 17"/>
          <p:cNvSpPr/>
          <p:nvPr/>
        </p:nvSpPr>
        <p:spPr>
          <a:xfrm>
            <a:off x="608076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Reference case</a:t>
            </a:r>
          </a:p>
        </p:txBody>
      </p:sp>
      <p:sp>
        <p:nvSpPr>
          <p:cNvPr id="21" name="TextBox 20"/>
          <p:cNvSpPr txBox="1"/>
          <p:nvPr/>
        </p:nvSpPr>
        <p:spPr>
          <a:xfrm>
            <a:off x="635508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The Scottish Government emphasizes masterplanning for areas undergoing significant change, such as town extensions or regeneration zones, to avoid uncoordinated, fragmented spaces. In Wyre Council, masterplans are strictly required for multi-owner residential allocations to ensure cohesive integration of schools, roads, and green infrastructure before any planning permission is granted, treating the document as a material consideration of significant weight.</a:t>
            </a:r>
          </a:p>
        </p:txBody>
      </p:sp>
      <p:sp>
        <p:nvSpPr>
          <p:cNvPr id="22" name="TextBox 21"/>
          <p:cNvSpPr txBox="1"/>
          <p:nvPr/>
        </p:nvSpPr>
        <p:spPr>
          <a:xfrm>
            <a:off x="457200" y="6035040"/>
            <a:ext cx="10515600" cy="274320"/>
          </a:xfrm>
          <a:prstGeom prst="rect">
            <a:avLst/>
          </a:prstGeom>
          <a:noFill/>
        </p:spPr>
        <p:txBody>
          <a:bodyPr wrap="square" lIns="0" rIns="0" tIns="0" bIns="0">
            <a:spAutoFit/>
          </a:bodyPr>
          <a:lstStyle/>
          <a:p>
            <a:pPr algn="l"/>
            <a:r>
              <a:rPr sz="1000" b="1" i="0">
                <a:solidFill>
                  <a:srgbClr val="0D0D0D"/>
                </a:solidFill>
                <a:latin typeface="Source Sans Pro"/>
              </a:rPr>
              <a:t>Suggested agenda  ·  </a:t>
            </a:r>
            <a:r>
              <a:rPr sz="1000" b="0" i="0">
                <a:solidFill>
                  <a:srgbClr val="757575"/>
                </a:solidFill>
                <a:latin typeface="Source Sans Pro"/>
              </a:rPr>
              <a:t>Brief (10 min)  ›  Method walk-through (15 min)  ›  Animation canvas (60–90 min)  ›  Harvest (20 min)</a:t>
            </a:r>
          </a:p>
        </p:txBody>
      </p:sp>
      <p:pic>
        <p:nvPicPr>
          <p:cNvPr id="23" name="Picture 2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4" name="TextBox 2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058400" cy="274320"/>
          </a:xfrm>
          <a:prstGeom prst="rect">
            <a:avLst/>
          </a:prstGeom>
          <a:noFill/>
        </p:spPr>
        <p:txBody>
          <a:bodyPr wrap="square" lIns="0" rIns="0" tIns="0" bIns="0">
            <a:spAutoFit/>
          </a:bodyPr>
          <a:lstStyle/>
          <a:p>
            <a:pPr algn="l"/>
            <a:r>
              <a:rPr sz="1000" b="1" i="0">
                <a:solidFill>
                  <a:srgbClr val="757575"/>
                </a:solidFill>
                <a:latin typeface="Source Sans Pro"/>
              </a:rPr>
              <a:t>TOOL 77  ·  ANIMATION CANVAS  ·  </a:t>
            </a:r>
            <a:r>
              <a:rPr sz="1000" b="1" i="0">
                <a:solidFill>
                  <a:srgbClr val="0D0D0D"/>
                </a:solidFill>
                <a:latin typeface="Source Sans Pro"/>
              </a:rPr>
              <a:t>MASTERPLAN / LOCAL DEVELOPMENT PLAN</a:t>
            </a:r>
          </a:p>
        </p:txBody>
      </p:sp>
      <p:sp>
        <p:nvSpPr>
          <p:cNvPr id="4" name="TextBox 3"/>
          <p:cNvSpPr txBox="1"/>
          <p:nvPr/>
        </p:nvSpPr>
        <p:spPr>
          <a:xfrm>
            <a:off x="457200" y="640080"/>
            <a:ext cx="8229600" cy="640080"/>
          </a:xfrm>
          <a:prstGeom prst="rect">
            <a:avLst/>
          </a:prstGeom>
          <a:noFill/>
        </p:spPr>
        <p:txBody>
          <a:bodyPr wrap="square" lIns="0" rIns="0" tIns="0" bIns="0">
            <a:spAutoFit/>
          </a:bodyPr>
          <a:lstStyle/>
          <a:p>
            <a:pPr algn="l"/>
            <a:r>
              <a:rPr sz="2400" b="0" i="0">
                <a:solidFill>
                  <a:srgbClr val="0D0D0D"/>
                </a:solidFill>
                <a:latin typeface="Palatino Linotype"/>
              </a:rPr>
              <a:t>Vision → Strategy → Programme → Action</a:t>
            </a:r>
          </a:p>
        </p:txBody>
      </p:sp>
      <p:sp>
        <p:nvSpPr>
          <p:cNvPr id="5" name="TextBox 4"/>
          <p:cNvSpPr txBox="1"/>
          <p:nvPr/>
        </p:nvSpPr>
        <p:spPr>
          <a:xfrm>
            <a:off x="8778240" y="640080"/>
            <a:ext cx="2926080" cy="640080"/>
          </a:xfrm>
          <a:prstGeom prst="rect">
            <a:avLst/>
          </a:prstGeom>
          <a:noFill/>
        </p:spPr>
        <p:txBody>
          <a:bodyPr wrap="square" lIns="0" rIns="0" tIns="0" bIns="0">
            <a:spAutoFit/>
          </a:bodyPr>
          <a:lstStyle/>
          <a:p>
            <a:pPr algn="r"/>
            <a:r>
              <a:rPr sz="850" b="1" i="0">
                <a:solidFill>
                  <a:srgbClr val="757575"/>
                </a:solidFill>
                <a:latin typeface="Source Sans Pro"/>
              </a:rPr>
              <a:t>Duration</a:t>
            </a:r>
          </a:p>
          <a:p>
            <a:pPr algn="r"/>
            <a:r>
              <a:rPr sz="1000" b="0" i="0">
                <a:solidFill>
                  <a:srgbClr val="0D0D0D"/>
                </a:solidFill>
                <a:latin typeface="Source Sans Pro"/>
              </a:rPr>
              <a:t>6 to 12 months</a:t>
            </a:r>
          </a:p>
        </p:txBody>
      </p:sp>
      <p:sp>
        <p:nvSpPr>
          <p:cNvPr id="6" name="Rounded Rectangle 5"/>
          <p:cNvSpPr/>
          <p:nvPr/>
        </p:nvSpPr>
        <p:spPr>
          <a:xfrm>
            <a:off x="457200" y="1417320"/>
            <a:ext cx="2695956" cy="274320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600200"/>
            <a:ext cx="2238756" cy="365760"/>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Vision</a:t>
            </a:r>
          </a:p>
        </p:txBody>
      </p:sp>
      <p:sp>
        <p:nvSpPr>
          <p:cNvPr id="8" name="TextBox 7"/>
          <p:cNvSpPr txBox="1"/>
          <p:nvPr/>
        </p:nvSpPr>
        <p:spPr>
          <a:xfrm>
            <a:off x="685800" y="2103120"/>
            <a:ext cx="2238756" cy="548640"/>
          </a:xfrm>
          <a:prstGeom prst="rect">
            <a:avLst/>
          </a:prstGeom>
          <a:noFill/>
        </p:spPr>
        <p:txBody>
          <a:bodyPr wrap="square" lIns="0" rIns="0" tIns="0" bIns="0">
            <a:spAutoFit/>
          </a:bodyPr>
          <a:lstStyle/>
          <a:p>
            <a:pPr algn="l"/>
            <a:r>
              <a:rPr sz="1050" b="0" i="1">
                <a:solidFill>
                  <a:srgbClr val="757575"/>
                </a:solidFill>
                <a:latin typeface="Palatino Linotype"/>
              </a:rPr>
              <a:t>20-year aspiration</a:t>
            </a:r>
          </a:p>
        </p:txBody>
      </p:sp>
      <p:cxnSp>
        <p:nvCxnSpPr>
          <p:cNvPr id="9" name="Connector 8"/>
          <p:cNvCxnSpPr/>
          <p:nvPr/>
        </p:nvCxnSpPr>
        <p:spPr>
          <a:xfrm>
            <a:off x="685800.0" y="2880360"/>
            <a:ext cx="223875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85800.0" y="3154680"/>
            <a:ext cx="223875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85800.0" y="3429000"/>
            <a:ext cx="223875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85800.0" y="3703320"/>
            <a:ext cx="223875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85800.0" y="3977640"/>
            <a:ext cx="223875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317748" y="1417320"/>
            <a:ext cx="2695956" cy="274320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546348" y="1600200"/>
            <a:ext cx="2238756" cy="365760"/>
          </a:xfrm>
          <a:prstGeom prst="roundRect">
            <a:avLst>
              <a:gd name="adj" fmla="val 50000"/>
            </a:avLst>
          </a:prstGeom>
          <a:solidFill>
            <a:srgbClr val="459ACB"/>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Strategy</a:t>
            </a:r>
          </a:p>
        </p:txBody>
      </p:sp>
      <p:sp>
        <p:nvSpPr>
          <p:cNvPr id="16" name="TextBox 15"/>
          <p:cNvSpPr txBox="1"/>
          <p:nvPr/>
        </p:nvSpPr>
        <p:spPr>
          <a:xfrm>
            <a:off x="3546348" y="2103120"/>
            <a:ext cx="2238756" cy="548640"/>
          </a:xfrm>
          <a:prstGeom prst="rect">
            <a:avLst/>
          </a:prstGeom>
          <a:noFill/>
        </p:spPr>
        <p:txBody>
          <a:bodyPr wrap="square" lIns="0" rIns="0" tIns="0" bIns="0">
            <a:spAutoFit/>
          </a:bodyPr>
          <a:lstStyle/>
          <a:p>
            <a:pPr algn="l"/>
            <a:r>
              <a:rPr sz="1050" b="0" i="1">
                <a:solidFill>
                  <a:srgbClr val="757575"/>
                </a:solidFill>
                <a:latin typeface="Palatino Linotype"/>
              </a:rPr>
              <a:t>spatial structure</a:t>
            </a:r>
          </a:p>
        </p:txBody>
      </p:sp>
      <p:cxnSp>
        <p:nvCxnSpPr>
          <p:cNvPr id="17" name="Connector 16"/>
          <p:cNvCxnSpPr/>
          <p:nvPr/>
        </p:nvCxnSpPr>
        <p:spPr>
          <a:xfrm>
            <a:off x="3546348.0" y="2880360"/>
            <a:ext cx="223875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546348.0" y="3154680"/>
            <a:ext cx="223875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3546348.0" y="3429000"/>
            <a:ext cx="223875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546348.0" y="3703320"/>
            <a:ext cx="223875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546348.0" y="3977640"/>
            <a:ext cx="223875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178296" y="1417320"/>
            <a:ext cx="2695956" cy="274320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406896" y="1600200"/>
            <a:ext cx="2238756" cy="365760"/>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Programme</a:t>
            </a:r>
          </a:p>
        </p:txBody>
      </p:sp>
      <p:sp>
        <p:nvSpPr>
          <p:cNvPr id="24" name="TextBox 23"/>
          <p:cNvSpPr txBox="1"/>
          <p:nvPr/>
        </p:nvSpPr>
        <p:spPr>
          <a:xfrm>
            <a:off x="6406896" y="2103120"/>
            <a:ext cx="2238756" cy="548640"/>
          </a:xfrm>
          <a:prstGeom prst="rect">
            <a:avLst/>
          </a:prstGeom>
          <a:noFill/>
        </p:spPr>
        <p:txBody>
          <a:bodyPr wrap="square" lIns="0" rIns="0" tIns="0" bIns="0">
            <a:spAutoFit/>
          </a:bodyPr>
          <a:lstStyle/>
          <a:p>
            <a:pPr algn="l"/>
            <a:r>
              <a:rPr sz="1050" b="0" i="1">
                <a:solidFill>
                  <a:srgbClr val="757575"/>
                </a:solidFill>
                <a:latin typeface="Palatino Linotype"/>
              </a:rPr>
              <a:t>phased projects</a:t>
            </a:r>
          </a:p>
        </p:txBody>
      </p:sp>
      <p:cxnSp>
        <p:nvCxnSpPr>
          <p:cNvPr id="25" name="Connector 24"/>
          <p:cNvCxnSpPr/>
          <p:nvPr/>
        </p:nvCxnSpPr>
        <p:spPr>
          <a:xfrm>
            <a:off x="6406896.0" y="2880360"/>
            <a:ext cx="223875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6406896.0" y="3154680"/>
            <a:ext cx="223875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6406896.0" y="3429000"/>
            <a:ext cx="223875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406896.0" y="3703320"/>
            <a:ext cx="223875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6406896.0" y="3977640"/>
            <a:ext cx="223875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9038844" y="1417320"/>
            <a:ext cx="2695956" cy="274320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267444" y="1600200"/>
            <a:ext cx="2238756" cy="365760"/>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Action</a:t>
            </a:r>
          </a:p>
        </p:txBody>
      </p:sp>
      <p:sp>
        <p:nvSpPr>
          <p:cNvPr id="32" name="TextBox 31"/>
          <p:cNvSpPr txBox="1"/>
          <p:nvPr/>
        </p:nvSpPr>
        <p:spPr>
          <a:xfrm>
            <a:off x="9267444" y="2103120"/>
            <a:ext cx="2238756" cy="548640"/>
          </a:xfrm>
          <a:prstGeom prst="rect">
            <a:avLst/>
          </a:prstGeom>
          <a:noFill/>
        </p:spPr>
        <p:txBody>
          <a:bodyPr wrap="square" lIns="0" rIns="0" tIns="0" bIns="0">
            <a:spAutoFit/>
          </a:bodyPr>
          <a:lstStyle/>
          <a:p>
            <a:pPr algn="l"/>
            <a:r>
              <a:rPr sz="1050" b="0" i="1">
                <a:solidFill>
                  <a:srgbClr val="757575"/>
                </a:solidFill>
                <a:latin typeface="Palatino Linotype"/>
              </a:rPr>
              <a:t>operational works</a:t>
            </a:r>
          </a:p>
        </p:txBody>
      </p:sp>
      <p:cxnSp>
        <p:nvCxnSpPr>
          <p:cNvPr id="33" name="Connector 32"/>
          <p:cNvCxnSpPr/>
          <p:nvPr/>
        </p:nvCxnSpPr>
        <p:spPr>
          <a:xfrm>
            <a:off x="9267444.0" y="2880360"/>
            <a:ext cx="223875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9267444.0" y="3154680"/>
            <a:ext cx="223875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267444.0" y="3429000"/>
            <a:ext cx="223875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9267444.0" y="3703320"/>
            <a:ext cx="223875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9267444.0" y="3977640"/>
            <a:ext cx="223875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457200" y="4343400"/>
            <a:ext cx="11277600" cy="182880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85800" y="4480560"/>
            <a:ext cx="7315200" cy="274320"/>
          </a:xfrm>
          <a:prstGeom prst="rect">
            <a:avLst/>
          </a:prstGeom>
          <a:noFill/>
        </p:spPr>
        <p:txBody>
          <a:bodyPr wrap="square" lIns="0" rIns="0" tIns="0" bIns="0">
            <a:spAutoFit/>
          </a:bodyPr>
          <a:lstStyle/>
          <a:p>
            <a:pPr algn="l"/>
            <a:r>
              <a:rPr sz="1300" b="0" i="1">
                <a:solidFill>
                  <a:srgbClr val="0D0D0D"/>
                </a:solidFill>
                <a:latin typeface="Palatino Linotype"/>
              </a:rPr>
              <a:t>Cross-cutting principles</a:t>
            </a:r>
          </a:p>
        </p:txBody>
      </p:sp>
      <p:sp>
        <p:nvSpPr>
          <p:cNvPr id="40" name="Rounded Rectangle 39"/>
          <p:cNvSpPr/>
          <p:nvPr/>
        </p:nvSpPr>
        <p:spPr>
          <a:xfrm>
            <a:off x="685800" y="4892040"/>
            <a:ext cx="1711960" cy="32918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Inclusive</a:t>
            </a:r>
          </a:p>
        </p:txBody>
      </p:sp>
      <p:cxnSp>
        <p:nvCxnSpPr>
          <p:cNvPr id="41" name="Connector 40"/>
          <p:cNvCxnSpPr/>
          <p:nvPr/>
        </p:nvCxnSpPr>
        <p:spPr>
          <a:xfrm>
            <a:off x="685800.0" y="5394960"/>
            <a:ext cx="171196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685800.0" y="5669280"/>
            <a:ext cx="171196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2489200" y="4892040"/>
            <a:ext cx="1711960" cy="32918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Resilient</a:t>
            </a:r>
          </a:p>
        </p:txBody>
      </p:sp>
      <p:cxnSp>
        <p:nvCxnSpPr>
          <p:cNvPr id="44" name="Connector 43"/>
          <p:cNvCxnSpPr/>
          <p:nvPr/>
        </p:nvCxnSpPr>
        <p:spPr>
          <a:xfrm>
            <a:off x="2489200.0" y="5394960"/>
            <a:ext cx="171196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2489200.0" y="5669280"/>
            <a:ext cx="171196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46" name="Rounded Rectangle 45"/>
          <p:cNvSpPr/>
          <p:nvPr/>
        </p:nvSpPr>
        <p:spPr>
          <a:xfrm>
            <a:off x="4292600" y="4892040"/>
            <a:ext cx="1711960" cy="32918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Compact</a:t>
            </a:r>
          </a:p>
        </p:txBody>
      </p:sp>
      <p:cxnSp>
        <p:nvCxnSpPr>
          <p:cNvPr id="47" name="Connector 46"/>
          <p:cNvCxnSpPr/>
          <p:nvPr/>
        </p:nvCxnSpPr>
        <p:spPr>
          <a:xfrm>
            <a:off x="4292600.0" y="5394960"/>
            <a:ext cx="171196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4292600.0" y="5669280"/>
            <a:ext cx="171196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49" name="Rounded Rectangle 48"/>
          <p:cNvSpPr/>
          <p:nvPr/>
        </p:nvSpPr>
        <p:spPr>
          <a:xfrm>
            <a:off x="6096000" y="4892040"/>
            <a:ext cx="1711960" cy="32918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Mixed-use</a:t>
            </a:r>
          </a:p>
        </p:txBody>
      </p:sp>
      <p:cxnSp>
        <p:nvCxnSpPr>
          <p:cNvPr id="50" name="Connector 49"/>
          <p:cNvCxnSpPr/>
          <p:nvPr/>
        </p:nvCxnSpPr>
        <p:spPr>
          <a:xfrm>
            <a:off x="6096000.0" y="5394960"/>
            <a:ext cx="171196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6096000.0" y="5669280"/>
            <a:ext cx="171196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52" name="Rounded Rectangle 51"/>
          <p:cNvSpPr/>
          <p:nvPr/>
        </p:nvSpPr>
        <p:spPr>
          <a:xfrm>
            <a:off x="7899400" y="4892040"/>
            <a:ext cx="1711960" cy="32918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Heritage-led</a:t>
            </a:r>
          </a:p>
        </p:txBody>
      </p:sp>
      <p:cxnSp>
        <p:nvCxnSpPr>
          <p:cNvPr id="53" name="Connector 52"/>
          <p:cNvCxnSpPr/>
          <p:nvPr/>
        </p:nvCxnSpPr>
        <p:spPr>
          <a:xfrm>
            <a:off x="7899400.0" y="5394960"/>
            <a:ext cx="171196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7899400.0" y="5669280"/>
            <a:ext cx="171196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55" name="Rounded Rectangle 54"/>
          <p:cNvSpPr/>
          <p:nvPr/>
        </p:nvSpPr>
        <p:spPr>
          <a:xfrm>
            <a:off x="9702800" y="4892040"/>
            <a:ext cx="1711960" cy="32918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Carbon-neutral</a:t>
            </a:r>
          </a:p>
        </p:txBody>
      </p:sp>
      <p:cxnSp>
        <p:nvCxnSpPr>
          <p:cNvPr id="56" name="Connector 55"/>
          <p:cNvCxnSpPr/>
          <p:nvPr/>
        </p:nvCxnSpPr>
        <p:spPr>
          <a:xfrm>
            <a:off x="9702800.0" y="5394960"/>
            <a:ext cx="171196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9702800.0" y="5669280"/>
            <a:ext cx="171196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pic>
        <p:nvPicPr>
          <p:cNvPr id="58" name="Picture 57"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59" name="TextBox 58"/>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77  ·  HARVEST</a:t>
            </a:r>
          </a:p>
        </p:txBody>
      </p:sp>
      <p:sp>
        <p:nvSpPr>
          <p:cNvPr id="4" name="TextBox 3"/>
          <p:cNvSpPr txBox="1"/>
          <p:nvPr/>
        </p:nvSpPr>
        <p:spPr>
          <a:xfrm>
            <a:off x="457200" y="594360"/>
            <a:ext cx="10515600" cy="640080"/>
          </a:xfrm>
          <a:prstGeom prst="rect">
            <a:avLst/>
          </a:prstGeom>
          <a:noFill/>
        </p:spPr>
        <p:txBody>
          <a:bodyPr wrap="square" lIns="0" rIns="0" tIns="0" bIns="0">
            <a:spAutoFit/>
          </a:bodyPr>
          <a:lstStyle/>
          <a:p>
            <a:pPr algn="l"/>
            <a:r>
              <a:rPr sz="2800" b="0" i="0">
                <a:solidFill>
                  <a:srgbClr val="0D0D0D"/>
                </a:solidFill>
                <a:latin typeface="Palatino Linotype"/>
              </a:rPr>
              <a:t>Harvesting our  </a:t>
            </a:r>
            <a:r>
              <a:rPr sz="2800" b="0" i="1">
                <a:solidFill>
                  <a:srgbClr val="0D0D0D"/>
                </a:solidFill>
                <a:latin typeface="Palatino Linotype"/>
              </a:rPr>
              <a:t>learnings</a:t>
            </a:r>
          </a:p>
        </p:txBody>
      </p:sp>
      <p:sp>
        <p:nvSpPr>
          <p:cNvPr id="5" name="TextBox 4"/>
          <p:cNvSpPr txBox="1"/>
          <p:nvPr/>
        </p:nvSpPr>
        <p:spPr>
          <a:xfrm>
            <a:off x="457200" y="1234440"/>
            <a:ext cx="10515600" cy="365760"/>
          </a:xfrm>
          <a:prstGeom prst="rect">
            <a:avLst/>
          </a:prstGeom>
          <a:noFill/>
        </p:spPr>
        <p:txBody>
          <a:bodyPr wrap="square" lIns="0" rIns="0" tIns="0" bIns="0">
            <a:spAutoFit/>
          </a:bodyPr>
          <a:lstStyle/>
          <a:p>
            <a:pPr algn="l"/>
            <a:r>
              <a:rPr sz="1300" b="0" i="1">
                <a:solidFill>
                  <a:srgbClr val="757575"/>
                </a:solidFill>
                <a:latin typeface="Palatino Linotype"/>
              </a:rPr>
              <a:t>After running the canvas, capture three layers of insight.</a:t>
            </a:r>
          </a:p>
        </p:txBody>
      </p:sp>
      <p:sp>
        <p:nvSpPr>
          <p:cNvPr id="6" name="Rounded Rectangle 5"/>
          <p:cNvSpPr/>
          <p:nvPr/>
        </p:nvSpPr>
        <p:spPr>
          <a:xfrm>
            <a:off x="4572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Stand-out signals, surprising stories, ideas to remember</a:t>
            </a:r>
          </a:p>
        </p:txBody>
      </p:sp>
      <p:cxnSp>
        <p:nvCxnSpPr>
          <p:cNvPr id="8" name="Connector 7"/>
          <p:cNvCxnSpPr/>
          <p:nvPr/>
        </p:nvCxnSpPr>
        <p:spPr>
          <a:xfrm>
            <a:off x="7772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26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26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Concrete adaptations to our context, our team, our constraints</a:t>
            </a:r>
          </a:p>
        </p:txBody>
      </p:sp>
      <p:cxnSp>
        <p:nvCxnSpPr>
          <p:cNvPr id="17" name="Connector 16"/>
          <p:cNvCxnSpPr/>
          <p:nvPr/>
        </p:nvCxnSpPr>
        <p:spPr>
          <a:xfrm>
            <a:off x="46126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126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26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26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26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126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126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280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80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Skills, allies, resources, decisions still to secure</a:t>
            </a:r>
          </a:p>
        </p:txBody>
      </p:sp>
      <p:cxnSp>
        <p:nvCxnSpPr>
          <p:cNvPr id="26" name="Connector 25"/>
          <p:cNvCxnSpPr/>
          <p:nvPr/>
        </p:nvCxnSpPr>
        <p:spPr>
          <a:xfrm>
            <a:off x="84480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80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4480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80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480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80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80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5304" y="1801368"/>
            <a:ext cx="2450592" cy="42062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inspires me</a:t>
            </a:r>
          </a:p>
        </p:txBody>
      </p:sp>
      <p:sp>
        <p:nvSpPr>
          <p:cNvPr id="34" name="Rounded Rectangle 33"/>
          <p:cNvSpPr/>
          <p:nvPr/>
        </p:nvSpPr>
        <p:spPr>
          <a:xfrm>
            <a:off x="4632960" y="1801368"/>
            <a:ext cx="2926080" cy="42062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How to apply it here</a:t>
            </a:r>
          </a:p>
        </p:txBody>
      </p:sp>
      <p:sp>
        <p:nvSpPr>
          <p:cNvPr id="35" name="Rounded Rectangle 34"/>
          <p:cNvSpPr/>
          <p:nvPr/>
        </p:nvSpPr>
        <p:spPr>
          <a:xfrm>
            <a:off x="8102600" y="1801368"/>
            <a:ext cx="3657600" cy="42062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we need to be autonomous</a:t>
            </a:r>
          </a:p>
        </p:txBody>
      </p:sp>
      <p:sp>
        <p:nvSpPr>
          <p:cNvPr id="36" name="TextBox 3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Each participant fills a copy. Then debrief together to surface patterns and next steps.</a:t>
            </a:r>
          </a:p>
        </p:txBody>
      </p:sp>
      <p:pic>
        <p:nvPicPr>
          <p:cNvPr id="37" name="Picture 3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8" name="TextBox 3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