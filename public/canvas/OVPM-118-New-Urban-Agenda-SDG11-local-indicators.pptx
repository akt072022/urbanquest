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New Urban Agenda / SDG11 local indicators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localized monitoring framework integrating core SDG 11 metrics to track the inclusiveness, safety, and resilience of the urban settlement.</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1" name="Rounded Rectangle 10"/>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sp>
        <p:nvSpPr>
          <p:cNvPr id="12" name="Rounded Rectangle 11"/>
          <p:cNvSpPr/>
          <p:nvPr/>
        </p:nvSpPr>
        <p:spPr>
          <a:xfrm>
            <a:off x="33329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Environmental</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New Urban Agenda / SDG11 local indicators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Anchoring everyday street-level decisions·like paving a sidewalk or expanding a bus route·to a profound global promise of planetary survival and human dignity.</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localized monitoring framework integrating core SDG 11 metrics to track the inclusiveness, safety, and resilience of the urban settlement.</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for framework design and initial data collection
Material  ·  Global Urban Monitoring Framework guidelines, spatial data (GIS), demographic census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UN-Habitat's City Prosperity Initiative (CPI) integrates all 10 targets of SDG 11 into a spatial analysis tool. Nearly 300 cities utilized this framework to calculate specific localized ratios, such as land consumption compared to population growth (Indicator 11.3.1), providing an empirical, standardized baseline to steer inclusive and sustainable urbanization,.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118  ·  ANIMATION CANVAS  ·  </a:t>
            </a:r>
            <a:r>
              <a:rPr sz="1000" b="1" i="0">
                <a:solidFill>
                  <a:srgbClr val="0D0D0D"/>
                </a:solidFill>
                <a:latin typeface="Source Sans Pro"/>
              </a:rPr>
              <a:t>NEW URBAN AGENDA / SDG11 LOCAL INDICATORS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SDG 11 targets · localized indicators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for framework design and initial data col…</a:t>
            </a:r>
          </a:p>
        </p:txBody>
      </p:sp>
      <p:sp>
        <p:nvSpPr>
          <p:cNvPr id="6" name="Rounded Rectangle 5"/>
          <p:cNvSpPr/>
          <p:nvPr/>
        </p:nvSpPr>
        <p:spPr>
          <a:xfrm>
            <a:off x="457200"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223875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11.1 Housing</a:t>
            </a:r>
          </a:p>
        </p:txBody>
      </p:sp>
      <p:sp>
        <p:nvSpPr>
          <p:cNvPr id="8" name="TextBox 7"/>
          <p:cNvSpPr txBox="1"/>
          <p:nvPr/>
        </p:nvSpPr>
        <p:spPr>
          <a:xfrm>
            <a:off x="685800"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access to safe, affordable</a:t>
            </a:r>
          </a:p>
        </p:txBody>
      </p:sp>
      <p:cxnSp>
        <p:nvCxnSpPr>
          <p:cNvPr id="9" name="Connector 8"/>
          <p:cNvCxnSpPr/>
          <p:nvPr/>
        </p:nvCxnSpPr>
        <p:spPr>
          <a:xfrm>
            <a:off x="685800.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17748"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46348" y="1600200"/>
            <a:ext cx="223875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11.2 Mobility</a:t>
            </a:r>
          </a:p>
        </p:txBody>
      </p:sp>
      <p:sp>
        <p:nvSpPr>
          <p:cNvPr id="14" name="TextBox 13"/>
          <p:cNvSpPr txBox="1"/>
          <p:nvPr/>
        </p:nvSpPr>
        <p:spPr>
          <a:xfrm>
            <a:off x="3546348"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safe transport for all</a:t>
            </a:r>
          </a:p>
        </p:txBody>
      </p:sp>
      <p:cxnSp>
        <p:nvCxnSpPr>
          <p:cNvPr id="15" name="Connector 14"/>
          <p:cNvCxnSpPr/>
          <p:nvPr/>
        </p:nvCxnSpPr>
        <p:spPr>
          <a:xfrm>
            <a:off x="3546348.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546348.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46348.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8296"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6896" y="1600200"/>
            <a:ext cx="223875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11.3 Inclusive urbanization</a:t>
            </a:r>
          </a:p>
        </p:txBody>
      </p:sp>
      <p:sp>
        <p:nvSpPr>
          <p:cNvPr id="20" name="TextBox 19"/>
          <p:cNvSpPr txBox="1"/>
          <p:nvPr/>
        </p:nvSpPr>
        <p:spPr>
          <a:xfrm>
            <a:off x="6406896"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participatory &amp; sustainable</a:t>
            </a:r>
          </a:p>
        </p:txBody>
      </p:sp>
      <p:cxnSp>
        <p:nvCxnSpPr>
          <p:cNvPr id="21" name="Connector 20"/>
          <p:cNvCxnSpPr/>
          <p:nvPr/>
        </p:nvCxnSpPr>
        <p:spPr>
          <a:xfrm>
            <a:off x="6406896.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406896.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06896.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38844" y="1417320"/>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7444" y="1600200"/>
            <a:ext cx="223875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11.4 Heritage</a:t>
            </a:r>
          </a:p>
        </p:txBody>
      </p:sp>
      <p:sp>
        <p:nvSpPr>
          <p:cNvPr id="26" name="TextBox 25"/>
          <p:cNvSpPr txBox="1"/>
          <p:nvPr/>
        </p:nvSpPr>
        <p:spPr>
          <a:xfrm>
            <a:off x="9267444" y="2103120"/>
            <a:ext cx="2238756" cy="457200"/>
          </a:xfrm>
          <a:prstGeom prst="rect">
            <a:avLst/>
          </a:prstGeom>
          <a:noFill/>
        </p:spPr>
        <p:txBody>
          <a:bodyPr wrap="square" lIns="0" rIns="0" tIns="0" bIns="0">
            <a:spAutoFit/>
          </a:bodyPr>
          <a:lstStyle/>
          <a:p>
            <a:pPr algn="l"/>
            <a:r>
              <a:rPr sz="1050" b="0" i="1">
                <a:solidFill>
                  <a:srgbClr val="757575"/>
                </a:solidFill>
                <a:latin typeface="Palatino Linotype"/>
              </a:rPr>
              <a:t>protect cultural &amp; natural</a:t>
            </a:r>
          </a:p>
        </p:txBody>
      </p:sp>
      <p:cxnSp>
        <p:nvCxnSpPr>
          <p:cNvPr id="27" name="Connector 26"/>
          <p:cNvCxnSpPr/>
          <p:nvPr/>
        </p:nvCxnSpPr>
        <p:spPr>
          <a:xfrm>
            <a:off x="9267444.0" y="2743200.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67444.0" y="3035808.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67444.0" y="332841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85800" y="4059936"/>
            <a:ext cx="2238756" cy="365760"/>
          </a:xfrm>
          <a:prstGeom prst="roundRect">
            <a:avLst>
              <a:gd name="adj" fmla="val 50000"/>
            </a:avLst>
          </a:prstGeom>
          <a:solidFill>
            <a:srgbClr val="C48B4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11.5 Disaster resilience</a:t>
            </a:r>
          </a:p>
        </p:txBody>
      </p:sp>
      <p:sp>
        <p:nvSpPr>
          <p:cNvPr id="32" name="TextBox 31"/>
          <p:cNvSpPr txBox="1"/>
          <p:nvPr/>
        </p:nvSpPr>
        <p:spPr>
          <a:xfrm>
            <a:off x="685800"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reduce impact of disasters</a:t>
            </a:r>
          </a:p>
        </p:txBody>
      </p:sp>
      <p:cxnSp>
        <p:nvCxnSpPr>
          <p:cNvPr id="33" name="Connector 32"/>
          <p:cNvCxnSpPr/>
          <p:nvPr/>
        </p:nvCxnSpPr>
        <p:spPr>
          <a:xfrm>
            <a:off x="685800.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5800.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85800.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317748"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546348" y="4059936"/>
            <a:ext cx="223875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11.6 Environmental impact</a:t>
            </a:r>
          </a:p>
        </p:txBody>
      </p:sp>
      <p:sp>
        <p:nvSpPr>
          <p:cNvPr id="38" name="TextBox 37"/>
          <p:cNvSpPr txBox="1"/>
          <p:nvPr/>
        </p:nvSpPr>
        <p:spPr>
          <a:xfrm>
            <a:off x="3546348"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reduce per capita</a:t>
            </a:r>
          </a:p>
        </p:txBody>
      </p:sp>
      <p:cxnSp>
        <p:nvCxnSpPr>
          <p:cNvPr id="39" name="Connector 38"/>
          <p:cNvCxnSpPr/>
          <p:nvPr/>
        </p:nvCxnSpPr>
        <p:spPr>
          <a:xfrm>
            <a:off x="3546348.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46348.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546348.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6178296" y="3877056"/>
            <a:ext cx="2695956" cy="2295144"/>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406896" y="4059936"/>
            <a:ext cx="2238756" cy="365760"/>
          </a:xfrm>
          <a:prstGeom prst="roundRect">
            <a:avLst>
              <a:gd name="adj" fmla="val 50000"/>
            </a:avLst>
          </a:prstGeom>
          <a:solidFill>
            <a:srgbClr val="A8CB6E"/>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11.7 Public spaces</a:t>
            </a:r>
          </a:p>
        </p:txBody>
      </p:sp>
      <p:sp>
        <p:nvSpPr>
          <p:cNvPr id="44" name="TextBox 43"/>
          <p:cNvSpPr txBox="1"/>
          <p:nvPr/>
        </p:nvSpPr>
        <p:spPr>
          <a:xfrm>
            <a:off x="6406896" y="4562856"/>
            <a:ext cx="2238756" cy="457200"/>
          </a:xfrm>
          <a:prstGeom prst="rect">
            <a:avLst/>
          </a:prstGeom>
          <a:noFill/>
        </p:spPr>
        <p:txBody>
          <a:bodyPr wrap="square" lIns="0" rIns="0" tIns="0" bIns="0">
            <a:spAutoFit/>
          </a:bodyPr>
          <a:lstStyle/>
          <a:p>
            <a:pPr algn="l"/>
            <a:r>
              <a:rPr sz="1050" b="0" i="1">
                <a:solidFill>
                  <a:srgbClr val="757575"/>
                </a:solidFill>
                <a:latin typeface="Palatino Linotype"/>
              </a:rPr>
              <a:t>safe, inclusive, accessible</a:t>
            </a:r>
          </a:p>
        </p:txBody>
      </p:sp>
      <p:cxnSp>
        <p:nvCxnSpPr>
          <p:cNvPr id="45" name="Connector 44"/>
          <p:cNvCxnSpPr/>
          <p:nvPr/>
        </p:nvCxnSpPr>
        <p:spPr>
          <a:xfrm>
            <a:off x="6406896.0" y="5202936.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406896.0" y="5495544.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406896.0" y="5788152.0"/>
            <a:ext cx="2238756.0"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48" name="Picture 47"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49" name="TextBox 48"/>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