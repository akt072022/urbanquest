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121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Sendai Framework urban risk assessment</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Disaster Resilience Scorecard mapping local exposure to hazards, integrated directly into the city master plan and aligned with national risk reduction strategies.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1" name="Rounded Rectangle 10"/>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2" name="Rounded Rectangle 11"/>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121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Sendai Framework urban risk assessment</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Facing the terrifying reality of climate collapse with pragmatic courage, ensuring the city is designed not just to grow and profit, but to protect and survive.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Disaster Resilience Scorecard mapping local exposure to hazards, integrated directly into the city master plan and aligned with national risk reduction strategies.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3 months
Material  ·  Disaster Resilience Scorecard for Cities, spatial hazard maps, national DRR frameworks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Sendai Monitor framework requires cities to conduct voluntary self-assessments of their progress in implementing disaster risk reduction (DRR). By using standardized scorecards, local authorities ensure that their master plans explicitly incorporate resilience approaches, effectively mitigating the dangers of rapid, unplanned urban expansion that exposes populations to severe climate events,,,.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121  ·  ANIMATION CANVAS  ·  </a:t>
            </a:r>
            <a:r>
              <a:rPr sz="1000" b="1" i="0">
                <a:solidFill>
                  <a:srgbClr val="0D0D0D"/>
                </a:solidFill>
                <a:latin typeface="Source Sans Pro"/>
              </a:rPr>
              <a:t>SENDAI FRAMEWORK URBAN RISK ASSESSMENT</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Disaster Resilience · 10 essentials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3 months</a:t>
            </a:r>
          </a:p>
        </p:txBody>
      </p:sp>
      <p:sp>
        <p:nvSpPr>
          <p:cNvPr id="6" name="Rounded Rectangle 5"/>
          <p:cNvSpPr/>
          <p:nvPr/>
        </p:nvSpPr>
        <p:spPr>
          <a:xfrm>
            <a:off x="457200" y="1417320"/>
            <a:ext cx="212384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66664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Organize for resilience</a:t>
            </a:r>
          </a:p>
        </p:txBody>
      </p:sp>
      <p:sp>
        <p:nvSpPr>
          <p:cNvPr id="8" name="TextBox 7"/>
          <p:cNvSpPr txBox="1"/>
          <p:nvPr/>
        </p:nvSpPr>
        <p:spPr>
          <a:xfrm>
            <a:off x="685800"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leadership · structures</a:t>
            </a:r>
          </a:p>
        </p:txBody>
      </p:sp>
      <p:cxnSp>
        <p:nvCxnSpPr>
          <p:cNvPr id="9" name="Connector 8"/>
          <p:cNvCxnSpPr/>
          <p:nvPr/>
        </p:nvCxnSpPr>
        <p:spPr>
          <a:xfrm>
            <a:off x="685800.0"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45638" y="1417320"/>
            <a:ext cx="212384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74238" y="1600200"/>
            <a:ext cx="166664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Identify, understand and use risk scenarios</a:t>
            </a:r>
          </a:p>
        </p:txBody>
      </p:sp>
      <p:sp>
        <p:nvSpPr>
          <p:cNvPr id="14" name="TextBox 13"/>
          <p:cNvSpPr txBox="1"/>
          <p:nvPr/>
        </p:nvSpPr>
        <p:spPr>
          <a:xfrm>
            <a:off x="2974238"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assess hazards</a:t>
            </a:r>
          </a:p>
        </p:txBody>
      </p:sp>
      <p:cxnSp>
        <p:nvCxnSpPr>
          <p:cNvPr id="15" name="Connector 14"/>
          <p:cNvCxnSpPr/>
          <p:nvPr/>
        </p:nvCxnSpPr>
        <p:spPr>
          <a:xfrm>
            <a:off x="2974238.4"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974238.4"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974238.4"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34076" y="1417320"/>
            <a:ext cx="212384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62676" y="1600200"/>
            <a:ext cx="166664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Strengthen financial capacity</a:t>
            </a:r>
          </a:p>
        </p:txBody>
      </p:sp>
      <p:sp>
        <p:nvSpPr>
          <p:cNvPr id="20" name="TextBox 19"/>
          <p:cNvSpPr txBox="1"/>
          <p:nvPr/>
        </p:nvSpPr>
        <p:spPr>
          <a:xfrm>
            <a:off x="5262676"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budgeted resilience</a:t>
            </a:r>
          </a:p>
        </p:txBody>
      </p:sp>
      <p:cxnSp>
        <p:nvCxnSpPr>
          <p:cNvPr id="21" name="Connector 20"/>
          <p:cNvCxnSpPr/>
          <p:nvPr/>
        </p:nvCxnSpPr>
        <p:spPr>
          <a:xfrm>
            <a:off x="5262676.8" y="274320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262676.8" y="303580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262676.8" y="332841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22515" y="1417320"/>
            <a:ext cx="212384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51115" y="1600200"/>
            <a:ext cx="166664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Pursue resilient urban development</a:t>
            </a:r>
          </a:p>
        </p:txBody>
      </p:sp>
      <p:sp>
        <p:nvSpPr>
          <p:cNvPr id="26" name="TextBox 25"/>
          <p:cNvSpPr txBox="1"/>
          <p:nvPr/>
        </p:nvSpPr>
        <p:spPr>
          <a:xfrm>
            <a:off x="7551115"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safe land use</a:t>
            </a:r>
          </a:p>
        </p:txBody>
      </p:sp>
      <p:cxnSp>
        <p:nvCxnSpPr>
          <p:cNvPr id="27" name="Connector 26"/>
          <p:cNvCxnSpPr/>
          <p:nvPr/>
        </p:nvCxnSpPr>
        <p:spPr>
          <a:xfrm>
            <a:off x="7551115.199999999"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551115.199999999"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551115.199999999"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610953" y="1417320"/>
            <a:ext cx="212384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39553" y="1600200"/>
            <a:ext cx="1666646" cy="365760"/>
          </a:xfrm>
          <a:prstGeom prst="roundRect">
            <a:avLst>
              <a:gd name="adj" fmla="val 50000"/>
            </a:avLst>
          </a:prstGeom>
          <a:solidFill>
            <a:srgbClr val="A8CB6E"/>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Safeguard ecosystems</a:t>
            </a:r>
          </a:p>
        </p:txBody>
      </p:sp>
      <p:sp>
        <p:nvSpPr>
          <p:cNvPr id="32" name="TextBox 31"/>
          <p:cNvSpPr txBox="1"/>
          <p:nvPr/>
        </p:nvSpPr>
        <p:spPr>
          <a:xfrm>
            <a:off x="9839553"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natural buffers</a:t>
            </a:r>
          </a:p>
        </p:txBody>
      </p:sp>
      <p:cxnSp>
        <p:nvCxnSpPr>
          <p:cNvPr id="33" name="Connector 32"/>
          <p:cNvCxnSpPr/>
          <p:nvPr/>
        </p:nvCxnSpPr>
        <p:spPr>
          <a:xfrm>
            <a:off x="9839553.6"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839553.6"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839553.6"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57200" y="3877056"/>
            <a:ext cx="212384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85800" y="4059936"/>
            <a:ext cx="166664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Strengthen institutional capacity</a:t>
            </a:r>
          </a:p>
        </p:txBody>
      </p:sp>
      <p:sp>
        <p:nvSpPr>
          <p:cNvPr id="38" name="TextBox 37"/>
          <p:cNvSpPr txBox="1"/>
          <p:nvPr/>
        </p:nvSpPr>
        <p:spPr>
          <a:xfrm>
            <a:off x="685800" y="4562856"/>
            <a:ext cx="1666646" cy="457200"/>
          </a:xfrm>
          <a:prstGeom prst="rect">
            <a:avLst/>
          </a:prstGeom>
          <a:noFill/>
        </p:spPr>
        <p:txBody>
          <a:bodyPr wrap="square" lIns="0" rIns="0" tIns="0" bIns="0">
            <a:spAutoFit/>
          </a:bodyPr>
          <a:lstStyle/>
          <a:p>
            <a:pPr algn="l"/>
            <a:r>
              <a:rPr sz="1050" b="0" i="1">
                <a:solidFill>
                  <a:srgbClr val="757575"/>
                </a:solidFill>
                <a:latin typeface="Palatino Linotype"/>
              </a:rPr>
              <a:t>people &amp; training</a:t>
            </a:r>
          </a:p>
        </p:txBody>
      </p:sp>
      <p:cxnSp>
        <p:nvCxnSpPr>
          <p:cNvPr id="39" name="Connector 38"/>
          <p:cNvCxnSpPr/>
          <p:nvPr/>
        </p:nvCxnSpPr>
        <p:spPr>
          <a:xfrm>
            <a:off x="685800.0" y="520293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85800.0" y="549554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85800.0" y="578815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2745638" y="3877056"/>
            <a:ext cx="212384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2974238" y="4059936"/>
            <a:ext cx="1666646" cy="365760"/>
          </a:xfrm>
          <a:prstGeom prst="roundRect">
            <a:avLst>
              <a:gd name="adj" fmla="val 50000"/>
            </a:avLst>
          </a:prstGeom>
          <a:solidFill>
            <a:srgbClr val="3360F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Understand and strengthen societal capacity</a:t>
            </a:r>
          </a:p>
        </p:txBody>
      </p:sp>
      <p:sp>
        <p:nvSpPr>
          <p:cNvPr id="44" name="TextBox 43"/>
          <p:cNvSpPr txBox="1"/>
          <p:nvPr/>
        </p:nvSpPr>
        <p:spPr>
          <a:xfrm>
            <a:off x="2974238" y="4562856"/>
            <a:ext cx="1666646" cy="457200"/>
          </a:xfrm>
          <a:prstGeom prst="rect">
            <a:avLst/>
          </a:prstGeom>
          <a:noFill/>
        </p:spPr>
        <p:txBody>
          <a:bodyPr wrap="square" lIns="0" rIns="0" tIns="0" bIns="0">
            <a:spAutoFit/>
          </a:bodyPr>
          <a:lstStyle/>
          <a:p>
            <a:pPr algn="l"/>
            <a:r>
              <a:rPr sz="1050" b="0" i="1">
                <a:solidFill>
                  <a:srgbClr val="757575"/>
                </a:solidFill>
                <a:latin typeface="Palatino Linotype"/>
              </a:rPr>
              <a:t>community resilience</a:t>
            </a:r>
          </a:p>
        </p:txBody>
      </p:sp>
      <p:cxnSp>
        <p:nvCxnSpPr>
          <p:cNvPr id="45" name="Connector 44"/>
          <p:cNvCxnSpPr/>
          <p:nvPr/>
        </p:nvCxnSpPr>
        <p:spPr>
          <a:xfrm>
            <a:off x="2974238.4" y="520293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974238.4" y="549554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974238.4" y="578815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5034076" y="3877056"/>
            <a:ext cx="212384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5262676" y="4059936"/>
            <a:ext cx="1666646"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Increase infrastructure resilience</a:t>
            </a:r>
          </a:p>
        </p:txBody>
      </p:sp>
      <p:sp>
        <p:nvSpPr>
          <p:cNvPr id="50" name="TextBox 49"/>
          <p:cNvSpPr txBox="1"/>
          <p:nvPr/>
        </p:nvSpPr>
        <p:spPr>
          <a:xfrm>
            <a:off x="5262676" y="4562856"/>
            <a:ext cx="1666646" cy="457200"/>
          </a:xfrm>
          <a:prstGeom prst="rect">
            <a:avLst/>
          </a:prstGeom>
          <a:noFill/>
        </p:spPr>
        <p:txBody>
          <a:bodyPr wrap="square" lIns="0" rIns="0" tIns="0" bIns="0">
            <a:spAutoFit/>
          </a:bodyPr>
          <a:lstStyle/>
          <a:p>
            <a:pPr algn="l"/>
            <a:r>
              <a:rPr sz="1050" b="0" i="1">
                <a:solidFill>
                  <a:srgbClr val="757575"/>
                </a:solidFill>
                <a:latin typeface="Palatino Linotype"/>
              </a:rPr>
              <a:t>critical systems</a:t>
            </a:r>
          </a:p>
        </p:txBody>
      </p:sp>
      <p:cxnSp>
        <p:nvCxnSpPr>
          <p:cNvPr id="51" name="Connector 50"/>
          <p:cNvCxnSpPr/>
          <p:nvPr/>
        </p:nvCxnSpPr>
        <p:spPr>
          <a:xfrm>
            <a:off x="5262676.8" y="520293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262676.8" y="549554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262676.8" y="578815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7322515" y="3877056"/>
            <a:ext cx="212384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551115" y="4059936"/>
            <a:ext cx="1666646" cy="365760"/>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Ensure effective response</a:t>
            </a:r>
          </a:p>
        </p:txBody>
      </p:sp>
      <p:sp>
        <p:nvSpPr>
          <p:cNvPr id="56" name="TextBox 55"/>
          <p:cNvSpPr txBox="1"/>
          <p:nvPr/>
        </p:nvSpPr>
        <p:spPr>
          <a:xfrm>
            <a:off x="7551115" y="4562856"/>
            <a:ext cx="1666646" cy="457200"/>
          </a:xfrm>
          <a:prstGeom prst="rect">
            <a:avLst/>
          </a:prstGeom>
          <a:noFill/>
        </p:spPr>
        <p:txBody>
          <a:bodyPr wrap="square" lIns="0" rIns="0" tIns="0" bIns="0">
            <a:spAutoFit/>
          </a:bodyPr>
          <a:lstStyle/>
          <a:p>
            <a:pPr algn="l"/>
            <a:r>
              <a:rPr sz="1050" b="0" i="1">
                <a:solidFill>
                  <a:srgbClr val="757575"/>
                </a:solidFill>
                <a:latin typeface="Palatino Linotype"/>
              </a:rPr>
              <a:t>rapid action</a:t>
            </a:r>
          </a:p>
        </p:txBody>
      </p:sp>
      <p:cxnSp>
        <p:nvCxnSpPr>
          <p:cNvPr id="57" name="Connector 56"/>
          <p:cNvCxnSpPr/>
          <p:nvPr/>
        </p:nvCxnSpPr>
        <p:spPr>
          <a:xfrm>
            <a:off x="7551115.199999999" y="520293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51115.199999999" y="549554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51115.199999999" y="578815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610953" y="3877056"/>
            <a:ext cx="212384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9839553" y="4059936"/>
            <a:ext cx="1666646" cy="365760"/>
          </a:xfrm>
          <a:prstGeom prst="roundRect">
            <a:avLst>
              <a:gd name="adj" fmla="val 50000"/>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Expedite recovery and build back better</a:t>
            </a:r>
          </a:p>
        </p:txBody>
      </p:sp>
      <p:sp>
        <p:nvSpPr>
          <p:cNvPr id="62" name="TextBox 61"/>
          <p:cNvSpPr txBox="1"/>
          <p:nvPr/>
        </p:nvSpPr>
        <p:spPr>
          <a:xfrm>
            <a:off x="9839553" y="4562856"/>
            <a:ext cx="1666646" cy="457200"/>
          </a:xfrm>
          <a:prstGeom prst="rect">
            <a:avLst/>
          </a:prstGeom>
          <a:noFill/>
        </p:spPr>
        <p:txBody>
          <a:bodyPr wrap="square" lIns="0" rIns="0" tIns="0" bIns="0">
            <a:spAutoFit/>
          </a:bodyPr>
          <a:lstStyle/>
          <a:p>
            <a:pPr algn="l"/>
            <a:r>
              <a:rPr sz="1050" b="0" i="1">
                <a:solidFill>
                  <a:srgbClr val="757575"/>
                </a:solidFill>
                <a:latin typeface="Palatino Linotype"/>
              </a:rPr>
              <a:t>long-term</a:t>
            </a:r>
          </a:p>
        </p:txBody>
      </p:sp>
      <p:cxnSp>
        <p:nvCxnSpPr>
          <p:cNvPr id="63" name="Connector 62"/>
          <p:cNvCxnSpPr/>
          <p:nvPr/>
        </p:nvCxnSpPr>
        <p:spPr>
          <a:xfrm>
            <a:off x="9839553.6" y="520293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839553.6" y="549554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839553.6" y="578815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66" name="Picture 65"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7" name="TextBox 66"/>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121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