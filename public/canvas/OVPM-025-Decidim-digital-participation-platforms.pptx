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25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Decidim / digital participation platforms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transparent, traceable digital record of citizen proposals, debates, and voting outcomes that directly shapes public policy and defines concrete budget allocations.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G3 · Proof of Anchoring</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Decidim / digital participation platforms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G3 · Proof of Anchoring</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Giving residents a permanent, digital seat at the decision-making table, proving that democratic power can be shared openly and continuously beyond election days.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transparent, traceable digital record of citizen proposals, debates, and voting outcomes that directly shapes public policy and defines concrete budget allocations.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Continuous platform deployment; 6 to 12 months for a specific policy/budget cycle
Material  ·  Digital participation platforms (Decidim, Consul), municipal budget allocation, technical evaluation grids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City of Barcelona utilizes the open-source platform Decidim to manage its participatory budgeting. The platform allows citizens to propose, debate, and vote on how to distribute public resources for neighborhood improvements. The software ensures transparency and traceable decision-making, translating the concept of "We decide" into concrete financial allocations and political action.</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25  ·  ANIMATION CANVAS  ·  </a:t>
            </a:r>
            <a:r>
              <a:rPr sz="1000" b="1" i="0">
                <a:solidFill>
                  <a:srgbClr val="0D0D0D"/>
                </a:solidFill>
                <a:latin typeface="Source Sans Pro"/>
              </a:rPr>
              <a:t>DECIDIM / DIGITAL PARTICIPATION PLATFORMS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Digital platform setup · features × spaces × workflows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Continuous platform deployment; 6 to 12 months for a sp…</a:t>
            </a:r>
          </a:p>
        </p:txBody>
      </p:sp>
      <p:sp>
        <p:nvSpPr>
          <p:cNvPr id="6" name="Rounded Rectangle 5"/>
          <p:cNvSpPr/>
          <p:nvPr/>
        </p:nvSpPr>
        <p:spPr>
          <a:xfrm>
            <a:off x="45720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94360" y="1581912"/>
            <a:ext cx="14909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Proposals</a:t>
            </a:r>
          </a:p>
        </p:txBody>
      </p:sp>
      <p:sp>
        <p:nvSpPr>
          <p:cNvPr id="8" name="Rectangle 7"/>
          <p:cNvSpPr/>
          <p:nvPr/>
        </p:nvSpPr>
        <p:spPr>
          <a:xfrm>
            <a:off x="64008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10" name="Rounded Rectangle 9"/>
          <p:cNvSpPr/>
          <p:nvPr/>
        </p:nvSpPr>
        <p:spPr>
          <a:xfrm>
            <a:off x="235966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96820" y="1581912"/>
            <a:ext cx="1490980" cy="329184"/>
          </a:xfrm>
          <a:prstGeom prst="roundRect">
            <a:avLst>
              <a:gd name="adj" fmla="val 50000"/>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Debates</a:t>
            </a:r>
          </a:p>
        </p:txBody>
      </p:sp>
      <p:sp>
        <p:nvSpPr>
          <p:cNvPr id="12" name="Rectangle 11"/>
          <p:cNvSpPr/>
          <p:nvPr/>
        </p:nvSpPr>
        <p:spPr>
          <a:xfrm>
            <a:off x="254254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4254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14" name="Rounded Rectangle 13"/>
          <p:cNvSpPr/>
          <p:nvPr/>
        </p:nvSpPr>
        <p:spPr>
          <a:xfrm>
            <a:off x="426212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99280" y="1581912"/>
            <a:ext cx="1490980" cy="32918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Budgeting</a:t>
            </a:r>
          </a:p>
        </p:txBody>
      </p:sp>
      <p:sp>
        <p:nvSpPr>
          <p:cNvPr id="16" name="Rectangle 15"/>
          <p:cNvSpPr/>
          <p:nvPr/>
        </p:nvSpPr>
        <p:spPr>
          <a:xfrm>
            <a:off x="444500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4500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18" name="Rounded Rectangle 17"/>
          <p:cNvSpPr/>
          <p:nvPr/>
        </p:nvSpPr>
        <p:spPr>
          <a:xfrm>
            <a:off x="616458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1740" y="1581912"/>
            <a:ext cx="1490980" cy="32918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Surveys</a:t>
            </a:r>
          </a:p>
        </p:txBody>
      </p:sp>
      <p:sp>
        <p:nvSpPr>
          <p:cNvPr id="20" name="Rectangle 19"/>
          <p:cNvSpPr/>
          <p:nvPr/>
        </p:nvSpPr>
        <p:spPr>
          <a:xfrm>
            <a:off x="634746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746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22" name="Rounded Rectangle 21"/>
          <p:cNvSpPr/>
          <p:nvPr/>
        </p:nvSpPr>
        <p:spPr>
          <a:xfrm>
            <a:off x="806704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204200" y="1581912"/>
            <a:ext cx="1490980" cy="32918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Meetings</a:t>
            </a:r>
          </a:p>
        </p:txBody>
      </p:sp>
      <p:sp>
        <p:nvSpPr>
          <p:cNvPr id="24" name="Rectangle 23"/>
          <p:cNvSpPr/>
          <p:nvPr/>
        </p:nvSpPr>
        <p:spPr>
          <a:xfrm>
            <a:off x="824992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4992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26" name="Rounded Rectangle 25"/>
          <p:cNvSpPr/>
          <p:nvPr/>
        </p:nvSpPr>
        <p:spPr>
          <a:xfrm>
            <a:off x="9969500" y="1417320"/>
            <a:ext cx="1765300" cy="118872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0106660" y="1581912"/>
            <a:ext cx="1490980" cy="329184"/>
          </a:xfrm>
          <a:prstGeom prst="roundRect">
            <a:avLst>
              <a:gd name="adj" fmla="val 50000"/>
            </a:avLst>
          </a:prstGeom>
          <a:solidFill>
            <a:srgbClr val="3360FF"/>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Accountability</a:t>
            </a:r>
          </a:p>
        </p:txBody>
      </p:sp>
      <p:sp>
        <p:nvSpPr>
          <p:cNvPr id="28" name="Rectangle 27"/>
          <p:cNvSpPr/>
          <p:nvPr/>
        </p:nvSpPr>
        <p:spPr>
          <a:xfrm>
            <a:off x="10152380" y="2194560"/>
            <a:ext cx="1399540" cy="164592"/>
          </a:xfrm>
          <a:prstGeom prst="rect">
            <a:avLst/>
          </a:prstGeom>
          <a:solidFill>
            <a:srgbClr val="EEECE6"/>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152380" y="2194560"/>
            <a:ext cx="1399540" cy="164592"/>
          </a:xfrm>
          <a:prstGeom prst="rect">
            <a:avLst/>
          </a:prstGeom>
          <a:noFill/>
        </p:spPr>
        <p:txBody>
          <a:bodyPr wrap="square" lIns="0" rIns="0" tIns="0" bIns="0" anchor="ctr">
            <a:spAutoFit/>
          </a:bodyPr>
          <a:lstStyle/>
          <a:p>
            <a:pPr algn="ctr"/>
            <a:r>
              <a:rPr sz="800" b="0" i="1">
                <a:solidFill>
                  <a:srgbClr val="757575"/>
                </a:solidFill>
                <a:latin typeface="Source Sans Pro"/>
              </a:rPr>
              <a:t>enabled</a:t>
            </a:r>
          </a:p>
        </p:txBody>
      </p:sp>
      <p:sp>
        <p:nvSpPr>
          <p:cNvPr id="30" name="TextBox 29"/>
          <p:cNvSpPr txBox="1"/>
          <p:nvPr/>
        </p:nvSpPr>
        <p:spPr>
          <a:xfrm>
            <a:off x="457200" y="2788920"/>
            <a:ext cx="7315200" cy="274320"/>
          </a:xfrm>
          <a:prstGeom prst="rect">
            <a:avLst/>
          </a:prstGeom>
          <a:noFill/>
        </p:spPr>
        <p:txBody>
          <a:bodyPr wrap="square" lIns="0" rIns="0" tIns="0" bIns="0">
            <a:spAutoFit/>
          </a:bodyPr>
          <a:lstStyle/>
          <a:p>
            <a:pPr algn="l"/>
            <a:r>
              <a:rPr sz="1300" b="0" i="1">
                <a:solidFill>
                  <a:srgbClr val="0D0D0D"/>
                </a:solidFill>
                <a:latin typeface="Palatino Linotype"/>
              </a:rPr>
              <a:t>Participatory spaces</a:t>
            </a:r>
          </a:p>
        </p:txBody>
      </p:sp>
      <p:sp>
        <p:nvSpPr>
          <p:cNvPr id="31" name="Rounded Rectangle 30"/>
          <p:cNvSpPr/>
          <p:nvPr/>
        </p:nvSpPr>
        <p:spPr>
          <a:xfrm>
            <a:off x="457200" y="3154680"/>
            <a:ext cx="2545080" cy="13716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080" y="3291840"/>
            <a:ext cx="2179320" cy="365760"/>
          </a:xfrm>
          <a:prstGeom prst="rect">
            <a:avLst/>
          </a:prstGeom>
          <a:noFill/>
        </p:spPr>
        <p:txBody>
          <a:bodyPr wrap="square" lIns="0" rIns="0" tIns="0" bIns="0">
            <a:spAutoFit/>
          </a:bodyPr>
          <a:lstStyle/>
          <a:p>
            <a:pPr algn="l"/>
            <a:r>
              <a:rPr sz="1050" b="1" i="0">
                <a:solidFill>
                  <a:srgbClr val="0D0D0D"/>
                </a:solidFill>
                <a:latin typeface="Source Sans Pro"/>
              </a:rPr>
              <a:t>Permanent assemblies</a:t>
            </a:r>
          </a:p>
        </p:txBody>
      </p:sp>
      <p:sp>
        <p:nvSpPr>
          <p:cNvPr id="33" name="TextBox 32"/>
          <p:cNvSpPr txBox="1"/>
          <p:nvPr/>
        </p:nvSpPr>
        <p:spPr>
          <a:xfrm>
            <a:off x="640080" y="3657600"/>
            <a:ext cx="2179320" cy="548640"/>
          </a:xfrm>
          <a:prstGeom prst="rect">
            <a:avLst/>
          </a:prstGeom>
          <a:noFill/>
        </p:spPr>
        <p:txBody>
          <a:bodyPr wrap="square" lIns="0" rIns="0" tIns="0" bIns="0">
            <a:spAutoFit/>
          </a:bodyPr>
          <a:lstStyle/>
          <a:p>
            <a:pPr algn="l"/>
            <a:r>
              <a:rPr sz="950" b="0" i="1">
                <a:solidFill>
                  <a:srgbClr val="757575"/>
                </a:solidFill>
                <a:latin typeface="Palatino Linotype"/>
              </a:rPr>
              <a:t>Standing bodies for ongoing dialogue</a:t>
            </a:r>
          </a:p>
        </p:txBody>
      </p:sp>
      <p:sp>
        <p:nvSpPr>
          <p:cNvPr id="34" name="Rounded Rectangle 33"/>
          <p:cNvSpPr/>
          <p:nvPr/>
        </p:nvSpPr>
        <p:spPr>
          <a:xfrm>
            <a:off x="3368040" y="3154680"/>
            <a:ext cx="2545080" cy="13716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50920" y="3291840"/>
            <a:ext cx="2179320" cy="365760"/>
          </a:xfrm>
          <a:prstGeom prst="rect">
            <a:avLst/>
          </a:prstGeom>
          <a:noFill/>
        </p:spPr>
        <p:txBody>
          <a:bodyPr wrap="square" lIns="0" rIns="0" tIns="0" bIns="0">
            <a:spAutoFit/>
          </a:bodyPr>
          <a:lstStyle/>
          <a:p>
            <a:pPr algn="l"/>
            <a:r>
              <a:rPr sz="1050" b="1" i="0">
                <a:solidFill>
                  <a:srgbClr val="0D0D0D"/>
                </a:solidFill>
                <a:latin typeface="Source Sans Pro"/>
              </a:rPr>
              <a:t>Time-bound processes</a:t>
            </a:r>
          </a:p>
        </p:txBody>
      </p:sp>
      <p:sp>
        <p:nvSpPr>
          <p:cNvPr id="36" name="TextBox 35"/>
          <p:cNvSpPr txBox="1"/>
          <p:nvPr/>
        </p:nvSpPr>
        <p:spPr>
          <a:xfrm>
            <a:off x="3550920" y="3657600"/>
            <a:ext cx="2179320" cy="548640"/>
          </a:xfrm>
          <a:prstGeom prst="rect">
            <a:avLst/>
          </a:prstGeom>
          <a:noFill/>
        </p:spPr>
        <p:txBody>
          <a:bodyPr wrap="square" lIns="0" rIns="0" tIns="0" bIns="0">
            <a:spAutoFit/>
          </a:bodyPr>
          <a:lstStyle/>
          <a:p>
            <a:pPr algn="l"/>
            <a:r>
              <a:rPr sz="950" b="0" i="1">
                <a:solidFill>
                  <a:srgbClr val="757575"/>
                </a:solidFill>
                <a:latin typeface="Palatino Linotype"/>
              </a:rPr>
              <a:t>Defined start/end · clear deliverables</a:t>
            </a:r>
          </a:p>
        </p:txBody>
      </p:sp>
      <p:sp>
        <p:nvSpPr>
          <p:cNvPr id="37" name="Rounded Rectangle 36"/>
          <p:cNvSpPr/>
          <p:nvPr/>
        </p:nvSpPr>
        <p:spPr>
          <a:xfrm>
            <a:off x="6278880" y="3154680"/>
            <a:ext cx="2545080" cy="13716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61760" y="3291840"/>
            <a:ext cx="2179320" cy="365760"/>
          </a:xfrm>
          <a:prstGeom prst="rect">
            <a:avLst/>
          </a:prstGeom>
          <a:noFill/>
        </p:spPr>
        <p:txBody>
          <a:bodyPr wrap="square" lIns="0" rIns="0" tIns="0" bIns="0">
            <a:spAutoFit/>
          </a:bodyPr>
          <a:lstStyle/>
          <a:p>
            <a:pPr algn="l"/>
            <a:r>
              <a:rPr sz="1050" b="1" i="0">
                <a:solidFill>
                  <a:srgbClr val="0D0D0D"/>
                </a:solidFill>
                <a:latin typeface="Source Sans Pro"/>
              </a:rPr>
              <a:t>Initiatives</a:t>
            </a:r>
          </a:p>
        </p:txBody>
      </p:sp>
      <p:sp>
        <p:nvSpPr>
          <p:cNvPr id="39" name="TextBox 38"/>
          <p:cNvSpPr txBox="1"/>
          <p:nvPr/>
        </p:nvSpPr>
        <p:spPr>
          <a:xfrm>
            <a:off x="6461760" y="3657600"/>
            <a:ext cx="2179320" cy="548640"/>
          </a:xfrm>
          <a:prstGeom prst="rect">
            <a:avLst/>
          </a:prstGeom>
          <a:noFill/>
        </p:spPr>
        <p:txBody>
          <a:bodyPr wrap="square" lIns="0" rIns="0" tIns="0" bIns="0">
            <a:spAutoFit/>
          </a:bodyPr>
          <a:lstStyle/>
          <a:p>
            <a:pPr algn="l"/>
            <a:r>
              <a:rPr sz="950" b="0" i="1">
                <a:solidFill>
                  <a:srgbClr val="757575"/>
                </a:solidFill>
                <a:latin typeface="Palatino Linotype"/>
              </a:rPr>
              <a:t>Citizen-launched petitions &amp; referendums</a:t>
            </a:r>
          </a:p>
        </p:txBody>
      </p:sp>
      <p:sp>
        <p:nvSpPr>
          <p:cNvPr id="40" name="Rounded Rectangle 39"/>
          <p:cNvSpPr/>
          <p:nvPr/>
        </p:nvSpPr>
        <p:spPr>
          <a:xfrm>
            <a:off x="9189720" y="3154680"/>
            <a:ext cx="2545080" cy="13716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3291840"/>
            <a:ext cx="2179320" cy="365760"/>
          </a:xfrm>
          <a:prstGeom prst="rect">
            <a:avLst/>
          </a:prstGeom>
          <a:noFill/>
        </p:spPr>
        <p:txBody>
          <a:bodyPr wrap="square" lIns="0" rIns="0" tIns="0" bIns="0">
            <a:spAutoFit/>
          </a:bodyPr>
          <a:lstStyle/>
          <a:p>
            <a:pPr algn="l"/>
            <a:r>
              <a:rPr sz="1050" b="1" i="0">
                <a:solidFill>
                  <a:srgbClr val="0D0D0D"/>
                </a:solidFill>
                <a:latin typeface="Source Sans Pro"/>
              </a:rPr>
              <a:t>Consultations</a:t>
            </a:r>
          </a:p>
        </p:txBody>
      </p:sp>
      <p:sp>
        <p:nvSpPr>
          <p:cNvPr id="42" name="TextBox 41"/>
          <p:cNvSpPr txBox="1"/>
          <p:nvPr/>
        </p:nvSpPr>
        <p:spPr>
          <a:xfrm>
            <a:off x="9372600" y="3657600"/>
            <a:ext cx="2179320" cy="548640"/>
          </a:xfrm>
          <a:prstGeom prst="rect">
            <a:avLst/>
          </a:prstGeom>
          <a:noFill/>
        </p:spPr>
        <p:txBody>
          <a:bodyPr wrap="square" lIns="0" rIns="0" tIns="0" bIns="0">
            <a:spAutoFit/>
          </a:bodyPr>
          <a:lstStyle/>
          <a:p>
            <a:pPr algn="l"/>
            <a:r>
              <a:rPr sz="950" b="0" i="1">
                <a:solidFill>
                  <a:srgbClr val="757575"/>
                </a:solidFill>
                <a:latin typeface="Palatino Linotype"/>
              </a:rPr>
              <a:t>Single-question public asks</a:t>
            </a:r>
          </a:p>
        </p:txBody>
      </p:sp>
      <p:sp>
        <p:nvSpPr>
          <p:cNvPr id="43" name="TextBox 42"/>
          <p:cNvSpPr txBox="1"/>
          <p:nvPr/>
        </p:nvSpPr>
        <p:spPr>
          <a:xfrm>
            <a:off x="457200" y="4800600"/>
            <a:ext cx="7315200" cy="274320"/>
          </a:xfrm>
          <a:prstGeom prst="rect">
            <a:avLst/>
          </a:prstGeom>
          <a:noFill/>
        </p:spPr>
        <p:txBody>
          <a:bodyPr wrap="square" lIns="0" rIns="0" tIns="0" bIns="0">
            <a:spAutoFit/>
          </a:bodyPr>
          <a:lstStyle/>
          <a:p>
            <a:pPr algn="l"/>
            <a:r>
              <a:rPr sz="1300" b="0" i="1">
                <a:solidFill>
                  <a:srgbClr val="0D0D0D"/>
                </a:solidFill>
                <a:latin typeface="Palatino Linotype"/>
              </a:rPr>
              <a:t>Workflow lifecycle</a:t>
            </a:r>
          </a:p>
        </p:txBody>
      </p:sp>
      <p:cxnSp>
        <p:nvCxnSpPr>
          <p:cNvPr id="44" name="Connector 43"/>
          <p:cNvCxnSpPr/>
          <p:nvPr/>
        </p:nvCxnSpPr>
        <p:spPr>
          <a:xfrm>
            <a:off x="822960" y="5440680"/>
            <a:ext cx="10546080" cy="0"/>
          </a:xfrm>
          <a:prstGeom prst="line">
            <a:avLst/>
          </a:prstGeom>
          <a:ln w="12700">
            <a:solidFill>
              <a:srgbClr val="0D0D0D"/>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1420368" y="527608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127760" y="5669280"/>
            <a:ext cx="914400" cy="274320"/>
          </a:xfrm>
          <a:prstGeom prst="rect">
            <a:avLst/>
          </a:prstGeom>
          <a:noFill/>
        </p:spPr>
        <p:txBody>
          <a:bodyPr wrap="square" lIns="0" rIns="0" tIns="0" bIns="0">
            <a:spAutoFit/>
          </a:bodyPr>
          <a:lstStyle/>
          <a:p>
            <a:pPr algn="ctr"/>
            <a:r>
              <a:rPr sz="1000" b="1" i="0">
                <a:solidFill>
                  <a:srgbClr val="0D0D0D"/>
                </a:solidFill>
                <a:latin typeface="Source Sans Pro"/>
              </a:rPr>
              <a:t>Listen</a:t>
            </a:r>
          </a:p>
        </p:txBody>
      </p:sp>
      <p:sp>
        <p:nvSpPr>
          <p:cNvPr id="47" name="Oval 46"/>
          <p:cNvSpPr/>
          <p:nvPr/>
        </p:nvSpPr>
        <p:spPr>
          <a:xfrm>
            <a:off x="3675888" y="527608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383280" y="5669280"/>
            <a:ext cx="914400" cy="274320"/>
          </a:xfrm>
          <a:prstGeom prst="rect">
            <a:avLst/>
          </a:prstGeom>
          <a:noFill/>
        </p:spPr>
        <p:txBody>
          <a:bodyPr wrap="square" lIns="0" rIns="0" tIns="0" bIns="0">
            <a:spAutoFit/>
          </a:bodyPr>
          <a:lstStyle/>
          <a:p>
            <a:pPr algn="ctr"/>
            <a:r>
              <a:rPr sz="1000" b="1" i="0">
                <a:solidFill>
                  <a:srgbClr val="0D0D0D"/>
                </a:solidFill>
                <a:latin typeface="Source Sans Pro"/>
              </a:rPr>
              <a:t>Co-create</a:t>
            </a:r>
          </a:p>
        </p:txBody>
      </p:sp>
      <p:sp>
        <p:nvSpPr>
          <p:cNvPr id="49" name="Oval 48"/>
          <p:cNvSpPr/>
          <p:nvPr/>
        </p:nvSpPr>
        <p:spPr>
          <a:xfrm>
            <a:off x="5931408" y="527608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638800" y="5669280"/>
            <a:ext cx="914400" cy="274320"/>
          </a:xfrm>
          <a:prstGeom prst="rect">
            <a:avLst/>
          </a:prstGeom>
          <a:noFill/>
        </p:spPr>
        <p:txBody>
          <a:bodyPr wrap="square" lIns="0" rIns="0" tIns="0" bIns="0">
            <a:spAutoFit/>
          </a:bodyPr>
          <a:lstStyle/>
          <a:p>
            <a:pPr algn="ctr"/>
            <a:r>
              <a:rPr sz="1000" b="1" i="0">
                <a:solidFill>
                  <a:srgbClr val="0D0D0D"/>
                </a:solidFill>
                <a:latin typeface="Source Sans Pro"/>
              </a:rPr>
              <a:t>Decide</a:t>
            </a:r>
          </a:p>
        </p:txBody>
      </p:sp>
      <p:sp>
        <p:nvSpPr>
          <p:cNvPr id="51" name="Oval 50"/>
          <p:cNvSpPr/>
          <p:nvPr/>
        </p:nvSpPr>
        <p:spPr>
          <a:xfrm>
            <a:off x="8186928" y="527608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894320" y="5669280"/>
            <a:ext cx="914400" cy="274320"/>
          </a:xfrm>
          <a:prstGeom prst="rect">
            <a:avLst/>
          </a:prstGeom>
          <a:noFill/>
        </p:spPr>
        <p:txBody>
          <a:bodyPr wrap="square" lIns="0" rIns="0" tIns="0" bIns="0">
            <a:spAutoFit/>
          </a:bodyPr>
          <a:lstStyle/>
          <a:p>
            <a:pPr algn="ctr"/>
            <a:r>
              <a:rPr sz="1000" b="1" i="0">
                <a:solidFill>
                  <a:srgbClr val="0D0D0D"/>
                </a:solidFill>
                <a:latin typeface="Source Sans Pro"/>
              </a:rPr>
              <a:t>Implement</a:t>
            </a:r>
          </a:p>
        </p:txBody>
      </p:sp>
      <p:sp>
        <p:nvSpPr>
          <p:cNvPr id="53" name="Oval 52"/>
          <p:cNvSpPr/>
          <p:nvPr/>
        </p:nvSpPr>
        <p:spPr>
          <a:xfrm>
            <a:off x="10442448" y="5276088"/>
            <a:ext cx="329184" cy="329184"/>
          </a:xfrm>
          <a:prstGeom prst="ellipse">
            <a:avLst/>
          </a:prstGeom>
          <a:solidFill>
            <a:srgbClr val="FFD200"/>
          </a:solidFill>
          <a:ln w="762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49840" y="5669280"/>
            <a:ext cx="914400" cy="274320"/>
          </a:xfrm>
          <a:prstGeom prst="rect">
            <a:avLst/>
          </a:prstGeom>
          <a:noFill/>
        </p:spPr>
        <p:txBody>
          <a:bodyPr wrap="square" lIns="0" rIns="0" tIns="0" bIns="0">
            <a:spAutoFit/>
          </a:bodyPr>
          <a:lstStyle/>
          <a:p>
            <a:pPr algn="ctr"/>
            <a:r>
              <a:rPr sz="1000" b="1" i="0">
                <a:solidFill>
                  <a:srgbClr val="0D0D0D"/>
                </a:solidFill>
                <a:latin typeface="Source Sans Pro"/>
              </a:rPr>
              <a:t>Evaluate</a:t>
            </a:r>
          </a:p>
        </p:txBody>
      </p:sp>
      <p:pic>
        <p:nvPicPr>
          <p:cNvPr id="55" name="Picture 54"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6" name="TextBox 55"/>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25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