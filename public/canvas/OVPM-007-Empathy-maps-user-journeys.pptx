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07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Empathy maps &amp; user journeys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chronological matrix visualizing every touchpoint between the user and the service/space, highlighting specific moments of abandonment, confusion, or success.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07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Empathy maps &amp; user journeys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Stepping fully into the shoes of the excluded to physically feel the friction of reality, dismantling the arrogance of top-down administrative procedures.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chronological matrix visualizing every touchpoint between the user and the service/space, highlighting specific moments of abandonment, confusion, or success.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1 day of collaborative workshop (following field data collection)
Material  ·  Large paper rolls, sticky notes, pre-compiled ethnographic data, thick markers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URBACT "Re-Gen" network utilizes empathy mapping and user journey analysis to understand the exact barriers preventing young people from engaging with public spaces. Breaking down interactions step-by-step allows cities to test small-scale actions before committing to massive changes.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07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EMPATHY MAPS &amp; USER JOURNEYS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Empathy quadrants × 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1 day of collaborative workshop (following field data c…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420624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554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Hears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046220.0"/>
            <a:ext cx="3657600" cy="0.0"/>
          </a:xfrm>
          <a:prstGeom prst="line">
            <a:avLst/>
          </a:prstGeom>
          <a:ln w="7620">
            <a:solidFill>
              <a:srgbClr val="0D0D0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60320.0" y="2148840"/>
            <a:ext cx="0.0" cy="3794760"/>
          </a:xfrm>
          <a:prstGeom prst="line">
            <a:avLst/>
          </a:prstGeom>
          <a:ln w="7620">
            <a:solidFill>
              <a:srgbClr val="0D0D0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057400" y="3753612"/>
            <a:ext cx="1005840" cy="594360"/>
          </a:xfrm>
          <a:prstGeom prst="ellipse">
            <a:avLst/>
          </a:prstGeom>
          <a:solidFill>
            <a:srgbClr val="FFD200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3753612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D0D0D"/>
                </a:solidFill>
                <a:latin typeface="Palatino Linotype"/>
              </a:rPr>
              <a:t>Persona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402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2402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F9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Thinks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321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Feels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55321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Does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371600"/>
            <a:ext cx="684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D0D0D"/>
                </a:solidFill>
                <a:latin typeface="Palatino Linotype"/>
              </a:rPr>
              <a:t>User journey · chronological touchpoints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1828800"/>
            <a:ext cx="1280160" cy="588784"/>
          </a:xfrm>
          <a:prstGeom prst="rect">
            <a:avLst/>
          </a:prstGeom>
          <a:solidFill>
            <a:srgbClr val="0D0D0D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1828800"/>
            <a:ext cx="1280160" cy="588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D200"/>
                </a:solidFill>
                <a:latin typeface="Source Sans Pro"/>
              </a:rPr>
              <a:t>Phase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828800"/>
            <a:ext cx="1112520" cy="588784"/>
          </a:xfrm>
          <a:prstGeom prst="rect">
            <a:avLst/>
          </a:prstGeom>
          <a:solidFill>
            <a:srgbClr val="FFD200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828800"/>
            <a:ext cx="1112520" cy="588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P1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84720" y="1828800"/>
            <a:ext cx="1112520" cy="588784"/>
          </a:xfrm>
          <a:prstGeom prst="rect">
            <a:avLst/>
          </a:prstGeom>
          <a:solidFill>
            <a:srgbClr val="FFD200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84720" y="1828800"/>
            <a:ext cx="1112520" cy="588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P2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97240" y="1828800"/>
            <a:ext cx="1112520" cy="588784"/>
          </a:xfrm>
          <a:prstGeom prst="rect">
            <a:avLst/>
          </a:prstGeom>
          <a:solidFill>
            <a:srgbClr val="FFD200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7240" y="1828800"/>
            <a:ext cx="1112520" cy="588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P3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1828800"/>
            <a:ext cx="1112520" cy="588784"/>
          </a:xfrm>
          <a:prstGeom prst="rect">
            <a:avLst/>
          </a:prstGeom>
          <a:solidFill>
            <a:srgbClr val="FFD200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1828800"/>
            <a:ext cx="1112520" cy="588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P4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22280" y="1828800"/>
            <a:ext cx="1112520" cy="588784"/>
          </a:xfrm>
          <a:prstGeom prst="rect">
            <a:avLst/>
          </a:prstGeom>
          <a:solidFill>
            <a:srgbClr val="FFD200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22280" y="1828800"/>
            <a:ext cx="1112520" cy="588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P5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92040" y="2417584"/>
            <a:ext cx="1280160" cy="1016991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83480" y="2527312"/>
            <a:ext cx="54864" cy="797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3208" y="2417584"/>
            <a:ext cx="1005840" cy="10169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User actions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417584"/>
            <a:ext cx="1112520" cy="1016991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84720" y="2417584"/>
            <a:ext cx="1112520" cy="1016991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97240" y="2417584"/>
            <a:ext cx="1112520" cy="1016991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2417584"/>
            <a:ext cx="1112520" cy="1016991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622280" y="2417584"/>
            <a:ext cx="1112520" cy="1016991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892040" y="3434575"/>
            <a:ext cx="1280160" cy="749361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983480" y="3544303"/>
            <a:ext cx="54864" cy="529905"/>
          </a:xfrm>
          <a:prstGeom prst="rect">
            <a:avLst/>
          </a:prstGeom>
          <a:solidFill>
            <a:srgbClr val="EF9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93208" y="3434575"/>
            <a:ext cx="1005840" cy="749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Emotion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3434575"/>
            <a:ext cx="1112520" cy="749361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84720" y="3434575"/>
            <a:ext cx="1112520" cy="749361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97240" y="3434575"/>
            <a:ext cx="1112520" cy="749361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509760" y="3434575"/>
            <a:ext cx="1112520" cy="749361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22280" y="3434575"/>
            <a:ext cx="1112520" cy="749361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92040" y="4183936"/>
            <a:ext cx="1280160" cy="749361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83480" y="4293664"/>
            <a:ext cx="54864" cy="529905"/>
          </a:xfrm>
          <a:prstGeom prst="rect">
            <a:avLst/>
          </a:prstGeom>
          <a:solidFill>
            <a:srgbClr val="B0D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93208" y="4183936"/>
            <a:ext cx="1005840" cy="749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Touchpoints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4183936"/>
            <a:ext cx="1112520" cy="749361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284720" y="4183936"/>
            <a:ext cx="1112520" cy="749361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97240" y="4183936"/>
            <a:ext cx="1112520" cy="749361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09760" y="4183936"/>
            <a:ext cx="1112520" cy="749361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622280" y="4183936"/>
            <a:ext cx="1112520" cy="749361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92040" y="4933297"/>
            <a:ext cx="1280160" cy="642310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83480" y="5043025"/>
            <a:ext cx="54864" cy="422854"/>
          </a:xfrm>
          <a:prstGeom prst="rect">
            <a:avLst/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93208" y="4933297"/>
            <a:ext cx="1005840" cy="642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Pain points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2200" y="4933297"/>
            <a:ext cx="1112520" cy="642310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284720" y="4933297"/>
            <a:ext cx="1112520" cy="642310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397240" y="4933297"/>
            <a:ext cx="1112520" cy="642310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9760" y="4933297"/>
            <a:ext cx="1112520" cy="642310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622280" y="4933297"/>
            <a:ext cx="1112520" cy="642310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92040" y="5575607"/>
            <a:ext cx="1280160" cy="642310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983480" y="5685335"/>
            <a:ext cx="54864" cy="422854"/>
          </a:xfrm>
          <a:prstGeom prst="rect">
            <a:avLst/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93208" y="5575607"/>
            <a:ext cx="1005840" cy="642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Opportunities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72200" y="5575607"/>
            <a:ext cx="1112520" cy="642310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284720" y="5575607"/>
            <a:ext cx="1112520" cy="642310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97240" y="5575607"/>
            <a:ext cx="1112520" cy="642310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509760" y="5575607"/>
            <a:ext cx="1112520" cy="642310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622280" y="5575607"/>
            <a:ext cx="1112520" cy="642310"/>
          </a:xfrm>
          <a:prstGeom prst="rect">
            <a:avLst/>
          </a:prstGeom>
          <a:solidFill>
            <a:srgbClr val="FFFFFF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Surface the moments where emotion drops · that is where to design first.</a:t>
            </a:r>
          </a:p>
        </p:txBody>
      </p:sp>
      <p:pic>
        <p:nvPicPr>
          <p:cNvPr id="71" name="Picture 7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07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