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60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Traffic &amp; pedestrian microsimulation</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Dynamic, animated digital models predicting exact congestion levels, travel delays, and collision risks resulting from a proposed change to the road layout or pedestrian network.</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60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Traffic &amp; pedestrian microsimulation</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Preventing the street from becoming a dangerous laboratory; using mathematics to ensure that every new bike lane or pedestrian crossing protects human life before the first line of paint is drawn.</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Dynamic, animated digital models predicting exact congestion levels, travel delays, and collision risks resulting from a proposed change to the road layout or pedestrian network.</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8 weeks for network coding, calibration, and scenario testing
Material  ·  Microsimulation software (SUMO, VISSIM, CUBE), geometric road plans, real-time traffic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Transportation planners use SUMO (Simulation of Urban Mobility) and VISSIM to model complex intermodal traffic systems. Because these tools can simulate autonomous software agents (individual drivers, buses, and pedestrians interacting), planners can evaluate the precise impact of new transport policies, transit routes, or smart city technologies on overall network performance prior to physical deployment.</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60  ·  ANIMATION CANVAS  ·  </a:t>
            </a:r>
            <a:r>
              <a:rPr sz="1000" b="1" i="0">
                <a:solidFill>
                  <a:srgbClr val="0D0D0D"/>
                </a:solidFill>
                <a:latin typeface="Source Sans Pro"/>
              </a:rPr>
              <a:t>TRAFFIC &amp; PEDESTRIAN MICROSIMULATION</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Microsimulation parameters · agents · scenarios · KPIs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8 weeks for network coding, calibration, and scena…</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Agents</a:t>
            </a:r>
          </a:p>
        </p:txBody>
      </p:sp>
      <p:sp>
        <p:nvSpPr>
          <p:cNvPr id="8" name="TextBox 7"/>
          <p:cNvSpPr txBox="1"/>
          <p:nvPr/>
        </p:nvSpPr>
        <p:spPr>
          <a:xfrm>
            <a:off x="685800" y="2103120"/>
            <a:ext cx="2238756" cy="640080"/>
          </a:xfrm>
          <a:prstGeom prst="rect">
            <a:avLst/>
          </a:prstGeom>
          <a:noFill/>
        </p:spPr>
        <p:txBody>
          <a:bodyPr wrap="square" lIns="0" rIns="0" tIns="0" bIns="0">
            <a:spAutoFit/>
          </a:bodyPr>
          <a:lstStyle/>
          <a:p>
            <a:pPr algn="l"/>
            <a:r>
              <a:rPr sz="1100" b="0" i="1">
                <a:solidFill>
                  <a:srgbClr val="757575"/>
                </a:solidFill>
                <a:latin typeface="Palatino Linotype"/>
              </a:rPr>
              <a:t>Pedestrians · cyclists · cars · transit · freight</a:t>
            </a:r>
          </a:p>
        </p:txBody>
      </p:sp>
      <p:sp>
        <p:nvSpPr>
          <p:cNvPr id="9" name="Oval 8"/>
          <p:cNvSpPr/>
          <p:nvPr/>
        </p:nvSpPr>
        <p:spPr>
          <a:xfrm>
            <a:off x="685800" y="2916936"/>
            <a:ext cx="201168" cy="201168"/>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169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1</a:t>
            </a:r>
          </a:p>
        </p:txBody>
      </p:sp>
      <p:cxnSp>
        <p:nvCxnSpPr>
          <p:cNvPr id="11" name="Connector 10"/>
          <p:cNvCxnSpPr/>
          <p:nvPr/>
        </p:nvCxnSpPr>
        <p:spPr>
          <a:xfrm>
            <a:off x="960120.0" y="30449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685800" y="3328416"/>
            <a:ext cx="201168" cy="201168"/>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3284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2</a:t>
            </a:r>
          </a:p>
        </p:txBody>
      </p:sp>
      <p:cxnSp>
        <p:nvCxnSpPr>
          <p:cNvPr id="14" name="Connector 13"/>
          <p:cNvCxnSpPr/>
          <p:nvPr/>
        </p:nvCxnSpPr>
        <p:spPr>
          <a:xfrm>
            <a:off x="960120.0" y="34564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85800" y="3739896"/>
            <a:ext cx="201168" cy="201168"/>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3</a:t>
            </a:r>
          </a:p>
        </p:txBody>
      </p:sp>
      <p:cxnSp>
        <p:nvCxnSpPr>
          <p:cNvPr id="17" name="Connector 16"/>
          <p:cNvCxnSpPr/>
          <p:nvPr/>
        </p:nvCxnSpPr>
        <p:spPr>
          <a:xfrm>
            <a:off x="960120.0" y="386791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85800" y="4151376"/>
            <a:ext cx="201168" cy="201168"/>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15137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4</a:t>
            </a:r>
          </a:p>
        </p:txBody>
      </p:sp>
      <p:cxnSp>
        <p:nvCxnSpPr>
          <p:cNvPr id="20" name="Connector 19"/>
          <p:cNvCxnSpPr/>
          <p:nvPr/>
        </p:nvCxnSpPr>
        <p:spPr>
          <a:xfrm>
            <a:off x="960120.0" y="427939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85800" y="4562856"/>
            <a:ext cx="201168" cy="201168"/>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56285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5</a:t>
            </a:r>
          </a:p>
        </p:txBody>
      </p:sp>
      <p:cxnSp>
        <p:nvCxnSpPr>
          <p:cNvPr id="23" name="Connector 22"/>
          <p:cNvCxnSpPr/>
          <p:nvPr/>
        </p:nvCxnSpPr>
        <p:spPr>
          <a:xfrm>
            <a:off x="960120.0" y="469087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85800" y="4974336"/>
            <a:ext cx="201168" cy="201168"/>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9743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6</a:t>
            </a:r>
          </a:p>
        </p:txBody>
      </p:sp>
      <p:cxnSp>
        <p:nvCxnSpPr>
          <p:cNvPr id="26" name="Connector 25"/>
          <p:cNvCxnSpPr/>
          <p:nvPr/>
        </p:nvCxnSpPr>
        <p:spPr>
          <a:xfrm>
            <a:off x="960120.0" y="51023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85800" y="5385816"/>
            <a:ext cx="201168" cy="201168"/>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3858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7</a:t>
            </a:r>
          </a:p>
        </p:txBody>
      </p:sp>
      <p:cxnSp>
        <p:nvCxnSpPr>
          <p:cNvPr id="29" name="Connector 28"/>
          <p:cNvCxnSpPr/>
          <p:nvPr/>
        </p:nvCxnSpPr>
        <p:spPr>
          <a:xfrm>
            <a:off x="960120.0" y="55138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Network</a:t>
            </a:r>
          </a:p>
        </p:txBody>
      </p:sp>
      <p:sp>
        <p:nvSpPr>
          <p:cNvPr id="32" name="TextBox 31"/>
          <p:cNvSpPr txBox="1"/>
          <p:nvPr/>
        </p:nvSpPr>
        <p:spPr>
          <a:xfrm>
            <a:off x="3546348" y="2103120"/>
            <a:ext cx="2238756" cy="640080"/>
          </a:xfrm>
          <a:prstGeom prst="rect">
            <a:avLst/>
          </a:prstGeom>
          <a:noFill/>
        </p:spPr>
        <p:txBody>
          <a:bodyPr wrap="square" lIns="0" rIns="0" tIns="0" bIns="0">
            <a:spAutoFit/>
          </a:bodyPr>
          <a:lstStyle/>
          <a:p>
            <a:pPr algn="l"/>
            <a:r>
              <a:rPr sz="1100" b="0" i="1">
                <a:solidFill>
                  <a:srgbClr val="757575"/>
                </a:solidFill>
                <a:latin typeface="Palatino Linotype"/>
              </a:rPr>
              <a:t>Geometry · signals · priorities · speeds</a:t>
            </a:r>
          </a:p>
        </p:txBody>
      </p:sp>
      <p:sp>
        <p:nvSpPr>
          <p:cNvPr id="33" name="Oval 32"/>
          <p:cNvSpPr/>
          <p:nvPr/>
        </p:nvSpPr>
        <p:spPr>
          <a:xfrm>
            <a:off x="3546348" y="2916936"/>
            <a:ext cx="201168" cy="201168"/>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46348" y="29169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1</a:t>
            </a:r>
          </a:p>
        </p:txBody>
      </p:sp>
      <p:cxnSp>
        <p:nvCxnSpPr>
          <p:cNvPr id="35" name="Connector 34"/>
          <p:cNvCxnSpPr/>
          <p:nvPr/>
        </p:nvCxnSpPr>
        <p:spPr>
          <a:xfrm>
            <a:off x="3820668.0" y="30449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3546348" y="3328416"/>
            <a:ext cx="201168" cy="201168"/>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46348" y="33284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2</a:t>
            </a:r>
          </a:p>
        </p:txBody>
      </p:sp>
      <p:cxnSp>
        <p:nvCxnSpPr>
          <p:cNvPr id="38" name="Connector 37"/>
          <p:cNvCxnSpPr/>
          <p:nvPr/>
        </p:nvCxnSpPr>
        <p:spPr>
          <a:xfrm>
            <a:off x="3820668.0" y="34564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3546348" y="3739896"/>
            <a:ext cx="201168" cy="201168"/>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46348" y="373989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3</a:t>
            </a:r>
          </a:p>
        </p:txBody>
      </p:sp>
      <p:cxnSp>
        <p:nvCxnSpPr>
          <p:cNvPr id="41" name="Connector 40"/>
          <p:cNvCxnSpPr/>
          <p:nvPr/>
        </p:nvCxnSpPr>
        <p:spPr>
          <a:xfrm>
            <a:off x="3820668.0" y="386791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3546348" y="4151376"/>
            <a:ext cx="201168" cy="201168"/>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46348" y="415137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4</a:t>
            </a:r>
          </a:p>
        </p:txBody>
      </p:sp>
      <p:cxnSp>
        <p:nvCxnSpPr>
          <p:cNvPr id="44" name="Connector 43"/>
          <p:cNvCxnSpPr/>
          <p:nvPr/>
        </p:nvCxnSpPr>
        <p:spPr>
          <a:xfrm>
            <a:off x="3820668.0" y="427939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3546348" y="4562856"/>
            <a:ext cx="201168" cy="201168"/>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46348" y="456285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5</a:t>
            </a:r>
          </a:p>
        </p:txBody>
      </p:sp>
      <p:cxnSp>
        <p:nvCxnSpPr>
          <p:cNvPr id="47" name="Connector 46"/>
          <p:cNvCxnSpPr/>
          <p:nvPr/>
        </p:nvCxnSpPr>
        <p:spPr>
          <a:xfrm>
            <a:off x="3820668.0" y="469087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3546348" y="4974336"/>
            <a:ext cx="201168" cy="201168"/>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46348" y="49743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6</a:t>
            </a:r>
          </a:p>
        </p:txBody>
      </p:sp>
      <p:cxnSp>
        <p:nvCxnSpPr>
          <p:cNvPr id="50" name="Connector 49"/>
          <p:cNvCxnSpPr/>
          <p:nvPr/>
        </p:nvCxnSpPr>
        <p:spPr>
          <a:xfrm>
            <a:off x="3820668.0" y="51023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3546348" y="5385816"/>
            <a:ext cx="201168" cy="201168"/>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46348" y="53858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7</a:t>
            </a:r>
          </a:p>
        </p:txBody>
      </p:sp>
      <p:cxnSp>
        <p:nvCxnSpPr>
          <p:cNvPr id="53" name="Connector 52"/>
          <p:cNvCxnSpPr/>
          <p:nvPr/>
        </p:nvCxnSpPr>
        <p:spPr>
          <a:xfrm>
            <a:off x="3820668.0" y="55138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Scenarios</a:t>
            </a:r>
          </a:p>
        </p:txBody>
      </p:sp>
      <p:sp>
        <p:nvSpPr>
          <p:cNvPr id="56" name="TextBox 55"/>
          <p:cNvSpPr txBox="1"/>
          <p:nvPr/>
        </p:nvSpPr>
        <p:spPr>
          <a:xfrm>
            <a:off x="6406896" y="2103120"/>
            <a:ext cx="2238756" cy="640080"/>
          </a:xfrm>
          <a:prstGeom prst="rect">
            <a:avLst/>
          </a:prstGeom>
          <a:noFill/>
        </p:spPr>
        <p:txBody>
          <a:bodyPr wrap="square" lIns="0" rIns="0" tIns="0" bIns="0">
            <a:spAutoFit/>
          </a:bodyPr>
          <a:lstStyle/>
          <a:p>
            <a:pPr algn="l"/>
            <a:r>
              <a:rPr sz="1100" b="0" i="1">
                <a:solidFill>
                  <a:srgbClr val="757575"/>
                </a:solidFill>
                <a:latin typeface="Palatino Linotype"/>
              </a:rPr>
              <a:t>Today · planned design · stress tests</a:t>
            </a:r>
          </a:p>
        </p:txBody>
      </p:sp>
      <p:sp>
        <p:nvSpPr>
          <p:cNvPr id="57" name="Oval 56"/>
          <p:cNvSpPr/>
          <p:nvPr/>
        </p:nvSpPr>
        <p:spPr>
          <a:xfrm>
            <a:off x="6406896" y="2916936"/>
            <a:ext cx="201168" cy="201168"/>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6896" y="29169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1</a:t>
            </a:r>
          </a:p>
        </p:txBody>
      </p:sp>
      <p:cxnSp>
        <p:nvCxnSpPr>
          <p:cNvPr id="59" name="Connector 58"/>
          <p:cNvCxnSpPr/>
          <p:nvPr/>
        </p:nvCxnSpPr>
        <p:spPr>
          <a:xfrm>
            <a:off x="6681216.0" y="30449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6406896" y="3328416"/>
            <a:ext cx="201168" cy="201168"/>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06896" y="33284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2</a:t>
            </a:r>
          </a:p>
        </p:txBody>
      </p:sp>
      <p:cxnSp>
        <p:nvCxnSpPr>
          <p:cNvPr id="62" name="Connector 61"/>
          <p:cNvCxnSpPr/>
          <p:nvPr/>
        </p:nvCxnSpPr>
        <p:spPr>
          <a:xfrm>
            <a:off x="6681216.0" y="34564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6406896" y="3739896"/>
            <a:ext cx="201168" cy="201168"/>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6896" y="373989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3</a:t>
            </a:r>
          </a:p>
        </p:txBody>
      </p:sp>
      <p:cxnSp>
        <p:nvCxnSpPr>
          <p:cNvPr id="65" name="Connector 64"/>
          <p:cNvCxnSpPr/>
          <p:nvPr/>
        </p:nvCxnSpPr>
        <p:spPr>
          <a:xfrm>
            <a:off x="6681216.0" y="386791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6406896" y="4151376"/>
            <a:ext cx="201168" cy="201168"/>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6896" y="415137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4</a:t>
            </a:r>
          </a:p>
        </p:txBody>
      </p:sp>
      <p:cxnSp>
        <p:nvCxnSpPr>
          <p:cNvPr id="68" name="Connector 67"/>
          <p:cNvCxnSpPr/>
          <p:nvPr/>
        </p:nvCxnSpPr>
        <p:spPr>
          <a:xfrm>
            <a:off x="6681216.0" y="427939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6406896" y="4562856"/>
            <a:ext cx="201168" cy="201168"/>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6896" y="456285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5</a:t>
            </a:r>
          </a:p>
        </p:txBody>
      </p:sp>
      <p:cxnSp>
        <p:nvCxnSpPr>
          <p:cNvPr id="71" name="Connector 70"/>
          <p:cNvCxnSpPr/>
          <p:nvPr/>
        </p:nvCxnSpPr>
        <p:spPr>
          <a:xfrm>
            <a:off x="6681216.0" y="469087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6406896" y="4974336"/>
            <a:ext cx="201168" cy="201168"/>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06896" y="49743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6</a:t>
            </a:r>
          </a:p>
        </p:txBody>
      </p:sp>
      <p:cxnSp>
        <p:nvCxnSpPr>
          <p:cNvPr id="74" name="Connector 73"/>
          <p:cNvCxnSpPr/>
          <p:nvPr/>
        </p:nvCxnSpPr>
        <p:spPr>
          <a:xfrm>
            <a:off x="6681216.0" y="51023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406896" y="5385816"/>
            <a:ext cx="201168" cy="201168"/>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406896" y="53858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7</a:t>
            </a:r>
          </a:p>
        </p:txBody>
      </p:sp>
      <p:cxnSp>
        <p:nvCxnSpPr>
          <p:cNvPr id="77" name="Connector 76"/>
          <p:cNvCxnSpPr/>
          <p:nvPr/>
        </p:nvCxnSpPr>
        <p:spPr>
          <a:xfrm>
            <a:off x="6681216.0" y="55138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KPIs</a:t>
            </a:r>
          </a:p>
        </p:txBody>
      </p:sp>
      <p:sp>
        <p:nvSpPr>
          <p:cNvPr id="80" name="TextBox 79"/>
          <p:cNvSpPr txBox="1"/>
          <p:nvPr/>
        </p:nvSpPr>
        <p:spPr>
          <a:xfrm>
            <a:off x="9267444" y="2103120"/>
            <a:ext cx="2238756" cy="640080"/>
          </a:xfrm>
          <a:prstGeom prst="rect">
            <a:avLst/>
          </a:prstGeom>
          <a:noFill/>
        </p:spPr>
        <p:txBody>
          <a:bodyPr wrap="square" lIns="0" rIns="0" tIns="0" bIns="0">
            <a:spAutoFit/>
          </a:bodyPr>
          <a:lstStyle/>
          <a:p>
            <a:pPr algn="l"/>
            <a:r>
              <a:rPr sz="1100" b="0" i="1">
                <a:solidFill>
                  <a:srgbClr val="757575"/>
                </a:solidFill>
                <a:latin typeface="Palatino Linotype"/>
              </a:rPr>
              <a:t>Delay · queue · level-of-service · safety conflicts</a:t>
            </a:r>
          </a:p>
        </p:txBody>
      </p:sp>
      <p:sp>
        <p:nvSpPr>
          <p:cNvPr id="81" name="Oval 80"/>
          <p:cNvSpPr/>
          <p:nvPr/>
        </p:nvSpPr>
        <p:spPr>
          <a:xfrm>
            <a:off x="9267444" y="2916936"/>
            <a:ext cx="201168" cy="201168"/>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67444" y="29169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1</a:t>
            </a:r>
          </a:p>
        </p:txBody>
      </p:sp>
      <p:cxnSp>
        <p:nvCxnSpPr>
          <p:cNvPr id="83" name="Connector 82"/>
          <p:cNvCxnSpPr/>
          <p:nvPr/>
        </p:nvCxnSpPr>
        <p:spPr>
          <a:xfrm>
            <a:off x="9541764.0" y="30449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9267444" y="3328416"/>
            <a:ext cx="201168" cy="201168"/>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267444" y="33284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2</a:t>
            </a:r>
          </a:p>
        </p:txBody>
      </p:sp>
      <p:cxnSp>
        <p:nvCxnSpPr>
          <p:cNvPr id="86" name="Connector 85"/>
          <p:cNvCxnSpPr/>
          <p:nvPr/>
        </p:nvCxnSpPr>
        <p:spPr>
          <a:xfrm>
            <a:off x="9541764.0" y="34564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9267444" y="3739896"/>
            <a:ext cx="201168" cy="201168"/>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267444" y="373989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3</a:t>
            </a:r>
          </a:p>
        </p:txBody>
      </p:sp>
      <p:cxnSp>
        <p:nvCxnSpPr>
          <p:cNvPr id="89" name="Connector 88"/>
          <p:cNvCxnSpPr/>
          <p:nvPr/>
        </p:nvCxnSpPr>
        <p:spPr>
          <a:xfrm>
            <a:off x="9541764.0" y="386791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9267444" y="4151376"/>
            <a:ext cx="201168" cy="201168"/>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267444" y="415137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4</a:t>
            </a:r>
          </a:p>
        </p:txBody>
      </p:sp>
      <p:cxnSp>
        <p:nvCxnSpPr>
          <p:cNvPr id="92" name="Connector 91"/>
          <p:cNvCxnSpPr/>
          <p:nvPr/>
        </p:nvCxnSpPr>
        <p:spPr>
          <a:xfrm>
            <a:off x="9541764.0" y="427939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9267444" y="4562856"/>
            <a:ext cx="201168" cy="201168"/>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267444" y="456285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5</a:t>
            </a:r>
          </a:p>
        </p:txBody>
      </p:sp>
      <p:cxnSp>
        <p:nvCxnSpPr>
          <p:cNvPr id="95" name="Connector 94"/>
          <p:cNvCxnSpPr/>
          <p:nvPr/>
        </p:nvCxnSpPr>
        <p:spPr>
          <a:xfrm>
            <a:off x="9541764.0" y="469087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96" name="Oval 95"/>
          <p:cNvSpPr/>
          <p:nvPr/>
        </p:nvSpPr>
        <p:spPr>
          <a:xfrm>
            <a:off x="9267444" y="4974336"/>
            <a:ext cx="201168" cy="201168"/>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267444" y="497433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6</a:t>
            </a:r>
          </a:p>
        </p:txBody>
      </p:sp>
      <p:cxnSp>
        <p:nvCxnSpPr>
          <p:cNvPr id="98" name="Connector 97"/>
          <p:cNvCxnSpPr/>
          <p:nvPr/>
        </p:nvCxnSpPr>
        <p:spPr>
          <a:xfrm>
            <a:off x="9541764.0" y="510235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9267444" y="5385816"/>
            <a:ext cx="201168" cy="201168"/>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267444" y="5385816"/>
            <a:ext cx="201168" cy="201168"/>
          </a:xfrm>
          <a:prstGeom prst="rect">
            <a:avLst/>
          </a:prstGeom>
          <a:noFill/>
        </p:spPr>
        <p:txBody>
          <a:bodyPr wrap="square" lIns="0" rIns="0" tIns="0" bIns="0" anchor="ctr">
            <a:spAutoFit/>
          </a:bodyPr>
          <a:lstStyle/>
          <a:p>
            <a:pPr algn="ctr"/>
            <a:r>
              <a:rPr sz="800" b="1" i="0">
                <a:solidFill>
                  <a:srgbClr val="0D0D0D"/>
                </a:solidFill>
                <a:latin typeface="Source Sans Pro"/>
              </a:rPr>
              <a:t>7</a:t>
            </a:r>
          </a:p>
        </p:txBody>
      </p:sp>
      <p:cxnSp>
        <p:nvCxnSpPr>
          <p:cNvPr id="101" name="Connector 100"/>
          <p:cNvCxnSpPr/>
          <p:nvPr/>
        </p:nvCxnSpPr>
        <p:spPr>
          <a:xfrm>
            <a:off x="9541764.0" y="5513832"/>
            <a:ext cx="19644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102" name="Picture 10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103" name="TextBox 10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60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