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122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Green Bond / Climate Bond issuance</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certified Green City Bond framework outlining eligible projects, use of proceeds, and mandatory post-issuance environmental reporting.</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G3 · Proof of Anchoring</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122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Green Bond / Climate Bond issuance</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Subverting the traditional mechanics of global finance to fund civic survival, turning the debt of the present into the ecological salvation of the future.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certified Green City Bond framework outlining eligible projects, use of proceeds, and mandatory post-issuance environmental reporting.</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to 12 months for framework preparation and issuance
Material  ·  Climate Bonds Initiative (CBI) Taxonomy, Green Bond Principles, financial feasibility models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Following the Climate Bonds Initiative (CBI) Taxonomy, municipalities issue green bonds by committing to strict emissions trajectories. For example, to certify commercial building upgrades for green financing, the city must mathematically prove the project achieves a 30% to 50% performance improvement against baselines, ensuring that borrowed capital directly funds verifiable decarbonization,.</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122  ·  ANIMATION CANVAS  ·  </a:t>
            </a:r>
            <a:r>
              <a:rPr sz="1000" b="1" i="0">
                <a:solidFill>
                  <a:srgbClr val="0D0D0D"/>
                </a:solidFill>
                <a:latin typeface="Source Sans Pro"/>
              </a:rPr>
              <a:t>GREEN BOND / CLIMATE BOND ISSUANCE</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Bond framework · use of proceeds · reporting</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to 12 months for framework preparation and issuance</a:t>
            </a:r>
          </a:p>
        </p:txBody>
      </p:sp>
      <p:sp>
        <p:nvSpPr>
          <p:cNvPr id="6" name="Rounded Rectangle 5"/>
          <p:cNvSpPr/>
          <p:nvPr/>
        </p:nvSpPr>
        <p:spPr>
          <a:xfrm>
            <a:off x="457200"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66664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Eligible projects</a:t>
            </a:r>
          </a:p>
        </p:txBody>
      </p:sp>
      <p:sp>
        <p:nvSpPr>
          <p:cNvPr id="8" name="TextBox 7"/>
          <p:cNvSpPr txBox="1"/>
          <p:nvPr/>
        </p:nvSpPr>
        <p:spPr>
          <a:xfrm>
            <a:off x="685800"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taxonomy-aligned</a:t>
            </a:r>
          </a:p>
        </p:txBody>
      </p:sp>
      <p:cxnSp>
        <p:nvCxnSpPr>
          <p:cNvPr id="9" name="Connector 8"/>
          <p:cNvCxnSpPr/>
          <p:nvPr/>
        </p:nvCxnSpPr>
        <p:spPr>
          <a:xfrm>
            <a:off x="685800.0"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5638"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4238" y="1600200"/>
            <a:ext cx="166664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Use of proceeds</a:t>
            </a:r>
          </a:p>
        </p:txBody>
      </p:sp>
      <p:sp>
        <p:nvSpPr>
          <p:cNvPr id="22" name="TextBox 21"/>
          <p:cNvSpPr txBox="1"/>
          <p:nvPr/>
        </p:nvSpPr>
        <p:spPr>
          <a:xfrm>
            <a:off x="2974238"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tracked spending</a:t>
            </a:r>
          </a:p>
        </p:txBody>
      </p:sp>
      <p:cxnSp>
        <p:nvCxnSpPr>
          <p:cNvPr id="23" name="Connector 22"/>
          <p:cNvCxnSpPr/>
          <p:nvPr/>
        </p:nvCxnSpPr>
        <p:spPr>
          <a:xfrm>
            <a:off x="2974238.4"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74238.4"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74238.4"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974238.4"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974238.4"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74238.4"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74238.4"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974238.4"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974238.4"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74238.4"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74238.4"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34076"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262676" y="1600200"/>
            <a:ext cx="166664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Process for evaluation</a:t>
            </a:r>
          </a:p>
        </p:txBody>
      </p:sp>
      <p:sp>
        <p:nvSpPr>
          <p:cNvPr id="36" name="TextBox 35"/>
          <p:cNvSpPr txBox="1"/>
          <p:nvPr/>
        </p:nvSpPr>
        <p:spPr>
          <a:xfrm>
            <a:off x="5262676"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governance &amp; gates</a:t>
            </a:r>
          </a:p>
        </p:txBody>
      </p:sp>
      <p:cxnSp>
        <p:nvCxnSpPr>
          <p:cNvPr id="37" name="Connector 36"/>
          <p:cNvCxnSpPr/>
          <p:nvPr/>
        </p:nvCxnSpPr>
        <p:spPr>
          <a:xfrm>
            <a:off x="5262676.8" y="274320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62676.8" y="303580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262676.8" y="332841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262676.8" y="362102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262676.8" y="391363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62676.8" y="420624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262676.8" y="449884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262676.8" y="479145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62676.8" y="508406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62676.8" y="537667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62676.8" y="566928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322515"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551115" y="1600200"/>
            <a:ext cx="166664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Management of proceeds</a:t>
            </a:r>
          </a:p>
        </p:txBody>
      </p:sp>
      <p:sp>
        <p:nvSpPr>
          <p:cNvPr id="50" name="TextBox 49"/>
          <p:cNvSpPr txBox="1"/>
          <p:nvPr/>
        </p:nvSpPr>
        <p:spPr>
          <a:xfrm>
            <a:off x="7551115"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segregated · auditable</a:t>
            </a:r>
          </a:p>
        </p:txBody>
      </p:sp>
      <p:cxnSp>
        <p:nvCxnSpPr>
          <p:cNvPr id="51" name="Connector 50"/>
          <p:cNvCxnSpPr/>
          <p:nvPr/>
        </p:nvCxnSpPr>
        <p:spPr>
          <a:xfrm>
            <a:off x="7551115.199999999"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51115.199999999"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551115.199999999"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551115.199999999"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51115.199999999"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51115.199999999"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551115.199999999"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51115.199999999"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51115.199999999"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551115.199999999"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551115.199999999"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9610953"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839553" y="1600200"/>
            <a:ext cx="166664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Reporting</a:t>
            </a:r>
          </a:p>
        </p:txBody>
      </p:sp>
      <p:sp>
        <p:nvSpPr>
          <p:cNvPr id="64" name="TextBox 63"/>
          <p:cNvSpPr txBox="1"/>
          <p:nvPr/>
        </p:nvSpPr>
        <p:spPr>
          <a:xfrm>
            <a:off x="9839553"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annual impact disclosure</a:t>
            </a:r>
          </a:p>
        </p:txBody>
      </p:sp>
      <p:cxnSp>
        <p:nvCxnSpPr>
          <p:cNvPr id="65" name="Connector 64"/>
          <p:cNvCxnSpPr/>
          <p:nvPr/>
        </p:nvCxnSpPr>
        <p:spPr>
          <a:xfrm>
            <a:off x="9839553.6"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839553.6"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839553.6"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839553.6"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839553.6"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839553.6"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839553.6"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839553.6"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839553.6"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39553.6"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39553.6"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76" name="Picture 75"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7" name="TextBox 76"/>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122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