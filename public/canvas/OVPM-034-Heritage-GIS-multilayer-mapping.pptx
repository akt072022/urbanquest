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34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Heritage GIS multilayer mapping</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An interactive, multi-layered digital map (H-GIS) that superimposes historical cartography, modern topographical data, and intangible community values into a single navigable database,.</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0" name="Rounded Rectangle 9"/>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sp>
        <p:nvSpPr>
          <p:cNvPr id="11" name="Rounded Rectangle 10"/>
          <p:cNvSpPr/>
          <p:nvPr/>
        </p:nvSpPr>
        <p:spPr>
          <a:xfrm>
            <a:off x="3145536"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34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Heritage GIS multilayer mapping</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Transforming flat, silent maps into deep, time-traveling tools where the forgotten layers of the city's past become visible beneath the modern streets.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An interactive, multi-layered digital map (H-GIS) that superimposes historical cartography, modern topographical data, and intangible community values into a single navigable database,.</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6 months of digital mapping and data entry
Material  ·  GIS software (e.g., QGIS, ArcGIS), digitized historical maps, spatial data</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Protected Urban Planet (PUP) platform, developed jointly by Eindhoven University of Technology and the UNESCO World Heritage Centre, overlaid spatial data with historical and social attributes for nearly 1000 protected areas. By combining multi-scale geographical data with the specific values and threats of each site, it created an interoperable mapping database for heritage monitoring,,.</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34  ·  ANIMATION CANVAS  ·  </a:t>
            </a:r>
            <a:r>
              <a:rPr sz="1000" b="1" i="0">
                <a:solidFill>
                  <a:srgbClr val="0D0D0D"/>
                </a:solidFill>
                <a:latin typeface="Source Sans Pro"/>
              </a:rPr>
              <a:t>HERITAGE GIS MULTILAYER MAPPING</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GIS layer stack · isolate · combine · query</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6 months of digital mapping and data entry</a:t>
            </a:r>
          </a:p>
        </p:txBody>
      </p:sp>
      <p:sp>
        <p:nvSpPr>
          <p:cNvPr id="6" name="Rounded Rectangle 5"/>
          <p:cNvSpPr/>
          <p:nvPr/>
        </p:nvSpPr>
        <p:spPr>
          <a:xfrm>
            <a:off x="457200" y="1417320"/>
            <a:ext cx="64008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5943600" cy="365760"/>
          </a:xfrm>
          <a:prstGeom prst="rect">
            <a:avLst/>
          </a:prstGeom>
          <a:noFill/>
        </p:spPr>
        <p:txBody>
          <a:bodyPr wrap="square" lIns="0" rIns="0" tIns="0" bIns="0">
            <a:spAutoFit/>
          </a:bodyPr>
          <a:lstStyle/>
          <a:p>
            <a:pPr algn="l"/>
            <a:r>
              <a:rPr sz="1400" b="0" i="1">
                <a:solidFill>
                  <a:srgbClr val="0D0D0D"/>
                </a:solidFill>
                <a:latin typeface="Palatino Linotype"/>
              </a:rPr>
              <a:t>Map preview area</a:t>
            </a:r>
          </a:p>
        </p:txBody>
      </p:sp>
      <p:sp>
        <p:nvSpPr>
          <p:cNvPr id="8" name="Rectangle 7"/>
          <p:cNvSpPr/>
          <p:nvPr/>
        </p:nvSpPr>
        <p:spPr>
          <a:xfrm>
            <a:off x="1737360" y="2240280"/>
            <a:ext cx="3840480" cy="2560320"/>
          </a:xfrm>
          <a:prstGeom prst="rect">
            <a:avLst/>
          </a:prstGeom>
          <a:solidFill>
            <a:srgbClr val="FFFFFF"/>
          </a:solidFill>
          <a:ln w="19050">
            <a:solidFill>
              <a:srgbClr val="FFD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74520" y="2377440"/>
            <a:ext cx="1828800" cy="274320"/>
          </a:xfrm>
          <a:prstGeom prst="rect">
            <a:avLst/>
          </a:prstGeom>
          <a:noFill/>
        </p:spPr>
        <p:txBody>
          <a:bodyPr wrap="square" lIns="0" rIns="0" tIns="0" bIns="0">
            <a:spAutoFit/>
          </a:bodyPr>
          <a:lstStyle/>
          <a:p>
            <a:pPr algn="l"/>
            <a:r>
              <a:rPr sz="800" b="1" i="0">
                <a:solidFill>
                  <a:srgbClr val="FFD200"/>
                </a:solidFill>
                <a:latin typeface="Source Sans Pro"/>
              </a:rPr>
              <a:t>Layer 5</a:t>
            </a:r>
          </a:p>
        </p:txBody>
      </p:sp>
      <p:sp>
        <p:nvSpPr>
          <p:cNvPr id="10" name="Rectangle 9"/>
          <p:cNvSpPr/>
          <p:nvPr/>
        </p:nvSpPr>
        <p:spPr>
          <a:xfrm>
            <a:off x="1901952" y="2404872"/>
            <a:ext cx="3840480" cy="2560320"/>
          </a:xfrm>
          <a:prstGeom prst="rect">
            <a:avLst/>
          </a:prstGeom>
          <a:solidFill>
            <a:srgbClr val="FFFFFF"/>
          </a:solidFill>
          <a:ln w="19050">
            <a:solidFill>
              <a:srgbClr val="FF67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39112" y="2542032"/>
            <a:ext cx="1828800" cy="274320"/>
          </a:xfrm>
          <a:prstGeom prst="rect">
            <a:avLst/>
          </a:prstGeom>
          <a:noFill/>
        </p:spPr>
        <p:txBody>
          <a:bodyPr wrap="square" lIns="0" rIns="0" tIns="0" bIns="0">
            <a:spAutoFit/>
          </a:bodyPr>
          <a:lstStyle/>
          <a:p>
            <a:pPr algn="l"/>
            <a:r>
              <a:rPr sz="800" b="1" i="0">
                <a:solidFill>
                  <a:srgbClr val="FF674D"/>
                </a:solidFill>
                <a:latin typeface="Source Sans Pro"/>
              </a:rPr>
              <a:t>Layer 4</a:t>
            </a:r>
          </a:p>
        </p:txBody>
      </p:sp>
      <p:sp>
        <p:nvSpPr>
          <p:cNvPr id="12" name="Rectangle 11"/>
          <p:cNvSpPr/>
          <p:nvPr/>
        </p:nvSpPr>
        <p:spPr>
          <a:xfrm>
            <a:off x="2066544" y="2569464"/>
            <a:ext cx="3840480" cy="2560320"/>
          </a:xfrm>
          <a:prstGeom prst="rect">
            <a:avLst/>
          </a:prstGeom>
          <a:solidFill>
            <a:srgbClr val="FFFFFF"/>
          </a:solidFill>
          <a:ln w="19050">
            <a:solidFill>
              <a:srgbClr val="00ED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03704" y="2706624"/>
            <a:ext cx="1828800" cy="274320"/>
          </a:xfrm>
          <a:prstGeom prst="rect">
            <a:avLst/>
          </a:prstGeom>
          <a:noFill/>
        </p:spPr>
        <p:txBody>
          <a:bodyPr wrap="square" lIns="0" rIns="0" tIns="0" bIns="0">
            <a:spAutoFit/>
          </a:bodyPr>
          <a:lstStyle/>
          <a:p>
            <a:pPr algn="l"/>
            <a:r>
              <a:rPr sz="800" b="1" i="0">
                <a:solidFill>
                  <a:srgbClr val="00ED93"/>
                </a:solidFill>
                <a:latin typeface="Source Sans Pro"/>
              </a:rPr>
              <a:t>Layer 3</a:t>
            </a:r>
          </a:p>
        </p:txBody>
      </p:sp>
      <p:sp>
        <p:nvSpPr>
          <p:cNvPr id="14" name="Rectangle 13"/>
          <p:cNvSpPr/>
          <p:nvPr/>
        </p:nvSpPr>
        <p:spPr>
          <a:xfrm>
            <a:off x="2231136" y="2734056"/>
            <a:ext cx="3840480" cy="2560320"/>
          </a:xfrm>
          <a:prstGeom prst="rect">
            <a:avLst/>
          </a:prstGeom>
          <a:solidFill>
            <a:srgbClr val="FFFFFF"/>
          </a:solidFill>
          <a:ln w="19050">
            <a:solidFill>
              <a:srgbClr val="459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68296" y="2871216"/>
            <a:ext cx="1828800" cy="274320"/>
          </a:xfrm>
          <a:prstGeom prst="rect">
            <a:avLst/>
          </a:prstGeom>
          <a:noFill/>
        </p:spPr>
        <p:txBody>
          <a:bodyPr wrap="square" lIns="0" rIns="0" tIns="0" bIns="0">
            <a:spAutoFit/>
          </a:bodyPr>
          <a:lstStyle/>
          <a:p>
            <a:pPr algn="l"/>
            <a:r>
              <a:rPr sz="800" b="1" i="0">
                <a:solidFill>
                  <a:srgbClr val="459ACB"/>
                </a:solidFill>
                <a:latin typeface="Source Sans Pro"/>
              </a:rPr>
              <a:t>Layer 2</a:t>
            </a:r>
          </a:p>
        </p:txBody>
      </p:sp>
      <p:sp>
        <p:nvSpPr>
          <p:cNvPr id="16" name="Rectangle 15"/>
          <p:cNvSpPr/>
          <p:nvPr/>
        </p:nvSpPr>
        <p:spPr>
          <a:xfrm>
            <a:off x="2395728" y="2898648"/>
            <a:ext cx="3840480" cy="2560320"/>
          </a:xfrm>
          <a:prstGeom prst="rect">
            <a:avLst/>
          </a:prstGeom>
          <a:solidFill>
            <a:srgbClr val="FFFFFF"/>
          </a:solidFill>
          <a:ln w="19050">
            <a:solidFill>
              <a:srgbClr val="EF9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32888" y="3035808"/>
            <a:ext cx="1828800" cy="274320"/>
          </a:xfrm>
          <a:prstGeom prst="rect">
            <a:avLst/>
          </a:prstGeom>
          <a:noFill/>
        </p:spPr>
        <p:txBody>
          <a:bodyPr wrap="square" lIns="0" rIns="0" tIns="0" bIns="0">
            <a:spAutoFit/>
          </a:bodyPr>
          <a:lstStyle/>
          <a:p>
            <a:pPr algn="l"/>
            <a:r>
              <a:rPr sz="800" b="1" i="0">
                <a:solidFill>
                  <a:srgbClr val="EF98D6"/>
                </a:solidFill>
                <a:latin typeface="Source Sans Pro"/>
              </a:rPr>
              <a:t>Layer 1</a:t>
            </a:r>
          </a:p>
        </p:txBody>
      </p:sp>
      <p:sp>
        <p:nvSpPr>
          <p:cNvPr id="18" name="Rounded Rectangle 17"/>
          <p:cNvSpPr/>
          <p:nvPr/>
        </p:nvSpPr>
        <p:spPr>
          <a:xfrm>
            <a:off x="7086600" y="1417320"/>
            <a:ext cx="46482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9480" y="1600200"/>
            <a:ext cx="4282440" cy="365760"/>
          </a:xfrm>
          <a:prstGeom prst="rect">
            <a:avLst/>
          </a:prstGeom>
          <a:noFill/>
        </p:spPr>
        <p:txBody>
          <a:bodyPr wrap="square" lIns="0" rIns="0" tIns="0" bIns="0">
            <a:spAutoFit/>
          </a:bodyPr>
          <a:lstStyle/>
          <a:p>
            <a:pPr algn="l"/>
            <a:r>
              <a:rPr sz="1300" b="0" i="1">
                <a:solidFill>
                  <a:srgbClr val="0D0D0D"/>
                </a:solidFill>
                <a:latin typeface="Palatino Linotype"/>
              </a:rPr>
              <a:t>Layer toggles</a:t>
            </a:r>
          </a:p>
        </p:txBody>
      </p:sp>
      <p:sp>
        <p:nvSpPr>
          <p:cNvPr id="20" name="Rectangle 19"/>
          <p:cNvSpPr/>
          <p:nvPr/>
        </p:nvSpPr>
        <p:spPr>
          <a:xfrm>
            <a:off x="7269480" y="2121408"/>
            <a:ext cx="411480" cy="201168"/>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0" y="2121408"/>
            <a:ext cx="164592" cy="20116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0" y="2093976"/>
            <a:ext cx="3459480" cy="292608"/>
          </a:xfrm>
          <a:prstGeom prst="rect">
            <a:avLst/>
          </a:prstGeom>
          <a:noFill/>
        </p:spPr>
        <p:txBody>
          <a:bodyPr wrap="square" lIns="0" rIns="0" tIns="0" bIns="0" anchor="ctr">
            <a:spAutoFit/>
          </a:bodyPr>
          <a:lstStyle/>
          <a:p>
            <a:pPr algn="l"/>
            <a:r>
              <a:rPr sz="1000" b="1" i="0">
                <a:solidFill>
                  <a:srgbClr val="0D0D0D"/>
                </a:solidFill>
                <a:latin typeface="Source Sans Pro"/>
              </a:rPr>
              <a:t>Listed monuments</a:t>
            </a:r>
          </a:p>
        </p:txBody>
      </p:sp>
      <p:sp>
        <p:nvSpPr>
          <p:cNvPr id="23" name="Rectangle 22"/>
          <p:cNvSpPr/>
          <p:nvPr/>
        </p:nvSpPr>
        <p:spPr>
          <a:xfrm>
            <a:off x="7269480" y="2578608"/>
            <a:ext cx="411480" cy="201168"/>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0" y="2578608"/>
            <a:ext cx="164592" cy="201168"/>
          </a:xfrm>
          <a:prstGeom prst="rect">
            <a:avLst/>
          </a:prstGeom>
          <a:solidFill>
            <a:srgbClr val="FF674D"/>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0" y="2551176"/>
            <a:ext cx="3459480" cy="292608"/>
          </a:xfrm>
          <a:prstGeom prst="rect">
            <a:avLst/>
          </a:prstGeom>
          <a:noFill/>
        </p:spPr>
        <p:txBody>
          <a:bodyPr wrap="square" lIns="0" rIns="0" tIns="0" bIns="0" anchor="ctr">
            <a:spAutoFit/>
          </a:bodyPr>
          <a:lstStyle/>
          <a:p>
            <a:pPr algn="l"/>
            <a:r>
              <a:rPr sz="1000" b="1" i="0">
                <a:solidFill>
                  <a:srgbClr val="0D0D0D"/>
                </a:solidFill>
                <a:latin typeface="Source Sans Pro"/>
              </a:rPr>
              <a:t>Protected zones</a:t>
            </a:r>
          </a:p>
        </p:txBody>
      </p:sp>
      <p:sp>
        <p:nvSpPr>
          <p:cNvPr id="26" name="Rectangle 25"/>
          <p:cNvSpPr/>
          <p:nvPr/>
        </p:nvSpPr>
        <p:spPr>
          <a:xfrm>
            <a:off x="7269480" y="3035808"/>
            <a:ext cx="411480" cy="201168"/>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0" y="3035808"/>
            <a:ext cx="164592" cy="201168"/>
          </a:xfrm>
          <a:prstGeom prst="rect">
            <a:avLst/>
          </a:prstGeom>
          <a:solidFill>
            <a:srgbClr val="EF98D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0" y="3008376"/>
            <a:ext cx="3459480" cy="292608"/>
          </a:xfrm>
          <a:prstGeom prst="rect">
            <a:avLst/>
          </a:prstGeom>
          <a:noFill/>
        </p:spPr>
        <p:txBody>
          <a:bodyPr wrap="square" lIns="0" rIns="0" tIns="0" bIns="0" anchor="ctr">
            <a:spAutoFit/>
          </a:bodyPr>
          <a:lstStyle/>
          <a:p>
            <a:pPr algn="l"/>
            <a:r>
              <a:rPr sz="1000" b="1" i="0">
                <a:solidFill>
                  <a:srgbClr val="0D0D0D"/>
                </a:solidFill>
                <a:latin typeface="Source Sans Pro"/>
              </a:rPr>
              <a:t>Archaeological sites</a:t>
            </a:r>
          </a:p>
        </p:txBody>
      </p:sp>
      <p:sp>
        <p:nvSpPr>
          <p:cNvPr id="29" name="Rectangle 28"/>
          <p:cNvSpPr/>
          <p:nvPr/>
        </p:nvSpPr>
        <p:spPr>
          <a:xfrm>
            <a:off x="7269480" y="3493008"/>
            <a:ext cx="411480" cy="201168"/>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0" y="3493008"/>
            <a:ext cx="164592" cy="201168"/>
          </a:xfrm>
          <a:prstGeom prst="rect">
            <a:avLst/>
          </a:prstGeom>
          <a:solidFill>
            <a:srgbClr val="00ED93"/>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0" y="3465576"/>
            <a:ext cx="3459480" cy="292608"/>
          </a:xfrm>
          <a:prstGeom prst="rect">
            <a:avLst/>
          </a:prstGeom>
          <a:noFill/>
        </p:spPr>
        <p:txBody>
          <a:bodyPr wrap="square" lIns="0" rIns="0" tIns="0" bIns="0" anchor="ctr">
            <a:spAutoFit/>
          </a:bodyPr>
          <a:lstStyle/>
          <a:p>
            <a:pPr algn="l"/>
            <a:r>
              <a:rPr sz="1000" b="1" i="0">
                <a:solidFill>
                  <a:srgbClr val="0D0D0D"/>
                </a:solidFill>
                <a:latin typeface="Source Sans Pro"/>
              </a:rPr>
              <a:t>Natural reserves</a:t>
            </a:r>
          </a:p>
        </p:txBody>
      </p:sp>
      <p:sp>
        <p:nvSpPr>
          <p:cNvPr id="32" name="Rectangle 31"/>
          <p:cNvSpPr/>
          <p:nvPr/>
        </p:nvSpPr>
        <p:spPr>
          <a:xfrm>
            <a:off x="7269480" y="3950208"/>
            <a:ext cx="411480" cy="201168"/>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0" y="3950208"/>
            <a:ext cx="164592" cy="201168"/>
          </a:xfrm>
          <a:prstGeom prst="rect">
            <a:avLst/>
          </a:prstGeom>
          <a:solidFill>
            <a:srgbClr val="459ACB"/>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0" y="3922776"/>
            <a:ext cx="3459480" cy="292608"/>
          </a:xfrm>
          <a:prstGeom prst="rect">
            <a:avLst/>
          </a:prstGeom>
          <a:noFill/>
        </p:spPr>
        <p:txBody>
          <a:bodyPr wrap="square" lIns="0" rIns="0" tIns="0" bIns="0" anchor="ctr">
            <a:spAutoFit/>
          </a:bodyPr>
          <a:lstStyle/>
          <a:p>
            <a:pPr algn="l"/>
            <a:r>
              <a:rPr sz="1000" b="1" i="0">
                <a:solidFill>
                  <a:srgbClr val="0D0D0D"/>
                </a:solidFill>
                <a:latin typeface="Source Sans Pro"/>
              </a:rPr>
              <a:t>Hydrology</a:t>
            </a:r>
          </a:p>
        </p:txBody>
      </p:sp>
      <p:sp>
        <p:nvSpPr>
          <p:cNvPr id="35" name="Rectangle 34"/>
          <p:cNvSpPr/>
          <p:nvPr/>
        </p:nvSpPr>
        <p:spPr>
          <a:xfrm>
            <a:off x="7269480" y="4407408"/>
            <a:ext cx="411480" cy="201168"/>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0" y="4407408"/>
            <a:ext cx="164592" cy="201168"/>
          </a:xfrm>
          <a:prstGeom prst="rect">
            <a:avLst/>
          </a:prstGeom>
          <a:solidFill>
            <a:srgbClr val="0D0D0D"/>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0" y="4379976"/>
            <a:ext cx="3459480" cy="292608"/>
          </a:xfrm>
          <a:prstGeom prst="rect">
            <a:avLst/>
          </a:prstGeom>
          <a:noFill/>
        </p:spPr>
        <p:txBody>
          <a:bodyPr wrap="square" lIns="0" rIns="0" tIns="0" bIns="0" anchor="ctr">
            <a:spAutoFit/>
          </a:bodyPr>
          <a:lstStyle/>
          <a:p>
            <a:pPr algn="l"/>
            <a:r>
              <a:rPr sz="1000" b="1" i="0">
                <a:solidFill>
                  <a:srgbClr val="0D0D0D"/>
                </a:solidFill>
                <a:latin typeface="Source Sans Pro"/>
              </a:rPr>
              <a:t>Risk areas</a:t>
            </a:r>
          </a:p>
        </p:txBody>
      </p:sp>
      <p:sp>
        <p:nvSpPr>
          <p:cNvPr id="38" name="Rectangle 37"/>
          <p:cNvSpPr/>
          <p:nvPr/>
        </p:nvSpPr>
        <p:spPr>
          <a:xfrm>
            <a:off x="7269480" y="4864608"/>
            <a:ext cx="411480" cy="201168"/>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772400" y="4864608"/>
            <a:ext cx="164592" cy="201168"/>
          </a:xfrm>
          <a:prstGeom prst="rect">
            <a:avLst/>
          </a:prstGeom>
          <a:solidFill>
            <a:srgbClr val="C48B4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0" y="4837176"/>
            <a:ext cx="3459480" cy="292608"/>
          </a:xfrm>
          <a:prstGeom prst="rect">
            <a:avLst/>
          </a:prstGeom>
          <a:noFill/>
        </p:spPr>
        <p:txBody>
          <a:bodyPr wrap="square" lIns="0" rIns="0" tIns="0" bIns="0" anchor="ctr">
            <a:spAutoFit/>
          </a:bodyPr>
          <a:lstStyle/>
          <a:p>
            <a:pPr algn="l"/>
            <a:r>
              <a:rPr sz="1000" b="1" i="0">
                <a:solidFill>
                  <a:srgbClr val="0D0D0D"/>
                </a:solidFill>
                <a:latin typeface="Source Sans Pro"/>
              </a:rPr>
              <a:t>Building age</a:t>
            </a:r>
          </a:p>
        </p:txBody>
      </p:sp>
      <p:sp>
        <p:nvSpPr>
          <p:cNvPr id="41" name="Rectangle 40"/>
          <p:cNvSpPr/>
          <p:nvPr/>
        </p:nvSpPr>
        <p:spPr>
          <a:xfrm>
            <a:off x="7269480" y="5321808"/>
            <a:ext cx="411480" cy="201168"/>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0" y="5321808"/>
            <a:ext cx="164592" cy="201168"/>
          </a:xfrm>
          <a:prstGeom prst="rect">
            <a:avLst/>
          </a:prstGeom>
          <a:solidFill>
            <a:srgbClr val="3360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46720" y="5294376"/>
            <a:ext cx="3459480" cy="292608"/>
          </a:xfrm>
          <a:prstGeom prst="rect">
            <a:avLst/>
          </a:prstGeom>
          <a:noFill/>
        </p:spPr>
        <p:txBody>
          <a:bodyPr wrap="square" lIns="0" rIns="0" tIns="0" bIns="0" anchor="ctr">
            <a:spAutoFit/>
          </a:bodyPr>
          <a:lstStyle/>
          <a:p>
            <a:pPr algn="l"/>
            <a:r>
              <a:rPr sz="1000" b="1" i="0">
                <a:solidFill>
                  <a:srgbClr val="0D0D0D"/>
                </a:solidFill>
                <a:latin typeface="Source Sans Pro"/>
              </a:rPr>
              <a:t>Land use</a:t>
            </a:r>
          </a:p>
        </p:txBody>
      </p:sp>
      <p:pic>
        <p:nvPicPr>
          <p:cNvPr id="44" name="Picture 43"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5" name="TextBox 44"/>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34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