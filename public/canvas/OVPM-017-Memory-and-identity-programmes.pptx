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Memory and identity programmes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documented collection of local stories, digital archives, and physical markers that visualize the intangible cultural heritage and collective memory of the site,.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Memory and identity programmes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Transforming old stones into living storybooks, ensuring that the voices and memories of the past actively shape the concrete of the future.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documented collection of local stories, digital archives, and physical markers that visualize the intangible cultural heritage and collective memory of the site,.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6 months of active storytelling collection and synthesis
Material  ·  Digital storytelling platforms, printed maps, recording equipment, community workshops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Hermoupolis (Greece), the "100 buildings - 100 stories" initiative used open-source software (HERMeS) combined with participatory workshops. It empowered citizens to digitally preserve their built heritage by writing, telling, or drawing stories about their city. This proved that digital preservation and built heritage management can thrive with little budget when directly driven by community engagement,.</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17  ·  ANIMATION CANVAS  ·  </a:t>
            </a:r>
            <a:r>
              <a:rPr sz="1000" b="1" i="0">
                <a:solidFill>
                  <a:srgbClr val="0D0D0D"/>
                </a:solidFill>
                <a:latin typeface="Source Sans Pro"/>
              </a:rPr>
              <a:t>MEMORY AND IDENTITY PROGRAMMES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Memory anchors · narrative arcs · programme actions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6 months of active storytelling collection and syn…</a:t>
            </a:r>
          </a:p>
        </p:txBody>
      </p:sp>
      <p:sp>
        <p:nvSpPr>
          <p:cNvPr id="6" name="Rounded Rectangle 5"/>
          <p:cNvSpPr/>
          <p:nvPr/>
        </p:nvSpPr>
        <p:spPr>
          <a:xfrm>
            <a:off x="457200" y="1417320"/>
            <a:ext cx="438912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3931920" cy="365760"/>
          </a:xfrm>
          <a:prstGeom prst="rect">
            <a:avLst/>
          </a:prstGeom>
          <a:noFill/>
        </p:spPr>
        <p:txBody>
          <a:bodyPr wrap="square" lIns="0" rIns="0" tIns="0" bIns="0">
            <a:spAutoFit/>
          </a:bodyPr>
          <a:lstStyle/>
          <a:p>
            <a:pPr algn="l"/>
            <a:r>
              <a:rPr sz="1400" b="0" i="1">
                <a:solidFill>
                  <a:srgbClr val="0D0D0D"/>
                </a:solidFill>
                <a:latin typeface="Palatino Linotype"/>
              </a:rPr>
              <a:t>Memory anchors</a:t>
            </a:r>
          </a:p>
        </p:txBody>
      </p:sp>
      <p:sp>
        <p:nvSpPr>
          <p:cNvPr id="8" name="TextBox 7"/>
          <p:cNvSpPr txBox="1"/>
          <p:nvPr/>
        </p:nvSpPr>
        <p:spPr>
          <a:xfrm>
            <a:off x="685800" y="1920240"/>
            <a:ext cx="3931920" cy="274320"/>
          </a:xfrm>
          <a:prstGeom prst="rect">
            <a:avLst/>
          </a:prstGeom>
          <a:noFill/>
        </p:spPr>
        <p:txBody>
          <a:bodyPr wrap="square" lIns="0" rIns="0" tIns="0" bIns="0">
            <a:spAutoFit/>
          </a:bodyPr>
          <a:lstStyle/>
          <a:p>
            <a:pPr algn="l"/>
            <a:r>
              <a:rPr sz="1000" b="0" i="0">
                <a:solidFill>
                  <a:srgbClr val="757575"/>
                </a:solidFill>
                <a:latin typeface="Source Sans Pro"/>
              </a:rPr>
              <a:t>Places, objects, rituals that carry collective memory</a:t>
            </a:r>
          </a:p>
        </p:txBody>
      </p:sp>
      <p:sp>
        <p:nvSpPr>
          <p:cNvPr id="9" name="Oval 8"/>
          <p:cNvSpPr/>
          <p:nvPr/>
        </p:nvSpPr>
        <p:spPr>
          <a:xfrm>
            <a:off x="1005840" y="2880360"/>
            <a:ext cx="1097280" cy="1097280"/>
          </a:xfrm>
          <a:prstGeom prst="ellipse">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063240"/>
            <a:ext cx="1005840" cy="274320"/>
          </a:xfrm>
          <a:prstGeom prst="rect">
            <a:avLst/>
          </a:prstGeom>
          <a:noFill/>
        </p:spPr>
        <p:txBody>
          <a:bodyPr wrap="square" lIns="0" rIns="0" tIns="0" bIns="0">
            <a:spAutoFit/>
          </a:bodyPr>
          <a:lstStyle/>
          <a:p>
            <a:pPr algn="ctr"/>
            <a:r>
              <a:rPr sz="900" b="1" i="0">
                <a:solidFill>
                  <a:srgbClr val="757575"/>
                </a:solidFill>
                <a:latin typeface="Source Sans Pro"/>
              </a:rPr>
              <a:t>#1</a:t>
            </a:r>
          </a:p>
        </p:txBody>
      </p:sp>
      <p:sp>
        <p:nvSpPr>
          <p:cNvPr id="11" name="TextBox 10"/>
          <p:cNvSpPr txBox="1"/>
          <p:nvPr/>
        </p:nvSpPr>
        <p:spPr>
          <a:xfrm>
            <a:off x="1097280" y="3383280"/>
            <a:ext cx="914400" cy="457200"/>
          </a:xfrm>
          <a:prstGeom prst="rect">
            <a:avLst/>
          </a:prstGeom>
          <a:noFill/>
        </p:spPr>
        <p:txBody>
          <a:bodyPr wrap="square" lIns="0" rIns="0" tIns="0" bIns="0" anchor="ctr">
            <a:spAutoFit/>
          </a:bodyPr>
          <a:lstStyle/>
          <a:p>
            <a:pPr algn="ctr"/>
            <a:r>
              <a:rPr sz="1000" b="0" i="1">
                <a:solidFill>
                  <a:srgbClr val="757575"/>
                </a:solidFill>
                <a:latin typeface="Palatino Linotype"/>
              </a:rPr>
              <a:t>memory</a:t>
            </a:r>
          </a:p>
        </p:txBody>
      </p:sp>
      <p:sp>
        <p:nvSpPr>
          <p:cNvPr id="12" name="Oval 11"/>
          <p:cNvSpPr/>
          <p:nvPr/>
        </p:nvSpPr>
        <p:spPr>
          <a:xfrm>
            <a:off x="2103120" y="2880360"/>
            <a:ext cx="1097280" cy="1097280"/>
          </a:xfrm>
          <a:prstGeom prst="ellipse">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48840" y="3063240"/>
            <a:ext cx="1005840" cy="274320"/>
          </a:xfrm>
          <a:prstGeom prst="rect">
            <a:avLst/>
          </a:prstGeom>
          <a:noFill/>
        </p:spPr>
        <p:txBody>
          <a:bodyPr wrap="square" lIns="0" rIns="0" tIns="0" bIns="0">
            <a:spAutoFit/>
          </a:bodyPr>
          <a:lstStyle/>
          <a:p>
            <a:pPr algn="ctr"/>
            <a:r>
              <a:rPr sz="900" b="1" i="0">
                <a:solidFill>
                  <a:srgbClr val="757575"/>
                </a:solidFill>
                <a:latin typeface="Source Sans Pro"/>
              </a:rPr>
              <a:t>#2</a:t>
            </a:r>
          </a:p>
        </p:txBody>
      </p:sp>
      <p:sp>
        <p:nvSpPr>
          <p:cNvPr id="14" name="TextBox 13"/>
          <p:cNvSpPr txBox="1"/>
          <p:nvPr/>
        </p:nvSpPr>
        <p:spPr>
          <a:xfrm>
            <a:off x="2194560" y="3383280"/>
            <a:ext cx="914400" cy="457200"/>
          </a:xfrm>
          <a:prstGeom prst="rect">
            <a:avLst/>
          </a:prstGeom>
          <a:noFill/>
        </p:spPr>
        <p:txBody>
          <a:bodyPr wrap="square" lIns="0" rIns="0" tIns="0" bIns="0" anchor="ctr">
            <a:spAutoFit/>
          </a:bodyPr>
          <a:lstStyle/>
          <a:p>
            <a:pPr algn="ctr"/>
            <a:r>
              <a:rPr sz="1000" b="0" i="1">
                <a:solidFill>
                  <a:srgbClr val="757575"/>
                </a:solidFill>
                <a:latin typeface="Palatino Linotype"/>
              </a:rPr>
              <a:t>memory</a:t>
            </a:r>
          </a:p>
        </p:txBody>
      </p:sp>
      <p:sp>
        <p:nvSpPr>
          <p:cNvPr id="15" name="Oval 14"/>
          <p:cNvSpPr/>
          <p:nvPr/>
        </p:nvSpPr>
        <p:spPr>
          <a:xfrm>
            <a:off x="3200400" y="2880360"/>
            <a:ext cx="1097280" cy="1097280"/>
          </a:xfrm>
          <a:prstGeom prst="ellipse">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6120" y="3063240"/>
            <a:ext cx="1005840" cy="274320"/>
          </a:xfrm>
          <a:prstGeom prst="rect">
            <a:avLst/>
          </a:prstGeom>
          <a:noFill/>
        </p:spPr>
        <p:txBody>
          <a:bodyPr wrap="square" lIns="0" rIns="0" tIns="0" bIns="0">
            <a:spAutoFit/>
          </a:bodyPr>
          <a:lstStyle/>
          <a:p>
            <a:pPr algn="ctr"/>
            <a:r>
              <a:rPr sz="900" b="1" i="0">
                <a:solidFill>
                  <a:srgbClr val="757575"/>
                </a:solidFill>
                <a:latin typeface="Source Sans Pro"/>
              </a:rPr>
              <a:t>#3</a:t>
            </a:r>
          </a:p>
        </p:txBody>
      </p:sp>
      <p:sp>
        <p:nvSpPr>
          <p:cNvPr id="17" name="TextBox 16"/>
          <p:cNvSpPr txBox="1"/>
          <p:nvPr/>
        </p:nvSpPr>
        <p:spPr>
          <a:xfrm>
            <a:off x="3291840" y="3383280"/>
            <a:ext cx="914400" cy="457200"/>
          </a:xfrm>
          <a:prstGeom prst="rect">
            <a:avLst/>
          </a:prstGeom>
          <a:noFill/>
        </p:spPr>
        <p:txBody>
          <a:bodyPr wrap="square" lIns="0" rIns="0" tIns="0" bIns="0" anchor="ctr">
            <a:spAutoFit/>
          </a:bodyPr>
          <a:lstStyle/>
          <a:p>
            <a:pPr algn="ctr"/>
            <a:r>
              <a:rPr sz="1000" b="0" i="1">
                <a:solidFill>
                  <a:srgbClr val="757575"/>
                </a:solidFill>
                <a:latin typeface="Palatino Linotype"/>
              </a:rPr>
              <a:t>memory</a:t>
            </a:r>
          </a:p>
        </p:txBody>
      </p:sp>
      <p:sp>
        <p:nvSpPr>
          <p:cNvPr id="18" name="Oval 17"/>
          <p:cNvSpPr/>
          <p:nvPr/>
        </p:nvSpPr>
        <p:spPr>
          <a:xfrm>
            <a:off x="1005840" y="4343400"/>
            <a:ext cx="1097280" cy="1097280"/>
          </a:xfrm>
          <a:prstGeom prst="ellipse">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526280"/>
            <a:ext cx="1005840" cy="274320"/>
          </a:xfrm>
          <a:prstGeom prst="rect">
            <a:avLst/>
          </a:prstGeom>
          <a:noFill/>
        </p:spPr>
        <p:txBody>
          <a:bodyPr wrap="square" lIns="0" rIns="0" tIns="0" bIns="0">
            <a:spAutoFit/>
          </a:bodyPr>
          <a:lstStyle/>
          <a:p>
            <a:pPr algn="ctr"/>
            <a:r>
              <a:rPr sz="900" b="1" i="0">
                <a:solidFill>
                  <a:srgbClr val="757575"/>
                </a:solidFill>
                <a:latin typeface="Source Sans Pro"/>
              </a:rPr>
              <a:t>#4</a:t>
            </a:r>
          </a:p>
        </p:txBody>
      </p:sp>
      <p:sp>
        <p:nvSpPr>
          <p:cNvPr id="20" name="TextBox 19"/>
          <p:cNvSpPr txBox="1"/>
          <p:nvPr/>
        </p:nvSpPr>
        <p:spPr>
          <a:xfrm>
            <a:off x="1097280" y="4846320"/>
            <a:ext cx="914400" cy="457200"/>
          </a:xfrm>
          <a:prstGeom prst="rect">
            <a:avLst/>
          </a:prstGeom>
          <a:noFill/>
        </p:spPr>
        <p:txBody>
          <a:bodyPr wrap="square" lIns="0" rIns="0" tIns="0" bIns="0" anchor="ctr">
            <a:spAutoFit/>
          </a:bodyPr>
          <a:lstStyle/>
          <a:p>
            <a:pPr algn="ctr"/>
            <a:r>
              <a:rPr sz="1000" b="0" i="1">
                <a:solidFill>
                  <a:srgbClr val="757575"/>
                </a:solidFill>
                <a:latin typeface="Palatino Linotype"/>
              </a:rPr>
              <a:t>memory</a:t>
            </a:r>
          </a:p>
        </p:txBody>
      </p:sp>
      <p:sp>
        <p:nvSpPr>
          <p:cNvPr id="21" name="Oval 20"/>
          <p:cNvSpPr/>
          <p:nvPr/>
        </p:nvSpPr>
        <p:spPr>
          <a:xfrm>
            <a:off x="2103120" y="4343400"/>
            <a:ext cx="1097280" cy="1097280"/>
          </a:xfrm>
          <a:prstGeom prst="ellipse">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48840" y="4526280"/>
            <a:ext cx="1005840" cy="274320"/>
          </a:xfrm>
          <a:prstGeom prst="rect">
            <a:avLst/>
          </a:prstGeom>
          <a:noFill/>
        </p:spPr>
        <p:txBody>
          <a:bodyPr wrap="square" lIns="0" rIns="0" tIns="0" bIns="0">
            <a:spAutoFit/>
          </a:bodyPr>
          <a:lstStyle/>
          <a:p>
            <a:pPr algn="ctr"/>
            <a:r>
              <a:rPr sz="900" b="1" i="0">
                <a:solidFill>
                  <a:srgbClr val="757575"/>
                </a:solidFill>
                <a:latin typeface="Source Sans Pro"/>
              </a:rPr>
              <a:t>#5</a:t>
            </a:r>
          </a:p>
        </p:txBody>
      </p:sp>
      <p:sp>
        <p:nvSpPr>
          <p:cNvPr id="23" name="TextBox 22"/>
          <p:cNvSpPr txBox="1"/>
          <p:nvPr/>
        </p:nvSpPr>
        <p:spPr>
          <a:xfrm>
            <a:off x="2194560" y="4846320"/>
            <a:ext cx="914400" cy="457200"/>
          </a:xfrm>
          <a:prstGeom prst="rect">
            <a:avLst/>
          </a:prstGeom>
          <a:noFill/>
        </p:spPr>
        <p:txBody>
          <a:bodyPr wrap="square" lIns="0" rIns="0" tIns="0" bIns="0" anchor="ctr">
            <a:spAutoFit/>
          </a:bodyPr>
          <a:lstStyle/>
          <a:p>
            <a:pPr algn="ctr"/>
            <a:r>
              <a:rPr sz="1000" b="0" i="1">
                <a:solidFill>
                  <a:srgbClr val="757575"/>
                </a:solidFill>
                <a:latin typeface="Palatino Linotype"/>
              </a:rPr>
              <a:t>memory</a:t>
            </a:r>
          </a:p>
        </p:txBody>
      </p:sp>
      <p:sp>
        <p:nvSpPr>
          <p:cNvPr id="24" name="Oval 23"/>
          <p:cNvSpPr/>
          <p:nvPr/>
        </p:nvSpPr>
        <p:spPr>
          <a:xfrm>
            <a:off x="3200400" y="4343400"/>
            <a:ext cx="1097280" cy="1097280"/>
          </a:xfrm>
          <a:prstGeom prst="ellipse">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46120" y="4526280"/>
            <a:ext cx="1005840" cy="274320"/>
          </a:xfrm>
          <a:prstGeom prst="rect">
            <a:avLst/>
          </a:prstGeom>
          <a:noFill/>
        </p:spPr>
        <p:txBody>
          <a:bodyPr wrap="square" lIns="0" rIns="0" tIns="0" bIns="0">
            <a:spAutoFit/>
          </a:bodyPr>
          <a:lstStyle/>
          <a:p>
            <a:pPr algn="ctr"/>
            <a:r>
              <a:rPr sz="900" b="1" i="0">
                <a:solidFill>
                  <a:srgbClr val="757575"/>
                </a:solidFill>
                <a:latin typeface="Source Sans Pro"/>
              </a:rPr>
              <a:t>#6</a:t>
            </a:r>
          </a:p>
        </p:txBody>
      </p:sp>
      <p:sp>
        <p:nvSpPr>
          <p:cNvPr id="26" name="TextBox 25"/>
          <p:cNvSpPr txBox="1"/>
          <p:nvPr/>
        </p:nvSpPr>
        <p:spPr>
          <a:xfrm>
            <a:off x="3291840" y="4846320"/>
            <a:ext cx="914400" cy="457200"/>
          </a:xfrm>
          <a:prstGeom prst="rect">
            <a:avLst/>
          </a:prstGeom>
          <a:noFill/>
        </p:spPr>
        <p:txBody>
          <a:bodyPr wrap="square" lIns="0" rIns="0" tIns="0" bIns="0" anchor="ctr">
            <a:spAutoFit/>
          </a:bodyPr>
          <a:lstStyle/>
          <a:p>
            <a:pPr algn="ctr"/>
            <a:r>
              <a:rPr sz="1000" b="0" i="1">
                <a:solidFill>
                  <a:srgbClr val="757575"/>
                </a:solidFill>
                <a:latin typeface="Palatino Linotype"/>
              </a:rPr>
              <a:t>memory</a:t>
            </a:r>
          </a:p>
        </p:txBody>
      </p:sp>
      <p:sp>
        <p:nvSpPr>
          <p:cNvPr id="27" name="Rounded Rectangle 26"/>
          <p:cNvSpPr/>
          <p:nvPr/>
        </p:nvSpPr>
        <p:spPr>
          <a:xfrm>
            <a:off x="5074920" y="1417320"/>
            <a:ext cx="6659880"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1554480"/>
            <a:ext cx="6202680" cy="274320"/>
          </a:xfrm>
          <a:prstGeom prst="rect">
            <a:avLst/>
          </a:prstGeom>
          <a:noFill/>
        </p:spPr>
        <p:txBody>
          <a:bodyPr wrap="square" lIns="0" rIns="0" tIns="0" bIns="0">
            <a:spAutoFit/>
          </a:bodyPr>
          <a:lstStyle/>
          <a:p>
            <a:pPr algn="l"/>
            <a:r>
              <a:rPr sz="1300" b="0" i="1">
                <a:solidFill>
                  <a:srgbClr val="0D0D0D"/>
                </a:solidFill>
                <a:latin typeface="Palatino Linotype"/>
              </a:rPr>
              <a:t>Identity layers</a:t>
            </a:r>
          </a:p>
        </p:txBody>
      </p:sp>
      <p:sp>
        <p:nvSpPr>
          <p:cNvPr id="29" name="Rectangle 28"/>
          <p:cNvSpPr/>
          <p:nvPr/>
        </p:nvSpPr>
        <p:spPr>
          <a:xfrm>
            <a:off x="5303520" y="1993392"/>
            <a:ext cx="182880" cy="182880"/>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77840" y="1920240"/>
            <a:ext cx="2286000" cy="329184"/>
          </a:xfrm>
          <a:prstGeom prst="rect">
            <a:avLst/>
          </a:prstGeom>
          <a:noFill/>
        </p:spPr>
        <p:txBody>
          <a:bodyPr wrap="square" lIns="0" rIns="0" tIns="0" bIns="0" anchor="ctr">
            <a:spAutoFit/>
          </a:bodyPr>
          <a:lstStyle/>
          <a:p>
            <a:pPr algn="l"/>
            <a:r>
              <a:rPr sz="1050" b="1" i="0">
                <a:solidFill>
                  <a:srgbClr val="0D0D0D"/>
                </a:solidFill>
                <a:latin typeface="Source Sans Pro"/>
              </a:rPr>
              <a:t>Tangible heritage</a:t>
            </a:r>
          </a:p>
        </p:txBody>
      </p:sp>
      <p:cxnSp>
        <p:nvCxnSpPr>
          <p:cNvPr id="31" name="Connector 30"/>
          <p:cNvCxnSpPr/>
          <p:nvPr/>
        </p:nvCxnSpPr>
        <p:spPr>
          <a:xfrm>
            <a:off x="5577840" y="2249424"/>
            <a:ext cx="5928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303520" y="2404872"/>
            <a:ext cx="182880" cy="182880"/>
          </a:xfrm>
          <a:prstGeom prst="rect">
            <a:avLst/>
          </a:prstGeom>
          <a:solidFill>
            <a:srgbClr val="EF98D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77840" y="2331720"/>
            <a:ext cx="2286000" cy="329184"/>
          </a:xfrm>
          <a:prstGeom prst="rect">
            <a:avLst/>
          </a:prstGeom>
          <a:noFill/>
        </p:spPr>
        <p:txBody>
          <a:bodyPr wrap="square" lIns="0" rIns="0" tIns="0" bIns="0" anchor="ctr">
            <a:spAutoFit/>
          </a:bodyPr>
          <a:lstStyle/>
          <a:p>
            <a:pPr algn="l"/>
            <a:r>
              <a:rPr sz="1050" b="1" i="0">
                <a:solidFill>
                  <a:srgbClr val="0D0D0D"/>
                </a:solidFill>
                <a:latin typeface="Source Sans Pro"/>
              </a:rPr>
              <a:t>Intangible heritage</a:t>
            </a:r>
          </a:p>
        </p:txBody>
      </p:sp>
      <p:cxnSp>
        <p:nvCxnSpPr>
          <p:cNvPr id="34" name="Connector 33"/>
          <p:cNvCxnSpPr/>
          <p:nvPr/>
        </p:nvCxnSpPr>
        <p:spPr>
          <a:xfrm>
            <a:off x="5577840" y="2660904"/>
            <a:ext cx="5928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303520" y="2816352"/>
            <a:ext cx="182880" cy="182880"/>
          </a:xfrm>
          <a:prstGeom prst="rect">
            <a:avLst/>
          </a:prstGeom>
          <a:solidFill>
            <a:srgbClr val="00ED93"/>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77840" y="2743200"/>
            <a:ext cx="2286000" cy="329184"/>
          </a:xfrm>
          <a:prstGeom prst="rect">
            <a:avLst/>
          </a:prstGeom>
          <a:noFill/>
        </p:spPr>
        <p:txBody>
          <a:bodyPr wrap="square" lIns="0" rIns="0" tIns="0" bIns="0" anchor="ctr">
            <a:spAutoFit/>
          </a:bodyPr>
          <a:lstStyle/>
          <a:p>
            <a:pPr algn="l"/>
            <a:r>
              <a:rPr sz="1050" b="1" i="0">
                <a:solidFill>
                  <a:srgbClr val="0D0D0D"/>
                </a:solidFill>
                <a:latin typeface="Source Sans Pro"/>
              </a:rPr>
              <a:t>Living traditions</a:t>
            </a:r>
          </a:p>
        </p:txBody>
      </p:sp>
      <p:cxnSp>
        <p:nvCxnSpPr>
          <p:cNvPr id="37" name="Connector 36"/>
          <p:cNvCxnSpPr/>
          <p:nvPr/>
        </p:nvCxnSpPr>
        <p:spPr>
          <a:xfrm>
            <a:off x="5577840" y="3072384"/>
            <a:ext cx="5928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303520" y="3227832"/>
            <a:ext cx="182880" cy="182880"/>
          </a:xfrm>
          <a:prstGeom prst="rect">
            <a:avLst/>
          </a:prstGeom>
          <a:solidFill>
            <a:srgbClr val="459ACB"/>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77840" y="3154680"/>
            <a:ext cx="2286000" cy="329184"/>
          </a:xfrm>
          <a:prstGeom prst="rect">
            <a:avLst/>
          </a:prstGeom>
          <a:noFill/>
        </p:spPr>
        <p:txBody>
          <a:bodyPr wrap="square" lIns="0" rIns="0" tIns="0" bIns="0" anchor="ctr">
            <a:spAutoFit/>
          </a:bodyPr>
          <a:lstStyle/>
          <a:p>
            <a:pPr algn="l"/>
            <a:r>
              <a:rPr sz="1050" b="1" i="0">
                <a:solidFill>
                  <a:srgbClr val="0D0D0D"/>
                </a:solidFill>
                <a:latin typeface="Source Sans Pro"/>
              </a:rPr>
              <a:t>Future stories</a:t>
            </a:r>
          </a:p>
        </p:txBody>
      </p:sp>
      <p:cxnSp>
        <p:nvCxnSpPr>
          <p:cNvPr id="40" name="Connector 39"/>
          <p:cNvCxnSpPr/>
          <p:nvPr/>
        </p:nvCxnSpPr>
        <p:spPr>
          <a:xfrm>
            <a:off x="5577840" y="3483864"/>
            <a:ext cx="59283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074920" y="3794760"/>
            <a:ext cx="6659880" cy="23774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03520" y="3931920"/>
            <a:ext cx="6202680" cy="274320"/>
          </a:xfrm>
          <a:prstGeom prst="rect">
            <a:avLst/>
          </a:prstGeom>
          <a:noFill/>
        </p:spPr>
        <p:txBody>
          <a:bodyPr wrap="square" lIns="0" rIns="0" tIns="0" bIns="0">
            <a:spAutoFit/>
          </a:bodyPr>
          <a:lstStyle/>
          <a:p>
            <a:pPr algn="l"/>
            <a:r>
              <a:rPr sz="1300" b="0" i="1">
                <a:solidFill>
                  <a:srgbClr val="0D0D0D"/>
                </a:solidFill>
                <a:latin typeface="Palatino Linotype"/>
              </a:rPr>
              <a:t>Programme actions</a:t>
            </a:r>
          </a:p>
        </p:txBody>
      </p:sp>
      <p:sp>
        <p:nvSpPr>
          <p:cNvPr id="43" name="Oval 42"/>
          <p:cNvSpPr/>
          <p:nvPr/>
        </p:nvSpPr>
        <p:spPr>
          <a:xfrm>
            <a:off x="5303520" y="4352544"/>
            <a:ext cx="256032" cy="256032"/>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03520" y="4352544"/>
            <a:ext cx="256032" cy="256032"/>
          </a:xfrm>
          <a:prstGeom prst="rect">
            <a:avLst/>
          </a:prstGeom>
          <a:noFill/>
        </p:spPr>
        <p:txBody>
          <a:bodyPr wrap="square" lIns="0" rIns="0" tIns="0" bIns="0" anchor="ctr">
            <a:spAutoFit/>
          </a:bodyPr>
          <a:lstStyle/>
          <a:p>
            <a:pPr algn="ctr"/>
            <a:r>
              <a:rPr sz="1100" b="1" i="0">
                <a:solidFill>
                  <a:srgbClr val="0D0D0D"/>
                </a:solidFill>
                <a:latin typeface="Palatino Linotype"/>
              </a:rPr>
              <a:t>1</a:t>
            </a:r>
          </a:p>
        </p:txBody>
      </p:sp>
      <p:cxnSp>
        <p:nvCxnSpPr>
          <p:cNvPr id="45" name="Connector 44"/>
          <p:cNvCxnSpPr/>
          <p:nvPr/>
        </p:nvCxnSpPr>
        <p:spPr>
          <a:xfrm>
            <a:off x="5669280" y="4498848"/>
            <a:ext cx="583692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303520" y="4736592"/>
            <a:ext cx="256032" cy="256032"/>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03520" y="4736592"/>
            <a:ext cx="256032" cy="256032"/>
          </a:xfrm>
          <a:prstGeom prst="rect">
            <a:avLst/>
          </a:prstGeom>
          <a:noFill/>
        </p:spPr>
        <p:txBody>
          <a:bodyPr wrap="square" lIns="0" rIns="0" tIns="0" bIns="0" anchor="ctr">
            <a:spAutoFit/>
          </a:bodyPr>
          <a:lstStyle/>
          <a:p>
            <a:pPr algn="ctr"/>
            <a:r>
              <a:rPr sz="1100" b="1" i="0">
                <a:solidFill>
                  <a:srgbClr val="0D0D0D"/>
                </a:solidFill>
                <a:latin typeface="Palatino Linotype"/>
              </a:rPr>
              <a:t>2</a:t>
            </a:r>
          </a:p>
        </p:txBody>
      </p:sp>
      <p:cxnSp>
        <p:nvCxnSpPr>
          <p:cNvPr id="48" name="Connector 47"/>
          <p:cNvCxnSpPr/>
          <p:nvPr/>
        </p:nvCxnSpPr>
        <p:spPr>
          <a:xfrm>
            <a:off x="5669280" y="4882896"/>
            <a:ext cx="583692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5303520" y="5120640"/>
            <a:ext cx="256032" cy="256032"/>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03520" y="5120640"/>
            <a:ext cx="256032" cy="256032"/>
          </a:xfrm>
          <a:prstGeom prst="rect">
            <a:avLst/>
          </a:prstGeom>
          <a:noFill/>
        </p:spPr>
        <p:txBody>
          <a:bodyPr wrap="square" lIns="0" rIns="0" tIns="0" bIns="0" anchor="ctr">
            <a:spAutoFit/>
          </a:bodyPr>
          <a:lstStyle/>
          <a:p>
            <a:pPr algn="ctr"/>
            <a:r>
              <a:rPr sz="1100" b="1" i="0">
                <a:solidFill>
                  <a:srgbClr val="0D0D0D"/>
                </a:solidFill>
                <a:latin typeface="Palatino Linotype"/>
              </a:rPr>
              <a:t>3</a:t>
            </a:r>
          </a:p>
        </p:txBody>
      </p:sp>
      <p:cxnSp>
        <p:nvCxnSpPr>
          <p:cNvPr id="51" name="Connector 50"/>
          <p:cNvCxnSpPr/>
          <p:nvPr/>
        </p:nvCxnSpPr>
        <p:spPr>
          <a:xfrm>
            <a:off x="5669280" y="5266944"/>
            <a:ext cx="583692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303520" y="5504688"/>
            <a:ext cx="256032" cy="256032"/>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03520" y="5504688"/>
            <a:ext cx="256032" cy="256032"/>
          </a:xfrm>
          <a:prstGeom prst="rect">
            <a:avLst/>
          </a:prstGeom>
          <a:noFill/>
        </p:spPr>
        <p:txBody>
          <a:bodyPr wrap="square" lIns="0" rIns="0" tIns="0" bIns="0" anchor="ctr">
            <a:spAutoFit/>
          </a:bodyPr>
          <a:lstStyle/>
          <a:p>
            <a:pPr algn="ctr"/>
            <a:r>
              <a:rPr sz="1100" b="1" i="0">
                <a:solidFill>
                  <a:srgbClr val="0D0D0D"/>
                </a:solidFill>
                <a:latin typeface="Palatino Linotype"/>
              </a:rPr>
              <a:t>4</a:t>
            </a:r>
          </a:p>
        </p:txBody>
      </p:sp>
      <p:cxnSp>
        <p:nvCxnSpPr>
          <p:cNvPr id="54" name="Connector 53"/>
          <p:cNvCxnSpPr/>
          <p:nvPr/>
        </p:nvCxnSpPr>
        <p:spPr>
          <a:xfrm>
            <a:off x="5669280" y="5650992"/>
            <a:ext cx="583692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55" name="Picture 54"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6" name="TextBox 55"/>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