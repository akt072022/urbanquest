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124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Place Standard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collaborative radar-chart visualization of a neighborhood's physical and social health, highlighting areas of inequality and prioritizing specific spatial interventions.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124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Place Standard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Giving every citizen a compass to map the emotional and physical geography of their home, proving that true expertise lies in the lived experience of the street.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collaborative radar-chart visualization of a neighborhood's physical and social health, highlighting areas of inequality and prioritizing specific spatial interventions.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3 hours per workshop
Material  ·  Printed Place Standard compass diagrams, sticky notes, facilitation guides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Scotland, the Place Standard Tool has been widely implemented as a means of examining inequalities in relation to place. It was further adapted to integrate the "20-minute neighbourhood" concept and a climate lens, empowering local communities to systematically assess their local environments and prioritize actions that address both spatial inequality and climate resilience simultaneously,,,.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124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PLACE STANDARD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Place Standard · 14-theme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3 hours per workshop</a:t>
            </a:r>
          </a:p>
        </p:txBody>
      </p:sp>
      <p:sp>
        <p:nvSpPr>
          <p:cNvPr id="6" name="Oval 5"/>
          <p:cNvSpPr/>
          <p:nvPr/>
        </p:nvSpPr>
        <p:spPr>
          <a:xfrm>
            <a:off x="8334103" y="3579223"/>
            <a:ext cx="522514" cy="522514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2846" y="3317966"/>
            <a:ext cx="1045028" cy="1045028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11589" y="3056709"/>
            <a:ext cx="1567542" cy="1567542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50332" y="2795452"/>
            <a:ext cx="2090056" cy="2090056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89075" y="2534195"/>
            <a:ext cx="2612570" cy="2612570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27818" y="2272938"/>
            <a:ext cx="3135084" cy="3135084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0" y="2011680"/>
            <a:ext cx="3657600" cy="3657600"/>
          </a:xfrm>
          <a:prstGeom prst="ellipse">
            <a:avLst/>
          </a:prstGeom>
          <a:noFill/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8595360" y="2011680"/>
            <a:ext cx="0" cy="182880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18120" y="150876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Moving around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595360" y="2192788"/>
            <a:ext cx="793486" cy="1647692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90141" y="1730617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Public transport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595360" y="2700241"/>
            <a:ext cx="1429813" cy="1140239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569641" y="235224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Traffic &amp; parking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595360" y="3433533"/>
            <a:ext cx="1782948" cy="406947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02231" y="325053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Streets &amp; spaces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3840480"/>
            <a:ext cx="1782948" cy="406946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02231" y="424754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Natural space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3840480"/>
            <a:ext cx="1429813" cy="114023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69641" y="5145831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Play &amp; recreation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95360" y="3840480"/>
            <a:ext cx="793486" cy="164769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0141" y="576746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Facilities &amp; amenities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0" y="3840480"/>
            <a:ext cx="0" cy="182880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8120" y="59893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Work &amp; local economy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801873" y="3840480"/>
            <a:ext cx="793487" cy="164769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46098" y="576746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Housing &amp; community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165546" y="3840480"/>
            <a:ext cx="1429814" cy="114023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66598" y="5145831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Social contact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812411" y="3840480"/>
            <a:ext cx="1782949" cy="406946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34008" y="4247549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Identity &amp; belonging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6812411" y="3433533"/>
            <a:ext cx="1782949" cy="406947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34008" y="325053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Feeling safe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7165546" y="2700241"/>
            <a:ext cx="1429814" cy="1140239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66598" y="235224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Care &amp; maintenance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7801873" y="2192788"/>
            <a:ext cx="793487" cy="1647692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46098" y="1730617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D0D0D"/>
                </a:solidFill>
                <a:latin typeface="Source Sans Pro"/>
              </a:rPr>
              <a:t>Influence &amp; control</a:t>
            </a:r>
          </a:p>
        </p:txBody>
      </p:sp>
      <p:sp>
        <p:nvSpPr>
          <p:cNvPr id="41" name="Oval 40"/>
          <p:cNvSpPr/>
          <p:nvPr/>
        </p:nvSpPr>
        <p:spPr>
          <a:xfrm>
            <a:off x="8555360" y="3800480"/>
            <a:ext cx="80000" cy="80000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Score each theme  ·  1 (poor) → 7 (excellent)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Workshop scoring grid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1828800"/>
            <a:ext cx="5120640" cy="29260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182880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D200"/>
                </a:solidFill>
                <a:latin typeface="Source Sans Pro"/>
              </a:rPr>
              <a:t>Theme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38144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30752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1184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93792" y="1828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D200"/>
                </a:solidFill>
                <a:latin typeface="Source Sans Pro"/>
              </a:rPr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121408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2121408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Moving around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67328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59936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52544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45152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37760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30368" y="217627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2414016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2414016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Public transport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67328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059936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52544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45152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60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30368" y="246888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2706624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2706624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Traffic &amp; parking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67328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59936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52544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645152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37760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230368" y="276148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" y="2999232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2999232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Streets &amp; spaces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767328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59936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52544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45152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937760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230368" y="305409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7200" y="3291840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3291840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Natural space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767328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059936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352544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645152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37760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230368" y="334670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57200" y="3584448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4360" y="3584448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Play &amp; recreation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474720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767328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59936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52544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645152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937760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230368" y="363931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7200" y="3877056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360" y="3877056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Facilities &amp; amenities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767328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059936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52544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645152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937760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230368" y="393192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57200" y="4169664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360" y="4169664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Work &amp; local economy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474720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767328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059936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352544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45152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937760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230368" y="422452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57200" y="4462272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94360" y="4462272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Housing &amp; community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474720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767328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59936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52544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645152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937760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230368" y="451713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7200" y="4754880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94360" y="4754880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Social contact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474720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767328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059936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352544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645152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37760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0368" y="4809744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57200" y="5047488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94360" y="5047488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Identity &amp; belonging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74720" y="510235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767328" y="510235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059936" y="510235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352544" y="510235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645152" y="510235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937760" y="510235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230368" y="5102352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57200" y="5340096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94360" y="5340096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Feeling safe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474720" y="539496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767328" y="539496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059936" y="539496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352544" y="539496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645152" y="539496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937760" y="539496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230368" y="5394960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57200" y="5632704"/>
            <a:ext cx="51206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94360" y="5632704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Care &amp; maintenance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474720" y="568756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767328" y="568756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059936" y="568756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352544" y="568756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645152" y="568756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937760" y="568756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230368" y="5687568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57200" y="5925312"/>
            <a:ext cx="5120640" cy="292608"/>
          </a:xfrm>
          <a:prstGeom prst="rect">
            <a:avLst/>
          </a:prstGeom>
          <a:solidFill>
            <a:srgbClr val="F8F4ED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94360" y="5925312"/>
            <a:ext cx="2798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D0D0D"/>
                </a:solidFill>
                <a:latin typeface="Source Sans Pro"/>
              </a:rPr>
              <a:t>Influence &amp; control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474720" y="598017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767328" y="598017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059936" y="598017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352544" y="598017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645152" y="598017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937760" y="598017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5230368" y="5980176"/>
            <a:ext cx="2194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457200" y="61264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B0D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Apply the climate lens</a:t>
            </a:r>
          </a:p>
        </p:txBody>
      </p:sp>
      <p:pic>
        <p:nvPicPr>
          <p:cNvPr id="180" name="Picture 17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124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