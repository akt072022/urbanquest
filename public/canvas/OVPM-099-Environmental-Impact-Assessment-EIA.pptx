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OVPM Co-Design Toolkit  ·  Tool 99 of 133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76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0D0D0D"/>
                </a:solidFill>
                <a:latin typeface="Palatino Linotype"/>
              </a:rPr>
              <a:t>Method canvas for co-design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0" i="0">
                <a:solidFill>
                  <a:srgbClr val="0D0D0D"/>
                </a:solidFill>
                <a:latin typeface="Palatino Linotype"/>
              </a:rPr>
              <a:t>Environmental Impact Assessment (EIA)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What this tool produces  ·  </a:t>
            </a:r>
            <a:r>
              <a:rPr sz="1500" b="0" i="1">
                <a:solidFill>
                  <a:srgbClr val="0D0D0D"/>
                </a:solidFill>
                <a:latin typeface="Palatino Linotype"/>
              </a:rPr>
              <a:t>A formal environmental report detailing the project's likely significant effects on biodiversity, soil, water, air, and health, along with mandatory mitigation measures.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FFFFFF"/>
                </a:solidFill>
                <a:latin typeface="Source Sans Pro"/>
              </a:rPr>
              <a:t>G2 · Proof of Fit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G4 · Proof of Sustainability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669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Dimensions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943600"/>
            <a:ext cx="1376172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Environmental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34540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Regulation</a:t>
            </a:r>
          </a:p>
        </p:txBody>
      </p:sp>
      <p:pic>
        <p:nvPicPr>
          <p:cNvPr id="12" name="Picture 11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760" y="6024114"/>
            <a:ext cx="1371600" cy="33096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71760" y="639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99  ·  FACILITATOR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Preparing the workshop  ·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Environmental Impact Assessment (EIA)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G2 · Proof of Fit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Why this tool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Establishing a legal shield for the natural world, forcing the machinery of urban construction to pause, reflect, and justify its impact on the silent stakeholders: the soil, the water, and the air.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Evidence we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A formal environmental report detailing the project's likely significant effects on biodiversity, soil, water, air, and health, along with mandatory mitigation measures.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Duration &amp;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Duration  ·  6 to 18 months depending on legal complexity
Material  ·  Environmental baseline data, European Directive compliance checklists, public consultation platforms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Reference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Under the EU EIA Directive, major infrastructure works must be rigorously assessed. For example, in Ireland, the failure to conduct a proper EIA for a large terrestrial wind-farm led to a catastrophic landslide during construction, polluting a river and killing 50,000 fish. This highlighted that assessing soil stability and disaster risk through a formal EIA is absolutely crucial before any earth is moved.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Suggested agenda  ·  </a:t>
            </a:r>
            <a:r>
              <a:rPr sz="1000" b="0" i="0">
                <a:solidFill>
                  <a:srgbClr val="757575"/>
                </a:solidFill>
                <a:latin typeface="Source Sans Pro"/>
              </a:rPr>
              <a:t>Brief (10 min)  ›  Method walk-through (15 min)  ›  Animation canvas (60–90 min)  ›  Harvest (20 min)</a:t>
            </a:r>
          </a:p>
        </p:txBody>
      </p:sp>
      <p:pic>
        <p:nvPicPr>
          <p:cNvPr id="23" name="Picture 2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99  ·  ANIMATION CANVAS  ·  </a:t>
            </a:r>
            <a:r>
              <a:rPr sz="1000" b="1" i="0">
                <a:solidFill>
                  <a:srgbClr val="0D0D0D"/>
                </a:solidFill>
                <a:latin typeface="Source Sans Pro"/>
              </a:rPr>
              <a:t>ENVIRONMENTAL IMPACT ASSESSMENT (EIA)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  <a:latin typeface="Palatino Linotype"/>
              </a:rPr>
              <a:t>EIA matrix · components × phases × significance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57575"/>
                </a:solidFill>
                <a:latin typeface="Source Sans Pro"/>
              </a:rPr>
              <a:t>Duration</a:t>
            </a:r>
          </a:p>
          <a:p>
            <a:pPr algn="r"/>
            <a:r>
              <a:rPr sz="1000" b="0" i="0">
                <a:solidFill>
                  <a:srgbClr val="0D0D0D"/>
                </a:solidFill>
                <a:latin typeface="Source Sans Pro"/>
              </a:rPr>
              <a:t>6 to 18 months depending on legal complexity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1127760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83080"/>
            <a:ext cx="1828800" cy="365760"/>
          </a:xfrm>
          <a:prstGeom prst="rect">
            <a:avLst/>
          </a:prstGeom>
          <a:solidFill>
            <a:srgbClr val="0D0D0D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D200"/>
                </a:solidFill>
                <a:latin typeface="Source Sans Pro"/>
              </a:rPr>
              <a:t>Component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1783080"/>
            <a:ext cx="2997200" cy="365760"/>
          </a:xfrm>
          <a:prstGeom prst="rect">
            <a:avLst/>
          </a:prstGeom>
          <a:solidFill>
            <a:srgbClr val="FFD200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1783080"/>
            <a:ext cx="2997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D0D0D"/>
                </a:solidFill>
                <a:latin typeface="Source Sans Pro"/>
              </a:rPr>
              <a:t>Construction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11800" y="1783080"/>
            <a:ext cx="2997200" cy="365760"/>
          </a:xfrm>
          <a:prstGeom prst="rect">
            <a:avLst/>
          </a:prstGeom>
          <a:solidFill>
            <a:srgbClr val="FFD200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11800" y="1783080"/>
            <a:ext cx="2997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D0D0D"/>
                </a:solidFill>
                <a:latin typeface="Source Sans Pro"/>
              </a:rPr>
              <a:t>Operation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9000" y="1783080"/>
            <a:ext cx="2997200" cy="365760"/>
          </a:xfrm>
          <a:prstGeom prst="rect">
            <a:avLst/>
          </a:prstGeom>
          <a:solidFill>
            <a:srgbClr val="FFD200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9000" y="1783080"/>
            <a:ext cx="2997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D0D0D"/>
                </a:solidFill>
                <a:latin typeface="Source Sans Pro"/>
              </a:rPr>
              <a:t>Decommissioning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148840"/>
            <a:ext cx="1828800" cy="497205"/>
          </a:xfrm>
          <a:prstGeom prst="rect">
            <a:avLst/>
          </a:prstGeom>
          <a:solidFill>
            <a:srgbClr val="EEECE6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148840"/>
            <a:ext cx="1554480" cy="4972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Air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14600" y="2148840"/>
            <a:ext cx="2997200" cy="497205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47440" y="2306002"/>
            <a:ext cx="164592" cy="164592"/>
          </a:xfrm>
          <a:prstGeom prst="ellipse">
            <a:avLst/>
          </a:prstGeom>
          <a:noFill/>
          <a:ln w="7620">
            <a:solidFill>
              <a:srgbClr val="00ED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76040" y="2306002"/>
            <a:ext cx="164592" cy="164592"/>
          </a:xfrm>
          <a:prstGeom prst="ellipse">
            <a:avLst/>
          </a:prstGeom>
          <a:noFill/>
          <a:ln w="762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04640" y="2306002"/>
            <a:ext cx="164592" cy="164592"/>
          </a:xfrm>
          <a:prstGeom prst="ellipse">
            <a:avLst/>
          </a:prstGeom>
          <a:noFill/>
          <a:ln w="7620">
            <a:solidFill>
              <a:srgbClr val="FF6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11800" y="2148840"/>
            <a:ext cx="2997200" cy="497205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644640" y="2306002"/>
            <a:ext cx="164592" cy="164592"/>
          </a:xfrm>
          <a:prstGeom prst="ellipse">
            <a:avLst/>
          </a:prstGeom>
          <a:noFill/>
          <a:ln w="7620">
            <a:solidFill>
              <a:srgbClr val="00ED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73240" y="2306002"/>
            <a:ext cx="164592" cy="164592"/>
          </a:xfrm>
          <a:prstGeom prst="ellipse">
            <a:avLst/>
          </a:prstGeom>
          <a:noFill/>
          <a:ln w="762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01840" y="2306002"/>
            <a:ext cx="164592" cy="164592"/>
          </a:xfrm>
          <a:prstGeom prst="ellipse">
            <a:avLst/>
          </a:prstGeom>
          <a:noFill/>
          <a:ln w="7620">
            <a:solidFill>
              <a:srgbClr val="FF6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09000" y="2148840"/>
            <a:ext cx="2997200" cy="497205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641840" y="2306002"/>
            <a:ext cx="164592" cy="164592"/>
          </a:xfrm>
          <a:prstGeom prst="ellipse">
            <a:avLst/>
          </a:prstGeom>
          <a:noFill/>
          <a:ln w="7620">
            <a:solidFill>
              <a:srgbClr val="00ED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70440" y="2306002"/>
            <a:ext cx="164592" cy="164592"/>
          </a:xfrm>
          <a:prstGeom prst="ellipse">
            <a:avLst/>
          </a:prstGeom>
          <a:noFill/>
          <a:ln w="762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099040" y="2306002"/>
            <a:ext cx="164592" cy="164592"/>
          </a:xfrm>
          <a:prstGeom prst="ellipse">
            <a:avLst/>
          </a:prstGeom>
          <a:noFill/>
          <a:ln w="7620">
            <a:solidFill>
              <a:srgbClr val="FF6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" y="2646045"/>
            <a:ext cx="1828800" cy="497205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2646045"/>
            <a:ext cx="1554480" cy="4972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Water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14600" y="2646045"/>
            <a:ext cx="2997200" cy="497205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647440" y="2803207"/>
            <a:ext cx="164592" cy="164592"/>
          </a:xfrm>
          <a:prstGeom prst="ellipse">
            <a:avLst/>
          </a:prstGeom>
          <a:noFill/>
          <a:ln w="7620">
            <a:solidFill>
              <a:srgbClr val="00ED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876040" y="2803207"/>
            <a:ext cx="164592" cy="164592"/>
          </a:xfrm>
          <a:prstGeom prst="ellipse">
            <a:avLst/>
          </a:prstGeom>
          <a:noFill/>
          <a:ln w="762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104640" y="2803207"/>
            <a:ext cx="164592" cy="164592"/>
          </a:xfrm>
          <a:prstGeom prst="ellipse">
            <a:avLst/>
          </a:prstGeom>
          <a:noFill/>
          <a:ln w="7620">
            <a:solidFill>
              <a:srgbClr val="FF6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11800" y="2646045"/>
            <a:ext cx="2997200" cy="497205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644640" y="2803207"/>
            <a:ext cx="164592" cy="164592"/>
          </a:xfrm>
          <a:prstGeom prst="ellipse">
            <a:avLst/>
          </a:prstGeom>
          <a:noFill/>
          <a:ln w="7620">
            <a:solidFill>
              <a:srgbClr val="00ED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873240" y="2803207"/>
            <a:ext cx="164592" cy="164592"/>
          </a:xfrm>
          <a:prstGeom prst="ellipse">
            <a:avLst/>
          </a:prstGeom>
          <a:noFill/>
          <a:ln w="762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101840" y="2803207"/>
            <a:ext cx="164592" cy="164592"/>
          </a:xfrm>
          <a:prstGeom prst="ellipse">
            <a:avLst/>
          </a:prstGeom>
          <a:noFill/>
          <a:ln w="7620">
            <a:solidFill>
              <a:srgbClr val="FF6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509000" y="2646045"/>
            <a:ext cx="2997200" cy="497205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641840" y="2803207"/>
            <a:ext cx="164592" cy="164592"/>
          </a:xfrm>
          <a:prstGeom prst="ellipse">
            <a:avLst/>
          </a:prstGeom>
          <a:noFill/>
          <a:ln w="7620">
            <a:solidFill>
              <a:srgbClr val="00ED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870440" y="2803207"/>
            <a:ext cx="164592" cy="164592"/>
          </a:xfrm>
          <a:prstGeom prst="ellipse">
            <a:avLst/>
          </a:prstGeom>
          <a:noFill/>
          <a:ln w="762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099040" y="2803207"/>
            <a:ext cx="164592" cy="164592"/>
          </a:xfrm>
          <a:prstGeom prst="ellipse">
            <a:avLst/>
          </a:prstGeom>
          <a:noFill/>
          <a:ln w="7620">
            <a:solidFill>
              <a:srgbClr val="FF6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85800" y="3143250"/>
            <a:ext cx="1828800" cy="497205"/>
          </a:xfrm>
          <a:prstGeom prst="rect">
            <a:avLst/>
          </a:prstGeom>
          <a:solidFill>
            <a:srgbClr val="EEECE6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3143250"/>
            <a:ext cx="1554480" cy="4972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Soil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14600" y="3143250"/>
            <a:ext cx="2997200" cy="497205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647440" y="3300412"/>
            <a:ext cx="164592" cy="164592"/>
          </a:xfrm>
          <a:prstGeom prst="ellipse">
            <a:avLst/>
          </a:prstGeom>
          <a:noFill/>
          <a:ln w="7620">
            <a:solidFill>
              <a:srgbClr val="00ED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876040" y="3300412"/>
            <a:ext cx="164592" cy="164592"/>
          </a:xfrm>
          <a:prstGeom prst="ellipse">
            <a:avLst/>
          </a:prstGeom>
          <a:noFill/>
          <a:ln w="762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104640" y="3300412"/>
            <a:ext cx="164592" cy="164592"/>
          </a:xfrm>
          <a:prstGeom prst="ellipse">
            <a:avLst/>
          </a:prstGeom>
          <a:noFill/>
          <a:ln w="7620">
            <a:solidFill>
              <a:srgbClr val="FF6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511800" y="3143250"/>
            <a:ext cx="2997200" cy="497205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644640" y="3300412"/>
            <a:ext cx="164592" cy="164592"/>
          </a:xfrm>
          <a:prstGeom prst="ellipse">
            <a:avLst/>
          </a:prstGeom>
          <a:noFill/>
          <a:ln w="7620">
            <a:solidFill>
              <a:srgbClr val="00ED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873240" y="3300412"/>
            <a:ext cx="164592" cy="164592"/>
          </a:xfrm>
          <a:prstGeom prst="ellipse">
            <a:avLst/>
          </a:prstGeom>
          <a:noFill/>
          <a:ln w="762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101840" y="3300412"/>
            <a:ext cx="164592" cy="164592"/>
          </a:xfrm>
          <a:prstGeom prst="ellipse">
            <a:avLst/>
          </a:prstGeom>
          <a:noFill/>
          <a:ln w="7620">
            <a:solidFill>
              <a:srgbClr val="FF6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509000" y="3143250"/>
            <a:ext cx="2997200" cy="497205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641840" y="3300412"/>
            <a:ext cx="164592" cy="164592"/>
          </a:xfrm>
          <a:prstGeom prst="ellipse">
            <a:avLst/>
          </a:prstGeom>
          <a:noFill/>
          <a:ln w="7620">
            <a:solidFill>
              <a:srgbClr val="00ED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870440" y="3300412"/>
            <a:ext cx="164592" cy="164592"/>
          </a:xfrm>
          <a:prstGeom prst="ellipse">
            <a:avLst/>
          </a:prstGeom>
          <a:noFill/>
          <a:ln w="762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099040" y="3300412"/>
            <a:ext cx="164592" cy="164592"/>
          </a:xfrm>
          <a:prstGeom prst="ellipse">
            <a:avLst/>
          </a:prstGeom>
          <a:noFill/>
          <a:ln w="7620">
            <a:solidFill>
              <a:srgbClr val="FF6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85800" y="3640455"/>
            <a:ext cx="1828800" cy="497205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2960" y="3640455"/>
            <a:ext cx="1554480" cy="4972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Biodiversity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514600" y="3640455"/>
            <a:ext cx="2997200" cy="497205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647440" y="3797617"/>
            <a:ext cx="164592" cy="164592"/>
          </a:xfrm>
          <a:prstGeom prst="ellipse">
            <a:avLst/>
          </a:prstGeom>
          <a:noFill/>
          <a:ln w="7620">
            <a:solidFill>
              <a:srgbClr val="00ED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3876040" y="3797617"/>
            <a:ext cx="164592" cy="164592"/>
          </a:xfrm>
          <a:prstGeom prst="ellipse">
            <a:avLst/>
          </a:prstGeom>
          <a:noFill/>
          <a:ln w="762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104640" y="3797617"/>
            <a:ext cx="164592" cy="164592"/>
          </a:xfrm>
          <a:prstGeom prst="ellipse">
            <a:avLst/>
          </a:prstGeom>
          <a:noFill/>
          <a:ln w="7620">
            <a:solidFill>
              <a:srgbClr val="FF6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1800" y="3640455"/>
            <a:ext cx="2997200" cy="497205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644640" y="3797617"/>
            <a:ext cx="164592" cy="164592"/>
          </a:xfrm>
          <a:prstGeom prst="ellipse">
            <a:avLst/>
          </a:prstGeom>
          <a:noFill/>
          <a:ln w="7620">
            <a:solidFill>
              <a:srgbClr val="00ED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873240" y="3797617"/>
            <a:ext cx="164592" cy="164592"/>
          </a:xfrm>
          <a:prstGeom prst="ellipse">
            <a:avLst/>
          </a:prstGeom>
          <a:noFill/>
          <a:ln w="762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101840" y="3797617"/>
            <a:ext cx="164592" cy="164592"/>
          </a:xfrm>
          <a:prstGeom prst="ellipse">
            <a:avLst/>
          </a:prstGeom>
          <a:noFill/>
          <a:ln w="7620">
            <a:solidFill>
              <a:srgbClr val="FF6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509000" y="3640455"/>
            <a:ext cx="2997200" cy="497205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641840" y="3797617"/>
            <a:ext cx="164592" cy="164592"/>
          </a:xfrm>
          <a:prstGeom prst="ellipse">
            <a:avLst/>
          </a:prstGeom>
          <a:noFill/>
          <a:ln w="7620">
            <a:solidFill>
              <a:srgbClr val="00ED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870440" y="3797617"/>
            <a:ext cx="164592" cy="164592"/>
          </a:xfrm>
          <a:prstGeom prst="ellipse">
            <a:avLst/>
          </a:prstGeom>
          <a:noFill/>
          <a:ln w="762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0099040" y="3797617"/>
            <a:ext cx="164592" cy="164592"/>
          </a:xfrm>
          <a:prstGeom prst="ellipse">
            <a:avLst/>
          </a:prstGeom>
          <a:noFill/>
          <a:ln w="7620">
            <a:solidFill>
              <a:srgbClr val="FF6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85800" y="4137660"/>
            <a:ext cx="1828800" cy="497205"/>
          </a:xfrm>
          <a:prstGeom prst="rect">
            <a:avLst/>
          </a:prstGeom>
          <a:solidFill>
            <a:srgbClr val="EEECE6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22960" y="4137660"/>
            <a:ext cx="1554480" cy="4972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Noise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514600" y="4137660"/>
            <a:ext cx="2997200" cy="497205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647440" y="4294822"/>
            <a:ext cx="164592" cy="164592"/>
          </a:xfrm>
          <a:prstGeom prst="ellipse">
            <a:avLst/>
          </a:prstGeom>
          <a:noFill/>
          <a:ln w="7620">
            <a:solidFill>
              <a:srgbClr val="00ED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876040" y="4294822"/>
            <a:ext cx="164592" cy="164592"/>
          </a:xfrm>
          <a:prstGeom prst="ellipse">
            <a:avLst/>
          </a:prstGeom>
          <a:noFill/>
          <a:ln w="762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104640" y="4294822"/>
            <a:ext cx="164592" cy="164592"/>
          </a:xfrm>
          <a:prstGeom prst="ellipse">
            <a:avLst/>
          </a:prstGeom>
          <a:noFill/>
          <a:ln w="7620">
            <a:solidFill>
              <a:srgbClr val="FF6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511800" y="4137660"/>
            <a:ext cx="2997200" cy="497205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6644640" y="4294822"/>
            <a:ext cx="164592" cy="164592"/>
          </a:xfrm>
          <a:prstGeom prst="ellipse">
            <a:avLst/>
          </a:prstGeom>
          <a:noFill/>
          <a:ln w="7620">
            <a:solidFill>
              <a:srgbClr val="00ED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6873240" y="4294822"/>
            <a:ext cx="164592" cy="164592"/>
          </a:xfrm>
          <a:prstGeom prst="ellipse">
            <a:avLst/>
          </a:prstGeom>
          <a:noFill/>
          <a:ln w="762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7101840" y="4294822"/>
            <a:ext cx="164592" cy="164592"/>
          </a:xfrm>
          <a:prstGeom prst="ellipse">
            <a:avLst/>
          </a:prstGeom>
          <a:noFill/>
          <a:ln w="7620">
            <a:solidFill>
              <a:srgbClr val="FF6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509000" y="4137660"/>
            <a:ext cx="2997200" cy="497205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641840" y="4294822"/>
            <a:ext cx="164592" cy="164592"/>
          </a:xfrm>
          <a:prstGeom prst="ellipse">
            <a:avLst/>
          </a:prstGeom>
          <a:noFill/>
          <a:ln w="7620">
            <a:solidFill>
              <a:srgbClr val="00ED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9870440" y="4294822"/>
            <a:ext cx="164592" cy="164592"/>
          </a:xfrm>
          <a:prstGeom prst="ellipse">
            <a:avLst/>
          </a:prstGeom>
          <a:noFill/>
          <a:ln w="762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099040" y="4294822"/>
            <a:ext cx="164592" cy="164592"/>
          </a:xfrm>
          <a:prstGeom prst="ellipse">
            <a:avLst/>
          </a:prstGeom>
          <a:noFill/>
          <a:ln w="7620">
            <a:solidFill>
              <a:srgbClr val="FF6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85800" y="4634865"/>
            <a:ext cx="1828800" cy="497205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22960" y="4634865"/>
            <a:ext cx="1554480" cy="4972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Landscape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514600" y="4634865"/>
            <a:ext cx="2997200" cy="497205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647440" y="4792027"/>
            <a:ext cx="164592" cy="164592"/>
          </a:xfrm>
          <a:prstGeom prst="ellipse">
            <a:avLst/>
          </a:prstGeom>
          <a:noFill/>
          <a:ln w="7620">
            <a:solidFill>
              <a:srgbClr val="00ED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876040" y="4792027"/>
            <a:ext cx="164592" cy="164592"/>
          </a:xfrm>
          <a:prstGeom prst="ellipse">
            <a:avLst/>
          </a:prstGeom>
          <a:noFill/>
          <a:ln w="762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4104640" y="4792027"/>
            <a:ext cx="164592" cy="164592"/>
          </a:xfrm>
          <a:prstGeom prst="ellipse">
            <a:avLst/>
          </a:prstGeom>
          <a:noFill/>
          <a:ln w="7620">
            <a:solidFill>
              <a:srgbClr val="FF6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511800" y="4634865"/>
            <a:ext cx="2997200" cy="497205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6644640" y="4792027"/>
            <a:ext cx="164592" cy="164592"/>
          </a:xfrm>
          <a:prstGeom prst="ellipse">
            <a:avLst/>
          </a:prstGeom>
          <a:noFill/>
          <a:ln w="7620">
            <a:solidFill>
              <a:srgbClr val="00ED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873240" y="4792027"/>
            <a:ext cx="164592" cy="164592"/>
          </a:xfrm>
          <a:prstGeom prst="ellipse">
            <a:avLst/>
          </a:prstGeom>
          <a:noFill/>
          <a:ln w="762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7101840" y="4792027"/>
            <a:ext cx="164592" cy="164592"/>
          </a:xfrm>
          <a:prstGeom prst="ellipse">
            <a:avLst/>
          </a:prstGeom>
          <a:noFill/>
          <a:ln w="7620">
            <a:solidFill>
              <a:srgbClr val="FF6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09000" y="4634865"/>
            <a:ext cx="2997200" cy="497205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9641840" y="4792027"/>
            <a:ext cx="164592" cy="164592"/>
          </a:xfrm>
          <a:prstGeom prst="ellipse">
            <a:avLst/>
          </a:prstGeom>
          <a:noFill/>
          <a:ln w="7620">
            <a:solidFill>
              <a:srgbClr val="00ED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9870440" y="4792027"/>
            <a:ext cx="164592" cy="164592"/>
          </a:xfrm>
          <a:prstGeom prst="ellipse">
            <a:avLst/>
          </a:prstGeom>
          <a:noFill/>
          <a:ln w="762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0099040" y="4792027"/>
            <a:ext cx="164592" cy="164592"/>
          </a:xfrm>
          <a:prstGeom prst="ellipse">
            <a:avLst/>
          </a:prstGeom>
          <a:noFill/>
          <a:ln w="7620">
            <a:solidFill>
              <a:srgbClr val="FF6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685800" y="5132070"/>
            <a:ext cx="1828800" cy="497205"/>
          </a:xfrm>
          <a:prstGeom prst="rect">
            <a:avLst/>
          </a:prstGeom>
          <a:solidFill>
            <a:srgbClr val="EEECE6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22960" y="5132070"/>
            <a:ext cx="1554480" cy="4972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Heritage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514600" y="5132070"/>
            <a:ext cx="2997200" cy="497205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3647440" y="5289232"/>
            <a:ext cx="164592" cy="164592"/>
          </a:xfrm>
          <a:prstGeom prst="ellipse">
            <a:avLst/>
          </a:prstGeom>
          <a:noFill/>
          <a:ln w="7620">
            <a:solidFill>
              <a:srgbClr val="00ED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3876040" y="5289232"/>
            <a:ext cx="164592" cy="164592"/>
          </a:xfrm>
          <a:prstGeom prst="ellipse">
            <a:avLst/>
          </a:prstGeom>
          <a:noFill/>
          <a:ln w="762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104640" y="5289232"/>
            <a:ext cx="164592" cy="164592"/>
          </a:xfrm>
          <a:prstGeom prst="ellipse">
            <a:avLst/>
          </a:prstGeom>
          <a:noFill/>
          <a:ln w="7620">
            <a:solidFill>
              <a:srgbClr val="FF6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5511800" y="5132070"/>
            <a:ext cx="2997200" cy="497205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6644640" y="5289232"/>
            <a:ext cx="164592" cy="164592"/>
          </a:xfrm>
          <a:prstGeom prst="ellipse">
            <a:avLst/>
          </a:prstGeom>
          <a:noFill/>
          <a:ln w="7620">
            <a:solidFill>
              <a:srgbClr val="00ED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6873240" y="5289232"/>
            <a:ext cx="164592" cy="164592"/>
          </a:xfrm>
          <a:prstGeom prst="ellipse">
            <a:avLst/>
          </a:prstGeom>
          <a:noFill/>
          <a:ln w="762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7101840" y="5289232"/>
            <a:ext cx="164592" cy="164592"/>
          </a:xfrm>
          <a:prstGeom prst="ellipse">
            <a:avLst/>
          </a:prstGeom>
          <a:noFill/>
          <a:ln w="7620">
            <a:solidFill>
              <a:srgbClr val="FF6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8509000" y="5132070"/>
            <a:ext cx="2997200" cy="497205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9641840" y="5289232"/>
            <a:ext cx="164592" cy="164592"/>
          </a:xfrm>
          <a:prstGeom prst="ellipse">
            <a:avLst/>
          </a:prstGeom>
          <a:noFill/>
          <a:ln w="7620">
            <a:solidFill>
              <a:srgbClr val="00ED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9870440" y="5289232"/>
            <a:ext cx="164592" cy="164592"/>
          </a:xfrm>
          <a:prstGeom prst="ellipse">
            <a:avLst/>
          </a:prstGeom>
          <a:noFill/>
          <a:ln w="762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0099040" y="5289232"/>
            <a:ext cx="164592" cy="164592"/>
          </a:xfrm>
          <a:prstGeom prst="ellipse">
            <a:avLst/>
          </a:prstGeom>
          <a:noFill/>
          <a:ln w="7620">
            <a:solidFill>
              <a:srgbClr val="FF6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85800" y="5629275"/>
            <a:ext cx="1828800" cy="497205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22960" y="5629275"/>
            <a:ext cx="1554480" cy="4972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Population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514600" y="5629275"/>
            <a:ext cx="2997200" cy="497205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3647440" y="5786437"/>
            <a:ext cx="164592" cy="164592"/>
          </a:xfrm>
          <a:prstGeom prst="ellipse">
            <a:avLst/>
          </a:prstGeom>
          <a:noFill/>
          <a:ln w="7620">
            <a:solidFill>
              <a:srgbClr val="00ED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3876040" y="5786437"/>
            <a:ext cx="164592" cy="164592"/>
          </a:xfrm>
          <a:prstGeom prst="ellipse">
            <a:avLst/>
          </a:prstGeom>
          <a:noFill/>
          <a:ln w="762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4104640" y="5786437"/>
            <a:ext cx="164592" cy="164592"/>
          </a:xfrm>
          <a:prstGeom prst="ellipse">
            <a:avLst/>
          </a:prstGeom>
          <a:noFill/>
          <a:ln w="7620">
            <a:solidFill>
              <a:srgbClr val="FF6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5511800" y="5629275"/>
            <a:ext cx="2997200" cy="497205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6644640" y="5786437"/>
            <a:ext cx="164592" cy="164592"/>
          </a:xfrm>
          <a:prstGeom prst="ellipse">
            <a:avLst/>
          </a:prstGeom>
          <a:noFill/>
          <a:ln w="7620">
            <a:solidFill>
              <a:srgbClr val="00ED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6873240" y="5786437"/>
            <a:ext cx="164592" cy="164592"/>
          </a:xfrm>
          <a:prstGeom prst="ellipse">
            <a:avLst/>
          </a:prstGeom>
          <a:noFill/>
          <a:ln w="762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7101840" y="5786437"/>
            <a:ext cx="164592" cy="164592"/>
          </a:xfrm>
          <a:prstGeom prst="ellipse">
            <a:avLst/>
          </a:prstGeom>
          <a:noFill/>
          <a:ln w="7620">
            <a:solidFill>
              <a:srgbClr val="FF6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8509000" y="5629275"/>
            <a:ext cx="2997200" cy="497205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9641840" y="5786437"/>
            <a:ext cx="164592" cy="164592"/>
          </a:xfrm>
          <a:prstGeom prst="ellipse">
            <a:avLst/>
          </a:prstGeom>
          <a:noFill/>
          <a:ln w="7620">
            <a:solidFill>
              <a:srgbClr val="00ED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9870440" y="5786437"/>
            <a:ext cx="164592" cy="164592"/>
          </a:xfrm>
          <a:prstGeom prst="ellipse">
            <a:avLst/>
          </a:prstGeom>
          <a:noFill/>
          <a:ln w="762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0099040" y="5786437"/>
            <a:ext cx="164592" cy="164592"/>
          </a:xfrm>
          <a:prstGeom prst="ellipse">
            <a:avLst/>
          </a:prstGeom>
          <a:noFill/>
          <a:ln w="7620">
            <a:solidFill>
              <a:srgbClr val="FF6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7" name="Picture 12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128" name="TextBox 12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99  ·  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Harvesting our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57575"/>
                </a:solidFill>
                <a:latin typeface="Palatino Linotype"/>
              </a:rPr>
              <a:t>After running the canvas, capture three layers of insight.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Stand-out signals, surprising stories, ideas to remember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26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26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Concrete adaptations to our context, our team, our constraints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26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126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126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126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26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126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26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280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80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Skills, allies, resources, decisions still to secure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480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480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480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480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480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480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480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35304" y="1801368"/>
            <a:ext cx="2450592" cy="42062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inspires 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32960" y="1801368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How to apply it here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2600" y="1801368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we need to be autonomous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Each participant fills a copy. Then debrief together to surface patterns and next steps.</a:t>
            </a:r>
          </a:p>
        </p:txBody>
      </p:sp>
      <p:pic>
        <p:nvPicPr>
          <p:cNvPr id="37" name="Picture 3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