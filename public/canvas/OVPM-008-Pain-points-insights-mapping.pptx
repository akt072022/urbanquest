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08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Pain points &amp; insights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localized, color-coded diagnostic map that directly links community grievances and negative emotions to specific spatial configurations.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Social / 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Regulation</a:t>
            </a:r>
          </a:p>
        </p:txBody>
      </p:sp>
      <p:pic>
        <p:nvPicPr>
          <p:cNvPr id="12" name="Picture 11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08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Pain points &amp; insights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Celebrating complaints and discomfort not as administrative nuisances, but as the raw, precious material required to tangibly improve urban hospitality.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localized, color-coded diagnostic map that directly links community grievances and negative emotions to specific spatial configurations.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30 minutes of mapping, 45 minutes of action planning
Material  ·  Large printed satellite maps, multi-colored dot stickers, wall space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Community Mapping using digital or physical maps allows citizens to place "pop-up bubbles" or stickers directly on areas that need attention, instantly generating a visual heat map of urban pain points for planners. By visually isolating urban pain points, planning teams bypass technical jargon and rapidly define exact locations for tactical interventions.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08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PAIN POINTS &amp; INSIGHTS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Color-coded sticker map · pain points to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30 minutes of mapping, 45 minutes of action planning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400800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Aerial photo / satellite 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57575"/>
                </a:solidFill>
                <a:latin typeface="Source Sans Pro"/>
              </a:rPr>
              <a:t>Print large. Place stickers exactly where the friction lives.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.0" y="2423160"/>
            <a:ext cx="0.0" cy="356616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286000.0" y="2423160"/>
            <a:ext cx="0.0" cy="356616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0.0" y="2423160"/>
            <a:ext cx="0.0" cy="356616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114800.0" y="2423160"/>
            <a:ext cx="0.0" cy="356616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0.0" y="2423160"/>
            <a:ext cx="0.0" cy="356616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943600.0" y="2423160"/>
            <a:ext cx="0.0" cy="356616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3136392.0"/>
            <a:ext cx="5852160" cy="0.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1520" y="3849624.0"/>
            <a:ext cx="5852160" cy="0.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" y="4562856.0"/>
            <a:ext cx="5852160" cy="0.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31520" y="5276088.0"/>
            <a:ext cx="5852160" cy="0.0"/>
          </a:xfrm>
          <a:prstGeom prst="line">
            <a:avLst/>
          </a:prstGeom>
          <a:ln w="381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086600" y="1417320"/>
            <a:ext cx="46482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600200"/>
            <a:ext cx="419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Sticker legend</a:t>
            </a:r>
          </a:p>
        </p:txBody>
      </p:sp>
      <p:sp>
        <p:nvSpPr>
          <p:cNvPr id="21" name="Oval 20"/>
          <p:cNvSpPr/>
          <p:nvPr/>
        </p:nvSpPr>
        <p:spPr>
          <a:xfrm>
            <a:off x="7360920" y="2093976"/>
            <a:ext cx="201168" cy="201168"/>
          </a:xfrm>
          <a:prstGeom prst="ellipse">
            <a:avLst/>
          </a:prstGeom>
          <a:solidFill>
            <a:srgbClr val="FF674D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2057400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Danger / discomfort</a:t>
            </a:r>
          </a:p>
        </p:txBody>
      </p:sp>
      <p:sp>
        <p:nvSpPr>
          <p:cNvPr id="23" name="Oval 22"/>
          <p:cNvSpPr/>
          <p:nvPr/>
        </p:nvSpPr>
        <p:spPr>
          <a:xfrm>
            <a:off x="7360920" y="2441448"/>
            <a:ext cx="201168" cy="201168"/>
          </a:xfrm>
          <a:prstGeom prst="ellipse">
            <a:avLst/>
          </a:prstGeom>
          <a:solidFill>
            <a:srgbClr val="FFD200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404872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Urgent repair</a:t>
            </a:r>
          </a:p>
        </p:txBody>
      </p:sp>
      <p:sp>
        <p:nvSpPr>
          <p:cNvPr id="25" name="Oval 24"/>
          <p:cNvSpPr/>
          <p:nvPr/>
        </p:nvSpPr>
        <p:spPr>
          <a:xfrm>
            <a:off x="7360920" y="2788920"/>
            <a:ext cx="201168" cy="201168"/>
          </a:xfrm>
          <a:prstGeom prst="ellipse">
            <a:avLst/>
          </a:prstGeom>
          <a:solidFill>
            <a:srgbClr val="00ED93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2752344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Safe / happy</a:t>
            </a:r>
          </a:p>
        </p:txBody>
      </p:sp>
      <p:sp>
        <p:nvSpPr>
          <p:cNvPr id="27" name="Oval 26"/>
          <p:cNvSpPr/>
          <p:nvPr/>
        </p:nvSpPr>
        <p:spPr>
          <a:xfrm>
            <a:off x="7360920" y="3136392"/>
            <a:ext cx="201168" cy="201168"/>
          </a:xfrm>
          <a:prstGeom prst="ellipse">
            <a:avLst/>
          </a:prstGeom>
          <a:solidFill>
            <a:srgbClr val="EF98D6"/>
          </a:solidFill>
          <a:ln w="6350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0" y="3099816"/>
            <a:ext cx="38709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0D0D0D"/>
                </a:solidFill>
                <a:latin typeface="Source Sans Pro"/>
              </a:rPr>
              <a:t>Memory anchor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3703320"/>
            <a:ext cx="464820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0" y="3840480"/>
            <a:ext cx="4191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0D0D0D"/>
                </a:solidFill>
                <a:latin typeface="Palatino Linotype"/>
              </a:rPr>
              <a:t>Top 5 tactical interventions</a:t>
            </a:r>
          </a:p>
        </p:txBody>
      </p:sp>
      <p:sp>
        <p:nvSpPr>
          <p:cNvPr id="31" name="Oval 30"/>
          <p:cNvSpPr/>
          <p:nvPr/>
        </p:nvSpPr>
        <p:spPr>
          <a:xfrm>
            <a:off x="7360920" y="4334256"/>
            <a:ext cx="237744" cy="237744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60920" y="4334256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26680" y="4544568"/>
            <a:ext cx="373380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360920" y="4681728"/>
            <a:ext cx="237744" cy="237744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60920" y="4681728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726680" y="4892040"/>
            <a:ext cx="373380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360920" y="5029200"/>
            <a:ext cx="237744" cy="237744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5029200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3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726680" y="5239512"/>
            <a:ext cx="373380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7360920" y="5376672"/>
            <a:ext cx="237744" cy="237744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60920" y="5376672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4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7726680" y="5586984"/>
            <a:ext cx="373380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7360920" y="5724144"/>
            <a:ext cx="237744" cy="237744"/>
          </a:xfrm>
          <a:prstGeom prst="ellipse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60920" y="5724144"/>
            <a:ext cx="2377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0D0D0D"/>
                </a:solidFill>
                <a:latin typeface="Palatino Linotype"/>
              </a:rPr>
              <a:t>5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726680" y="5934456"/>
            <a:ext cx="373380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stakeholder explains their sticker out loud · root causes surface in the conversation.</a:t>
            </a:r>
          </a:p>
        </p:txBody>
      </p:sp>
      <p:pic>
        <p:nvPicPr>
          <p:cNvPr id="47" name="Picture 4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08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