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126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EU Mission 100 Climate-Neutral &amp; Smart Cities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formally approved Climate City Contract (CCC) comprising a 2030 Climate Neutrality Commitment, an Action Plan, and an Investment Plan, resulting in the award of the EU Mission Label.</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G3 · Proof of Anchoring</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1" name="Rounded Rectangle 10"/>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2" name="Rounded Rectangle 11"/>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126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EU Mission 100 Climate-Neutral &amp; Smart Cities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Upgrading the civic pact, asking citizens, businesses, and institutions to sign a binding, unapologetic contract with the climate, turning 2030 from a distant deadline into an immediate, shared mandate.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formally approved Climate City Contract (CCC) comprising a 2030 Climate Neutrality Commitment, an Action Plan, and an Investment Plan, resulting in the award of the EU Mission Label.</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12 to 18 months for CCC preparation
Material  ·  Climate City Contract templates, EU Mission completeness checklists, financial modeling tools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Over 100 cities have successfully earned the EU Mission Label. In places like Milan and Valencia, the Climate City Contracts have actively integrated philanthropic networks to fund specific actions, such as urban forestation and renewable energy communities, demonstrating that profound climate neutrality requires a vast, collaborative web of actors far beyond the municipal administration.</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126  ·  ANIMATION CANVAS  ·  </a:t>
            </a:r>
            <a:r>
              <a:rPr sz="1000" b="1" i="0">
                <a:solidFill>
                  <a:srgbClr val="0D0D0D"/>
                </a:solidFill>
                <a:latin typeface="Source Sans Pro"/>
              </a:rPr>
              <a:t>EU MISSION 100 CLIMATE-NEUTRAL &amp; SMART CITIES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Climate City Contract · commitment · plan · investment</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12 to 18 months for CCC preparation</a:t>
            </a:r>
          </a:p>
        </p:txBody>
      </p:sp>
      <p:sp>
        <p:nvSpPr>
          <p:cNvPr id="6" name="Rounded Rectangle 5"/>
          <p:cNvSpPr/>
          <p:nvPr/>
        </p:nvSpPr>
        <p:spPr>
          <a:xfrm>
            <a:off x="457200"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2030 Climate Neutrality Commitment</a:t>
            </a:r>
          </a:p>
        </p:txBody>
      </p:sp>
      <p:sp>
        <p:nvSpPr>
          <p:cNvPr id="8" name="TextBox 7"/>
          <p:cNvSpPr txBox="1"/>
          <p:nvPr/>
        </p:nvSpPr>
        <p:spPr>
          <a:xfrm>
            <a:off x="685800"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binding political pledge</a:t>
            </a:r>
          </a:p>
        </p:txBody>
      </p:sp>
      <p:cxnSp>
        <p:nvCxnSpPr>
          <p:cNvPr id="9" name="Connector 8"/>
          <p:cNvCxnSpPr/>
          <p:nvPr/>
        </p:nvCxnSpPr>
        <p:spPr>
          <a:xfrm>
            <a:off x="685800.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17748"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546348"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Action Plan</a:t>
            </a:r>
          </a:p>
        </p:txBody>
      </p:sp>
      <p:sp>
        <p:nvSpPr>
          <p:cNvPr id="22" name="TextBox 21"/>
          <p:cNvSpPr txBox="1"/>
          <p:nvPr/>
        </p:nvSpPr>
        <p:spPr>
          <a:xfrm>
            <a:off x="3546348"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cross-sector measures</a:t>
            </a:r>
          </a:p>
        </p:txBody>
      </p:sp>
      <p:cxnSp>
        <p:nvCxnSpPr>
          <p:cNvPr id="23" name="Connector 22"/>
          <p:cNvCxnSpPr/>
          <p:nvPr/>
        </p:nvCxnSpPr>
        <p:spPr>
          <a:xfrm>
            <a:off x="3546348.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546348.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546348.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546348.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546348.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546348.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546348.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546348.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546348.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546348.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546348.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178296"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406896"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Investment Plan</a:t>
            </a:r>
          </a:p>
        </p:txBody>
      </p:sp>
      <p:sp>
        <p:nvSpPr>
          <p:cNvPr id="36" name="TextBox 35"/>
          <p:cNvSpPr txBox="1"/>
          <p:nvPr/>
        </p:nvSpPr>
        <p:spPr>
          <a:xfrm>
            <a:off x="6406896"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public · private · philanthropic</a:t>
            </a:r>
          </a:p>
        </p:txBody>
      </p:sp>
      <p:cxnSp>
        <p:nvCxnSpPr>
          <p:cNvPr id="37" name="Connector 36"/>
          <p:cNvCxnSpPr/>
          <p:nvPr/>
        </p:nvCxnSpPr>
        <p:spPr>
          <a:xfrm>
            <a:off x="6406896.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406896.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406896.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406896.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406896.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406896.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406896.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406896.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406896.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406896.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406896.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038844"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67444" y="1600200"/>
            <a:ext cx="223875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Multi-level governance</a:t>
            </a:r>
          </a:p>
        </p:txBody>
      </p:sp>
      <p:sp>
        <p:nvSpPr>
          <p:cNvPr id="50" name="TextBox 49"/>
          <p:cNvSpPr txBox="1"/>
          <p:nvPr/>
        </p:nvSpPr>
        <p:spPr>
          <a:xfrm>
            <a:off x="9267444"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municipal × regional × national × EU</a:t>
            </a:r>
          </a:p>
        </p:txBody>
      </p:sp>
      <p:cxnSp>
        <p:nvCxnSpPr>
          <p:cNvPr id="51" name="Connector 50"/>
          <p:cNvCxnSpPr/>
          <p:nvPr/>
        </p:nvCxnSpPr>
        <p:spPr>
          <a:xfrm>
            <a:off x="9267444.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267444.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267444.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267444.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267444.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67444.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267444.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267444.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267444.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267444.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267444.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62" name="Picture 61"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3" name="TextBox 62"/>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126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