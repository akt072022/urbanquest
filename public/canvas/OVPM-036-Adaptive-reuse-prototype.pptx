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36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Adaptive reuse prototype</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functional, temporary activation of a historic space that proves the economic and social viability of a new use while measuring its impact on the building's physical integrity,.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1" name="Rounded Rectangle 10"/>
          <p:cNvSpPr/>
          <p:nvPr/>
        </p:nvSpPr>
        <p:spPr>
          <a:xfrm>
            <a:off x="3145536"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36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Adaptive reuse prototype</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Breathing new life into abandoned heritage, proving that historic buildings are not dead museums but resilient structures capable of serving contemporary human needs.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functional, temporary activation of a historic space that proves the economic and social viability of a new use while measuring its impact on the building's physical integrity,.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months to 1 year of temporary activation
Material  ·  Temporary architectural installations, financial feasibility models, monitoring sensors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During the CLIC project's Local Action Plan in Salerno, the municipality focused on the adaptive reuse of the "Edifici Mondo" complex. By engaging over 50 civic organizations, the city tested proposals for transforming the abandoned site into a vital place that reconnected the community to the city-port, evaluating options like a "House of Music" or a solidarity condominium based on circular financial and social indicators,,,.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36  ·  ANIMATION CANVAS  ·  </a:t>
            </a:r>
            <a:r>
              <a:rPr sz="1000" b="1" i="0">
                <a:solidFill>
                  <a:srgbClr val="0D0D0D"/>
                </a:solidFill>
                <a:latin typeface="Source Sans Pro"/>
              </a:rPr>
              <a:t>ADAPTIVE REUSE PROTOTYPE</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Existing fabric → new programme · reversible · respectful</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months to 1 year of temporary activation</a:t>
            </a:r>
          </a:p>
        </p:txBody>
      </p:sp>
      <p:sp>
        <p:nvSpPr>
          <p:cNvPr id="6" name="Rounded Rectangle 5"/>
          <p:cNvSpPr/>
          <p:nvPr/>
        </p:nvSpPr>
        <p:spPr>
          <a:xfrm>
            <a:off x="457200" y="1417320"/>
            <a:ext cx="3625088"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67888"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Existing fabric</a:t>
            </a:r>
          </a:p>
        </p:txBody>
      </p:sp>
      <p:sp>
        <p:nvSpPr>
          <p:cNvPr id="8" name="TextBox 7"/>
          <p:cNvSpPr txBox="1"/>
          <p:nvPr/>
        </p:nvSpPr>
        <p:spPr>
          <a:xfrm>
            <a:off x="685800" y="2103120"/>
            <a:ext cx="3167888" cy="640080"/>
          </a:xfrm>
          <a:prstGeom prst="rect">
            <a:avLst/>
          </a:prstGeom>
          <a:noFill/>
        </p:spPr>
        <p:txBody>
          <a:bodyPr wrap="square" lIns="0" rIns="0" tIns="0" bIns="0">
            <a:spAutoFit/>
          </a:bodyPr>
          <a:lstStyle/>
          <a:p>
            <a:pPr algn="l"/>
            <a:r>
              <a:rPr sz="1100" b="0" i="1">
                <a:solidFill>
                  <a:srgbClr val="757575"/>
                </a:solidFill>
                <a:latin typeface="Palatino Linotype"/>
              </a:rPr>
              <a:t>What is here today
structure, character, memory</a:t>
            </a:r>
          </a:p>
        </p:txBody>
      </p:sp>
      <p:sp>
        <p:nvSpPr>
          <p:cNvPr id="9" name="Rectangle 8"/>
          <p:cNvSpPr/>
          <p:nvPr/>
        </p:nvSpPr>
        <p:spPr>
          <a:xfrm>
            <a:off x="731520" y="2880360"/>
            <a:ext cx="3076448" cy="1097280"/>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880360"/>
            <a:ext cx="3076448" cy="1097280"/>
          </a:xfrm>
          <a:prstGeom prst="rect">
            <a:avLst/>
          </a:prstGeom>
          <a:noFill/>
        </p:spPr>
        <p:txBody>
          <a:bodyPr wrap="square" lIns="0" rIns="0" tIns="0" bIns="0" anchor="ctr">
            <a:spAutoFit/>
          </a:bodyPr>
          <a:lstStyle/>
          <a:p>
            <a:pPr algn="ctr"/>
            <a:r>
              <a:rPr sz="1000" b="0" i="1">
                <a:solidFill>
                  <a:srgbClr val="757575"/>
                </a:solidFill>
                <a:latin typeface="Palatino Linotype"/>
              </a:rPr>
              <a:t>sketch / photo</a:t>
            </a:r>
          </a:p>
        </p:txBody>
      </p:sp>
      <p:sp>
        <p:nvSpPr>
          <p:cNvPr id="11" name="Rounded Rectangle 10"/>
          <p:cNvSpPr/>
          <p:nvPr/>
        </p:nvSpPr>
        <p:spPr>
          <a:xfrm>
            <a:off x="4283456" y="1417320"/>
            <a:ext cx="3625088"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12056" y="1600200"/>
            <a:ext cx="3167888"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Intervention</a:t>
            </a:r>
          </a:p>
        </p:txBody>
      </p:sp>
      <p:sp>
        <p:nvSpPr>
          <p:cNvPr id="13" name="TextBox 12"/>
          <p:cNvSpPr txBox="1"/>
          <p:nvPr/>
        </p:nvSpPr>
        <p:spPr>
          <a:xfrm>
            <a:off x="4512056" y="2103120"/>
            <a:ext cx="3167888" cy="640080"/>
          </a:xfrm>
          <a:prstGeom prst="rect">
            <a:avLst/>
          </a:prstGeom>
          <a:noFill/>
        </p:spPr>
        <p:txBody>
          <a:bodyPr wrap="square" lIns="0" rIns="0" tIns="0" bIns="0">
            <a:spAutoFit/>
          </a:bodyPr>
          <a:lstStyle/>
          <a:p>
            <a:pPr algn="l"/>
            <a:r>
              <a:rPr sz="1100" b="0" i="1">
                <a:solidFill>
                  <a:srgbClr val="757575"/>
                </a:solidFill>
                <a:latin typeface="Palatino Linotype"/>
              </a:rPr>
              <a:t>What we add, remove, preserve
always reversible</a:t>
            </a:r>
          </a:p>
        </p:txBody>
      </p:sp>
      <p:sp>
        <p:nvSpPr>
          <p:cNvPr id="14" name="Rectangle 13"/>
          <p:cNvSpPr/>
          <p:nvPr/>
        </p:nvSpPr>
        <p:spPr>
          <a:xfrm>
            <a:off x="4557776" y="2880360"/>
            <a:ext cx="3076448" cy="1097280"/>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7776" y="2880360"/>
            <a:ext cx="3076448" cy="1097280"/>
          </a:xfrm>
          <a:prstGeom prst="rect">
            <a:avLst/>
          </a:prstGeom>
          <a:noFill/>
        </p:spPr>
        <p:txBody>
          <a:bodyPr wrap="square" lIns="0" rIns="0" tIns="0" bIns="0" anchor="ctr">
            <a:spAutoFit/>
          </a:bodyPr>
          <a:lstStyle/>
          <a:p>
            <a:pPr algn="ctr"/>
            <a:r>
              <a:rPr sz="1000" b="0" i="1">
                <a:solidFill>
                  <a:srgbClr val="757575"/>
                </a:solidFill>
                <a:latin typeface="Palatino Linotype"/>
              </a:rPr>
              <a:t>sketch / photo</a:t>
            </a:r>
          </a:p>
        </p:txBody>
      </p:sp>
      <p:sp>
        <p:nvSpPr>
          <p:cNvPr id="16" name="Rounded Rectangle 15"/>
          <p:cNvSpPr/>
          <p:nvPr/>
        </p:nvSpPr>
        <p:spPr>
          <a:xfrm>
            <a:off x="8109712" y="1417320"/>
            <a:ext cx="3625088"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38312" y="1600200"/>
            <a:ext cx="3167888"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New programme</a:t>
            </a:r>
          </a:p>
        </p:txBody>
      </p:sp>
      <p:sp>
        <p:nvSpPr>
          <p:cNvPr id="18" name="TextBox 17"/>
          <p:cNvSpPr txBox="1"/>
          <p:nvPr/>
        </p:nvSpPr>
        <p:spPr>
          <a:xfrm>
            <a:off x="8338312" y="2103120"/>
            <a:ext cx="3167888" cy="640080"/>
          </a:xfrm>
          <a:prstGeom prst="rect">
            <a:avLst/>
          </a:prstGeom>
          <a:noFill/>
        </p:spPr>
        <p:txBody>
          <a:bodyPr wrap="square" lIns="0" rIns="0" tIns="0" bIns="0">
            <a:spAutoFit/>
          </a:bodyPr>
          <a:lstStyle/>
          <a:p>
            <a:pPr algn="l"/>
            <a:r>
              <a:rPr sz="1100" b="0" i="1">
                <a:solidFill>
                  <a:srgbClr val="757575"/>
                </a:solidFill>
                <a:latin typeface="Palatino Linotype"/>
              </a:rPr>
              <a:t>What it becomes
uses, users, rhythms</a:t>
            </a:r>
          </a:p>
        </p:txBody>
      </p:sp>
      <p:sp>
        <p:nvSpPr>
          <p:cNvPr id="19" name="Rectangle 18"/>
          <p:cNvSpPr/>
          <p:nvPr/>
        </p:nvSpPr>
        <p:spPr>
          <a:xfrm>
            <a:off x="8384032" y="2880360"/>
            <a:ext cx="3076448" cy="1097280"/>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4032" y="2880360"/>
            <a:ext cx="3076448" cy="1097280"/>
          </a:xfrm>
          <a:prstGeom prst="rect">
            <a:avLst/>
          </a:prstGeom>
          <a:noFill/>
        </p:spPr>
        <p:txBody>
          <a:bodyPr wrap="square" lIns="0" rIns="0" tIns="0" bIns="0" anchor="ctr">
            <a:spAutoFit/>
          </a:bodyPr>
          <a:lstStyle/>
          <a:p>
            <a:pPr algn="ctr"/>
            <a:r>
              <a:rPr sz="1000" b="0" i="1">
                <a:solidFill>
                  <a:srgbClr val="757575"/>
                </a:solidFill>
                <a:latin typeface="Palatino Linotype"/>
              </a:rPr>
              <a:t>sketch / photo</a:t>
            </a:r>
          </a:p>
        </p:txBody>
      </p:sp>
      <p:sp>
        <p:nvSpPr>
          <p:cNvPr id="21" name="Rounded Rectangle 20"/>
          <p:cNvSpPr/>
          <p:nvPr/>
        </p:nvSpPr>
        <p:spPr>
          <a:xfrm>
            <a:off x="457200" y="4343400"/>
            <a:ext cx="11277600" cy="16459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434840"/>
            <a:ext cx="7315200" cy="274320"/>
          </a:xfrm>
          <a:prstGeom prst="rect">
            <a:avLst/>
          </a:prstGeom>
          <a:noFill/>
        </p:spPr>
        <p:txBody>
          <a:bodyPr wrap="square" lIns="0" rIns="0" tIns="0" bIns="0">
            <a:spAutoFit/>
          </a:bodyPr>
          <a:lstStyle/>
          <a:p>
            <a:pPr algn="l"/>
            <a:r>
              <a:rPr sz="1300" b="0" i="1">
                <a:solidFill>
                  <a:srgbClr val="0D0D0D"/>
                </a:solidFill>
                <a:latin typeface="Palatino Linotype"/>
              </a:rPr>
              <a:t>Conservation principles</a:t>
            </a:r>
          </a:p>
        </p:txBody>
      </p:sp>
      <p:sp>
        <p:nvSpPr>
          <p:cNvPr id="23" name="Rounded Rectangle 22"/>
          <p:cNvSpPr/>
          <p:nvPr/>
        </p:nvSpPr>
        <p:spPr>
          <a:xfrm>
            <a:off x="685800" y="4846320"/>
            <a:ext cx="207264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Reversibility</a:t>
            </a:r>
          </a:p>
        </p:txBody>
      </p:sp>
      <p:sp>
        <p:nvSpPr>
          <p:cNvPr id="24" name="Rounded Rectangle 23"/>
          <p:cNvSpPr/>
          <p:nvPr/>
        </p:nvSpPr>
        <p:spPr>
          <a:xfrm>
            <a:off x="2849880" y="4846320"/>
            <a:ext cx="207264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Minimal intervention</a:t>
            </a:r>
          </a:p>
        </p:txBody>
      </p:sp>
      <p:sp>
        <p:nvSpPr>
          <p:cNvPr id="25" name="Rounded Rectangle 24"/>
          <p:cNvSpPr/>
          <p:nvPr/>
        </p:nvSpPr>
        <p:spPr>
          <a:xfrm>
            <a:off x="5013960" y="4846320"/>
            <a:ext cx="207264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Distinguishability</a:t>
            </a:r>
          </a:p>
        </p:txBody>
      </p:sp>
      <p:sp>
        <p:nvSpPr>
          <p:cNvPr id="26" name="Rounded Rectangle 25"/>
          <p:cNvSpPr/>
          <p:nvPr/>
        </p:nvSpPr>
        <p:spPr>
          <a:xfrm>
            <a:off x="7178040" y="4846320"/>
            <a:ext cx="207264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Compatibility</a:t>
            </a:r>
          </a:p>
        </p:txBody>
      </p:sp>
      <p:sp>
        <p:nvSpPr>
          <p:cNvPr id="27" name="Rounded Rectangle 26"/>
          <p:cNvSpPr/>
          <p:nvPr/>
        </p:nvSpPr>
        <p:spPr>
          <a:xfrm>
            <a:off x="9342120" y="4846320"/>
            <a:ext cx="207264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Documentation</a:t>
            </a:r>
          </a:p>
        </p:txBody>
      </p:sp>
      <p:pic>
        <p:nvPicPr>
          <p:cNvPr id="28" name="Picture 27"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9" name="TextBox 28"/>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36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