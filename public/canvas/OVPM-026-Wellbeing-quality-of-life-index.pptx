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Wellbeing &amp; quality of life index</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structured, data-driven index combining objective indicators (e.g., air quality, housing) and subjective indicators (e.g., life satisfaction, civic trust) to evaluate the true prosperity of a city.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Wellbeing &amp; quality of life index</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Acknowledging that a city's success is not measured in concrete poured or capital accumulated, but in the everyday health, joy, and security of its inhabitants.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structured, data-driven index combining objective indicators (e.g., air quality, housing) and subjective indicators (e.g., life satisfaction, civic trust) to evaluate the true prosperity of a city.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for data collection and baseline index creation
Material  ·  Standardized indicator frameworks (OECD, BES), municipal data, survey software</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implementation of indicators for the assessment of urban quality of life in Saudi cities, where frameworks define specific criteria (like housing, transport, and safety) to tangibly measure and improve the living conditions of the population. Similarly, in Italy, the BES (Equitable and Sustainable Well-being) index is used to measure social, environmental, and economic aspects alongside GDP to guide policy.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26  ·  ANIMATION CANVAS  ·  </a:t>
            </a:r>
            <a:r>
              <a:rPr sz="1000" b="1" i="0">
                <a:solidFill>
                  <a:srgbClr val="0D0D0D"/>
                </a:solidFill>
                <a:latin typeface="Source Sans Pro"/>
              </a:rPr>
              <a:t>WELLBEING &amp; QUALITY OF LIFE INDEX</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Wellbeing index · 8 domains × subjective + objective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for data collection and baseline index cr…</a:t>
            </a:r>
          </a:p>
        </p:txBody>
      </p:sp>
      <p:sp>
        <p:nvSpPr>
          <p:cNvPr id="6" name="Oval 5"/>
          <p:cNvSpPr/>
          <p:nvPr/>
        </p:nvSpPr>
        <p:spPr>
          <a:xfrm>
            <a:off x="3035808" y="3447288"/>
            <a:ext cx="694944" cy="694944"/>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688336" y="3099816"/>
            <a:ext cx="1389888" cy="1389888"/>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40864" y="2752344"/>
            <a:ext cx="2084832" cy="2084832"/>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93392" y="2404872"/>
            <a:ext cx="2779776" cy="2779776"/>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20" y="2057400"/>
            <a:ext cx="3474720" cy="347472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383280" y="2057400"/>
            <a:ext cx="0" cy="173736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155448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Health</a:t>
            </a:r>
          </a:p>
        </p:txBody>
      </p:sp>
      <p:cxnSp>
        <p:nvCxnSpPr>
          <p:cNvPr id="13" name="Connector 12"/>
          <p:cNvCxnSpPr/>
          <p:nvPr/>
        </p:nvCxnSpPr>
        <p:spPr>
          <a:xfrm flipV="1">
            <a:off x="3383280" y="2566260"/>
            <a:ext cx="1228499" cy="12285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30330" y="2170469"/>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Education</a:t>
            </a:r>
          </a:p>
        </p:txBody>
      </p:sp>
      <p:cxnSp>
        <p:nvCxnSpPr>
          <p:cNvPr id="15" name="Connector 14"/>
          <p:cNvCxnSpPr/>
          <p:nvPr/>
        </p:nvCxnSpPr>
        <p:spPr>
          <a:xfrm>
            <a:off x="3383280" y="3794760"/>
            <a:ext cx="1737360" cy="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46320" y="365760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Income</a:t>
            </a:r>
          </a:p>
        </p:txBody>
      </p:sp>
      <p:cxnSp>
        <p:nvCxnSpPr>
          <p:cNvPr id="17" name="Connector 16"/>
          <p:cNvCxnSpPr/>
          <p:nvPr/>
        </p:nvCxnSpPr>
        <p:spPr>
          <a:xfrm>
            <a:off x="3383280" y="3794760"/>
            <a:ext cx="1228499" cy="1228499"/>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30330" y="514473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Housing</a:t>
            </a:r>
          </a:p>
        </p:txBody>
      </p:sp>
      <p:cxnSp>
        <p:nvCxnSpPr>
          <p:cNvPr id="19" name="Connector 18"/>
          <p:cNvCxnSpPr/>
          <p:nvPr/>
        </p:nvCxnSpPr>
        <p:spPr>
          <a:xfrm>
            <a:off x="3383280" y="3794760"/>
            <a:ext cx="0" cy="173736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743200" y="576072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Environment</a:t>
            </a:r>
          </a:p>
        </p:txBody>
      </p:sp>
      <p:cxnSp>
        <p:nvCxnSpPr>
          <p:cNvPr id="21" name="Connector 20"/>
          <p:cNvCxnSpPr/>
          <p:nvPr/>
        </p:nvCxnSpPr>
        <p:spPr>
          <a:xfrm flipH="1">
            <a:off x="2154780" y="3794760"/>
            <a:ext cx="1228500" cy="1228499"/>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56069" y="514473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Social ties</a:t>
            </a:r>
          </a:p>
        </p:txBody>
      </p:sp>
      <p:cxnSp>
        <p:nvCxnSpPr>
          <p:cNvPr id="23" name="Connector 22"/>
          <p:cNvCxnSpPr/>
          <p:nvPr/>
        </p:nvCxnSpPr>
        <p:spPr>
          <a:xfrm flipH="1">
            <a:off x="1645920" y="3794760"/>
            <a:ext cx="1737360" cy="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3657600"/>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Safety</a:t>
            </a:r>
          </a:p>
        </p:txBody>
      </p:sp>
      <p:cxnSp>
        <p:nvCxnSpPr>
          <p:cNvPr id="25" name="Connector 24"/>
          <p:cNvCxnSpPr/>
          <p:nvPr/>
        </p:nvCxnSpPr>
        <p:spPr>
          <a:xfrm flipH="1" flipV="1">
            <a:off x="2154780" y="2566260"/>
            <a:ext cx="1228500" cy="12285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256069" y="2170469"/>
            <a:ext cx="1280160" cy="274320"/>
          </a:xfrm>
          <a:prstGeom prst="rect">
            <a:avLst/>
          </a:prstGeom>
          <a:noFill/>
        </p:spPr>
        <p:txBody>
          <a:bodyPr wrap="square" lIns="0" rIns="0" tIns="0" bIns="0" anchor="ctr">
            <a:spAutoFit/>
          </a:bodyPr>
          <a:lstStyle/>
          <a:p>
            <a:pPr algn="ctr"/>
            <a:r>
              <a:rPr sz="950" b="1" i="0">
                <a:solidFill>
                  <a:srgbClr val="0D0D0D"/>
                </a:solidFill>
                <a:latin typeface="Source Sans Pro"/>
              </a:rPr>
              <a:t>Time use</a:t>
            </a:r>
          </a:p>
        </p:txBody>
      </p:sp>
      <p:sp>
        <p:nvSpPr>
          <p:cNvPr id="27" name="Oval 26"/>
          <p:cNvSpPr/>
          <p:nvPr/>
        </p:nvSpPr>
        <p:spPr>
          <a:xfrm>
            <a:off x="3343280" y="3754760"/>
            <a:ext cx="80000" cy="8000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417320"/>
            <a:ext cx="53340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54480"/>
            <a:ext cx="4968240" cy="274320"/>
          </a:xfrm>
          <a:prstGeom prst="rect">
            <a:avLst/>
          </a:prstGeom>
          <a:noFill/>
        </p:spPr>
        <p:txBody>
          <a:bodyPr wrap="square" lIns="0" rIns="0" tIns="0" bIns="0">
            <a:spAutoFit/>
          </a:bodyPr>
          <a:lstStyle/>
          <a:p>
            <a:pPr algn="l"/>
            <a:r>
              <a:rPr sz="1300" b="0" i="1">
                <a:solidFill>
                  <a:srgbClr val="0D0D0D"/>
                </a:solidFill>
                <a:latin typeface="Palatino Linotype"/>
              </a:rPr>
              <a:t>Domain × indicator scoring</a:t>
            </a:r>
          </a:p>
        </p:txBody>
      </p:sp>
      <p:sp>
        <p:nvSpPr>
          <p:cNvPr id="30" name="Rectangle 29"/>
          <p:cNvSpPr/>
          <p:nvPr/>
        </p:nvSpPr>
        <p:spPr>
          <a:xfrm>
            <a:off x="6583680" y="1920240"/>
            <a:ext cx="2011680" cy="274320"/>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1920240"/>
            <a:ext cx="2011680" cy="274320"/>
          </a:xfrm>
          <a:prstGeom prst="rect">
            <a:avLst/>
          </a:prstGeom>
          <a:noFill/>
        </p:spPr>
        <p:txBody>
          <a:bodyPr wrap="square" lIns="0" rIns="0" tIns="0" bIns="0" anchor="ctr">
            <a:spAutoFit/>
          </a:bodyPr>
          <a:lstStyle/>
          <a:p>
            <a:pPr algn="ctr"/>
            <a:r>
              <a:rPr sz="900" b="1" i="0">
                <a:solidFill>
                  <a:srgbClr val="FFD200"/>
                </a:solidFill>
                <a:latin typeface="Source Sans Pro"/>
              </a:rPr>
              <a:t>Domain</a:t>
            </a:r>
          </a:p>
        </p:txBody>
      </p:sp>
      <p:sp>
        <p:nvSpPr>
          <p:cNvPr id="32" name="Rectangle 31"/>
          <p:cNvSpPr/>
          <p:nvPr/>
        </p:nvSpPr>
        <p:spPr>
          <a:xfrm>
            <a:off x="8595360" y="1920240"/>
            <a:ext cx="1478280" cy="274320"/>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0" y="1920240"/>
            <a:ext cx="1478280" cy="274320"/>
          </a:xfrm>
          <a:prstGeom prst="rect">
            <a:avLst/>
          </a:prstGeom>
          <a:noFill/>
        </p:spPr>
        <p:txBody>
          <a:bodyPr wrap="square" lIns="0" rIns="0" tIns="0" bIns="0" anchor="ctr">
            <a:spAutoFit/>
          </a:bodyPr>
          <a:lstStyle/>
          <a:p>
            <a:pPr algn="ctr"/>
            <a:r>
              <a:rPr sz="900" b="1" i="0">
                <a:solidFill>
                  <a:srgbClr val="0D0D0D"/>
                </a:solidFill>
                <a:latin typeface="Source Sans Pro"/>
              </a:rPr>
              <a:t>Objective</a:t>
            </a:r>
          </a:p>
        </p:txBody>
      </p:sp>
      <p:sp>
        <p:nvSpPr>
          <p:cNvPr id="34" name="Rectangle 33"/>
          <p:cNvSpPr/>
          <p:nvPr/>
        </p:nvSpPr>
        <p:spPr>
          <a:xfrm>
            <a:off x="10073640" y="1920240"/>
            <a:ext cx="1478280" cy="274320"/>
          </a:xfrm>
          <a:prstGeom prst="rect">
            <a:avLst/>
          </a:prstGeom>
          <a:solidFill>
            <a:srgbClr val="EF98D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73640" y="1920240"/>
            <a:ext cx="1478280" cy="274320"/>
          </a:xfrm>
          <a:prstGeom prst="rect">
            <a:avLst/>
          </a:prstGeom>
          <a:noFill/>
        </p:spPr>
        <p:txBody>
          <a:bodyPr wrap="square" lIns="0" rIns="0" tIns="0" bIns="0" anchor="ctr">
            <a:spAutoFit/>
          </a:bodyPr>
          <a:lstStyle/>
          <a:p>
            <a:pPr algn="ctr"/>
            <a:r>
              <a:rPr sz="900" b="1" i="0">
                <a:solidFill>
                  <a:srgbClr val="0D0D0D"/>
                </a:solidFill>
                <a:latin typeface="Source Sans Pro"/>
              </a:rPr>
              <a:t>Subjective</a:t>
            </a:r>
          </a:p>
        </p:txBody>
      </p:sp>
      <p:sp>
        <p:nvSpPr>
          <p:cNvPr id="36" name="Rectangle 35"/>
          <p:cNvSpPr/>
          <p:nvPr/>
        </p:nvSpPr>
        <p:spPr>
          <a:xfrm>
            <a:off x="6583680" y="2194560"/>
            <a:ext cx="201168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2194560"/>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Health</a:t>
            </a:r>
          </a:p>
        </p:txBody>
      </p:sp>
      <p:sp>
        <p:nvSpPr>
          <p:cNvPr id="38" name="Rectangle 37"/>
          <p:cNvSpPr/>
          <p:nvPr/>
        </p:nvSpPr>
        <p:spPr>
          <a:xfrm>
            <a:off x="8595360" y="2194560"/>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73640" y="2194560"/>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0" y="2487168"/>
            <a:ext cx="20116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2487168"/>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Education</a:t>
            </a:r>
          </a:p>
        </p:txBody>
      </p:sp>
      <p:sp>
        <p:nvSpPr>
          <p:cNvPr id="42" name="Rectangle 41"/>
          <p:cNvSpPr/>
          <p:nvPr/>
        </p:nvSpPr>
        <p:spPr>
          <a:xfrm>
            <a:off x="8595360" y="2487168"/>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073640" y="2487168"/>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0" y="2779776"/>
            <a:ext cx="201168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2779776"/>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Income</a:t>
            </a:r>
          </a:p>
        </p:txBody>
      </p:sp>
      <p:sp>
        <p:nvSpPr>
          <p:cNvPr id="46" name="Rectangle 45"/>
          <p:cNvSpPr/>
          <p:nvPr/>
        </p:nvSpPr>
        <p:spPr>
          <a:xfrm>
            <a:off x="8595360" y="2779776"/>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73640" y="2779776"/>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0" y="3072384"/>
            <a:ext cx="20116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0" y="3072384"/>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Housing</a:t>
            </a:r>
          </a:p>
        </p:txBody>
      </p:sp>
      <p:sp>
        <p:nvSpPr>
          <p:cNvPr id="50" name="Rectangle 49"/>
          <p:cNvSpPr/>
          <p:nvPr/>
        </p:nvSpPr>
        <p:spPr>
          <a:xfrm>
            <a:off x="8595360" y="3072384"/>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073640" y="3072384"/>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83680" y="3364992"/>
            <a:ext cx="201168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0" y="3364992"/>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Environment</a:t>
            </a:r>
          </a:p>
        </p:txBody>
      </p:sp>
      <p:sp>
        <p:nvSpPr>
          <p:cNvPr id="54" name="Rectangle 53"/>
          <p:cNvSpPr/>
          <p:nvPr/>
        </p:nvSpPr>
        <p:spPr>
          <a:xfrm>
            <a:off x="8595360" y="3364992"/>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073640" y="3364992"/>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83680" y="3657600"/>
            <a:ext cx="20116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3657600"/>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Social ties</a:t>
            </a:r>
          </a:p>
        </p:txBody>
      </p:sp>
      <p:sp>
        <p:nvSpPr>
          <p:cNvPr id="58" name="Rectangle 57"/>
          <p:cNvSpPr/>
          <p:nvPr/>
        </p:nvSpPr>
        <p:spPr>
          <a:xfrm>
            <a:off x="8595360" y="3657600"/>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073640" y="3657600"/>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0" y="3950208"/>
            <a:ext cx="201168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0" y="3950208"/>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Safety</a:t>
            </a:r>
          </a:p>
        </p:txBody>
      </p:sp>
      <p:sp>
        <p:nvSpPr>
          <p:cNvPr id="62" name="Rectangle 61"/>
          <p:cNvSpPr/>
          <p:nvPr/>
        </p:nvSpPr>
        <p:spPr>
          <a:xfrm>
            <a:off x="8595360" y="3950208"/>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073640" y="3950208"/>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583680" y="4242816"/>
            <a:ext cx="20116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75120" y="4242816"/>
            <a:ext cx="1828800" cy="292608"/>
          </a:xfrm>
          <a:prstGeom prst="rect">
            <a:avLst/>
          </a:prstGeom>
          <a:noFill/>
        </p:spPr>
        <p:txBody>
          <a:bodyPr wrap="square" lIns="0" rIns="0" tIns="0" bIns="0" anchor="ctr">
            <a:spAutoFit/>
          </a:bodyPr>
          <a:lstStyle/>
          <a:p>
            <a:pPr algn="l"/>
            <a:r>
              <a:rPr sz="900" b="0" i="0">
                <a:solidFill>
                  <a:srgbClr val="0D0D0D"/>
                </a:solidFill>
                <a:latin typeface="Source Sans Pro"/>
              </a:rPr>
              <a:t>Time use</a:t>
            </a:r>
          </a:p>
        </p:txBody>
      </p:sp>
      <p:sp>
        <p:nvSpPr>
          <p:cNvPr id="66" name="Rectangle 65"/>
          <p:cNvSpPr/>
          <p:nvPr/>
        </p:nvSpPr>
        <p:spPr>
          <a:xfrm>
            <a:off x="8595360" y="4242816"/>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073640" y="4242816"/>
            <a:ext cx="147828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9" name="TextBox 6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