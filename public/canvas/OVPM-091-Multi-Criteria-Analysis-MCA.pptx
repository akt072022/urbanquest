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91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5200" b="0" i="0">
                <a:solidFill>
                  <a:srgbClr val="0D0D0D"/>
                </a:solidFill>
                <a:latin typeface="Palatino Linotype"/>
              </a:rPr>
              <a:t>Multi-Criteria Analysis (MCA)</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weighted scoring matrix and ranking report that systematically compares alternative project scenarios against a diverse set of qualitative and quantitative objectives.</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G2 · Proof of Fit</a:t>
            </a:r>
          </a:p>
        </p:txBody>
      </p:sp>
      <p:sp>
        <p:nvSpPr>
          <p:cNvPr id="8" name="Rounded Rectangle 7"/>
          <p:cNvSpPr/>
          <p:nvPr/>
        </p:nvSpPr>
        <p:spPr>
          <a:xfrm>
            <a:off x="2880360" y="5212080"/>
            <a:ext cx="2194560" cy="384048"/>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G3 · Proof of Anchoring</a:t>
            </a:r>
          </a:p>
        </p:txBody>
      </p:sp>
      <p:sp>
        <p:nvSpPr>
          <p:cNvPr id="9" name="TextBox 8"/>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10" name="Rounded Rectangle 9"/>
          <p:cNvSpPr/>
          <p:nvPr/>
        </p:nvSpPr>
        <p:spPr>
          <a:xfrm>
            <a:off x="5486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Spatial</a:t>
            </a:r>
          </a:p>
        </p:txBody>
      </p:sp>
      <p:sp>
        <p:nvSpPr>
          <p:cNvPr id="11" name="Rounded Rectangle 10"/>
          <p:cNvSpPr/>
          <p:nvPr/>
        </p:nvSpPr>
        <p:spPr>
          <a:xfrm>
            <a:off x="1847088"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Environmental</a:t>
            </a:r>
          </a:p>
        </p:txBody>
      </p:sp>
      <p:sp>
        <p:nvSpPr>
          <p:cNvPr id="12" name="Rounded Rectangle 11"/>
          <p:cNvSpPr/>
          <p:nvPr/>
        </p:nvSpPr>
        <p:spPr>
          <a:xfrm>
            <a:off x="3332988"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Social / User</a:t>
            </a:r>
          </a:p>
        </p:txBody>
      </p:sp>
      <p:pic>
        <p:nvPicPr>
          <p:cNvPr id="13" name="Picture 12"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4" name="TextBox 13"/>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91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Multi-Criteria Analysis (MCA)</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G2 · Proof of Fit</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Acknowledging that urban truth is plural; it creates a democratic scale where the aesthetic quality of a plaza and the ecological resilience of a neighborhood can be weighed fairly against construction costs.</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weighted scoring matrix and ranking report that systematically compares alternative project scenarios against a diverse set of qualitative and quantitative objectives.</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3 to 6 weeks
Material  ·  Decision-making software, stakeholder survey data, scoring rubrics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The European Investment Bank utilizes a tailor-made MCA tool for planning-led, integrated urban development projects where standard quantitative estimates are challenging. By applying criteria such as "climate resilience" and "social inclusion," MCA translates performance into numerical values to ensure projects meet broad societal objectives. In Milan's Rogoredo area, an MCA was combined with financial analysis to rank 11 alternative regeneration scenarios based on environm…</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91  ·  ANIMATION CANVAS  ·  </a:t>
            </a:r>
            <a:r>
              <a:rPr sz="1000" b="1" i="0">
                <a:solidFill>
                  <a:srgbClr val="0D0D0D"/>
                </a:solidFill>
                <a:latin typeface="Source Sans Pro"/>
              </a:rPr>
              <a:t>MULTI-CRITERIA ANALYSIS (MCA)</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Options × criteria × weighted scoring</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3 to 6 weeks</a:t>
            </a:r>
          </a:p>
        </p:txBody>
      </p:sp>
      <p:sp>
        <p:nvSpPr>
          <p:cNvPr id="6" name="Rounded Rectangle 5"/>
          <p:cNvSpPr/>
          <p:nvPr/>
        </p:nvSpPr>
        <p:spPr>
          <a:xfrm>
            <a:off x="457200" y="1417320"/>
            <a:ext cx="11277600"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783080"/>
            <a:ext cx="2164080" cy="384048"/>
          </a:xfrm>
          <a:prstGeom prst="rect">
            <a:avLst/>
          </a:prstGeom>
          <a:solidFill>
            <a:srgbClr val="0D0D0D"/>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783080"/>
            <a:ext cx="2164080" cy="384048"/>
          </a:xfrm>
          <a:prstGeom prst="rect">
            <a:avLst/>
          </a:prstGeom>
          <a:noFill/>
        </p:spPr>
        <p:txBody>
          <a:bodyPr wrap="square" lIns="0" rIns="0" tIns="0" bIns="0" anchor="ctr">
            <a:spAutoFit/>
          </a:bodyPr>
          <a:lstStyle/>
          <a:p>
            <a:pPr algn="ctr"/>
            <a:r>
              <a:rPr sz="1000" b="1" i="0">
                <a:solidFill>
                  <a:srgbClr val="FFD200"/>
                </a:solidFill>
                <a:latin typeface="Source Sans Pro"/>
              </a:rPr>
              <a:t>Criterion</a:t>
            </a:r>
          </a:p>
        </p:txBody>
      </p:sp>
      <p:sp>
        <p:nvSpPr>
          <p:cNvPr id="9" name="Rectangle 8"/>
          <p:cNvSpPr/>
          <p:nvPr/>
        </p:nvSpPr>
        <p:spPr>
          <a:xfrm>
            <a:off x="2849880" y="1783080"/>
            <a:ext cx="2164080" cy="384048"/>
          </a:xfrm>
          <a:prstGeom prst="rect">
            <a:avLst/>
          </a:prstGeom>
          <a:solidFill>
            <a:srgbClr val="FFD200"/>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49880" y="1783080"/>
            <a:ext cx="2164080" cy="384048"/>
          </a:xfrm>
          <a:prstGeom prst="rect">
            <a:avLst/>
          </a:prstGeom>
          <a:noFill/>
        </p:spPr>
        <p:txBody>
          <a:bodyPr wrap="square" lIns="0" rIns="0" tIns="0" bIns="0" anchor="ctr">
            <a:spAutoFit/>
          </a:bodyPr>
          <a:lstStyle/>
          <a:p>
            <a:pPr algn="ctr"/>
            <a:r>
              <a:rPr sz="1000" b="1" i="0">
                <a:solidFill>
                  <a:srgbClr val="0D0D0D"/>
                </a:solidFill>
                <a:latin typeface="Source Sans Pro"/>
              </a:rPr>
              <a:t>Weight (%)</a:t>
            </a:r>
          </a:p>
        </p:txBody>
      </p:sp>
      <p:sp>
        <p:nvSpPr>
          <p:cNvPr id="11" name="Rectangle 10"/>
          <p:cNvSpPr/>
          <p:nvPr/>
        </p:nvSpPr>
        <p:spPr>
          <a:xfrm>
            <a:off x="5013960" y="1783080"/>
            <a:ext cx="2164080" cy="384048"/>
          </a:xfrm>
          <a:prstGeom prst="rect">
            <a:avLst/>
          </a:prstGeom>
          <a:solidFill>
            <a:srgbClr val="FFD200"/>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13960" y="1783080"/>
            <a:ext cx="2164080" cy="384048"/>
          </a:xfrm>
          <a:prstGeom prst="rect">
            <a:avLst/>
          </a:prstGeom>
          <a:noFill/>
        </p:spPr>
        <p:txBody>
          <a:bodyPr wrap="square" lIns="0" rIns="0" tIns="0" bIns="0" anchor="ctr">
            <a:spAutoFit/>
          </a:bodyPr>
          <a:lstStyle/>
          <a:p>
            <a:pPr algn="ctr"/>
            <a:r>
              <a:rPr sz="1000" b="1" i="0">
                <a:solidFill>
                  <a:srgbClr val="0D0D0D"/>
                </a:solidFill>
                <a:latin typeface="Source Sans Pro"/>
              </a:rPr>
              <a:t>Option A</a:t>
            </a:r>
          </a:p>
        </p:txBody>
      </p:sp>
      <p:sp>
        <p:nvSpPr>
          <p:cNvPr id="13" name="Rectangle 12"/>
          <p:cNvSpPr/>
          <p:nvPr/>
        </p:nvSpPr>
        <p:spPr>
          <a:xfrm>
            <a:off x="7178040" y="1783080"/>
            <a:ext cx="2164080" cy="384048"/>
          </a:xfrm>
          <a:prstGeom prst="rect">
            <a:avLst/>
          </a:prstGeom>
          <a:solidFill>
            <a:srgbClr val="FFD200"/>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78040" y="1783080"/>
            <a:ext cx="2164080" cy="384048"/>
          </a:xfrm>
          <a:prstGeom prst="rect">
            <a:avLst/>
          </a:prstGeom>
          <a:noFill/>
        </p:spPr>
        <p:txBody>
          <a:bodyPr wrap="square" lIns="0" rIns="0" tIns="0" bIns="0" anchor="ctr">
            <a:spAutoFit/>
          </a:bodyPr>
          <a:lstStyle/>
          <a:p>
            <a:pPr algn="ctr"/>
            <a:r>
              <a:rPr sz="1000" b="1" i="0">
                <a:solidFill>
                  <a:srgbClr val="0D0D0D"/>
                </a:solidFill>
                <a:latin typeface="Source Sans Pro"/>
              </a:rPr>
              <a:t>Option B</a:t>
            </a:r>
          </a:p>
        </p:txBody>
      </p:sp>
      <p:sp>
        <p:nvSpPr>
          <p:cNvPr id="15" name="Rectangle 14"/>
          <p:cNvSpPr/>
          <p:nvPr/>
        </p:nvSpPr>
        <p:spPr>
          <a:xfrm>
            <a:off x="9342120" y="1783080"/>
            <a:ext cx="2164080" cy="384048"/>
          </a:xfrm>
          <a:prstGeom prst="rect">
            <a:avLst/>
          </a:prstGeom>
          <a:solidFill>
            <a:srgbClr val="FFD200"/>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42120" y="1783080"/>
            <a:ext cx="2164080" cy="384048"/>
          </a:xfrm>
          <a:prstGeom prst="rect">
            <a:avLst/>
          </a:prstGeom>
          <a:noFill/>
        </p:spPr>
        <p:txBody>
          <a:bodyPr wrap="square" lIns="0" rIns="0" tIns="0" bIns="0" anchor="ctr">
            <a:spAutoFit/>
          </a:bodyPr>
          <a:lstStyle/>
          <a:p>
            <a:pPr algn="ctr"/>
            <a:r>
              <a:rPr sz="1000" b="1" i="0">
                <a:solidFill>
                  <a:srgbClr val="0D0D0D"/>
                </a:solidFill>
                <a:latin typeface="Source Sans Pro"/>
              </a:rPr>
              <a:t>Option C</a:t>
            </a:r>
          </a:p>
        </p:txBody>
      </p:sp>
      <p:sp>
        <p:nvSpPr>
          <p:cNvPr id="17" name="Rectangle 16"/>
          <p:cNvSpPr/>
          <p:nvPr/>
        </p:nvSpPr>
        <p:spPr>
          <a:xfrm>
            <a:off x="685800" y="21671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2167128"/>
            <a:ext cx="1889760" cy="457200"/>
          </a:xfrm>
          <a:prstGeom prst="rect">
            <a:avLst/>
          </a:prstGeom>
          <a:noFill/>
        </p:spPr>
        <p:txBody>
          <a:bodyPr wrap="square" lIns="0" rIns="0" tIns="0" bIns="0" anchor="ctr">
            <a:spAutoFit/>
          </a:bodyPr>
          <a:lstStyle/>
          <a:p>
            <a:pPr algn="l"/>
            <a:r>
              <a:rPr sz="1000" b="0" i="0">
                <a:solidFill>
                  <a:srgbClr val="0D0D0D"/>
                </a:solidFill>
                <a:latin typeface="Source Sans Pro"/>
              </a:rPr>
              <a:t>Cost</a:t>
            </a:r>
          </a:p>
        </p:txBody>
      </p:sp>
      <p:sp>
        <p:nvSpPr>
          <p:cNvPr id="19" name="Rectangle 18"/>
          <p:cNvSpPr/>
          <p:nvPr/>
        </p:nvSpPr>
        <p:spPr>
          <a:xfrm>
            <a:off x="2849880" y="21671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13960" y="21671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21671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342120" y="21671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85800" y="26243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2624328"/>
            <a:ext cx="1889760" cy="457200"/>
          </a:xfrm>
          <a:prstGeom prst="rect">
            <a:avLst/>
          </a:prstGeom>
          <a:noFill/>
        </p:spPr>
        <p:txBody>
          <a:bodyPr wrap="square" lIns="0" rIns="0" tIns="0" bIns="0" anchor="ctr">
            <a:spAutoFit/>
          </a:bodyPr>
          <a:lstStyle/>
          <a:p>
            <a:pPr algn="l"/>
            <a:r>
              <a:rPr sz="1000" b="0" i="0">
                <a:solidFill>
                  <a:srgbClr val="0D0D0D"/>
                </a:solidFill>
                <a:latin typeface="Source Sans Pro"/>
              </a:rPr>
              <a:t>Schedule</a:t>
            </a:r>
          </a:p>
        </p:txBody>
      </p:sp>
      <p:sp>
        <p:nvSpPr>
          <p:cNvPr id="25" name="Rectangle 24"/>
          <p:cNvSpPr/>
          <p:nvPr/>
        </p:nvSpPr>
        <p:spPr>
          <a:xfrm>
            <a:off x="2849880" y="26243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13960" y="26243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178040" y="26243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342120" y="26243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85800" y="30815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3081528"/>
            <a:ext cx="1889760" cy="457200"/>
          </a:xfrm>
          <a:prstGeom prst="rect">
            <a:avLst/>
          </a:prstGeom>
          <a:noFill/>
        </p:spPr>
        <p:txBody>
          <a:bodyPr wrap="square" lIns="0" rIns="0" tIns="0" bIns="0" anchor="ctr">
            <a:spAutoFit/>
          </a:bodyPr>
          <a:lstStyle/>
          <a:p>
            <a:pPr algn="l"/>
            <a:r>
              <a:rPr sz="1000" b="0" i="0">
                <a:solidFill>
                  <a:srgbClr val="0D0D0D"/>
                </a:solidFill>
                <a:latin typeface="Source Sans Pro"/>
              </a:rPr>
              <a:t>Heritage value</a:t>
            </a:r>
          </a:p>
        </p:txBody>
      </p:sp>
      <p:sp>
        <p:nvSpPr>
          <p:cNvPr id="31" name="Rectangle 30"/>
          <p:cNvSpPr/>
          <p:nvPr/>
        </p:nvSpPr>
        <p:spPr>
          <a:xfrm>
            <a:off x="2849880" y="30815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13960" y="30815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178040" y="30815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342120" y="30815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85800" y="35387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2960" y="3538728"/>
            <a:ext cx="1889760" cy="457200"/>
          </a:xfrm>
          <a:prstGeom prst="rect">
            <a:avLst/>
          </a:prstGeom>
          <a:noFill/>
        </p:spPr>
        <p:txBody>
          <a:bodyPr wrap="square" lIns="0" rIns="0" tIns="0" bIns="0" anchor="ctr">
            <a:spAutoFit/>
          </a:bodyPr>
          <a:lstStyle/>
          <a:p>
            <a:pPr algn="l"/>
            <a:r>
              <a:rPr sz="1000" b="0" i="0">
                <a:solidFill>
                  <a:srgbClr val="0D0D0D"/>
                </a:solidFill>
                <a:latin typeface="Source Sans Pro"/>
              </a:rPr>
              <a:t>Climate impact</a:t>
            </a:r>
          </a:p>
        </p:txBody>
      </p:sp>
      <p:sp>
        <p:nvSpPr>
          <p:cNvPr id="37" name="Rectangle 36"/>
          <p:cNvSpPr/>
          <p:nvPr/>
        </p:nvSpPr>
        <p:spPr>
          <a:xfrm>
            <a:off x="2849880" y="35387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13960" y="35387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178040" y="35387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342120" y="35387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85800" y="39959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2960" y="3995928"/>
            <a:ext cx="1889760" cy="457200"/>
          </a:xfrm>
          <a:prstGeom prst="rect">
            <a:avLst/>
          </a:prstGeom>
          <a:noFill/>
        </p:spPr>
        <p:txBody>
          <a:bodyPr wrap="square" lIns="0" rIns="0" tIns="0" bIns="0" anchor="ctr">
            <a:spAutoFit/>
          </a:bodyPr>
          <a:lstStyle/>
          <a:p>
            <a:pPr algn="l"/>
            <a:r>
              <a:rPr sz="1000" b="0" i="0">
                <a:solidFill>
                  <a:srgbClr val="0D0D0D"/>
                </a:solidFill>
                <a:latin typeface="Source Sans Pro"/>
              </a:rPr>
              <a:t>Social inclusion</a:t>
            </a:r>
          </a:p>
        </p:txBody>
      </p:sp>
      <p:sp>
        <p:nvSpPr>
          <p:cNvPr id="43" name="Rectangle 42"/>
          <p:cNvSpPr/>
          <p:nvPr/>
        </p:nvSpPr>
        <p:spPr>
          <a:xfrm>
            <a:off x="2849880" y="39959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013960" y="39959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178040" y="39959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342120" y="39959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85800" y="44531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2960" y="4453128"/>
            <a:ext cx="1889760" cy="457200"/>
          </a:xfrm>
          <a:prstGeom prst="rect">
            <a:avLst/>
          </a:prstGeom>
          <a:noFill/>
        </p:spPr>
        <p:txBody>
          <a:bodyPr wrap="square" lIns="0" rIns="0" tIns="0" bIns="0" anchor="ctr">
            <a:spAutoFit/>
          </a:bodyPr>
          <a:lstStyle/>
          <a:p>
            <a:pPr algn="l"/>
            <a:r>
              <a:rPr sz="1000" b="0" i="0">
                <a:solidFill>
                  <a:srgbClr val="0D0D0D"/>
                </a:solidFill>
                <a:latin typeface="Source Sans Pro"/>
              </a:rPr>
              <a:t>Economic return</a:t>
            </a:r>
          </a:p>
        </p:txBody>
      </p:sp>
      <p:sp>
        <p:nvSpPr>
          <p:cNvPr id="49" name="Rectangle 48"/>
          <p:cNvSpPr/>
          <p:nvPr/>
        </p:nvSpPr>
        <p:spPr>
          <a:xfrm>
            <a:off x="2849880" y="44531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013960" y="44531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7178040" y="44531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9342120" y="44531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85800" y="49103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22960" y="4910328"/>
            <a:ext cx="1889760" cy="457200"/>
          </a:xfrm>
          <a:prstGeom prst="rect">
            <a:avLst/>
          </a:prstGeom>
          <a:noFill/>
        </p:spPr>
        <p:txBody>
          <a:bodyPr wrap="square" lIns="0" rIns="0" tIns="0" bIns="0" anchor="ctr">
            <a:spAutoFit/>
          </a:bodyPr>
          <a:lstStyle/>
          <a:p>
            <a:pPr algn="l"/>
            <a:r>
              <a:rPr sz="1000" b="0" i="0">
                <a:solidFill>
                  <a:srgbClr val="0D0D0D"/>
                </a:solidFill>
                <a:latin typeface="Source Sans Pro"/>
              </a:rPr>
              <a:t>Risk</a:t>
            </a:r>
          </a:p>
        </p:txBody>
      </p:sp>
      <p:sp>
        <p:nvSpPr>
          <p:cNvPr id="55" name="Rectangle 54"/>
          <p:cNvSpPr/>
          <p:nvPr/>
        </p:nvSpPr>
        <p:spPr>
          <a:xfrm>
            <a:off x="2849880" y="49103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013960" y="49103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7178040" y="49103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9342120" y="49103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85800" y="5367528"/>
            <a:ext cx="2164080" cy="457200"/>
          </a:xfrm>
          <a:prstGeom prst="rect">
            <a:avLst/>
          </a:prstGeom>
          <a:solidFill>
            <a:srgbClr val="FFD200"/>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22960" y="5367528"/>
            <a:ext cx="1889760" cy="457200"/>
          </a:xfrm>
          <a:prstGeom prst="rect">
            <a:avLst/>
          </a:prstGeom>
          <a:noFill/>
        </p:spPr>
        <p:txBody>
          <a:bodyPr wrap="square" lIns="0" rIns="0" tIns="0" bIns="0" anchor="ctr">
            <a:spAutoFit/>
          </a:bodyPr>
          <a:lstStyle/>
          <a:p>
            <a:pPr algn="l"/>
            <a:r>
              <a:rPr sz="1000" b="1" i="0">
                <a:solidFill>
                  <a:srgbClr val="0D0D0D"/>
                </a:solidFill>
                <a:latin typeface="Source Sans Pro"/>
              </a:rPr>
              <a:t>Total weighted score</a:t>
            </a:r>
          </a:p>
        </p:txBody>
      </p:sp>
      <p:sp>
        <p:nvSpPr>
          <p:cNvPr id="61" name="Rectangle 60"/>
          <p:cNvSpPr/>
          <p:nvPr/>
        </p:nvSpPr>
        <p:spPr>
          <a:xfrm>
            <a:off x="2849880" y="5367528"/>
            <a:ext cx="2164080" cy="457200"/>
          </a:xfrm>
          <a:prstGeom prst="rect">
            <a:avLst/>
          </a:prstGeom>
          <a:solidFill>
            <a:srgbClr val="FFD200"/>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5013960" y="5367528"/>
            <a:ext cx="2164080" cy="457200"/>
          </a:xfrm>
          <a:prstGeom prst="rect">
            <a:avLst/>
          </a:prstGeom>
          <a:solidFill>
            <a:srgbClr val="FFD200"/>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7178040" y="5367528"/>
            <a:ext cx="2164080" cy="457200"/>
          </a:xfrm>
          <a:prstGeom prst="rect">
            <a:avLst/>
          </a:prstGeom>
          <a:solidFill>
            <a:srgbClr val="FFD200"/>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9342120" y="5367528"/>
            <a:ext cx="2164080" cy="457200"/>
          </a:xfrm>
          <a:prstGeom prst="rect">
            <a:avLst/>
          </a:prstGeom>
          <a:solidFill>
            <a:srgbClr val="FFD200"/>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5" name="Picture 64"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66" name="TextBox 65"/>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91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