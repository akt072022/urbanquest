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119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Voluntary Local Review (VLR)</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formally published review document that evaluates local progress toward the SDGs, highlighting successes, addressing critical gaps, and detailing future policy realignments.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119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Voluntary Local Review (VLR)</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voluntary act of radical transparency, where a city dares to hold a mirror to itself and publicly measure its complex local reality against its highest global ideals.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formally published review document that evaluates local progress toward the SDGs, highlighting successes, addressing critical gaps, and detailing future policy realignments.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12 months for the review process
Material  ·  European Handbook for SDG Voluntary Local Reviews, stakeholder mapping tools, municipal strategic plans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Cities like Helsinki, Mannheim, and Ghent moved beyond standardized reporting by using VLRs to directly link their SDGs to local strategic plans and stakeholder consultations. This endogenous process transformed the VLR into a powerful mechanism for enhancing municipal accountability, cross-departmental awareness, and civic engagement, demonstrating that global goals must be rooted in local democratic processes,,.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119  ·  ANIMATION CANVAS  ·  </a:t>
            </a:r>
            <a:r>
              <a:rPr sz="1000" b="1" i="0">
                <a:solidFill>
                  <a:srgbClr val="0D0D0D"/>
                </a:solidFill>
                <a:latin typeface="Source Sans Pro"/>
              </a:rPr>
              <a:t>VOLUNTARY LOCAL REVIEW (VLR)</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VLR cycle · align · measure · publish · advocate</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12 months for the review process</a:t>
            </a:r>
          </a:p>
        </p:txBody>
      </p:sp>
      <p:sp>
        <p:nvSpPr>
          <p:cNvPr id="6" name="Rounded Rectangle 5"/>
          <p:cNvSpPr/>
          <p:nvPr/>
        </p:nvSpPr>
        <p:spPr>
          <a:xfrm>
            <a:off x="457200"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Align</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local plan ↔ SDGs</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5638"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4238"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Measure</a:t>
            </a:r>
          </a:p>
        </p:txBody>
      </p:sp>
      <p:sp>
        <p:nvSpPr>
          <p:cNvPr id="22" name="TextBox 21"/>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localized indicators</a:t>
            </a:r>
          </a:p>
        </p:txBody>
      </p:sp>
      <p:cxnSp>
        <p:nvCxnSpPr>
          <p:cNvPr id="23" name="Connector 22"/>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74238.4"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74238.4"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74238.4"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74238.4"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74238.4"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4238.4"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4238.4"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4238.4"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34076"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262676"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Engage</a:t>
            </a:r>
          </a:p>
        </p:txBody>
      </p:sp>
      <p:sp>
        <p:nvSpPr>
          <p:cNvPr id="36" name="TextBox 35"/>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citizens · academics · NGOs</a:t>
            </a:r>
          </a:p>
        </p:txBody>
      </p:sp>
      <p:cxnSp>
        <p:nvCxnSpPr>
          <p:cNvPr id="37" name="Connector 36"/>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262676.8" y="362102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262676.8" y="391363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62676.8" y="420624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62676.8" y="449884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262676.8" y="479145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62676.8" y="508406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62676.8" y="537667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62676.8" y="566928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322515"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551115"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Publish</a:t>
            </a:r>
          </a:p>
        </p:txBody>
      </p:sp>
      <p:sp>
        <p:nvSpPr>
          <p:cNvPr id="50" name="TextBox 49"/>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transparent review document</a:t>
            </a:r>
          </a:p>
        </p:txBody>
      </p:sp>
      <p:cxnSp>
        <p:nvCxnSpPr>
          <p:cNvPr id="51" name="Connector 50"/>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1115.199999999"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51115.199999999"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51115.199999999"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51115.199999999"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51115.199999999"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51115.199999999"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610953"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839553" y="1600200"/>
            <a:ext cx="166664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Advocate</a:t>
            </a:r>
          </a:p>
        </p:txBody>
      </p:sp>
      <p:sp>
        <p:nvSpPr>
          <p:cNvPr id="64" name="TextBox 63"/>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share lessons globally</a:t>
            </a:r>
          </a:p>
        </p:txBody>
      </p:sp>
      <p:cxnSp>
        <p:nvCxnSpPr>
          <p:cNvPr id="65" name="Connector 64"/>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9553.6"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39553.6"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39553.6"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39553.6"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839553.6"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9553.6"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39553.6"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39553.6"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76" name="Picture 75"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7" name="TextBox 76"/>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119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