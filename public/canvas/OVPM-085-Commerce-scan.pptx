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85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Commerce scan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street-level diagnostic report featuring mapped anchor institutions, business density metrics, vacancy rates, and pedestrian footfall counts.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85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Commerce scan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Treating the commercial street not as a static row of buildings, but as a living organism whose pulse can be measured through the rhythmic flow of pedestrians and the diversity of its shopfronts.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street-level diagnostic report featuring mapped anchor institutions, business density metrics, vacancy rates, and pedestrian footfall counts.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3 weeks for field research and mapping
Material  ·  Base maps, field survey sheets, footfall counters, local tax assessor databases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Fareham Borough Council conducts bi-annual Retail Health Checks to classify units and measure vacancy rates. By visually logging whether retail properties are active, vacant, or transitioning, the council utilizes this data to monitor the effectiveness of zoning policies and adapt to out-of-town retail competition over time.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85  ·  ANIMATION CANVAS  ·  </a:t>
            </a:r>
            <a:r>
              <a:rPr sz="1000" b="1" i="0">
                <a:solidFill>
                  <a:srgbClr val="0D0D0D"/>
                </a:solidFill>
                <a:latin typeface="Source Sans Pro"/>
              </a:rPr>
              <a:t>COMMERCE SCAN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Storefront × type × vacancy × foot-traffic</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3 weeks for field research and mapping</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783080"/>
            <a:ext cx="1803400" cy="38404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83080"/>
            <a:ext cx="1803400" cy="384048"/>
          </a:xfrm>
          <a:prstGeom prst="rect">
            <a:avLst/>
          </a:prstGeom>
          <a:noFill/>
        </p:spPr>
        <p:txBody>
          <a:bodyPr wrap="square" lIns="0" rIns="0" tIns="0" bIns="0" anchor="ctr">
            <a:spAutoFit/>
          </a:bodyPr>
          <a:lstStyle/>
          <a:p>
            <a:pPr algn="ctr"/>
            <a:r>
              <a:rPr sz="1000" b="1" i="0">
                <a:solidFill>
                  <a:srgbClr val="FFD200"/>
                </a:solidFill>
                <a:latin typeface="Source Sans Pro"/>
              </a:rPr>
              <a:t>Address</a:t>
            </a:r>
          </a:p>
        </p:txBody>
      </p:sp>
      <p:sp>
        <p:nvSpPr>
          <p:cNvPr id="9" name="Rectangle 8"/>
          <p:cNvSpPr/>
          <p:nvPr/>
        </p:nvSpPr>
        <p:spPr>
          <a:xfrm>
            <a:off x="2489200" y="1783080"/>
            <a:ext cx="180340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9200" y="1783080"/>
            <a:ext cx="1803400" cy="384048"/>
          </a:xfrm>
          <a:prstGeom prst="rect">
            <a:avLst/>
          </a:prstGeom>
          <a:noFill/>
        </p:spPr>
        <p:txBody>
          <a:bodyPr wrap="square" lIns="0" rIns="0" tIns="0" bIns="0" anchor="ctr">
            <a:spAutoFit/>
          </a:bodyPr>
          <a:lstStyle/>
          <a:p>
            <a:pPr algn="ctr"/>
            <a:r>
              <a:rPr sz="1000" b="1" i="0">
                <a:solidFill>
                  <a:srgbClr val="0D0D0D"/>
                </a:solidFill>
                <a:latin typeface="Source Sans Pro"/>
              </a:rPr>
              <a:t>Type</a:t>
            </a:r>
          </a:p>
        </p:txBody>
      </p:sp>
      <p:sp>
        <p:nvSpPr>
          <p:cNvPr id="11" name="Rectangle 10"/>
          <p:cNvSpPr/>
          <p:nvPr/>
        </p:nvSpPr>
        <p:spPr>
          <a:xfrm>
            <a:off x="4292600" y="1783080"/>
            <a:ext cx="180340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2600" y="1783080"/>
            <a:ext cx="1803400" cy="384048"/>
          </a:xfrm>
          <a:prstGeom prst="rect">
            <a:avLst/>
          </a:prstGeom>
          <a:noFill/>
        </p:spPr>
        <p:txBody>
          <a:bodyPr wrap="square" lIns="0" rIns="0" tIns="0" bIns="0" anchor="ctr">
            <a:spAutoFit/>
          </a:bodyPr>
          <a:lstStyle/>
          <a:p>
            <a:pPr algn="ctr"/>
            <a:r>
              <a:rPr sz="1000" b="1" i="0">
                <a:solidFill>
                  <a:srgbClr val="0D0D0D"/>
                </a:solidFill>
                <a:latin typeface="Source Sans Pro"/>
              </a:rPr>
              <a:t>Vacant?</a:t>
            </a:r>
          </a:p>
        </p:txBody>
      </p:sp>
      <p:sp>
        <p:nvSpPr>
          <p:cNvPr id="13" name="Rectangle 12"/>
          <p:cNvSpPr/>
          <p:nvPr/>
        </p:nvSpPr>
        <p:spPr>
          <a:xfrm>
            <a:off x="6096000" y="1783080"/>
            <a:ext cx="180340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0" y="1783080"/>
            <a:ext cx="1803400" cy="384048"/>
          </a:xfrm>
          <a:prstGeom prst="rect">
            <a:avLst/>
          </a:prstGeom>
          <a:noFill/>
        </p:spPr>
        <p:txBody>
          <a:bodyPr wrap="square" lIns="0" rIns="0" tIns="0" bIns="0" anchor="ctr">
            <a:spAutoFit/>
          </a:bodyPr>
          <a:lstStyle/>
          <a:p>
            <a:pPr algn="ctr"/>
            <a:r>
              <a:rPr sz="1000" b="1" i="0">
                <a:solidFill>
                  <a:srgbClr val="0D0D0D"/>
                </a:solidFill>
                <a:latin typeface="Source Sans Pro"/>
              </a:rPr>
              <a:t>Frontage (m)</a:t>
            </a:r>
          </a:p>
        </p:txBody>
      </p:sp>
      <p:sp>
        <p:nvSpPr>
          <p:cNvPr id="15" name="Rectangle 14"/>
          <p:cNvSpPr/>
          <p:nvPr/>
        </p:nvSpPr>
        <p:spPr>
          <a:xfrm>
            <a:off x="7899400" y="1783080"/>
            <a:ext cx="180340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99400" y="1783080"/>
            <a:ext cx="1803400" cy="384048"/>
          </a:xfrm>
          <a:prstGeom prst="rect">
            <a:avLst/>
          </a:prstGeom>
          <a:noFill/>
        </p:spPr>
        <p:txBody>
          <a:bodyPr wrap="square" lIns="0" rIns="0" tIns="0" bIns="0" anchor="ctr">
            <a:spAutoFit/>
          </a:bodyPr>
          <a:lstStyle/>
          <a:p>
            <a:pPr algn="ctr"/>
            <a:r>
              <a:rPr sz="1000" b="1" i="0">
                <a:solidFill>
                  <a:srgbClr val="0D0D0D"/>
                </a:solidFill>
                <a:latin typeface="Source Sans Pro"/>
              </a:rPr>
              <a:t>Foot-traffic</a:t>
            </a:r>
          </a:p>
        </p:txBody>
      </p:sp>
      <p:sp>
        <p:nvSpPr>
          <p:cNvPr id="17" name="Rectangle 16"/>
          <p:cNvSpPr/>
          <p:nvPr/>
        </p:nvSpPr>
        <p:spPr>
          <a:xfrm>
            <a:off x="9702800" y="1783080"/>
            <a:ext cx="180340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02800" y="1783080"/>
            <a:ext cx="1803400" cy="384048"/>
          </a:xfrm>
          <a:prstGeom prst="rect">
            <a:avLst/>
          </a:prstGeom>
          <a:noFill/>
        </p:spPr>
        <p:txBody>
          <a:bodyPr wrap="square" lIns="0" rIns="0" tIns="0" bIns="0" anchor="ctr">
            <a:spAutoFit/>
          </a:bodyPr>
          <a:lstStyle/>
          <a:p>
            <a:pPr algn="ctr"/>
            <a:r>
              <a:rPr sz="1000" b="1" i="0">
                <a:solidFill>
                  <a:srgbClr val="0D0D0D"/>
                </a:solidFill>
                <a:latin typeface="Source Sans Pro"/>
              </a:rPr>
              <a:t>Notes</a:t>
            </a:r>
          </a:p>
        </p:txBody>
      </p:sp>
      <p:sp>
        <p:nvSpPr>
          <p:cNvPr id="19" name="Rectangle 18"/>
          <p:cNvSpPr/>
          <p:nvPr/>
        </p:nvSpPr>
        <p:spPr>
          <a:xfrm>
            <a:off x="685800" y="21671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89200" y="21671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2600" y="21671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6000" y="21671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9400" y="21671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02800" y="21671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26243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89200" y="26243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2600" y="26243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96000" y="26243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9400" y="26243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02800" y="26243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30815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489200" y="30815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2600" y="30815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96000" y="30815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99400" y="30815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02800" y="30815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35387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489200" y="35387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92600" y="35387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6000" y="35387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99400" y="35387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702800" y="35387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5800" y="39959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489200" y="39959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92600" y="39959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096000" y="39959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99400" y="39959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702800" y="39959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85800" y="44531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489200" y="44531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292600" y="44531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96000" y="44531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899400" y="44531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702800" y="44531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85800" y="49103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489200" y="49103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292600" y="49103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096000" y="49103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899400" y="49103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702800" y="4910328"/>
            <a:ext cx="18034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85800" y="53675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489200" y="53675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2600" y="53675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96000" y="53675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899400" y="53675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702800" y="5367528"/>
            <a:ext cx="18034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8" name="TextBox 6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85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