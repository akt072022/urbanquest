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7315200" cy="274320"/>
          </a:xfrm>
          <a:prstGeom prst="rect">
            <a:avLst/>
          </a:prstGeom>
          <a:noFill/>
        </p:spPr>
        <p:txBody>
          <a:bodyPr wrap="square" lIns="0" rIns="0" tIns="0" bIns="0">
            <a:spAutoFit/>
          </a:bodyPr>
          <a:lstStyle/>
          <a:p>
            <a:pPr algn="l"/>
            <a:r>
              <a:rPr sz="1100" b="1" i="0">
                <a:solidFill>
                  <a:srgbClr val="0D0D0D"/>
                </a:solidFill>
                <a:latin typeface="Source Sans Pro"/>
              </a:rPr>
              <a:t>OVPM Co-Design Toolkit  ·  Tool 28 of 133</a:t>
            </a:r>
          </a:p>
        </p:txBody>
      </p:sp>
      <p:sp>
        <p:nvSpPr>
          <p:cNvPr id="4" name="TextBox 3"/>
          <p:cNvSpPr txBox="1"/>
          <p:nvPr/>
        </p:nvSpPr>
        <p:spPr>
          <a:xfrm>
            <a:off x="7985760" y="502920"/>
            <a:ext cx="3657600" cy="274320"/>
          </a:xfrm>
          <a:prstGeom prst="rect">
            <a:avLst/>
          </a:prstGeom>
          <a:noFill/>
        </p:spPr>
        <p:txBody>
          <a:bodyPr wrap="square" lIns="0" rIns="0" tIns="0" bIns="0">
            <a:spAutoFit/>
          </a:bodyPr>
          <a:lstStyle/>
          <a:p>
            <a:pPr algn="r"/>
            <a:r>
              <a:rPr sz="1200" b="0" i="1">
                <a:solidFill>
                  <a:srgbClr val="0D0D0D"/>
                </a:solidFill>
                <a:latin typeface="Palatino Linotype"/>
              </a:rPr>
              <a:t>Method canvas for co-design</a:t>
            </a:r>
          </a:p>
        </p:txBody>
      </p:sp>
      <p:sp>
        <p:nvSpPr>
          <p:cNvPr id="5" name="TextBox 4"/>
          <p:cNvSpPr txBox="1"/>
          <p:nvPr/>
        </p:nvSpPr>
        <p:spPr>
          <a:xfrm>
            <a:off x="548640" y="1554480"/>
            <a:ext cx="11094720" cy="2194560"/>
          </a:xfrm>
          <a:prstGeom prst="rect">
            <a:avLst/>
          </a:prstGeom>
          <a:noFill/>
        </p:spPr>
        <p:txBody>
          <a:bodyPr wrap="square" lIns="0" rIns="0" tIns="0" bIns="0">
            <a:spAutoFit/>
          </a:bodyPr>
          <a:lstStyle/>
          <a:p>
            <a:pPr algn="l"/>
            <a:r>
              <a:rPr sz="4200" b="0" i="0">
                <a:solidFill>
                  <a:srgbClr val="0D0D0D"/>
                </a:solidFill>
                <a:latin typeface="Palatino Linotype"/>
              </a:rPr>
              <a:t>Historic Building Information Modelling (HBIM)</a:t>
            </a:r>
          </a:p>
        </p:txBody>
      </p:sp>
      <p:sp>
        <p:nvSpPr>
          <p:cNvPr id="6" name="TextBox 5"/>
          <p:cNvSpPr txBox="1"/>
          <p:nvPr/>
        </p:nvSpPr>
        <p:spPr>
          <a:xfrm>
            <a:off x="548640" y="3931920"/>
            <a:ext cx="10058400" cy="1280160"/>
          </a:xfrm>
          <a:prstGeom prst="rect">
            <a:avLst/>
          </a:prstGeom>
          <a:noFill/>
        </p:spPr>
        <p:txBody>
          <a:bodyPr wrap="square" lIns="0" rIns="0" tIns="0" bIns="0">
            <a:spAutoFit/>
          </a:bodyPr>
          <a:lstStyle/>
          <a:p>
            <a:pPr algn="l"/>
            <a:r>
              <a:rPr sz="1100" b="1" i="0">
                <a:solidFill>
                  <a:srgbClr val="0D0D0D"/>
                </a:solidFill>
                <a:latin typeface="Source Sans Pro"/>
              </a:rPr>
              <a:t>What this tool produces  ·  </a:t>
            </a:r>
            <a:r>
              <a:rPr sz="1500" b="0" i="1">
                <a:solidFill>
                  <a:srgbClr val="0D0D0D"/>
                </a:solidFill>
                <a:latin typeface="Palatino Linotype"/>
              </a:rPr>
              <a:t>A parametric, 3D digital model of a historic building, semantically enriched with historical documentation, material diagnostics, and long-term maintenance schedules.</a:t>
            </a:r>
          </a:p>
        </p:txBody>
      </p:sp>
      <p:sp>
        <p:nvSpPr>
          <p:cNvPr id="7" name="Rounded Rectangle 6"/>
          <p:cNvSpPr/>
          <p:nvPr/>
        </p:nvSpPr>
        <p:spPr>
          <a:xfrm>
            <a:off x="548640" y="5212080"/>
            <a:ext cx="2194560" cy="384048"/>
          </a:xfrm>
          <a:prstGeom prst="roundRect">
            <a:avLst>
              <a:gd name="adj" fmla="val 50000"/>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FFFFFF"/>
                </a:solidFill>
                <a:latin typeface="Source Sans Pro"/>
              </a:rPr>
              <a:t>G4 · Proof of Sustainability</a:t>
            </a:r>
          </a:p>
        </p:txBody>
      </p:sp>
      <p:sp>
        <p:nvSpPr>
          <p:cNvPr id="8" name="TextBox 7"/>
          <p:cNvSpPr txBox="1"/>
          <p:nvPr/>
        </p:nvSpPr>
        <p:spPr>
          <a:xfrm>
            <a:off x="548640" y="5669280"/>
            <a:ext cx="1828800" cy="274320"/>
          </a:xfrm>
          <a:prstGeom prst="rect">
            <a:avLst/>
          </a:prstGeom>
          <a:noFill/>
        </p:spPr>
        <p:txBody>
          <a:bodyPr wrap="square" lIns="0" rIns="0" tIns="0" bIns="0">
            <a:spAutoFit/>
          </a:bodyPr>
          <a:lstStyle/>
          <a:p>
            <a:pPr algn="l"/>
            <a:r>
              <a:rPr sz="900" b="1" i="0">
                <a:solidFill>
                  <a:srgbClr val="0D0D0D"/>
                </a:solidFill>
                <a:latin typeface="Source Sans Pro"/>
              </a:rPr>
              <a:t>Dimensions</a:t>
            </a:r>
          </a:p>
        </p:txBody>
      </p:sp>
      <p:sp>
        <p:nvSpPr>
          <p:cNvPr id="9" name="Rounded Rectangle 8"/>
          <p:cNvSpPr/>
          <p:nvPr/>
        </p:nvSpPr>
        <p:spPr>
          <a:xfrm>
            <a:off x="548640" y="5943600"/>
            <a:ext cx="1188720" cy="329184"/>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Heritage</a:t>
            </a:r>
          </a:p>
        </p:txBody>
      </p:sp>
      <p:sp>
        <p:nvSpPr>
          <p:cNvPr id="10" name="Rounded Rectangle 9"/>
          <p:cNvSpPr/>
          <p:nvPr/>
        </p:nvSpPr>
        <p:spPr>
          <a:xfrm>
            <a:off x="1847088" y="5943600"/>
            <a:ext cx="1188720" cy="329184"/>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Spatial</a:t>
            </a:r>
          </a:p>
        </p:txBody>
      </p:sp>
      <p:sp>
        <p:nvSpPr>
          <p:cNvPr id="11" name="Rounded Rectangle 10"/>
          <p:cNvSpPr/>
          <p:nvPr/>
        </p:nvSpPr>
        <p:spPr>
          <a:xfrm>
            <a:off x="3145536" y="5943600"/>
            <a:ext cx="1188720" cy="329184"/>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Economic</a:t>
            </a:r>
          </a:p>
        </p:txBody>
      </p:sp>
      <p:pic>
        <p:nvPicPr>
          <p:cNvPr id="12" name="Picture 11" descr="aktan_black_transparent.png"/>
          <p:cNvPicPr>
            <a:picLocks noChangeAspect="1"/>
          </p:cNvPicPr>
          <p:nvPr/>
        </p:nvPicPr>
        <p:blipFill>
          <a:blip r:embed="rId2"/>
          <a:stretch>
            <a:fillRect/>
          </a:stretch>
        </p:blipFill>
        <p:spPr>
          <a:xfrm>
            <a:off x="10271760" y="6024114"/>
            <a:ext cx="1371600" cy="330966"/>
          </a:xfrm>
          <a:prstGeom prst="rect">
            <a:avLst/>
          </a:prstGeom>
        </p:spPr>
      </p:pic>
      <p:sp>
        <p:nvSpPr>
          <p:cNvPr id="13" name="TextBox 12"/>
          <p:cNvSpPr txBox="1"/>
          <p:nvPr/>
        </p:nvSpPr>
        <p:spPr>
          <a:xfrm>
            <a:off x="10271760" y="6395080"/>
            <a:ext cx="1371600" cy="274320"/>
          </a:xfrm>
          <a:prstGeom prst="rect">
            <a:avLst/>
          </a:prstGeom>
          <a:noFill/>
        </p:spPr>
        <p:txBody>
          <a:bodyPr wrap="square" lIns="0" rIns="0" tIns="0" bIns="0">
            <a:spAutoFit/>
          </a:bodyPr>
          <a:lstStyle/>
          <a:p>
            <a:pPr algn="ctr"/>
            <a:r>
              <a:rPr sz="1200" b="0" i="1">
                <a:solidFill>
                  <a:srgbClr val="0D0D0D"/>
                </a:solidFill>
                <a:latin typeface="Palatino Linotype"/>
              </a:rPr>
              <a:t>With simplexity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7315200" cy="274320"/>
          </a:xfrm>
          <a:prstGeom prst="rect">
            <a:avLst/>
          </a:prstGeom>
          <a:noFill/>
        </p:spPr>
        <p:txBody>
          <a:bodyPr wrap="square" lIns="0" rIns="0" tIns="0" bIns="0">
            <a:spAutoFit/>
          </a:bodyPr>
          <a:lstStyle/>
          <a:p>
            <a:pPr algn="l"/>
            <a:r>
              <a:rPr sz="1000" b="1" i="0">
                <a:solidFill>
                  <a:srgbClr val="757575"/>
                </a:solidFill>
                <a:latin typeface="Source Sans Pro"/>
              </a:rPr>
              <a:t>TOOL 28  ·  FACILITATOR PREPARATION</a:t>
            </a:r>
          </a:p>
        </p:txBody>
      </p:sp>
      <p:sp>
        <p:nvSpPr>
          <p:cNvPr id="4" name="TextBox 3"/>
          <p:cNvSpPr txBox="1"/>
          <p:nvPr/>
        </p:nvSpPr>
        <p:spPr>
          <a:xfrm>
            <a:off x="457200" y="594360"/>
            <a:ext cx="10515600" cy="914400"/>
          </a:xfrm>
          <a:prstGeom prst="rect">
            <a:avLst/>
          </a:prstGeom>
          <a:noFill/>
        </p:spPr>
        <p:txBody>
          <a:bodyPr wrap="square" lIns="0" rIns="0" tIns="0" bIns="0">
            <a:spAutoFit/>
          </a:bodyPr>
          <a:lstStyle/>
          <a:p>
            <a:pPr algn="l"/>
            <a:r>
              <a:rPr sz="2800" b="0" i="0">
                <a:solidFill>
                  <a:srgbClr val="0D0D0D"/>
                </a:solidFill>
                <a:latin typeface="Palatino Linotype"/>
              </a:rPr>
              <a:t>Preparing the workshop  ·  </a:t>
            </a:r>
            <a:r>
              <a:rPr sz="2800" b="0" i="1">
                <a:solidFill>
                  <a:srgbClr val="0D0D0D"/>
                </a:solidFill>
                <a:latin typeface="Palatino Linotype"/>
              </a:rPr>
              <a:t>Historic Building Information Modelling (HBIM)</a:t>
            </a:r>
          </a:p>
        </p:txBody>
      </p:sp>
      <p:sp>
        <p:nvSpPr>
          <p:cNvPr id="5" name="Rounded Rectangle 4"/>
          <p:cNvSpPr/>
          <p:nvPr/>
        </p:nvSpPr>
        <p:spPr>
          <a:xfrm>
            <a:off x="457200" y="1554480"/>
            <a:ext cx="2468880" cy="384048"/>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G4 · Proof of Sustainability</a:t>
            </a:r>
          </a:p>
        </p:txBody>
      </p:sp>
      <p:sp>
        <p:nvSpPr>
          <p:cNvPr id="6" name="Rounded Rectangle 5"/>
          <p:cNvSpPr/>
          <p:nvPr/>
        </p:nvSpPr>
        <p:spPr>
          <a:xfrm>
            <a:off x="457200" y="2103120"/>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94360" y="2267712"/>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2240280"/>
            <a:ext cx="4983480" cy="365760"/>
          </a:xfrm>
          <a:prstGeom prst="rect">
            <a:avLst/>
          </a:prstGeom>
          <a:noFill/>
        </p:spPr>
        <p:txBody>
          <a:bodyPr wrap="square" lIns="0" rIns="0" tIns="0" bIns="0">
            <a:spAutoFit/>
          </a:bodyPr>
          <a:lstStyle/>
          <a:p>
            <a:pPr algn="l"/>
            <a:r>
              <a:rPr sz="1200" b="1" i="0">
                <a:solidFill>
                  <a:srgbClr val="0D0D0D"/>
                </a:solidFill>
                <a:latin typeface="Source Sans Pro"/>
              </a:rPr>
              <a:t>Why this tool matters</a:t>
            </a:r>
          </a:p>
        </p:txBody>
      </p:sp>
      <p:sp>
        <p:nvSpPr>
          <p:cNvPr id="9" name="TextBox 8"/>
          <p:cNvSpPr txBox="1"/>
          <p:nvPr/>
        </p:nvSpPr>
        <p:spPr>
          <a:xfrm>
            <a:off x="731520" y="2606040"/>
            <a:ext cx="4983480" cy="1234439"/>
          </a:xfrm>
          <a:prstGeom prst="rect">
            <a:avLst/>
          </a:prstGeom>
          <a:noFill/>
        </p:spPr>
        <p:txBody>
          <a:bodyPr wrap="square" lIns="0" rIns="0" tIns="0" bIns="0">
            <a:spAutoFit/>
          </a:bodyPr>
          <a:lstStyle/>
          <a:p>
            <a:pPr algn="l"/>
            <a:r>
              <a:rPr sz="1000" b="0" i="0">
                <a:solidFill>
                  <a:srgbClr val="0D0D0D"/>
                </a:solidFill>
                <a:latin typeface="Source Sans Pro"/>
              </a:rPr>
              <a:t>Transforming static, decaying stones into a living digital memory, where every crack, material, and historical intervention is documented and protected against the erasure of time.</a:t>
            </a:r>
          </a:p>
        </p:txBody>
      </p:sp>
      <p:sp>
        <p:nvSpPr>
          <p:cNvPr id="10" name="Rounded Rectangle 9"/>
          <p:cNvSpPr/>
          <p:nvPr/>
        </p:nvSpPr>
        <p:spPr>
          <a:xfrm>
            <a:off x="6080760" y="2103120"/>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17920" y="2267712"/>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5080" y="2240280"/>
            <a:ext cx="4983480" cy="365760"/>
          </a:xfrm>
          <a:prstGeom prst="rect">
            <a:avLst/>
          </a:prstGeom>
          <a:noFill/>
        </p:spPr>
        <p:txBody>
          <a:bodyPr wrap="square" lIns="0" rIns="0" tIns="0" bIns="0">
            <a:spAutoFit/>
          </a:bodyPr>
          <a:lstStyle/>
          <a:p>
            <a:pPr algn="l"/>
            <a:r>
              <a:rPr sz="1200" b="1" i="0">
                <a:solidFill>
                  <a:srgbClr val="0D0D0D"/>
                </a:solidFill>
                <a:latin typeface="Source Sans Pro"/>
              </a:rPr>
              <a:t>Evidence we produce</a:t>
            </a:r>
          </a:p>
        </p:txBody>
      </p:sp>
      <p:sp>
        <p:nvSpPr>
          <p:cNvPr id="13" name="TextBox 12"/>
          <p:cNvSpPr txBox="1"/>
          <p:nvPr/>
        </p:nvSpPr>
        <p:spPr>
          <a:xfrm>
            <a:off x="6355080" y="2606040"/>
            <a:ext cx="4983480" cy="1234439"/>
          </a:xfrm>
          <a:prstGeom prst="rect">
            <a:avLst/>
          </a:prstGeom>
          <a:noFill/>
        </p:spPr>
        <p:txBody>
          <a:bodyPr wrap="square" lIns="0" rIns="0" tIns="0" bIns="0">
            <a:spAutoFit/>
          </a:bodyPr>
          <a:lstStyle/>
          <a:p>
            <a:pPr algn="l"/>
            <a:r>
              <a:rPr sz="1000" b="0" i="0">
                <a:solidFill>
                  <a:srgbClr val="0D0D0D"/>
                </a:solidFill>
                <a:latin typeface="Source Sans Pro"/>
              </a:rPr>
              <a:t>A parametric, 3D digital model of a historic building, semantically enriched with historical documentation, material diagnostics, and long-term maintenance schedules.</a:t>
            </a:r>
          </a:p>
        </p:txBody>
      </p:sp>
      <p:sp>
        <p:nvSpPr>
          <p:cNvPr id="14" name="Rounded Rectangle 13"/>
          <p:cNvSpPr/>
          <p:nvPr/>
        </p:nvSpPr>
        <p:spPr>
          <a:xfrm>
            <a:off x="457200" y="4160519"/>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94360" y="4325111"/>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4297679"/>
            <a:ext cx="4983480" cy="365760"/>
          </a:xfrm>
          <a:prstGeom prst="rect">
            <a:avLst/>
          </a:prstGeom>
          <a:noFill/>
        </p:spPr>
        <p:txBody>
          <a:bodyPr wrap="square" lIns="0" rIns="0" tIns="0" bIns="0">
            <a:spAutoFit/>
          </a:bodyPr>
          <a:lstStyle/>
          <a:p>
            <a:pPr algn="l"/>
            <a:r>
              <a:rPr sz="1200" b="1" i="0">
                <a:solidFill>
                  <a:srgbClr val="0D0D0D"/>
                </a:solidFill>
                <a:latin typeface="Source Sans Pro"/>
              </a:rPr>
              <a:t>Duration &amp; Material</a:t>
            </a:r>
          </a:p>
        </p:txBody>
      </p:sp>
      <p:sp>
        <p:nvSpPr>
          <p:cNvPr id="17" name="TextBox 16"/>
          <p:cNvSpPr txBox="1"/>
          <p:nvPr/>
        </p:nvSpPr>
        <p:spPr>
          <a:xfrm>
            <a:off x="731520" y="4663439"/>
            <a:ext cx="4983480" cy="1234439"/>
          </a:xfrm>
          <a:prstGeom prst="rect">
            <a:avLst/>
          </a:prstGeom>
          <a:noFill/>
        </p:spPr>
        <p:txBody>
          <a:bodyPr wrap="square" lIns="0" rIns="0" tIns="0" bIns="0">
            <a:spAutoFit/>
          </a:bodyPr>
          <a:lstStyle/>
          <a:p>
            <a:pPr algn="l"/>
            <a:r>
              <a:rPr sz="1000" b="0" i="0">
                <a:solidFill>
                  <a:srgbClr val="0D0D0D"/>
                </a:solidFill>
                <a:latin typeface="Source Sans Pro"/>
              </a:rPr>
              <a:t>Duration  ·  Several months for scanning, processing, and semantic modeling
Material  ·  3D Laser scanners, UAVs, HBIM software (e.g., Revit, Archicad), Common Data Environment platforms</a:t>
            </a:r>
          </a:p>
        </p:txBody>
      </p:sp>
      <p:sp>
        <p:nvSpPr>
          <p:cNvPr id="18" name="Rounded Rectangle 17"/>
          <p:cNvSpPr/>
          <p:nvPr/>
        </p:nvSpPr>
        <p:spPr>
          <a:xfrm>
            <a:off x="6080760" y="4160519"/>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17920" y="4325111"/>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55080" y="4297679"/>
            <a:ext cx="4983480" cy="365760"/>
          </a:xfrm>
          <a:prstGeom prst="rect">
            <a:avLst/>
          </a:prstGeom>
          <a:noFill/>
        </p:spPr>
        <p:txBody>
          <a:bodyPr wrap="square" lIns="0" rIns="0" tIns="0" bIns="0">
            <a:spAutoFit/>
          </a:bodyPr>
          <a:lstStyle/>
          <a:p>
            <a:pPr algn="l"/>
            <a:r>
              <a:rPr sz="1200" b="1" i="0">
                <a:solidFill>
                  <a:srgbClr val="0D0D0D"/>
                </a:solidFill>
                <a:latin typeface="Source Sans Pro"/>
              </a:rPr>
              <a:t>Reference case</a:t>
            </a:r>
          </a:p>
        </p:txBody>
      </p:sp>
      <p:sp>
        <p:nvSpPr>
          <p:cNvPr id="21" name="TextBox 20"/>
          <p:cNvSpPr txBox="1"/>
          <p:nvPr/>
        </p:nvSpPr>
        <p:spPr>
          <a:xfrm>
            <a:off x="6355080" y="4663439"/>
            <a:ext cx="4983480" cy="1234439"/>
          </a:xfrm>
          <a:prstGeom prst="rect">
            <a:avLst/>
          </a:prstGeom>
          <a:noFill/>
        </p:spPr>
        <p:txBody>
          <a:bodyPr wrap="square" lIns="0" rIns="0" tIns="0" bIns="0">
            <a:spAutoFit/>
          </a:bodyPr>
          <a:lstStyle/>
          <a:p>
            <a:pPr algn="l"/>
            <a:r>
              <a:rPr sz="1000" b="0" i="0">
                <a:solidFill>
                  <a:srgbClr val="0D0D0D"/>
                </a:solidFill>
                <a:latin typeface="Source Sans Pro"/>
              </a:rPr>
              <a:t>The restoration of the former Church of San Quirico all'Olivo in Lucca (Italy) utilized HBIM methodologies. Terrestrial laser scanning provided the geometric base, while the resulting HBIM model centralized heterogeneous historical and structural data, supporting the interdisciplinary design and long-term management of the restoration process.</a:t>
            </a:r>
          </a:p>
        </p:txBody>
      </p:sp>
      <p:sp>
        <p:nvSpPr>
          <p:cNvPr id="22" name="TextBox 21"/>
          <p:cNvSpPr txBox="1"/>
          <p:nvPr/>
        </p:nvSpPr>
        <p:spPr>
          <a:xfrm>
            <a:off x="457200" y="6035040"/>
            <a:ext cx="10515600" cy="274320"/>
          </a:xfrm>
          <a:prstGeom prst="rect">
            <a:avLst/>
          </a:prstGeom>
          <a:noFill/>
        </p:spPr>
        <p:txBody>
          <a:bodyPr wrap="square" lIns="0" rIns="0" tIns="0" bIns="0">
            <a:spAutoFit/>
          </a:bodyPr>
          <a:lstStyle/>
          <a:p>
            <a:pPr algn="l"/>
            <a:r>
              <a:rPr sz="1000" b="1" i="0">
                <a:solidFill>
                  <a:srgbClr val="0D0D0D"/>
                </a:solidFill>
                <a:latin typeface="Source Sans Pro"/>
              </a:rPr>
              <a:t>Suggested agenda  ·  </a:t>
            </a:r>
            <a:r>
              <a:rPr sz="1000" b="0" i="0">
                <a:solidFill>
                  <a:srgbClr val="757575"/>
                </a:solidFill>
                <a:latin typeface="Source Sans Pro"/>
              </a:rPr>
              <a:t>Brief (10 min)  ›  Method walk-through (15 min)  ›  Animation canvas (60–90 min)  ›  Harvest (20 min)</a:t>
            </a:r>
          </a:p>
        </p:txBody>
      </p:sp>
      <p:pic>
        <p:nvPicPr>
          <p:cNvPr id="23" name="Picture 22"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24" name="TextBox 23"/>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0058400" cy="274320"/>
          </a:xfrm>
          <a:prstGeom prst="rect">
            <a:avLst/>
          </a:prstGeom>
          <a:noFill/>
        </p:spPr>
        <p:txBody>
          <a:bodyPr wrap="square" lIns="0" rIns="0" tIns="0" bIns="0">
            <a:spAutoFit/>
          </a:bodyPr>
          <a:lstStyle/>
          <a:p>
            <a:pPr algn="l"/>
            <a:r>
              <a:rPr sz="1000" b="1" i="0">
                <a:solidFill>
                  <a:srgbClr val="757575"/>
                </a:solidFill>
                <a:latin typeface="Source Sans Pro"/>
              </a:rPr>
              <a:t>TOOL 28  ·  ANIMATION CANVAS  ·  </a:t>
            </a:r>
            <a:r>
              <a:rPr sz="1000" b="1" i="0">
                <a:solidFill>
                  <a:srgbClr val="0D0D0D"/>
                </a:solidFill>
                <a:latin typeface="Source Sans Pro"/>
              </a:rPr>
              <a:t>HISTORIC BUILDING INFORMATION MODELLING (HBIM)</a:t>
            </a:r>
          </a:p>
        </p:txBody>
      </p:sp>
      <p:sp>
        <p:nvSpPr>
          <p:cNvPr id="4" name="TextBox 3"/>
          <p:cNvSpPr txBox="1"/>
          <p:nvPr/>
        </p:nvSpPr>
        <p:spPr>
          <a:xfrm>
            <a:off x="457200" y="640080"/>
            <a:ext cx="8229600" cy="640080"/>
          </a:xfrm>
          <a:prstGeom prst="rect">
            <a:avLst/>
          </a:prstGeom>
          <a:noFill/>
        </p:spPr>
        <p:txBody>
          <a:bodyPr wrap="square" lIns="0" rIns="0" tIns="0" bIns="0">
            <a:spAutoFit/>
          </a:bodyPr>
          <a:lstStyle/>
          <a:p>
            <a:pPr algn="l"/>
            <a:r>
              <a:rPr sz="2400" b="0" i="0">
                <a:solidFill>
                  <a:srgbClr val="0D0D0D"/>
                </a:solidFill>
                <a:latin typeface="Palatino Linotype"/>
              </a:rPr>
              <a:t>Layered 3D model · heritage informed</a:t>
            </a:r>
          </a:p>
        </p:txBody>
      </p:sp>
      <p:sp>
        <p:nvSpPr>
          <p:cNvPr id="5" name="TextBox 4"/>
          <p:cNvSpPr txBox="1"/>
          <p:nvPr/>
        </p:nvSpPr>
        <p:spPr>
          <a:xfrm>
            <a:off x="8778240" y="640080"/>
            <a:ext cx="2926080" cy="640080"/>
          </a:xfrm>
          <a:prstGeom prst="rect">
            <a:avLst/>
          </a:prstGeom>
          <a:noFill/>
        </p:spPr>
        <p:txBody>
          <a:bodyPr wrap="square" lIns="0" rIns="0" tIns="0" bIns="0">
            <a:spAutoFit/>
          </a:bodyPr>
          <a:lstStyle/>
          <a:p>
            <a:pPr algn="r"/>
            <a:r>
              <a:rPr sz="850" b="1" i="0">
                <a:solidFill>
                  <a:srgbClr val="757575"/>
                </a:solidFill>
                <a:latin typeface="Source Sans Pro"/>
              </a:rPr>
              <a:t>Duration</a:t>
            </a:r>
          </a:p>
          <a:p>
            <a:pPr algn="r"/>
            <a:r>
              <a:rPr sz="1000" b="0" i="0">
                <a:solidFill>
                  <a:srgbClr val="0D0D0D"/>
                </a:solidFill>
                <a:latin typeface="Source Sans Pro"/>
              </a:rPr>
              <a:t>Several months for scanning, processing, and semantic m…</a:t>
            </a:r>
          </a:p>
        </p:txBody>
      </p:sp>
      <p:sp>
        <p:nvSpPr>
          <p:cNvPr id="6" name="Rounded Rectangle 5"/>
          <p:cNvSpPr/>
          <p:nvPr/>
        </p:nvSpPr>
        <p:spPr>
          <a:xfrm>
            <a:off x="457200" y="1417320"/>
            <a:ext cx="5029200" cy="475488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600200"/>
            <a:ext cx="4572000" cy="365760"/>
          </a:xfrm>
          <a:prstGeom prst="rect">
            <a:avLst/>
          </a:prstGeom>
          <a:noFill/>
        </p:spPr>
        <p:txBody>
          <a:bodyPr wrap="square" lIns="0" rIns="0" tIns="0" bIns="0">
            <a:spAutoFit/>
          </a:bodyPr>
          <a:lstStyle/>
          <a:p>
            <a:pPr algn="l"/>
            <a:r>
              <a:rPr sz="1400" b="0" i="1">
                <a:solidFill>
                  <a:srgbClr val="0D0D0D"/>
                </a:solidFill>
                <a:latin typeface="Palatino Linotype"/>
              </a:rPr>
              <a:t>Information layers</a:t>
            </a:r>
          </a:p>
        </p:txBody>
      </p:sp>
      <p:sp>
        <p:nvSpPr>
          <p:cNvPr id="8" name="Parallelogram 7"/>
          <p:cNvSpPr/>
          <p:nvPr/>
        </p:nvSpPr>
        <p:spPr>
          <a:xfrm>
            <a:off x="914400" y="2194560"/>
            <a:ext cx="4114800" cy="502920"/>
          </a:xfrm>
          <a:prstGeom prst="parallelogram">
            <a:avLst/>
          </a:prstGeom>
          <a:solidFill>
            <a:srgbClr val="FFD200"/>
          </a:solidFill>
          <a:ln w="762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194560"/>
            <a:ext cx="4114800" cy="502920"/>
          </a:xfrm>
          <a:prstGeom prst="rect">
            <a:avLst/>
          </a:prstGeom>
          <a:noFill/>
        </p:spPr>
        <p:txBody>
          <a:bodyPr wrap="square" lIns="0" rIns="0" tIns="0" bIns="0" anchor="ctr">
            <a:spAutoFit/>
          </a:bodyPr>
          <a:lstStyle/>
          <a:p>
            <a:pPr algn="ctr"/>
            <a:r>
              <a:rPr sz="1100" b="1" i="0">
                <a:solidFill>
                  <a:srgbClr val="0D0D0D"/>
                </a:solidFill>
                <a:latin typeface="Source Sans Pro"/>
              </a:rPr>
              <a:t>Surveyed geometry</a:t>
            </a:r>
          </a:p>
        </p:txBody>
      </p:sp>
      <p:sp>
        <p:nvSpPr>
          <p:cNvPr id="10" name="Parallelogram 9"/>
          <p:cNvSpPr/>
          <p:nvPr/>
        </p:nvSpPr>
        <p:spPr>
          <a:xfrm>
            <a:off x="914400" y="2862072"/>
            <a:ext cx="4114800" cy="502920"/>
          </a:xfrm>
          <a:prstGeom prst="parallelogram">
            <a:avLst/>
          </a:prstGeom>
          <a:solidFill>
            <a:srgbClr val="FF674D"/>
          </a:solidFill>
          <a:ln w="762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2862072"/>
            <a:ext cx="4114800" cy="502920"/>
          </a:xfrm>
          <a:prstGeom prst="rect">
            <a:avLst/>
          </a:prstGeom>
          <a:noFill/>
        </p:spPr>
        <p:txBody>
          <a:bodyPr wrap="square" lIns="0" rIns="0" tIns="0" bIns="0" anchor="ctr">
            <a:spAutoFit/>
          </a:bodyPr>
          <a:lstStyle/>
          <a:p>
            <a:pPr algn="ctr"/>
            <a:r>
              <a:rPr sz="1100" b="1" i="0">
                <a:solidFill>
                  <a:srgbClr val="0D0D0D"/>
                </a:solidFill>
                <a:latin typeface="Source Sans Pro"/>
              </a:rPr>
              <a:t>Material library</a:t>
            </a:r>
          </a:p>
        </p:txBody>
      </p:sp>
      <p:sp>
        <p:nvSpPr>
          <p:cNvPr id="12" name="Parallelogram 11"/>
          <p:cNvSpPr/>
          <p:nvPr/>
        </p:nvSpPr>
        <p:spPr>
          <a:xfrm>
            <a:off x="914400" y="3529584"/>
            <a:ext cx="4114800" cy="502920"/>
          </a:xfrm>
          <a:prstGeom prst="parallelogram">
            <a:avLst/>
          </a:prstGeom>
          <a:solidFill>
            <a:srgbClr val="EF98D6"/>
          </a:solidFill>
          <a:ln w="762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3529584"/>
            <a:ext cx="4114800" cy="502920"/>
          </a:xfrm>
          <a:prstGeom prst="rect">
            <a:avLst/>
          </a:prstGeom>
          <a:noFill/>
        </p:spPr>
        <p:txBody>
          <a:bodyPr wrap="square" lIns="0" rIns="0" tIns="0" bIns="0" anchor="ctr">
            <a:spAutoFit/>
          </a:bodyPr>
          <a:lstStyle/>
          <a:p>
            <a:pPr algn="ctr"/>
            <a:r>
              <a:rPr sz="1100" b="1" i="0">
                <a:solidFill>
                  <a:srgbClr val="0D0D0D"/>
                </a:solidFill>
                <a:latin typeface="Source Sans Pro"/>
              </a:rPr>
              <a:t>Historical phases</a:t>
            </a:r>
          </a:p>
        </p:txBody>
      </p:sp>
      <p:sp>
        <p:nvSpPr>
          <p:cNvPr id="14" name="Parallelogram 13"/>
          <p:cNvSpPr/>
          <p:nvPr/>
        </p:nvSpPr>
        <p:spPr>
          <a:xfrm>
            <a:off x="914400" y="4197096"/>
            <a:ext cx="4114800" cy="502920"/>
          </a:xfrm>
          <a:prstGeom prst="parallelogram">
            <a:avLst/>
          </a:prstGeom>
          <a:solidFill>
            <a:srgbClr val="459ACB"/>
          </a:solidFill>
          <a:ln w="762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4197096"/>
            <a:ext cx="4114800" cy="502920"/>
          </a:xfrm>
          <a:prstGeom prst="rect">
            <a:avLst/>
          </a:prstGeom>
          <a:noFill/>
        </p:spPr>
        <p:txBody>
          <a:bodyPr wrap="square" lIns="0" rIns="0" tIns="0" bIns="0" anchor="ctr">
            <a:spAutoFit/>
          </a:bodyPr>
          <a:lstStyle/>
          <a:p>
            <a:pPr algn="ctr"/>
            <a:r>
              <a:rPr sz="1100" b="1" i="0">
                <a:solidFill>
                  <a:srgbClr val="0D0D0D"/>
                </a:solidFill>
                <a:latin typeface="Source Sans Pro"/>
              </a:rPr>
              <a:t>Structural data</a:t>
            </a:r>
          </a:p>
        </p:txBody>
      </p:sp>
      <p:sp>
        <p:nvSpPr>
          <p:cNvPr id="16" name="Parallelogram 15"/>
          <p:cNvSpPr/>
          <p:nvPr/>
        </p:nvSpPr>
        <p:spPr>
          <a:xfrm>
            <a:off x="914400" y="4864608"/>
            <a:ext cx="4114800" cy="502920"/>
          </a:xfrm>
          <a:prstGeom prst="parallelogram">
            <a:avLst/>
          </a:prstGeom>
          <a:solidFill>
            <a:srgbClr val="00ED93"/>
          </a:solidFill>
          <a:ln w="762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4864608"/>
            <a:ext cx="4114800" cy="502920"/>
          </a:xfrm>
          <a:prstGeom prst="rect">
            <a:avLst/>
          </a:prstGeom>
          <a:noFill/>
        </p:spPr>
        <p:txBody>
          <a:bodyPr wrap="square" lIns="0" rIns="0" tIns="0" bIns="0" anchor="ctr">
            <a:spAutoFit/>
          </a:bodyPr>
          <a:lstStyle/>
          <a:p>
            <a:pPr algn="ctr"/>
            <a:r>
              <a:rPr sz="1100" b="1" i="0">
                <a:solidFill>
                  <a:srgbClr val="0D0D0D"/>
                </a:solidFill>
                <a:latin typeface="Source Sans Pro"/>
              </a:rPr>
              <a:t>Conservation status</a:t>
            </a:r>
          </a:p>
        </p:txBody>
      </p:sp>
      <p:sp>
        <p:nvSpPr>
          <p:cNvPr id="18" name="Rounded Rectangle 17"/>
          <p:cNvSpPr/>
          <p:nvPr/>
        </p:nvSpPr>
        <p:spPr>
          <a:xfrm>
            <a:off x="5715000" y="1417320"/>
            <a:ext cx="6019800" cy="475488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897880" y="1600200"/>
            <a:ext cx="5654040" cy="365760"/>
          </a:xfrm>
          <a:prstGeom prst="rect">
            <a:avLst/>
          </a:prstGeom>
          <a:noFill/>
        </p:spPr>
        <p:txBody>
          <a:bodyPr wrap="square" lIns="0" rIns="0" tIns="0" bIns="0">
            <a:spAutoFit/>
          </a:bodyPr>
          <a:lstStyle/>
          <a:p>
            <a:pPr algn="l"/>
            <a:r>
              <a:rPr sz="1300" b="0" i="1">
                <a:solidFill>
                  <a:srgbClr val="0D0D0D"/>
                </a:solidFill>
                <a:latin typeface="Palatino Linotype"/>
              </a:rPr>
              <a:t>Data sources × layers</a:t>
            </a:r>
          </a:p>
        </p:txBody>
      </p:sp>
      <p:sp>
        <p:nvSpPr>
          <p:cNvPr id="20" name="Rectangle 19"/>
          <p:cNvSpPr/>
          <p:nvPr/>
        </p:nvSpPr>
        <p:spPr>
          <a:xfrm>
            <a:off x="5897880" y="2057400"/>
            <a:ext cx="5654040" cy="384048"/>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989320" y="2167128"/>
            <a:ext cx="164592" cy="164592"/>
          </a:xfrm>
          <a:prstGeom prst="ellipse">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17920" y="2057400"/>
            <a:ext cx="5379720" cy="384048"/>
          </a:xfrm>
          <a:prstGeom prst="rect">
            <a:avLst/>
          </a:prstGeom>
          <a:noFill/>
        </p:spPr>
        <p:txBody>
          <a:bodyPr wrap="square" lIns="0" rIns="0" tIns="0" bIns="0" anchor="ctr">
            <a:spAutoFit/>
          </a:bodyPr>
          <a:lstStyle/>
          <a:p>
            <a:pPr algn="l"/>
            <a:r>
              <a:rPr sz="1000" b="1" i="0">
                <a:solidFill>
                  <a:srgbClr val="0D0D0D"/>
                </a:solidFill>
                <a:latin typeface="Source Sans Pro"/>
              </a:rPr>
              <a:t>Laser scan</a:t>
            </a:r>
          </a:p>
        </p:txBody>
      </p:sp>
      <p:sp>
        <p:nvSpPr>
          <p:cNvPr id="23" name="Rectangle 22"/>
          <p:cNvSpPr/>
          <p:nvPr/>
        </p:nvSpPr>
        <p:spPr>
          <a:xfrm>
            <a:off x="10500360" y="2167128"/>
            <a:ext cx="164592" cy="164592"/>
          </a:xfrm>
          <a:prstGeom prst="rect">
            <a:avLst/>
          </a:prstGeom>
          <a:solidFill>
            <a:srgbClr val="FFFFFF"/>
          </a:solidFill>
          <a:ln w="508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0728960" y="2167128"/>
            <a:ext cx="164592" cy="164592"/>
          </a:xfrm>
          <a:prstGeom prst="rect">
            <a:avLst/>
          </a:prstGeom>
          <a:solidFill>
            <a:srgbClr val="FFFFFF"/>
          </a:solidFill>
          <a:ln w="508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0957560" y="2167128"/>
            <a:ext cx="164592" cy="164592"/>
          </a:xfrm>
          <a:prstGeom prst="rect">
            <a:avLst/>
          </a:prstGeom>
          <a:solidFill>
            <a:srgbClr val="FFFFFF"/>
          </a:solidFill>
          <a:ln w="508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1186160" y="2167128"/>
            <a:ext cx="164592" cy="164592"/>
          </a:xfrm>
          <a:prstGeom prst="rect">
            <a:avLst/>
          </a:prstGeom>
          <a:solidFill>
            <a:srgbClr val="FFFFFF"/>
          </a:solidFill>
          <a:ln w="508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1414760" y="2167128"/>
            <a:ext cx="164592" cy="164592"/>
          </a:xfrm>
          <a:prstGeom prst="rect">
            <a:avLst/>
          </a:prstGeom>
          <a:solidFill>
            <a:srgbClr val="FFFFFF"/>
          </a:solidFill>
          <a:ln w="508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897880" y="2441448"/>
            <a:ext cx="5654040" cy="384048"/>
          </a:xfrm>
          <a:prstGeom prst="rect">
            <a:avLst/>
          </a:prstGeom>
          <a:solidFill>
            <a:srgbClr val="EEECE6"/>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5989320" y="2551176"/>
            <a:ext cx="164592" cy="164592"/>
          </a:xfrm>
          <a:prstGeom prst="ellipse">
            <a:avLst/>
          </a:prstGeom>
          <a:solidFill>
            <a:srgbClr val="FF67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217920" y="2441448"/>
            <a:ext cx="5379720" cy="384048"/>
          </a:xfrm>
          <a:prstGeom prst="rect">
            <a:avLst/>
          </a:prstGeom>
          <a:noFill/>
        </p:spPr>
        <p:txBody>
          <a:bodyPr wrap="square" lIns="0" rIns="0" tIns="0" bIns="0" anchor="ctr">
            <a:spAutoFit/>
          </a:bodyPr>
          <a:lstStyle/>
          <a:p>
            <a:pPr algn="l"/>
            <a:r>
              <a:rPr sz="1000" b="1" i="0">
                <a:solidFill>
                  <a:srgbClr val="0D0D0D"/>
                </a:solidFill>
                <a:latin typeface="Source Sans Pro"/>
              </a:rPr>
              <a:t>Drone photogrammetry</a:t>
            </a:r>
          </a:p>
        </p:txBody>
      </p:sp>
      <p:sp>
        <p:nvSpPr>
          <p:cNvPr id="31" name="Rectangle 30"/>
          <p:cNvSpPr/>
          <p:nvPr/>
        </p:nvSpPr>
        <p:spPr>
          <a:xfrm>
            <a:off x="10500360" y="2551176"/>
            <a:ext cx="164592" cy="164592"/>
          </a:xfrm>
          <a:prstGeom prst="rect">
            <a:avLst/>
          </a:prstGeom>
          <a:solidFill>
            <a:srgbClr val="FFFFFF"/>
          </a:solidFill>
          <a:ln w="508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0728960" y="2551176"/>
            <a:ext cx="164592" cy="164592"/>
          </a:xfrm>
          <a:prstGeom prst="rect">
            <a:avLst/>
          </a:prstGeom>
          <a:solidFill>
            <a:srgbClr val="FFFFFF"/>
          </a:solidFill>
          <a:ln w="508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10957560" y="2551176"/>
            <a:ext cx="164592" cy="164592"/>
          </a:xfrm>
          <a:prstGeom prst="rect">
            <a:avLst/>
          </a:prstGeom>
          <a:solidFill>
            <a:srgbClr val="FFFFFF"/>
          </a:solidFill>
          <a:ln w="508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11186160" y="2551176"/>
            <a:ext cx="164592" cy="164592"/>
          </a:xfrm>
          <a:prstGeom prst="rect">
            <a:avLst/>
          </a:prstGeom>
          <a:solidFill>
            <a:srgbClr val="FFFFFF"/>
          </a:solidFill>
          <a:ln w="508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11414760" y="2551176"/>
            <a:ext cx="164592" cy="164592"/>
          </a:xfrm>
          <a:prstGeom prst="rect">
            <a:avLst/>
          </a:prstGeom>
          <a:solidFill>
            <a:srgbClr val="FFFFFF"/>
          </a:solidFill>
          <a:ln w="508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897880" y="2825496"/>
            <a:ext cx="5654040" cy="384048"/>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5989320" y="2935224"/>
            <a:ext cx="164592" cy="164592"/>
          </a:xfrm>
          <a:prstGeom prst="ellipse">
            <a:avLst/>
          </a:prstGeom>
          <a:solidFill>
            <a:srgbClr val="EF9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217920" y="2825496"/>
            <a:ext cx="5379720" cy="384048"/>
          </a:xfrm>
          <a:prstGeom prst="rect">
            <a:avLst/>
          </a:prstGeom>
          <a:noFill/>
        </p:spPr>
        <p:txBody>
          <a:bodyPr wrap="square" lIns="0" rIns="0" tIns="0" bIns="0" anchor="ctr">
            <a:spAutoFit/>
          </a:bodyPr>
          <a:lstStyle/>
          <a:p>
            <a:pPr algn="l"/>
            <a:r>
              <a:rPr sz="1000" b="1" i="0">
                <a:solidFill>
                  <a:srgbClr val="0D0D0D"/>
                </a:solidFill>
                <a:latin typeface="Source Sans Pro"/>
              </a:rPr>
              <a:t>Archive drawings</a:t>
            </a:r>
          </a:p>
        </p:txBody>
      </p:sp>
      <p:sp>
        <p:nvSpPr>
          <p:cNvPr id="39" name="Rectangle 38"/>
          <p:cNvSpPr/>
          <p:nvPr/>
        </p:nvSpPr>
        <p:spPr>
          <a:xfrm>
            <a:off x="10500360" y="2935224"/>
            <a:ext cx="164592" cy="164592"/>
          </a:xfrm>
          <a:prstGeom prst="rect">
            <a:avLst/>
          </a:prstGeom>
          <a:solidFill>
            <a:srgbClr val="FFFFFF"/>
          </a:solidFill>
          <a:ln w="508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10728960" y="2935224"/>
            <a:ext cx="164592" cy="164592"/>
          </a:xfrm>
          <a:prstGeom prst="rect">
            <a:avLst/>
          </a:prstGeom>
          <a:solidFill>
            <a:srgbClr val="FFFFFF"/>
          </a:solidFill>
          <a:ln w="508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10957560" y="2935224"/>
            <a:ext cx="164592" cy="164592"/>
          </a:xfrm>
          <a:prstGeom prst="rect">
            <a:avLst/>
          </a:prstGeom>
          <a:solidFill>
            <a:srgbClr val="FFFFFF"/>
          </a:solidFill>
          <a:ln w="508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11186160" y="2935224"/>
            <a:ext cx="164592" cy="164592"/>
          </a:xfrm>
          <a:prstGeom prst="rect">
            <a:avLst/>
          </a:prstGeom>
          <a:solidFill>
            <a:srgbClr val="FFFFFF"/>
          </a:solidFill>
          <a:ln w="508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11414760" y="2935224"/>
            <a:ext cx="164592" cy="164592"/>
          </a:xfrm>
          <a:prstGeom prst="rect">
            <a:avLst/>
          </a:prstGeom>
          <a:solidFill>
            <a:srgbClr val="FFFFFF"/>
          </a:solidFill>
          <a:ln w="508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5897880" y="3209544"/>
            <a:ext cx="5654040" cy="384048"/>
          </a:xfrm>
          <a:prstGeom prst="rect">
            <a:avLst/>
          </a:prstGeom>
          <a:solidFill>
            <a:srgbClr val="EEECE6"/>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5989320" y="3319272"/>
            <a:ext cx="164592" cy="164592"/>
          </a:xfrm>
          <a:prstGeom prst="ellipse">
            <a:avLst/>
          </a:prstGeom>
          <a:solidFill>
            <a:srgbClr val="459A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217920" y="3209544"/>
            <a:ext cx="5379720" cy="384048"/>
          </a:xfrm>
          <a:prstGeom prst="rect">
            <a:avLst/>
          </a:prstGeom>
          <a:noFill/>
        </p:spPr>
        <p:txBody>
          <a:bodyPr wrap="square" lIns="0" rIns="0" tIns="0" bIns="0" anchor="ctr">
            <a:spAutoFit/>
          </a:bodyPr>
          <a:lstStyle/>
          <a:p>
            <a:pPr algn="l"/>
            <a:r>
              <a:rPr sz="1000" b="1" i="0">
                <a:solidFill>
                  <a:srgbClr val="0D0D0D"/>
                </a:solidFill>
                <a:latin typeface="Source Sans Pro"/>
              </a:rPr>
              <a:t>Material samples</a:t>
            </a:r>
          </a:p>
        </p:txBody>
      </p:sp>
      <p:sp>
        <p:nvSpPr>
          <p:cNvPr id="47" name="Rectangle 46"/>
          <p:cNvSpPr/>
          <p:nvPr/>
        </p:nvSpPr>
        <p:spPr>
          <a:xfrm>
            <a:off x="10500360" y="3319272"/>
            <a:ext cx="164592" cy="164592"/>
          </a:xfrm>
          <a:prstGeom prst="rect">
            <a:avLst/>
          </a:prstGeom>
          <a:solidFill>
            <a:srgbClr val="FFFFFF"/>
          </a:solidFill>
          <a:ln w="508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10728960" y="3319272"/>
            <a:ext cx="164592" cy="164592"/>
          </a:xfrm>
          <a:prstGeom prst="rect">
            <a:avLst/>
          </a:prstGeom>
          <a:solidFill>
            <a:srgbClr val="FFFFFF"/>
          </a:solidFill>
          <a:ln w="508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10957560" y="3319272"/>
            <a:ext cx="164592" cy="164592"/>
          </a:xfrm>
          <a:prstGeom prst="rect">
            <a:avLst/>
          </a:prstGeom>
          <a:solidFill>
            <a:srgbClr val="FFFFFF"/>
          </a:solidFill>
          <a:ln w="508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11186160" y="3319272"/>
            <a:ext cx="164592" cy="164592"/>
          </a:xfrm>
          <a:prstGeom prst="rect">
            <a:avLst/>
          </a:prstGeom>
          <a:solidFill>
            <a:srgbClr val="FFFFFF"/>
          </a:solidFill>
          <a:ln w="508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11414760" y="3319272"/>
            <a:ext cx="164592" cy="164592"/>
          </a:xfrm>
          <a:prstGeom prst="rect">
            <a:avLst/>
          </a:prstGeom>
          <a:solidFill>
            <a:srgbClr val="FFFFFF"/>
          </a:solidFill>
          <a:ln w="508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5897880" y="3593592"/>
            <a:ext cx="5654040" cy="384048"/>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Oval 52"/>
          <p:cNvSpPr/>
          <p:nvPr/>
        </p:nvSpPr>
        <p:spPr>
          <a:xfrm>
            <a:off x="5989320" y="3703320"/>
            <a:ext cx="164592" cy="164592"/>
          </a:xfrm>
          <a:prstGeom prst="ellipse">
            <a:avLst/>
          </a:prstGeom>
          <a:solidFill>
            <a:srgbClr val="00ED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217920" y="3593592"/>
            <a:ext cx="5379720" cy="384048"/>
          </a:xfrm>
          <a:prstGeom prst="rect">
            <a:avLst/>
          </a:prstGeom>
          <a:noFill/>
        </p:spPr>
        <p:txBody>
          <a:bodyPr wrap="square" lIns="0" rIns="0" tIns="0" bIns="0" anchor="ctr">
            <a:spAutoFit/>
          </a:bodyPr>
          <a:lstStyle/>
          <a:p>
            <a:pPr algn="l"/>
            <a:r>
              <a:rPr sz="1000" b="1" i="0">
                <a:solidFill>
                  <a:srgbClr val="0D0D0D"/>
                </a:solidFill>
                <a:latin typeface="Source Sans Pro"/>
              </a:rPr>
              <a:t>Oral history</a:t>
            </a:r>
          </a:p>
        </p:txBody>
      </p:sp>
      <p:sp>
        <p:nvSpPr>
          <p:cNvPr id="55" name="Rectangle 54"/>
          <p:cNvSpPr/>
          <p:nvPr/>
        </p:nvSpPr>
        <p:spPr>
          <a:xfrm>
            <a:off x="10500360" y="3703320"/>
            <a:ext cx="164592" cy="164592"/>
          </a:xfrm>
          <a:prstGeom prst="rect">
            <a:avLst/>
          </a:prstGeom>
          <a:solidFill>
            <a:srgbClr val="FFFFFF"/>
          </a:solidFill>
          <a:ln w="508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10728960" y="3703320"/>
            <a:ext cx="164592" cy="164592"/>
          </a:xfrm>
          <a:prstGeom prst="rect">
            <a:avLst/>
          </a:prstGeom>
          <a:solidFill>
            <a:srgbClr val="FFFFFF"/>
          </a:solidFill>
          <a:ln w="508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10957560" y="3703320"/>
            <a:ext cx="164592" cy="164592"/>
          </a:xfrm>
          <a:prstGeom prst="rect">
            <a:avLst/>
          </a:prstGeom>
          <a:solidFill>
            <a:srgbClr val="FFFFFF"/>
          </a:solidFill>
          <a:ln w="508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11186160" y="3703320"/>
            <a:ext cx="164592" cy="164592"/>
          </a:xfrm>
          <a:prstGeom prst="rect">
            <a:avLst/>
          </a:prstGeom>
          <a:solidFill>
            <a:srgbClr val="FFFFFF"/>
          </a:solidFill>
          <a:ln w="508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11414760" y="3703320"/>
            <a:ext cx="164592" cy="164592"/>
          </a:xfrm>
          <a:prstGeom prst="rect">
            <a:avLst/>
          </a:prstGeom>
          <a:solidFill>
            <a:srgbClr val="FFFFFF"/>
          </a:solidFill>
          <a:ln w="508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5897880" y="4114800"/>
            <a:ext cx="5654040" cy="274320"/>
          </a:xfrm>
          <a:prstGeom prst="rect">
            <a:avLst/>
          </a:prstGeom>
          <a:noFill/>
        </p:spPr>
        <p:txBody>
          <a:bodyPr wrap="square" lIns="0" rIns="0" tIns="0" bIns="0">
            <a:spAutoFit/>
          </a:bodyPr>
          <a:lstStyle/>
          <a:p>
            <a:pPr algn="l"/>
            <a:r>
              <a:rPr sz="900" b="0" i="1">
                <a:solidFill>
                  <a:srgbClr val="757575"/>
                </a:solidFill>
                <a:latin typeface="Source Sans Pro"/>
              </a:rPr>
              <a:t>Status: collected · verified · published · referenced · LOD200+</a:t>
            </a:r>
          </a:p>
        </p:txBody>
      </p:sp>
      <p:pic>
        <p:nvPicPr>
          <p:cNvPr id="61" name="Picture 60"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62" name="TextBox 61"/>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7315200" cy="274320"/>
          </a:xfrm>
          <a:prstGeom prst="rect">
            <a:avLst/>
          </a:prstGeom>
          <a:noFill/>
        </p:spPr>
        <p:txBody>
          <a:bodyPr wrap="square" lIns="0" rIns="0" tIns="0" bIns="0">
            <a:spAutoFit/>
          </a:bodyPr>
          <a:lstStyle/>
          <a:p>
            <a:pPr algn="l"/>
            <a:r>
              <a:rPr sz="1000" b="1" i="0">
                <a:solidFill>
                  <a:srgbClr val="757575"/>
                </a:solidFill>
                <a:latin typeface="Source Sans Pro"/>
              </a:rPr>
              <a:t>TOOL 28  ·  HARVEST</a:t>
            </a:r>
          </a:p>
        </p:txBody>
      </p:sp>
      <p:sp>
        <p:nvSpPr>
          <p:cNvPr id="4" name="TextBox 3"/>
          <p:cNvSpPr txBox="1"/>
          <p:nvPr/>
        </p:nvSpPr>
        <p:spPr>
          <a:xfrm>
            <a:off x="457200" y="594360"/>
            <a:ext cx="10515600" cy="640080"/>
          </a:xfrm>
          <a:prstGeom prst="rect">
            <a:avLst/>
          </a:prstGeom>
          <a:noFill/>
        </p:spPr>
        <p:txBody>
          <a:bodyPr wrap="square" lIns="0" rIns="0" tIns="0" bIns="0">
            <a:spAutoFit/>
          </a:bodyPr>
          <a:lstStyle/>
          <a:p>
            <a:pPr algn="l"/>
            <a:r>
              <a:rPr sz="2800" b="0" i="0">
                <a:solidFill>
                  <a:srgbClr val="0D0D0D"/>
                </a:solidFill>
                <a:latin typeface="Palatino Linotype"/>
              </a:rPr>
              <a:t>Harvesting our  </a:t>
            </a:r>
            <a:r>
              <a:rPr sz="2800" b="0" i="1">
                <a:solidFill>
                  <a:srgbClr val="0D0D0D"/>
                </a:solidFill>
                <a:latin typeface="Palatino Linotype"/>
              </a:rPr>
              <a:t>learnings</a:t>
            </a:r>
          </a:p>
        </p:txBody>
      </p:sp>
      <p:sp>
        <p:nvSpPr>
          <p:cNvPr id="5" name="TextBox 4"/>
          <p:cNvSpPr txBox="1"/>
          <p:nvPr/>
        </p:nvSpPr>
        <p:spPr>
          <a:xfrm>
            <a:off x="457200" y="1234440"/>
            <a:ext cx="10515600" cy="365760"/>
          </a:xfrm>
          <a:prstGeom prst="rect">
            <a:avLst/>
          </a:prstGeom>
          <a:noFill/>
        </p:spPr>
        <p:txBody>
          <a:bodyPr wrap="square" lIns="0" rIns="0" tIns="0" bIns="0">
            <a:spAutoFit/>
          </a:bodyPr>
          <a:lstStyle/>
          <a:p>
            <a:pPr algn="l"/>
            <a:r>
              <a:rPr sz="1300" b="0" i="1">
                <a:solidFill>
                  <a:srgbClr val="757575"/>
                </a:solidFill>
                <a:latin typeface="Palatino Linotype"/>
              </a:rPr>
              <a:t>After running the canvas, capture three layers of insight.</a:t>
            </a:r>
          </a:p>
        </p:txBody>
      </p:sp>
      <p:sp>
        <p:nvSpPr>
          <p:cNvPr id="6" name="Rounded Rectangle 5"/>
          <p:cNvSpPr/>
          <p:nvPr/>
        </p:nvSpPr>
        <p:spPr>
          <a:xfrm>
            <a:off x="4572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Stand-out signals, surprising stories, ideas to remember</a:t>
            </a:r>
          </a:p>
        </p:txBody>
      </p:sp>
      <p:cxnSp>
        <p:nvCxnSpPr>
          <p:cNvPr id="8" name="Connector 7"/>
          <p:cNvCxnSpPr/>
          <p:nvPr/>
        </p:nvCxnSpPr>
        <p:spPr>
          <a:xfrm>
            <a:off x="7772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7772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772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772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772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772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772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2926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126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Concrete adaptations to our context, our team, our constraints</a:t>
            </a:r>
          </a:p>
        </p:txBody>
      </p:sp>
      <p:cxnSp>
        <p:nvCxnSpPr>
          <p:cNvPr id="17" name="Connector 16"/>
          <p:cNvCxnSpPr/>
          <p:nvPr/>
        </p:nvCxnSpPr>
        <p:spPr>
          <a:xfrm>
            <a:off x="46126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46126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46126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46126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46126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46126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46126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81280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4480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Skills, allies, resources, decisions still to secure</a:t>
            </a:r>
          </a:p>
        </p:txBody>
      </p:sp>
      <p:cxnSp>
        <p:nvCxnSpPr>
          <p:cNvPr id="26" name="Connector 25"/>
          <p:cNvCxnSpPr/>
          <p:nvPr/>
        </p:nvCxnSpPr>
        <p:spPr>
          <a:xfrm>
            <a:off x="84480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84480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84480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84480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84480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84480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84480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1035304" y="1801368"/>
            <a:ext cx="2450592" cy="420624"/>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What inspires me</a:t>
            </a:r>
          </a:p>
        </p:txBody>
      </p:sp>
      <p:sp>
        <p:nvSpPr>
          <p:cNvPr id="34" name="Rounded Rectangle 33"/>
          <p:cNvSpPr/>
          <p:nvPr/>
        </p:nvSpPr>
        <p:spPr>
          <a:xfrm>
            <a:off x="4632960" y="1801368"/>
            <a:ext cx="2926080" cy="420624"/>
          </a:xfrm>
          <a:prstGeom prst="roundRect">
            <a:avLst>
              <a:gd name="adj" fmla="val 50000"/>
            </a:avLst>
          </a:prstGeom>
          <a:solidFill>
            <a:srgbClr val="FF674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How to apply it here</a:t>
            </a:r>
          </a:p>
        </p:txBody>
      </p:sp>
      <p:sp>
        <p:nvSpPr>
          <p:cNvPr id="35" name="Rounded Rectangle 34"/>
          <p:cNvSpPr/>
          <p:nvPr/>
        </p:nvSpPr>
        <p:spPr>
          <a:xfrm>
            <a:off x="8102600" y="1801368"/>
            <a:ext cx="3657600" cy="420624"/>
          </a:xfrm>
          <a:prstGeom prst="roundRect">
            <a:avLst>
              <a:gd name="adj" fmla="val 50000"/>
            </a:avLst>
          </a:prstGeom>
          <a:solidFill>
            <a:srgbClr val="00ED93"/>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What we need to be autonomous</a:t>
            </a:r>
          </a:p>
        </p:txBody>
      </p:sp>
      <p:sp>
        <p:nvSpPr>
          <p:cNvPr id="36" name="TextBox 35"/>
          <p:cNvSpPr txBox="1"/>
          <p:nvPr/>
        </p:nvSpPr>
        <p:spPr>
          <a:xfrm>
            <a:off x="457200" y="6263640"/>
            <a:ext cx="11277600" cy="274320"/>
          </a:xfrm>
          <a:prstGeom prst="rect">
            <a:avLst/>
          </a:prstGeom>
          <a:noFill/>
        </p:spPr>
        <p:txBody>
          <a:bodyPr wrap="square" lIns="0" rIns="0" tIns="0" bIns="0">
            <a:spAutoFit/>
          </a:bodyPr>
          <a:lstStyle/>
          <a:p>
            <a:pPr algn="ctr"/>
            <a:r>
              <a:rPr sz="1000" b="0" i="1">
                <a:solidFill>
                  <a:srgbClr val="757575"/>
                </a:solidFill>
                <a:latin typeface="Palatino Linotype"/>
              </a:rPr>
              <a:t>Each participant fills a copy. Then debrief together to surface patterns and next steps.</a:t>
            </a:r>
          </a:p>
        </p:txBody>
      </p:sp>
      <p:pic>
        <p:nvPicPr>
          <p:cNvPr id="37" name="Picture 36"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38" name="TextBox 37"/>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