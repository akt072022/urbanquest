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19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6400" b="0" i="0">
                <a:solidFill>
                  <a:srgbClr val="0D0D0D"/>
                </a:solidFill>
                <a:latin typeface="Palatino Linotype"/>
              </a:rPr>
              <a:t>World Café</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synthesized matrix of collective intelligence, cross-pollinated ideas, and shared visions generated from highly structured, rotational group discussions,.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G2 · Proof of Fit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sp>
        <p:nvSpPr>
          <p:cNvPr id="10" name="Rounded Rectangle 9"/>
          <p:cNvSpPr/>
          <p:nvPr/>
        </p:nvSpPr>
        <p:spPr>
          <a:xfrm>
            <a:off x="20345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pic>
        <p:nvPicPr>
          <p:cNvPr id="11" name="Picture 10"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2" name="TextBox 11"/>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19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World Café</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Replacing the intimidating setup of a formal public hearing with the warmth of a coffee table, proving that profound political solutions often emerge from casual, horizontal conversations.</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synthesized matrix of collective intelligence, cross-pollinated ideas, and shared visions generated from highly structured, rotational group discussions,.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45 minutes to 3 hours
Material  ·  Small tables, writable tablecloths, colored pens, facilitation guides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City of Greater Geraldton used World Cafés during its "Geraldton 2029" planning project. A group of forty trained community champions facilitated these sessions, where residents moved from table to table to have serious conversations about the city's future, operating on the assumption that locals already possess the wisdom and creativity to confront difficult challenges.</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19  ·  ANIMATION CANVAS  ·  </a:t>
            </a:r>
            <a:r>
              <a:rPr sz="1000" b="1" i="0">
                <a:solidFill>
                  <a:srgbClr val="0D0D0D"/>
                </a:solidFill>
                <a:latin typeface="Source Sans Pro"/>
              </a:rPr>
              <a:t>WORLD CAFÉ</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Café tables × question rounds × harvest</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45 minutes to 3 hours</a:t>
            </a:r>
          </a:p>
        </p:txBody>
      </p:sp>
      <p:sp>
        <p:nvSpPr>
          <p:cNvPr id="6" name="Rounded Rectangle 5"/>
          <p:cNvSpPr/>
          <p:nvPr/>
        </p:nvSpPr>
        <p:spPr>
          <a:xfrm>
            <a:off x="457200" y="1417320"/>
            <a:ext cx="5547360" cy="18288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590800" y="2148840"/>
            <a:ext cx="1280160" cy="731520"/>
          </a:xfrm>
          <a:prstGeom prst="ellipse">
            <a:avLst/>
          </a:prstGeom>
          <a:solidFill>
            <a:srgbClr val="FFD200"/>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90800" y="2148840"/>
            <a:ext cx="1280160" cy="731520"/>
          </a:xfrm>
          <a:prstGeom prst="rect">
            <a:avLst/>
          </a:prstGeom>
          <a:noFill/>
        </p:spPr>
        <p:txBody>
          <a:bodyPr wrap="square" lIns="0" rIns="0" tIns="0" bIns="0" anchor="ctr">
            <a:spAutoFit/>
          </a:bodyPr>
          <a:lstStyle/>
          <a:p>
            <a:pPr algn="ctr"/>
            <a:r>
              <a:rPr sz="1300" b="1" i="0">
                <a:solidFill>
                  <a:srgbClr val="0D0D0D"/>
                </a:solidFill>
                <a:latin typeface="Palatino Linotype"/>
              </a:rPr>
              <a:t>Table 1</a:t>
            </a:r>
          </a:p>
        </p:txBody>
      </p:sp>
      <p:sp>
        <p:nvSpPr>
          <p:cNvPr id="9" name="Oval 8"/>
          <p:cNvSpPr/>
          <p:nvPr/>
        </p:nvSpPr>
        <p:spPr>
          <a:xfrm>
            <a:off x="3809853" y="1897403"/>
            <a:ext cx="329184" cy="329184"/>
          </a:xfrm>
          <a:prstGeom prst="ellipse">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809853" y="2802612"/>
            <a:ext cx="329184" cy="329184"/>
          </a:xfrm>
          <a:prstGeom prst="ellipse">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322722" y="2802612"/>
            <a:ext cx="329184" cy="329184"/>
          </a:xfrm>
          <a:prstGeom prst="ellipse">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322722" y="1897403"/>
            <a:ext cx="329184" cy="329184"/>
          </a:xfrm>
          <a:prstGeom prst="ellipse">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85800" y="1581912"/>
            <a:ext cx="5090160" cy="329184"/>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FFFFFF"/>
                </a:solidFill>
                <a:latin typeface="Source Sans Pro"/>
              </a:rPr>
              <a:t>What works today?</a:t>
            </a:r>
          </a:p>
        </p:txBody>
      </p:sp>
      <p:sp>
        <p:nvSpPr>
          <p:cNvPr id="14" name="TextBox 13"/>
          <p:cNvSpPr txBox="1"/>
          <p:nvPr/>
        </p:nvSpPr>
        <p:spPr>
          <a:xfrm>
            <a:off x="640080" y="2880360"/>
            <a:ext cx="5181600" cy="274320"/>
          </a:xfrm>
          <a:prstGeom prst="rect">
            <a:avLst/>
          </a:prstGeom>
          <a:noFill/>
        </p:spPr>
        <p:txBody>
          <a:bodyPr wrap="square" lIns="0" rIns="0" tIns="0" bIns="0">
            <a:spAutoFit/>
          </a:bodyPr>
          <a:lstStyle/>
          <a:p>
            <a:pPr algn="ctr"/>
            <a:r>
              <a:rPr sz="950" b="0" i="1">
                <a:solidFill>
                  <a:srgbClr val="757575"/>
                </a:solidFill>
                <a:latin typeface="Palatino Linotype"/>
              </a:rPr>
              <a:t>Host stays · participants rotate every 20 min.</a:t>
            </a:r>
          </a:p>
        </p:txBody>
      </p:sp>
      <p:sp>
        <p:nvSpPr>
          <p:cNvPr id="15" name="Rounded Rectangle 14"/>
          <p:cNvSpPr/>
          <p:nvPr/>
        </p:nvSpPr>
        <p:spPr>
          <a:xfrm>
            <a:off x="6187440" y="1417320"/>
            <a:ext cx="5547360" cy="18288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21040" y="2148840"/>
            <a:ext cx="1280160" cy="731520"/>
          </a:xfrm>
          <a:prstGeom prst="ellipse">
            <a:avLst/>
          </a:prstGeom>
          <a:solidFill>
            <a:srgbClr val="FF674D"/>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2148840"/>
            <a:ext cx="1280160" cy="731520"/>
          </a:xfrm>
          <a:prstGeom prst="rect">
            <a:avLst/>
          </a:prstGeom>
          <a:noFill/>
        </p:spPr>
        <p:txBody>
          <a:bodyPr wrap="square" lIns="0" rIns="0" tIns="0" bIns="0" anchor="ctr">
            <a:spAutoFit/>
          </a:bodyPr>
          <a:lstStyle/>
          <a:p>
            <a:pPr algn="ctr"/>
            <a:r>
              <a:rPr sz="1300" b="1" i="0">
                <a:solidFill>
                  <a:srgbClr val="0D0D0D"/>
                </a:solidFill>
                <a:latin typeface="Palatino Linotype"/>
              </a:rPr>
              <a:t>Table 2</a:t>
            </a:r>
          </a:p>
        </p:txBody>
      </p:sp>
      <p:sp>
        <p:nvSpPr>
          <p:cNvPr id="18" name="Oval 17"/>
          <p:cNvSpPr/>
          <p:nvPr/>
        </p:nvSpPr>
        <p:spPr>
          <a:xfrm>
            <a:off x="9540093" y="1897403"/>
            <a:ext cx="329184" cy="329184"/>
          </a:xfrm>
          <a:prstGeom prst="ellipse">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40093" y="2802612"/>
            <a:ext cx="329184" cy="329184"/>
          </a:xfrm>
          <a:prstGeom prst="ellipse">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52962" y="2802612"/>
            <a:ext cx="329184" cy="329184"/>
          </a:xfrm>
          <a:prstGeom prst="ellipse">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052962" y="1897403"/>
            <a:ext cx="329184" cy="329184"/>
          </a:xfrm>
          <a:prstGeom prst="ellipse">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16040" y="1581912"/>
            <a:ext cx="5090160" cy="329184"/>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FFFFFF"/>
                </a:solidFill>
                <a:latin typeface="Source Sans Pro"/>
              </a:rPr>
              <a:t>What is broken?</a:t>
            </a:r>
          </a:p>
        </p:txBody>
      </p:sp>
      <p:sp>
        <p:nvSpPr>
          <p:cNvPr id="23" name="TextBox 22"/>
          <p:cNvSpPr txBox="1"/>
          <p:nvPr/>
        </p:nvSpPr>
        <p:spPr>
          <a:xfrm>
            <a:off x="6370320" y="2880360"/>
            <a:ext cx="5181600" cy="274320"/>
          </a:xfrm>
          <a:prstGeom prst="rect">
            <a:avLst/>
          </a:prstGeom>
          <a:noFill/>
        </p:spPr>
        <p:txBody>
          <a:bodyPr wrap="square" lIns="0" rIns="0" tIns="0" bIns="0">
            <a:spAutoFit/>
          </a:bodyPr>
          <a:lstStyle/>
          <a:p>
            <a:pPr algn="ctr"/>
            <a:r>
              <a:rPr sz="950" b="0" i="1">
                <a:solidFill>
                  <a:srgbClr val="757575"/>
                </a:solidFill>
                <a:latin typeface="Palatino Linotype"/>
              </a:rPr>
              <a:t>Host stays · participants rotate every 20 min.</a:t>
            </a:r>
          </a:p>
        </p:txBody>
      </p:sp>
      <p:sp>
        <p:nvSpPr>
          <p:cNvPr id="24" name="Rounded Rectangle 23"/>
          <p:cNvSpPr/>
          <p:nvPr/>
        </p:nvSpPr>
        <p:spPr>
          <a:xfrm>
            <a:off x="457200" y="3429000"/>
            <a:ext cx="5547360" cy="18288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90800" y="4160520"/>
            <a:ext cx="1280160" cy="731520"/>
          </a:xfrm>
          <a:prstGeom prst="ellipse">
            <a:avLst/>
          </a:prstGeom>
          <a:solidFill>
            <a:srgbClr val="00ED93"/>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90800" y="4160520"/>
            <a:ext cx="1280160" cy="731520"/>
          </a:xfrm>
          <a:prstGeom prst="rect">
            <a:avLst/>
          </a:prstGeom>
          <a:noFill/>
        </p:spPr>
        <p:txBody>
          <a:bodyPr wrap="square" lIns="0" rIns="0" tIns="0" bIns="0" anchor="ctr">
            <a:spAutoFit/>
          </a:bodyPr>
          <a:lstStyle/>
          <a:p>
            <a:pPr algn="ctr"/>
            <a:r>
              <a:rPr sz="1300" b="1" i="0">
                <a:solidFill>
                  <a:srgbClr val="0D0D0D"/>
                </a:solidFill>
                <a:latin typeface="Palatino Linotype"/>
              </a:rPr>
              <a:t>Table 3</a:t>
            </a:r>
          </a:p>
        </p:txBody>
      </p:sp>
      <p:sp>
        <p:nvSpPr>
          <p:cNvPr id="27" name="Oval 26"/>
          <p:cNvSpPr/>
          <p:nvPr/>
        </p:nvSpPr>
        <p:spPr>
          <a:xfrm>
            <a:off x="3809853" y="3909083"/>
            <a:ext cx="329184" cy="329184"/>
          </a:xfrm>
          <a:prstGeom prst="ellipse">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809853" y="4814292"/>
            <a:ext cx="329184" cy="329184"/>
          </a:xfrm>
          <a:prstGeom prst="ellipse">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322722" y="4814292"/>
            <a:ext cx="329184" cy="329184"/>
          </a:xfrm>
          <a:prstGeom prst="ellipse">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322722" y="3909083"/>
            <a:ext cx="329184" cy="329184"/>
          </a:xfrm>
          <a:prstGeom prst="ellipse">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85800" y="3593592"/>
            <a:ext cx="5090160" cy="329184"/>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FFFFFF"/>
                </a:solidFill>
                <a:latin typeface="Source Sans Pro"/>
              </a:rPr>
              <a:t>What if money was unlimited?</a:t>
            </a:r>
          </a:p>
        </p:txBody>
      </p:sp>
      <p:sp>
        <p:nvSpPr>
          <p:cNvPr id="32" name="TextBox 31"/>
          <p:cNvSpPr txBox="1"/>
          <p:nvPr/>
        </p:nvSpPr>
        <p:spPr>
          <a:xfrm>
            <a:off x="640080" y="4892040"/>
            <a:ext cx="5181600" cy="274320"/>
          </a:xfrm>
          <a:prstGeom prst="rect">
            <a:avLst/>
          </a:prstGeom>
          <a:noFill/>
        </p:spPr>
        <p:txBody>
          <a:bodyPr wrap="square" lIns="0" rIns="0" tIns="0" bIns="0">
            <a:spAutoFit/>
          </a:bodyPr>
          <a:lstStyle/>
          <a:p>
            <a:pPr algn="ctr"/>
            <a:r>
              <a:rPr sz="950" b="0" i="1">
                <a:solidFill>
                  <a:srgbClr val="757575"/>
                </a:solidFill>
                <a:latin typeface="Palatino Linotype"/>
              </a:rPr>
              <a:t>Host stays · participants rotate every 20 min.</a:t>
            </a:r>
          </a:p>
        </p:txBody>
      </p:sp>
      <p:sp>
        <p:nvSpPr>
          <p:cNvPr id="33" name="Rounded Rectangle 32"/>
          <p:cNvSpPr/>
          <p:nvPr/>
        </p:nvSpPr>
        <p:spPr>
          <a:xfrm>
            <a:off x="6187440" y="3429000"/>
            <a:ext cx="5547360" cy="18288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21040" y="4160520"/>
            <a:ext cx="1280160" cy="731520"/>
          </a:xfrm>
          <a:prstGeom prst="ellipse">
            <a:avLst/>
          </a:prstGeom>
          <a:solidFill>
            <a:srgbClr val="459ACB"/>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21040" y="4160520"/>
            <a:ext cx="1280160" cy="731520"/>
          </a:xfrm>
          <a:prstGeom prst="rect">
            <a:avLst/>
          </a:prstGeom>
          <a:noFill/>
        </p:spPr>
        <p:txBody>
          <a:bodyPr wrap="square" lIns="0" rIns="0" tIns="0" bIns="0" anchor="ctr">
            <a:spAutoFit/>
          </a:bodyPr>
          <a:lstStyle/>
          <a:p>
            <a:pPr algn="ctr"/>
            <a:r>
              <a:rPr sz="1300" b="1" i="0">
                <a:solidFill>
                  <a:srgbClr val="0D0D0D"/>
                </a:solidFill>
                <a:latin typeface="Palatino Linotype"/>
              </a:rPr>
              <a:t>Table 4</a:t>
            </a:r>
          </a:p>
        </p:txBody>
      </p:sp>
      <p:sp>
        <p:nvSpPr>
          <p:cNvPr id="36" name="Oval 35"/>
          <p:cNvSpPr/>
          <p:nvPr/>
        </p:nvSpPr>
        <p:spPr>
          <a:xfrm>
            <a:off x="9540093" y="3909083"/>
            <a:ext cx="329184" cy="329184"/>
          </a:xfrm>
          <a:prstGeom prst="ellipse">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540093" y="4814292"/>
            <a:ext cx="329184" cy="329184"/>
          </a:xfrm>
          <a:prstGeom prst="ellipse">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052962" y="4814292"/>
            <a:ext cx="329184" cy="329184"/>
          </a:xfrm>
          <a:prstGeom prst="ellipse">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052962" y="3909083"/>
            <a:ext cx="329184" cy="329184"/>
          </a:xfrm>
          <a:prstGeom prst="ellipse">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416040" y="3593592"/>
            <a:ext cx="5090160" cy="329184"/>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FFFFFF"/>
                </a:solidFill>
                <a:latin typeface="Source Sans Pro"/>
              </a:rPr>
              <a:t>What would you do tomorrow?</a:t>
            </a:r>
          </a:p>
        </p:txBody>
      </p:sp>
      <p:sp>
        <p:nvSpPr>
          <p:cNvPr id="41" name="TextBox 40"/>
          <p:cNvSpPr txBox="1"/>
          <p:nvPr/>
        </p:nvSpPr>
        <p:spPr>
          <a:xfrm>
            <a:off x="6370320" y="4892040"/>
            <a:ext cx="5181600" cy="274320"/>
          </a:xfrm>
          <a:prstGeom prst="rect">
            <a:avLst/>
          </a:prstGeom>
          <a:noFill/>
        </p:spPr>
        <p:txBody>
          <a:bodyPr wrap="square" lIns="0" rIns="0" tIns="0" bIns="0">
            <a:spAutoFit/>
          </a:bodyPr>
          <a:lstStyle/>
          <a:p>
            <a:pPr algn="ctr"/>
            <a:r>
              <a:rPr sz="950" b="0" i="1">
                <a:solidFill>
                  <a:srgbClr val="757575"/>
                </a:solidFill>
                <a:latin typeface="Palatino Linotype"/>
              </a:rPr>
              <a:t>Host stays · participants rotate every 20 min.</a:t>
            </a:r>
          </a:p>
        </p:txBody>
      </p:sp>
      <p:sp>
        <p:nvSpPr>
          <p:cNvPr id="42" name="Rounded Rectangle 41"/>
          <p:cNvSpPr/>
          <p:nvPr/>
        </p:nvSpPr>
        <p:spPr>
          <a:xfrm>
            <a:off x="457200" y="5440680"/>
            <a:ext cx="237744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Harvest round</a:t>
            </a:r>
          </a:p>
        </p:txBody>
      </p:sp>
      <p:sp>
        <p:nvSpPr>
          <p:cNvPr id="43" name="TextBox 42"/>
          <p:cNvSpPr txBox="1"/>
          <p:nvPr/>
        </p:nvSpPr>
        <p:spPr>
          <a:xfrm>
            <a:off x="3017520" y="5486400"/>
            <a:ext cx="8717280" cy="365760"/>
          </a:xfrm>
          <a:prstGeom prst="rect">
            <a:avLst/>
          </a:prstGeom>
          <a:noFill/>
        </p:spPr>
        <p:txBody>
          <a:bodyPr wrap="square" lIns="0" rIns="0" tIns="0" bIns="0" anchor="ctr">
            <a:spAutoFit/>
          </a:bodyPr>
          <a:lstStyle/>
          <a:p>
            <a:pPr algn="l"/>
            <a:r>
              <a:rPr sz="1100" b="0" i="1">
                <a:solidFill>
                  <a:srgbClr val="757575"/>
                </a:solidFill>
                <a:latin typeface="Palatino Linotype"/>
              </a:rPr>
              <a:t>Each host shares the strongest insights · the room votes the top 3.</a:t>
            </a:r>
          </a:p>
        </p:txBody>
      </p:sp>
      <p:pic>
        <p:nvPicPr>
          <p:cNvPr id="44" name="Picture 43"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45" name="TextBox 44"/>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19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