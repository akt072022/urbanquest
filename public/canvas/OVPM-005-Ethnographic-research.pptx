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05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6400" b="0" i="0">
                <a:solidFill>
                  <a:srgbClr val="0D0D0D"/>
                </a:solidFill>
                <a:latin typeface="Palatino Linotype"/>
              </a:rPr>
              <a:t>Ethnographic research</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Thick descriptions of actual human behaviors, coping mechanisms, and physical appropriations of space that challenge top-down assumptions.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Heritage</a:t>
            </a:r>
          </a:p>
        </p:txBody>
      </p:sp>
      <p:sp>
        <p:nvSpPr>
          <p:cNvPr id="11" name="Rounded Rectangle 10"/>
          <p:cNvSpPr/>
          <p:nvPr/>
        </p:nvSpPr>
        <p:spPr>
          <a:xfrm>
            <a:off x="33329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Spatial</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05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Ethnographic research</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Learning to look at the city from the eye level of the most vulnerable; capturing the silent intelligence and survival strategies of bodies navigating the urban landscape.</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Thick descriptions of actual human behaviors, coping mechanisms, and physical appropriations of space that challenge top-down assumptions.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Several days to a few weeks of immersion
Material  ·  Field journal, camera, behavioral mapping grids, time/space maps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A Rapid Ethnographic Assessment Procedure (REAP) was used by the US National Park Service at Jacob Riis Park. It revealed that costly historic restorations meant nothing to the actual new users (recent immigrants), who only wanted shade for family picnics, radically altering the design priorities and proving that observing actual behavior is vital for culturally relevant spatial planning.</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05  ·  ANIMATION CANVAS  ·  </a:t>
            </a:r>
            <a:r>
              <a:rPr sz="1000" b="1" i="0">
                <a:solidFill>
                  <a:srgbClr val="0D0D0D"/>
                </a:solidFill>
                <a:latin typeface="Source Sans Pro"/>
              </a:rPr>
              <a:t>ETHNOGRAPHIC RESEARCH</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Field journal · silent observation</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Several days to a few weeks of immersion</a:t>
            </a:r>
          </a:p>
        </p:txBody>
      </p:sp>
      <p:sp>
        <p:nvSpPr>
          <p:cNvPr id="6" name="TextBox 5"/>
          <p:cNvSpPr txBox="1"/>
          <p:nvPr/>
        </p:nvSpPr>
        <p:spPr>
          <a:xfrm>
            <a:off x="457200" y="1371600"/>
            <a:ext cx="7315200" cy="274320"/>
          </a:xfrm>
          <a:prstGeom prst="rect">
            <a:avLst/>
          </a:prstGeom>
          <a:noFill/>
        </p:spPr>
        <p:txBody>
          <a:bodyPr wrap="square" lIns="0" rIns="0" tIns="0" bIns="0">
            <a:spAutoFit/>
          </a:bodyPr>
          <a:lstStyle/>
          <a:p>
            <a:pPr algn="l"/>
            <a:r>
              <a:rPr sz="1000" b="1" i="0">
                <a:solidFill>
                  <a:srgbClr val="0D0D0D"/>
                </a:solidFill>
                <a:latin typeface="Source Sans Pro"/>
              </a:rPr>
              <a:t>Date  ·  </a:t>
            </a:r>
            <a:r>
              <a:rPr sz="1000" b="0" i="0">
                <a:solidFill>
                  <a:srgbClr val="757575"/>
                </a:solidFill>
                <a:latin typeface="Source Sans Pro"/>
              </a:rPr>
              <a:t>____  ·  Place  ·  ____  ·  Time slot  ·  ____</a:t>
            </a:r>
          </a:p>
        </p:txBody>
      </p:sp>
      <p:sp>
        <p:nvSpPr>
          <p:cNvPr id="7" name="Rounded Rectangle 6"/>
          <p:cNvSpPr/>
          <p:nvPr/>
        </p:nvSpPr>
        <p:spPr>
          <a:xfrm>
            <a:off x="457200" y="182880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 y="1993392"/>
            <a:ext cx="54864" cy="329184"/>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993392"/>
            <a:ext cx="2238756" cy="329184"/>
          </a:xfrm>
          <a:prstGeom prst="rect">
            <a:avLst/>
          </a:prstGeom>
          <a:noFill/>
        </p:spPr>
        <p:txBody>
          <a:bodyPr wrap="square" lIns="0" rIns="0" tIns="0" bIns="0" anchor="ctr">
            <a:spAutoFit/>
          </a:bodyPr>
          <a:lstStyle/>
          <a:p>
            <a:pPr algn="l"/>
            <a:r>
              <a:rPr sz="1200" b="1" i="0">
                <a:solidFill>
                  <a:srgbClr val="0D0D0D"/>
                </a:solidFill>
                <a:latin typeface="Source Sans Pro"/>
              </a:rPr>
              <a:t>Postures</a:t>
            </a:r>
          </a:p>
        </p:txBody>
      </p:sp>
      <p:sp>
        <p:nvSpPr>
          <p:cNvPr id="10" name="TextBox 9"/>
          <p:cNvSpPr txBox="1"/>
          <p:nvPr/>
        </p:nvSpPr>
        <p:spPr>
          <a:xfrm>
            <a:off x="685800" y="2423160"/>
            <a:ext cx="2238756" cy="640080"/>
          </a:xfrm>
          <a:prstGeom prst="rect">
            <a:avLst/>
          </a:prstGeom>
          <a:noFill/>
        </p:spPr>
        <p:txBody>
          <a:bodyPr wrap="square" lIns="0" rIns="0" tIns="0" bIns="0">
            <a:spAutoFit/>
          </a:bodyPr>
          <a:lstStyle/>
          <a:p>
            <a:pPr algn="l"/>
            <a:r>
              <a:rPr sz="1000" b="0" i="1">
                <a:solidFill>
                  <a:srgbClr val="757575"/>
                </a:solidFill>
                <a:latin typeface="Palatino Linotype"/>
              </a:rPr>
              <a:t>how bodies hold themselves
standing, leaning, hiding…</a:t>
            </a:r>
          </a:p>
        </p:txBody>
      </p:sp>
      <p:cxnSp>
        <p:nvCxnSpPr>
          <p:cNvPr id="11" name="Connector 10"/>
          <p:cNvCxnSpPr/>
          <p:nvPr/>
        </p:nvCxnSpPr>
        <p:spPr>
          <a:xfrm>
            <a:off x="685800.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85800.0" y="341071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685800.0" y="36667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85800.0" y="3922776"/>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4178808"/>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3317748" y="182880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82340" y="1993392"/>
            <a:ext cx="54864" cy="329184"/>
          </a:xfrm>
          <a:prstGeom prst="rect">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10356" y="1993392"/>
            <a:ext cx="2238756" cy="329184"/>
          </a:xfrm>
          <a:prstGeom prst="rect">
            <a:avLst/>
          </a:prstGeom>
          <a:noFill/>
        </p:spPr>
        <p:txBody>
          <a:bodyPr wrap="square" lIns="0" rIns="0" tIns="0" bIns="0" anchor="ctr">
            <a:spAutoFit/>
          </a:bodyPr>
          <a:lstStyle/>
          <a:p>
            <a:pPr algn="l"/>
            <a:r>
              <a:rPr sz="1200" b="1" i="0">
                <a:solidFill>
                  <a:srgbClr val="0D0D0D"/>
                </a:solidFill>
                <a:latin typeface="Source Sans Pro"/>
              </a:rPr>
              <a:t>Appropriations</a:t>
            </a:r>
          </a:p>
        </p:txBody>
      </p:sp>
      <p:sp>
        <p:nvSpPr>
          <p:cNvPr id="19" name="TextBox 18"/>
          <p:cNvSpPr txBox="1"/>
          <p:nvPr/>
        </p:nvSpPr>
        <p:spPr>
          <a:xfrm>
            <a:off x="3546348" y="2423160"/>
            <a:ext cx="2238756" cy="640080"/>
          </a:xfrm>
          <a:prstGeom prst="rect">
            <a:avLst/>
          </a:prstGeom>
          <a:noFill/>
        </p:spPr>
        <p:txBody>
          <a:bodyPr wrap="square" lIns="0" rIns="0" tIns="0" bIns="0">
            <a:spAutoFit/>
          </a:bodyPr>
          <a:lstStyle/>
          <a:p>
            <a:pPr algn="l"/>
            <a:r>
              <a:rPr sz="1000" b="0" i="1">
                <a:solidFill>
                  <a:srgbClr val="757575"/>
                </a:solidFill>
                <a:latin typeface="Palatino Linotype"/>
              </a:rPr>
              <a:t>how people make space their own
furniture, signs, traces</a:t>
            </a:r>
          </a:p>
        </p:txBody>
      </p:sp>
      <p:cxnSp>
        <p:nvCxnSpPr>
          <p:cNvPr id="20" name="Connector 19"/>
          <p:cNvCxnSpPr/>
          <p:nvPr/>
        </p:nvCxnSpPr>
        <p:spPr>
          <a:xfrm>
            <a:off x="3546348.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546348.0" y="341071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546348.0" y="36667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546348.0" y="3922776"/>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546348.0" y="4178808"/>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178296" y="182880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42888" y="1993392"/>
            <a:ext cx="54864" cy="329184"/>
          </a:xfrm>
          <a:prstGeom prst="rect">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70904" y="1993392"/>
            <a:ext cx="2238756" cy="329184"/>
          </a:xfrm>
          <a:prstGeom prst="rect">
            <a:avLst/>
          </a:prstGeom>
          <a:noFill/>
        </p:spPr>
        <p:txBody>
          <a:bodyPr wrap="square" lIns="0" rIns="0" tIns="0" bIns="0" anchor="ctr">
            <a:spAutoFit/>
          </a:bodyPr>
          <a:lstStyle/>
          <a:p>
            <a:pPr algn="l"/>
            <a:r>
              <a:rPr sz="1200" b="1" i="0">
                <a:solidFill>
                  <a:srgbClr val="0D0D0D"/>
                </a:solidFill>
                <a:latin typeface="Source Sans Pro"/>
              </a:rPr>
              <a:t>Flows</a:t>
            </a:r>
          </a:p>
        </p:txBody>
      </p:sp>
      <p:sp>
        <p:nvSpPr>
          <p:cNvPr id="28" name="TextBox 27"/>
          <p:cNvSpPr txBox="1"/>
          <p:nvPr/>
        </p:nvSpPr>
        <p:spPr>
          <a:xfrm>
            <a:off x="6406896" y="2423160"/>
            <a:ext cx="2238756" cy="640080"/>
          </a:xfrm>
          <a:prstGeom prst="rect">
            <a:avLst/>
          </a:prstGeom>
          <a:noFill/>
        </p:spPr>
        <p:txBody>
          <a:bodyPr wrap="square" lIns="0" rIns="0" tIns="0" bIns="0">
            <a:spAutoFit/>
          </a:bodyPr>
          <a:lstStyle/>
          <a:p>
            <a:pPr algn="l"/>
            <a:r>
              <a:rPr sz="1000" b="0" i="1">
                <a:solidFill>
                  <a:srgbClr val="757575"/>
                </a:solidFill>
                <a:latin typeface="Palatino Linotype"/>
              </a:rPr>
              <a:t>how movement runs
paths, bottlenecks, detours</a:t>
            </a:r>
          </a:p>
        </p:txBody>
      </p:sp>
      <p:cxnSp>
        <p:nvCxnSpPr>
          <p:cNvPr id="29" name="Connector 28"/>
          <p:cNvCxnSpPr/>
          <p:nvPr/>
        </p:nvCxnSpPr>
        <p:spPr>
          <a:xfrm>
            <a:off x="6406896.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6406896.0" y="341071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406896.0" y="36667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6406896.0" y="3922776"/>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406896.0" y="4178808"/>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9038844" y="1828800"/>
            <a:ext cx="2695956" cy="2743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203436" y="1993392"/>
            <a:ext cx="54864" cy="329184"/>
          </a:xfrm>
          <a:prstGeom prst="rect">
            <a:avLst/>
          </a:prstGeom>
          <a:solidFill>
            <a:srgbClr val="EF98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31452" y="1993392"/>
            <a:ext cx="2238756" cy="329184"/>
          </a:xfrm>
          <a:prstGeom prst="rect">
            <a:avLst/>
          </a:prstGeom>
          <a:noFill/>
        </p:spPr>
        <p:txBody>
          <a:bodyPr wrap="square" lIns="0" rIns="0" tIns="0" bIns="0" anchor="ctr">
            <a:spAutoFit/>
          </a:bodyPr>
          <a:lstStyle/>
          <a:p>
            <a:pPr algn="l"/>
            <a:r>
              <a:rPr sz="1200" b="1" i="0">
                <a:solidFill>
                  <a:srgbClr val="0D0D0D"/>
                </a:solidFill>
                <a:latin typeface="Source Sans Pro"/>
              </a:rPr>
              <a:t>Verbatim</a:t>
            </a:r>
          </a:p>
        </p:txBody>
      </p:sp>
      <p:sp>
        <p:nvSpPr>
          <p:cNvPr id="37" name="TextBox 36"/>
          <p:cNvSpPr txBox="1"/>
          <p:nvPr/>
        </p:nvSpPr>
        <p:spPr>
          <a:xfrm>
            <a:off x="9267444" y="2423160"/>
            <a:ext cx="2238756" cy="640080"/>
          </a:xfrm>
          <a:prstGeom prst="rect">
            <a:avLst/>
          </a:prstGeom>
          <a:noFill/>
        </p:spPr>
        <p:txBody>
          <a:bodyPr wrap="square" lIns="0" rIns="0" tIns="0" bIns="0">
            <a:spAutoFit/>
          </a:bodyPr>
          <a:lstStyle/>
          <a:p>
            <a:pPr algn="l"/>
            <a:r>
              <a:rPr sz="1000" b="0" i="1">
                <a:solidFill>
                  <a:srgbClr val="757575"/>
                </a:solidFill>
                <a:latin typeface="Palatino Linotype"/>
              </a:rPr>
              <a:t>fragments overheard
words, tones, exchanges</a:t>
            </a:r>
          </a:p>
        </p:txBody>
      </p:sp>
      <p:cxnSp>
        <p:nvCxnSpPr>
          <p:cNvPr id="38" name="Connector 37"/>
          <p:cNvCxnSpPr/>
          <p:nvPr/>
        </p:nvCxnSpPr>
        <p:spPr>
          <a:xfrm>
            <a:off x="9267444.0" y="3154680"/>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267444.0" y="341071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267444.0" y="36667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267444.0" y="3922776"/>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9267444.0" y="4178808"/>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457200" y="4800600"/>
            <a:ext cx="11277600" cy="160020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4937760"/>
            <a:ext cx="5486400" cy="274320"/>
          </a:xfrm>
          <a:prstGeom prst="rect">
            <a:avLst/>
          </a:prstGeom>
          <a:noFill/>
        </p:spPr>
        <p:txBody>
          <a:bodyPr wrap="square" lIns="0" rIns="0" tIns="0" bIns="0">
            <a:spAutoFit/>
          </a:bodyPr>
          <a:lstStyle/>
          <a:p>
            <a:pPr algn="l"/>
            <a:r>
              <a:rPr sz="1200" b="0" i="1">
                <a:solidFill>
                  <a:srgbClr val="0D0D0D"/>
                </a:solidFill>
                <a:latin typeface="Palatino Linotype"/>
              </a:rPr>
              <a:t>Time × space matrix</a:t>
            </a:r>
          </a:p>
        </p:txBody>
      </p:sp>
      <p:sp>
        <p:nvSpPr>
          <p:cNvPr id="45" name="Rectangle 44"/>
          <p:cNvSpPr/>
          <p:nvPr/>
        </p:nvSpPr>
        <p:spPr>
          <a:xfrm>
            <a:off x="685800" y="5303520"/>
            <a:ext cx="1371600" cy="240030"/>
          </a:xfrm>
          <a:prstGeom prst="rect">
            <a:avLst/>
          </a:prstGeom>
          <a:solidFill>
            <a:srgbClr val="0D0D0D"/>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303520"/>
            <a:ext cx="1371600" cy="240030"/>
          </a:xfrm>
          <a:prstGeom prst="rect">
            <a:avLst/>
          </a:prstGeom>
          <a:noFill/>
        </p:spPr>
        <p:txBody>
          <a:bodyPr wrap="square" lIns="0" rIns="0" tIns="0" bIns="0" anchor="ctr">
            <a:spAutoFit/>
          </a:bodyPr>
          <a:lstStyle/>
          <a:p>
            <a:pPr algn="ctr"/>
            <a:r>
              <a:rPr sz="900" b="1" i="0">
                <a:solidFill>
                  <a:srgbClr val="FFD200"/>
                </a:solidFill>
                <a:latin typeface="Source Sans Pro"/>
              </a:rPr>
              <a:t>Zone</a:t>
            </a:r>
          </a:p>
        </p:txBody>
      </p:sp>
      <p:sp>
        <p:nvSpPr>
          <p:cNvPr id="47" name="Rectangle 46"/>
          <p:cNvSpPr/>
          <p:nvPr/>
        </p:nvSpPr>
        <p:spPr>
          <a:xfrm>
            <a:off x="2057400" y="5303520"/>
            <a:ext cx="1371600" cy="240030"/>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057400" y="530352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Morning</a:t>
            </a:r>
          </a:p>
        </p:txBody>
      </p:sp>
      <p:sp>
        <p:nvSpPr>
          <p:cNvPr id="49" name="Rectangle 48"/>
          <p:cNvSpPr/>
          <p:nvPr/>
        </p:nvSpPr>
        <p:spPr>
          <a:xfrm>
            <a:off x="3429000" y="5303520"/>
            <a:ext cx="1371600" cy="240030"/>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429000" y="530352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Midday</a:t>
            </a:r>
          </a:p>
        </p:txBody>
      </p:sp>
      <p:sp>
        <p:nvSpPr>
          <p:cNvPr id="51" name="Rectangle 50"/>
          <p:cNvSpPr/>
          <p:nvPr/>
        </p:nvSpPr>
        <p:spPr>
          <a:xfrm>
            <a:off x="4800600" y="5303520"/>
            <a:ext cx="1371600" cy="240030"/>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00600" y="530352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Afternoon</a:t>
            </a:r>
          </a:p>
        </p:txBody>
      </p:sp>
      <p:sp>
        <p:nvSpPr>
          <p:cNvPr id="53" name="Rectangle 52"/>
          <p:cNvSpPr/>
          <p:nvPr/>
        </p:nvSpPr>
        <p:spPr>
          <a:xfrm>
            <a:off x="6172200" y="5303520"/>
            <a:ext cx="1371600" cy="240030"/>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172200" y="530352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Evening</a:t>
            </a:r>
          </a:p>
        </p:txBody>
      </p:sp>
      <p:sp>
        <p:nvSpPr>
          <p:cNvPr id="55" name="Rectangle 54"/>
          <p:cNvSpPr/>
          <p:nvPr/>
        </p:nvSpPr>
        <p:spPr>
          <a:xfrm>
            <a:off x="685800" y="5543550"/>
            <a:ext cx="1371600" cy="240030"/>
          </a:xfrm>
          <a:prstGeom prst="rect">
            <a:avLst/>
          </a:prstGeom>
          <a:solidFill>
            <a:srgbClr val="EEECE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85800" y="554355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Centre</a:t>
            </a:r>
          </a:p>
        </p:txBody>
      </p:sp>
      <p:sp>
        <p:nvSpPr>
          <p:cNvPr id="57" name="Rectangle 56"/>
          <p:cNvSpPr/>
          <p:nvPr/>
        </p:nvSpPr>
        <p:spPr>
          <a:xfrm>
            <a:off x="2057400" y="554355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3429000" y="554355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4800600" y="554355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172200" y="554355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85800" y="5783580"/>
            <a:ext cx="1371600" cy="240030"/>
          </a:xfrm>
          <a:prstGeom prst="rect">
            <a:avLst/>
          </a:prstGeom>
          <a:solidFill>
            <a:srgbClr val="EEECE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85800" y="578358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Edges</a:t>
            </a:r>
          </a:p>
        </p:txBody>
      </p:sp>
      <p:sp>
        <p:nvSpPr>
          <p:cNvPr id="63" name="Rectangle 62"/>
          <p:cNvSpPr/>
          <p:nvPr/>
        </p:nvSpPr>
        <p:spPr>
          <a:xfrm>
            <a:off x="2057400" y="578358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429000" y="578358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4800600" y="578358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6172200" y="578358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685800" y="6023610"/>
            <a:ext cx="1371600" cy="240030"/>
          </a:xfrm>
          <a:prstGeom prst="rect">
            <a:avLst/>
          </a:prstGeom>
          <a:solidFill>
            <a:srgbClr val="EEECE6"/>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85800" y="6023610"/>
            <a:ext cx="1371600" cy="240030"/>
          </a:xfrm>
          <a:prstGeom prst="rect">
            <a:avLst/>
          </a:prstGeom>
          <a:noFill/>
        </p:spPr>
        <p:txBody>
          <a:bodyPr wrap="square" lIns="0" rIns="0" tIns="0" bIns="0" anchor="ctr">
            <a:spAutoFit/>
          </a:bodyPr>
          <a:lstStyle/>
          <a:p>
            <a:pPr algn="ctr"/>
            <a:r>
              <a:rPr sz="900" b="1" i="0">
                <a:solidFill>
                  <a:srgbClr val="0D0D0D"/>
                </a:solidFill>
                <a:latin typeface="Source Sans Pro"/>
              </a:rPr>
              <a:t>Hidden corners</a:t>
            </a:r>
          </a:p>
        </p:txBody>
      </p:sp>
      <p:sp>
        <p:nvSpPr>
          <p:cNvPr id="69" name="Rectangle 68"/>
          <p:cNvSpPr/>
          <p:nvPr/>
        </p:nvSpPr>
        <p:spPr>
          <a:xfrm>
            <a:off x="2057400" y="602361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3429000" y="602361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4800600" y="602361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6172200" y="6023610"/>
            <a:ext cx="1371600" cy="240030"/>
          </a:xfrm>
          <a:prstGeom prst="rect">
            <a:avLst/>
          </a:prstGeom>
          <a:solidFill>
            <a:srgbClr val="FFFFFF"/>
          </a:solidFill>
          <a:ln w="508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3" name="Picture 7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4" name="TextBox 7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05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