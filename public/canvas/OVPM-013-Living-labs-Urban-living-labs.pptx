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13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Living labs (Urban living labs)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functional, real-world deployment of a solution tested in situ by end-users, complete with documented feedback on its social and spatial performance .</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0" name="Rounded Rectangle 9"/>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1" name="Rounded Rectangle 10"/>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13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Living labs (Urban living labs)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Turning the living city into an open canvas where residents are not just subjects of research, but active, daily co-creators of their own environment.</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functional, real-world deployment of a solution tested in situ by end-users, complete with documented feedback on its social and spatial performance .</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6 months to 2 years of continuous experimentation
Material  ·  Urban space, physical prototypes, observational forms, social surveys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FURNISH project in Barcelona utilized a four-phase Urban Living Lab process. They collaborated with Fab Labs to design and fabricate prototypes like the "EDUS Point". These prototypes were then deployed in real urban environments, challenging traditional planning by embedding experimentation into everyday settings and relying on iterative feedback loops between users and designers , , .</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13  ·  ANIMATION CANVAS  ·  </a:t>
            </a:r>
            <a:r>
              <a:rPr sz="1000" b="1" i="0">
                <a:solidFill>
                  <a:srgbClr val="0D0D0D"/>
                </a:solidFill>
                <a:latin typeface="Source Sans Pro"/>
              </a:rPr>
              <a:t>LIVING LABS (URBAN LIVING LABS)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Urban living lab · testbed setup &amp; iterations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6 months to 2 years of continuous experimentation</a:t>
            </a:r>
          </a:p>
        </p:txBody>
      </p:sp>
      <p:sp>
        <p:nvSpPr>
          <p:cNvPr id="6" name="Rounded Rectangle 5"/>
          <p:cNvSpPr/>
          <p:nvPr/>
        </p:nvSpPr>
        <p:spPr>
          <a:xfrm>
            <a:off x="457200" y="1417320"/>
            <a:ext cx="50292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4572000" cy="365760"/>
          </a:xfrm>
          <a:prstGeom prst="rect">
            <a:avLst/>
          </a:prstGeom>
          <a:noFill/>
        </p:spPr>
        <p:txBody>
          <a:bodyPr wrap="square" lIns="0" rIns="0" tIns="0" bIns="0">
            <a:spAutoFit/>
          </a:bodyPr>
          <a:lstStyle/>
          <a:p>
            <a:pPr algn="l"/>
            <a:r>
              <a:rPr sz="1400" b="0" i="1">
                <a:solidFill>
                  <a:srgbClr val="0D0D0D"/>
                </a:solidFill>
                <a:latin typeface="Palatino Linotype"/>
              </a:rPr>
              <a:t>Geographic testbed</a:t>
            </a:r>
          </a:p>
        </p:txBody>
      </p:sp>
      <p:sp>
        <p:nvSpPr>
          <p:cNvPr id="8" name="TextBox 7"/>
          <p:cNvSpPr txBox="1"/>
          <p:nvPr/>
        </p:nvSpPr>
        <p:spPr>
          <a:xfrm>
            <a:off x="685800" y="1920240"/>
            <a:ext cx="4572000" cy="274320"/>
          </a:xfrm>
          <a:prstGeom prst="rect">
            <a:avLst/>
          </a:prstGeom>
          <a:noFill/>
        </p:spPr>
        <p:txBody>
          <a:bodyPr wrap="square" lIns="0" rIns="0" tIns="0" bIns="0">
            <a:spAutoFit/>
          </a:bodyPr>
          <a:lstStyle/>
          <a:p>
            <a:pPr algn="l"/>
            <a:r>
              <a:rPr sz="1000" b="0" i="0">
                <a:solidFill>
                  <a:srgbClr val="757575"/>
                </a:solidFill>
                <a:latin typeface="Source Sans Pro"/>
              </a:rPr>
              <a:t>Trace the boundary, mark prototype deployment points.</a:t>
            </a:r>
          </a:p>
        </p:txBody>
      </p:sp>
      <p:sp>
        <p:nvSpPr>
          <p:cNvPr id="9" name="Rounded Rectangle 8"/>
          <p:cNvSpPr/>
          <p:nvPr/>
        </p:nvSpPr>
        <p:spPr>
          <a:xfrm>
            <a:off x="914400" y="2423160"/>
            <a:ext cx="4114800" cy="3383280"/>
          </a:xfrm>
          <a:prstGeom prst="roundRect">
            <a:avLst>
              <a:gd name="adj" fmla="val 18000"/>
            </a:avLst>
          </a:prstGeom>
          <a:noFill/>
          <a:ln w="12700">
            <a:solidFill>
              <a:srgbClr val="0D0D0D"/>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31920"/>
            <a:ext cx="4114800" cy="365760"/>
          </a:xfrm>
          <a:prstGeom prst="rect">
            <a:avLst/>
          </a:prstGeom>
          <a:noFill/>
        </p:spPr>
        <p:txBody>
          <a:bodyPr wrap="square" lIns="0" rIns="0" tIns="0" bIns="0">
            <a:spAutoFit/>
          </a:bodyPr>
          <a:lstStyle/>
          <a:p>
            <a:pPr algn="ctr"/>
            <a:r>
              <a:rPr sz="1100" b="0" i="1">
                <a:solidFill>
                  <a:srgbClr val="757575"/>
                </a:solidFill>
                <a:latin typeface="Palatino Linotype"/>
              </a:rPr>
              <a:t>lab boundary</a:t>
            </a:r>
          </a:p>
        </p:txBody>
      </p:sp>
      <p:sp>
        <p:nvSpPr>
          <p:cNvPr id="11" name="Oval 10"/>
          <p:cNvSpPr/>
          <p:nvPr/>
        </p:nvSpPr>
        <p:spPr>
          <a:xfrm>
            <a:off x="1965960" y="3255264"/>
            <a:ext cx="365760" cy="365760"/>
          </a:xfrm>
          <a:prstGeom prst="ellipse">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65960" y="3255264"/>
            <a:ext cx="365760" cy="365760"/>
          </a:xfrm>
          <a:prstGeom prst="rect">
            <a:avLst/>
          </a:prstGeom>
          <a:noFill/>
        </p:spPr>
        <p:txBody>
          <a:bodyPr wrap="square" lIns="0" rIns="0" tIns="0" bIns="0" anchor="ctr">
            <a:spAutoFit/>
          </a:bodyPr>
          <a:lstStyle/>
          <a:p>
            <a:pPr algn="ctr"/>
            <a:r>
              <a:rPr sz="900" b="1" i="0">
                <a:solidFill>
                  <a:srgbClr val="0D0D0D"/>
                </a:solidFill>
                <a:latin typeface="Source Sans Pro"/>
              </a:rPr>
              <a:t>P1</a:t>
            </a:r>
          </a:p>
        </p:txBody>
      </p:sp>
      <p:sp>
        <p:nvSpPr>
          <p:cNvPr id="13" name="Oval 12"/>
          <p:cNvSpPr/>
          <p:nvPr/>
        </p:nvSpPr>
        <p:spPr>
          <a:xfrm>
            <a:off x="3611880" y="3255264"/>
            <a:ext cx="365760" cy="365760"/>
          </a:xfrm>
          <a:prstGeom prst="ellipse">
            <a:avLst/>
          </a:prstGeom>
          <a:solidFill>
            <a:srgbClr val="FF674D"/>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3255264"/>
            <a:ext cx="365760" cy="365760"/>
          </a:xfrm>
          <a:prstGeom prst="rect">
            <a:avLst/>
          </a:prstGeom>
          <a:noFill/>
        </p:spPr>
        <p:txBody>
          <a:bodyPr wrap="square" lIns="0" rIns="0" tIns="0" bIns="0" anchor="ctr">
            <a:spAutoFit/>
          </a:bodyPr>
          <a:lstStyle/>
          <a:p>
            <a:pPr algn="ctr"/>
            <a:r>
              <a:rPr sz="900" b="1" i="0">
                <a:solidFill>
                  <a:srgbClr val="0D0D0D"/>
                </a:solidFill>
                <a:latin typeface="Source Sans Pro"/>
              </a:rPr>
              <a:t>P2</a:t>
            </a:r>
          </a:p>
        </p:txBody>
      </p:sp>
      <p:sp>
        <p:nvSpPr>
          <p:cNvPr id="15" name="Oval 14"/>
          <p:cNvSpPr/>
          <p:nvPr/>
        </p:nvSpPr>
        <p:spPr>
          <a:xfrm>
            <a:off x="2788920" y="4270248"/>
            <a:ext cx="365760" cy="365760"/>
          </a:xfrm>
          <a:prstGeom prst="ellipse">
            <a:avLst/>
          </a:prstGeom>
          <a:solidFill>
            <a:srgbClr val="00ED93"/>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4270248"/>
            <a:ext cx="365760" cy="365760"/>
          </a:xfrm>
          <a:prstGeom prst="rect">
            <a:avLst/>
          </a:prstGeom>
          <a:noFill/>
        </p:spPr>
        <p:txBody>
          <a:bodyPr wrap="square" lIns="0" rIns="0" tIns="0" bIns="0" anchor="ctr">
            <a:spAutoFit/>
          </a:bodyPr>
          <a:lstStyle/>
          <a:p>
            <a:pPr algn="ctr"/>
            <a:r>
              <a:rPr sz="900" b="1" i="0">
                <a:solidFill>
                  <a:srgbClr val="0D0D0D"/>
                </a:solidFill>
                <a:latin typeface="Source Sans Pro"/>
              </a:rPr>
              <a:t>P3</a:t>
            </a:r>
          </a:p>
        </p:txBody>
      </p:sp>
      <p:sp>
        <p:nvSpPr>
          <p:cNvPr id="17" name="Oval 16"/>
          <p:cNvSpPr/>
          <p:nvPr/>
        </p:nvSpPr>
        <p:spPr>
          <a:xfrm>
            <a:off x="1760220" y="4777740"/>
            <a:ext cx="365760" cy="365760"/>
          </a:xfrm>
          <a:prstGeom prst="ellipse">
            <a:avLst/>
          </a:prstGeom>
          <a:solidFill>
            <a:srgbClr val="EF98D6"/>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60220" y="4777740"/>
            <a:ext cx="365760" cy="365760"/>
          </a:xfrm>
          <a:prstGeom prst="rect">
            <a:avLst/>
          </a:prstGeom>
          <a:noFill/>
        </p:spPr>
        <p:txBody>
          <a:bodyPr wrap="square" lIns="0" rIns="0" tIns="0" bIns="0" anchor="ctr">
            <a:spAutoFit/>
          </a:bodyPr>
          <a:lstStyle/>
          <a:p>
            <a:pPr algn="ctr"/>
            <a:r>
              <a:rPr sz="900" b="1" i="0">
                <a:solidFill>
                  <a:srgbClr val="0D0D0D"/>
                </a:solidFill>
                <a:latin typeface="Source Sans Pro"/>
              </a:rPr>
              <a:t>P4</a:t>
            </a:r>
          </a:p>
        </p:txBody>
      </p:sp>
      <p:sp>
        <p:nvSpPr>
          <p:cNvPr id="19" name="Rounded Rectangle 18"/>
          <p:cNvSpPr/>
          <p:nvPr/>
        </p:nvSpPr>
        <p:spPr>
          <a:xfrm>
            <a:off x="5715000" y="1417320"/>
            <a:ext cx="6019800" cy="173736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0" y="1554480"/>
            <a:ext cx="5562600" cy="274320"/>
          </a:xfrm>
          <a:prstGeom prst="rect">
            <a:avLst/>
          </a:prstGeom>
          <a:noFill/>
        </p:spPr>
        <p:txBody>
          <a:bodyPr wrap="square" lIns="0" rIns="0" tIns="0" bIns="0">
            <a:spAutoFit/>
          </a:bodyPr>
          <a:lstStyle/>
          <a:p>
            <a:pPr algn="l"/>
            <a:r>
              <a:rPr sz="1300" b="0" i="1">
                <a:solidFill>
                  <a:srgbClr val="0D0D0D"/>
                </a:solidFill>
                <a:latin typeface="Palatino Linotype"/>
              </a:rPr>
              <a:t>Partnership</a:t>
            </a:r>
          </a:p>
        </p:txBody>
      </p:sp>
      <p:sp>
        <p:nvSpPr>
          <p:cNvPr id="21" name="Rectangle 20"/>
          <p:cNvSpPr/>
          <p:nvPr/>
        </p:nvSpPr>
        <p:spPr>
          <a:xfrm>
            <a:off x="5989320" y="1984248"/>
            <a:ext cx="182880" cy="182880"/>
          </a:xfrm>
          <a:prstGeom prst="rect">
            <a:avLst/>
          </a:prstGeom>
          <a:solidFill>
            <a:srgbClr val="0D0D0D"/>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920240"/>
            <a:ext cx="2286000" cy="320040"/>
          </a:xfrm>
          <a:prstGeom prst="rect">
            <a:avLst/>
          </a:prstGeom>
          <a:noFill/>
        </p:spPr>
        <p:txBody>
          <a:bodyPr wrap="square" lIns="0" rIns="0" tIns="0" bIns="0" anchor="ctr">
            <a:spAutoFit/>
          </a:bodyPr>
          <a:lstStyle/>
          <a:p>
            <a:pPr algn="l"/>
            <a:r>
              <a:rPr sz="1000" b="1" i="0">
                <a:solidFill>
                  <a:srgbClr val="0D0D0D"/>
                </a:solidFill>
                <a:latin typeface="Source Sans Pro"/>
              </a:rPr>
              <a:t>Public agencies</a:t>
            </a:r>
          </a:p>
        </p:txBody>
      </p:sp>
      <p:cxnSp>
        <p:nvCxnSpPr>
          <p:cNvPr id="23" name="Connector 22"/>
          <p:cNvCxnSpPr/>
          <p:nvPr/>
        </p:nvCxnSpPr>
        <p:spPr>
          <a:xfrm>
            <a:off x="6263640.0" y="2212848"/>
            <a:ext cx="21945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724900" y="1984248"/>
            <a:ext cx="182880" cy="182880"/>
          </a:xfrm>
          <a:prstGeom prst="rect">
            <a:avLst/>
          </a:prstGeom>
          <a:solidFill>
            <a:srgbClr val="459ACB"/>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999220" y="1920240"/>
            <a:ext cx="2286000" cy="320040"/>
          </a:xfrm>
          <a:prstGeom prst="rect">
            <a:avLst/>
          </a:prstGeom>
          <a:noFill/>
        </p:spPr>
        <p:txBody>
          <a:bodyPr wrap="square" lIns="0" rIns="0" tIns="0" bIns="0" anchor="ctr">
            <a:spAutoFit/>
          </a:bodyPr>
          <a:lstStyle/>
          <a:p>
            <a:pPr algn="l"/>
            <a:r>
              <a:rPr sz="1000" b="1" i="0">
                <a:solidFill>
                  <a:srgbClr val="0D0D0D"/>
                </a:solidFill>
                <a:latin typeface="Source Sans Pro"/>
              </a:rPr>
              <a:t>Technical experts</a:t>
            </a:r>
          </a:p>
        </p:txBody>
      </p:sp>
      <p:cxnSp>
        <p:nvCxnSpPr>
          <p:cNvPr id="26" name="Connector 25"/>
          <p:cNvCxnSpPr/>
          <p:nvPr/>
        </p:nvCxnSpPr>
        <p:spPr>
          <a:xfrm>
            <a:off x="8999220.0" y="2212848"/>
            <a:ext cx="21945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989320" y="2532888"/>
            <a:ext cx="182880" cy="182880"/>
          </a:xfrm>
          <a:prstGeom prst="rect">
            <a:avLst/>
          </a:prstGeom>
          <a:solidFill>
            <a:srgbClr val="FFD200"/>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2468880"/>
            <a:ext cx="2286000" cy="320040"/>
          </a:xfrm>
          <a:prstGeom prst="rect">
            <a:avLst/>
          </a:prstGeom>
          <a:noFill/>
        </p:spPr>
        <p:txBody>
          <a:bodyPr wrap="square" lIns="0" rIns="0" tIns="0" bIns="0" anchor="ctr">
            <a:spAutoFit/>
          </a:bodyPr>
          <a:lstStyle/>
          <a:p>
            <a:pPr algn="l"/>
            <a:r>
              <a:rPr sz="1000" b="1" i="0">
                <a:solidFill>
                  <a:srgbClr val="0D0D0D"/>
                </a:solidFill>
                <a:latin typeface="Source Sans Pro"/>
              </a:rPr>
              <a:t>Local residents</a:t>
            </a:r>
          </a:p>
        </p:txBody>
      </p:sp>
      <p:cxnSp>
        <p:nvCxnSpPr>
          <p:cNvPr id="29" name="Connector 28"/>
          <p:cNvCxnSpPr/>
          <p:nvPr/>
        </p:nvCxnSpPr>
        <p:spPr>
          <a:xfrm>
            <a:off x="6263640.0" y="2761488"/>
            <a:ext cx="21945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8724900" y="2532888"/>
            <a:ext cx="182880" cy="182880"/>
          </a:xfrm>
          <a:prstGeom prst="rect">
            <a:avLst/>
          </a:prstGeom>
          <a:solidFill>
            <a:srgbClr val="00ED93"/>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99220" y="2468880"/>
            <a:ext cx="2286000" cy="320040"/>
          </a:xfrm>
          <a:prstGeom prst="rect">
            <a:avLst/>
          </a:prstGeom>
          <a:noFill/>
        </p:spPr>
        <p:txBody>
          <a:bodyPr wrap="square" lIns="0" rIns="0" tIns="0" bIns="0" anchor="ctr">
            <a:spAutoFit/>
          </a:bodyPr>
          <a:lstStyle/>
          <a:p>
            <a:pPr algn="l"/>
            <a:r>
              <a:rPr sz="1000" b="1" i="0">
                <a:solidFill>
                  <a:srgbClr val="0D0D0D"/>
                </a:solidFill>
                <a:latin typeface="Source Sans Pro"/>
              </a:rPr>
              <a:t>Businesses</a:t>
            </a:r>
          </a:p>
        </p:txBody>
      </p:sp>
      <p:cxnSp>
        <p:nvCxnSpPr>
          <p:cNvPr id="32" name="Connector 31"/>
          <p:cNvCxnSpPr/>
          <p:nvPr/>
        </p:nvCxnSpPr>
        <p:spPr>
          <a:xfrm>
            <a:off x="8999220.0" y="2761488"/>
            <a:ext cx="219456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715000" y="3337560"/>
            <a:ext cx="6019800" cy="28346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0" y="3474720"/>
            <a:ext cx="5562600" cy="274320"/>
          </a:xfrm>
          <a:prstGeom prst="rect">
            <a:avLst/>
          </a:prstGeom>
          <a:noFill/>
        </p:spPr>
        <p:txBody>
          <a:bodyPr wrap="square" lIns="0" rIns="0" tIns="0" bIns="0">
            <a:spAutoFit/>
          </a:bodyPr>
          <a:lstStyle/>
          <a:p>
            <a:pPr algn="l"/>
            <a:r>
              <a:rPr sz="1300" b="0" i="1">
                <a:solidFill>
                  <a:srgbClr val="0D0D0D"/>
                </a:solidFill>
                <a:latin typeface="Palatino Linotype"/>
              </a:rPr>
              <a:t>Iteration log</a:t>
            </a:r>
          </a:p>
        </p:txBody>
      </p:sp>
      <p:sp>
        <p:nvSpPr>
          <p:cNvPr id="35" name="Oval 34"/>
          <p:cNvSpPr/>
          <p:nvPr/>
        </p:nvSpPr>
        <p:spPr>
          <a:xfrm>
            <a:off x="5989320" y="3895344"/>
            <a:ext cx="274320" cy="27432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89320" y="3895344"/>
            <a:ext cx="274320" cy="274320"/>
          </a:xfrm>
          <a:prstGeom prst="rect">
            <a:avLst/>
          </a:prstGeom>
          <a:noFill/>
        </p:spPr>
        <p:txBody>
          <a:bodyPr wrap="square" lIns="0" rIns="0" tIns="0" bIns="0" anchor="ctr">
            <a:spAutoFit/>
          </a:bodyPr>
          <a:lstStyle/>
          <a:p>
            <a:pPr algn="ctr"/>
            <a:r>
              <a:rPr sz="850" b="1" i="0">
                <a:solidFill>
                  <a:srgbClr val="0D0D0D"/>
                </a:solidFill>
                <a:latin typeface="Source Sans Pro"/>
              </a:rPr>
              <a:t>V1</a:t>
            </a:r>
          </a:p>
        </p:txBody>
      </p:sp>
      <p:cxnSp>
        <p:nvCxnSpPr>
          <p:cNvPr id="37" name="Connector 36"/>
          <p:cNvCxnSpPr/>
          <p:nvPr/>
        </p:nvCxnSpPr>
        <p:spPr>
          <a:xfrm>
            <a:off x="6355080" y="4032504"/>
            <a:ext cx="51054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5989320" y="4352544"/>
            <a:ext cx="274320" cy="27432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89320" y="4352544"/>
            <a:ext cx="274320" cy="274320"/>
          </a:xfrm>
          <a:prstGeom prst="rect">
            <a:avLst/>
          </a:prstGeom>
          <a:noFill/>
        </p:spPr>
        <p:txBody>
          <a:bodyPr wrap="square" lIns="0" rIns="0" tIns="0" bIns="0" anchor="ctr">
            <a:spAutoFit/>
          </a:bodyPr>
          <a:lstStyle/>
          <a:p>
            <a:pPr algn="ctr"/>
            <a:r>
              <a:rPr sz="850" b="1" i="0">
                <a:solidFill>
                  <a:srgbClr val="0D0D0D"/>
                </a:solidFill>
                <a:latin typeface="Source Sans Pro"/>
              </a:rPr>
              <a:t>V2</a:t>
            </a:r>
          </a:p>
        </p:txBody>
      </p:sp>
      <p:cxnSp>
        <p:nvCxnSpPr>
          <p:cNvPr id="40" name="Connector 39"/>
          <p:cNvCxnSpPr/>
          <p:nvPr/>
        </p:nvCxnSpPr>
        <p:spPr>
          <a:xfrm>
            <a:off x="6355080" y="4489704"/>
            <a:ext cx="51054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5989320" y="4809744"/>
            <a:ext cx="274320" cy="27432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89320" y="4809744"/>
            <a:ext cx="274320" cy="274320"/>
          </a:xfrm>
          <a:prstGeom prst="rect">
            <a:avLst/>
          </a:prstGeom>
          <a:noFill/>
        </p:spPr>
        <p:txBody>
          <a:bodyPr wrap="square" lIns="0" rIns="0" tIns="0" bIns="0" anchor="ctr">
            <a:spAutoFit/>
          </a:bodyPr>
          <a:lstStyle/>
          <a:p>
            <a:pPr algn="ctr"/>
            <a:r>
              <a:rPr sz="850" b="1" i="0">
                <a:solidFill>
                  <a:srgbClr val="0D0D0D"/>
                </a:solidFill>
                <a:latin typeface="Source Sans Pro"/>
              </a:rPr>
              <a:t>V3</a:t>
            </a:r>
          </a:p>
        </p:txBody>
      </p:sp>
      <p:cxnSp>
        <p:nvCxnSpPr>
          <p:cNvPr id="43" name="Connector 42"/>
          <p:cNvCxnSpPr/>
          <p:nvPr/>
        </p:nvCxnSpPr>
        <p:spPr>
          <a:xfrm>
            <a:off x="6355080" y="4946904"/>
            <a:ext cx="51054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5989320" y="5266944"/>
            <a:ext cx="274320" cy="274320"/>
          </a:xfrm>
          <a:prstGeom prst="ellipse">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89320" y="5266944"/>
            <a:ext cx="274320" cy="274320"/>
          </a:xfrm>
          <a:prstGeom prst="rect">
            <a:avLst/>
          </a:prstGeom>
          <a:noFill/>
        </p:spPr>
        <p:txBody>
          <a:bodyPr wrap="square" lIns="0" rIns="0" tIns="0" bIns="0" anchor="ctr">
            <a:spAutoFit/>
          </a:bodyPr>
          <a:lstStyle/>
          <a:p>
            <a:pPr algn="ctr"/>
            <a:r>
              <a:rPr sz="850" b="1" i="0">
                <a:solidFill>
                  <a:srgbClr val="0D0D0D"/>
                </a:solidFill>
                <a:latin typeface="Source Sans Pro"/>
              </a:rPr>
              <a:t>V4</a:t>
            </a:r>
          </a:p>
        </p:txBody>
      </p:sp>
      <p:cxnSp>
        <p:nvCxnSpPr>
          <p:cNvPr id="46" name="Connector 45"/>
          <p:cNvCxnSpPr/>
          <p:nvPr/>
        </p:nvCxnSpPr>
        <p:spPr>
          <a:xfrm>
            <a:off x="6355080" y="5404104"/>
            <a:ext cx="51054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Run for 6 to 24 months. Embed feedback loops between users and designers.</a:t>
            </a:r>
          </a:p>
        </p:txBody>
      </p:sp>
      <p:pic>
        <p:nvPicPr>
          <p:cNvPr id="48" name="Picture 47"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9" name="TextBox 48"/>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13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