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73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Risk register &amp; risk management matrix</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categorized matrix that lists potential adverse events, scores their probability and severity, and explicitly assigns the mitigation responsibility to the public partner, private partner, or both.</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Risk register &amp; risk management matrix</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Transforming the fear of the unknown into a shared, rationalized cartography of vulnerabilities, acknowledging that while we cannot control the future, collective preparation is a public good.</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categorized matrix that lists potential adverse events, scores their probability and severity, and explicitly assigns the mitigation responsibility to the public partner, private partner, or both.</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weeks for data gathering; 1-day expert workshop to score and allocate
Material  ·  Past project data, risk categorization templates, probability/severity scoring grids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large-scale infrastructure investments evaluated by the European Commission, building a qualitative risk matrix enabled project promoters to foresee "catastrophic" variables like construction cost overruns or demand shortfalls, leading to targeted mitigation measures before finalizing the financial model. Similarly, the EBRD advises using risk matrices in public-private partnerships to effectively assign responsibilities, such as placing land acquisition risks on the publ…</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73  ·  ANIMATION CANVAS  ·  </a:t>
            </a:r>
            <a:r>
              <a:rPr sz="1000" b="1" i="0">
                <a:solidFill>
                  <a:srgbClr val="0D0D0D"/>
                </a:solidFill>
                <a:latin typeface="Source Sans Pro"/>
              </a:rPr>
              <a:t>RISK REGISTER &amp; RISK MANAGEMENT MATRIX</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Risk register · likelihood × impact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weeks for data gathering; 1-day expert workshop…</a:t>
            </a:r>
          </a:p>
        </p:txBody>
      </p:sp>
      <p:sp>
        <p:nvSpPr>
          <p:cNvPr id="6" name="Rounded Rectangle 5"/>
          <p:cNvSpPr/>
          <p:nvPr/>
        </p:nvSpPr>
        <p:spPr>
          <a:xfrm>
            <a:off x="457200" y="1417320"/>
            <a:ext cx="5029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4572000" cy="365760"/>
          </a:xfrm>
          <a:prstGeom prst="rect">
            <a:avLst/>
          </a:prstGeom>
          <a:noFill/>
        </p:spPr>
        <p:txBody>
          <a:bodyPr wrap="square" lIns="0" rIns="0" tIns="0" bIns="0">
            <a:spAutoFit/>
          </a:bodyPr>
          <a:lstStyle/>
          <a:p>
            <a:pPr algn="l"/>
            <a:r>
              <a:rPr sz="1300" b="0" i="1">
                <a:solidFill>
                  <a:srgbClr val="0D0D0D"/>
                </a:solidFill>
                <a:latin typeface="Palatino Linotype"/>
              </a:rPr>
              <a:t>Heatmap</a:t>
            </a:r>
          </a:p>
        </p:txBody>
      </p:sp>
      <p:sp>
        <p:nvSpPr>
          <p:cNvPr id="8" name="Rectangle 7"/>
          <p:cNvSpPr/>
          <p:nvPr/>
        </p:nvSpPr>
        <p:spPr>
          <a:xfrm>
            <a:off x="1371600" y="4764024"/>
            <a:ext cx="731520" cy="676656"/>
          </a:xfrm>
          <a:prstGeom prst="rect">
            <a:avLst/>
          </a:prstGeom>
          <a:solidFill>
            <a:srgbClr val="00ED9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03120" y="4764024"/>
            <a:ext cx="731520" cy="676656"/>
          </a:xfrm>
          <a:prstGeom prst="rect">
            <a:avLst/>
          </a:prstGeom>
          <a:solidFill>
            <a:srgbClr val="00ED9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34640" y="4764024"/>
            <a:ext cx="731520" cy="676656"/>
          </a:xfrm>
          <a:prstGeom prst="rect">
            <a:avLst/>
          </a:prstGeom>
          <a:solidFill>
            <a:srgbClr val="00ED9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6160" y="4764024"/>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4764024"/>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71600" y="4087368"/>
            <a:ext cx="731520" cy="676656"/>
          </a:xfrm>
          <a:prstGeom prst="rect">
            <a:avLst/>
          </a:prstGeom>
          <a:solidFill>
            <a:srgbClr val="00ED9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03120" y="4087368"/>
            <a:ext cx="731520" cy="676656"/>
          </a:xfrm>
          <a:prstGeom prst="rect">
            <a:avLst/>
          </a:prstGeom>
          <a:solidFill>
            <a:srgbClr val="00ED9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4087368"/>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66160" y="4087368"/>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4087368"/>
            <a:ext cx="731520" cy="676656"/>
          </a:xfrm>
          <a:prstGeom prst="rect">
            <a:avLst/>
          </a:prstGeom>
          <a:solidFill>
            <a:srgbClr val="FF674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71600" y="3410712"/>
            <a:ext cx="731520" cy="676656"/>
          </a:xfrm>
          <a:prstGeom prst="rect">
            <a:avLst/>
          </a:prstGeom>
          <a:solidFill>
            <a:srgbClr val="00ED9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03120" y="3410712"/>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34640" y="3410712"/>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66160" y="3410712"/>
            <a:ext cx="731520" cy="676656"/>
          </a:xfrm>
          <a:prstGeom prst="rect">
            <a:avLst/>
          </a:prstGeom>
          <a:solidFill>
            <a:srgbClr val="FF674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410712"/>
            <a:ext cx="731520" cy="676656"/>
          </a:xfrm>
          <a:prstGeom prst="rect">
            <a:avLst/>
          </a:prstGeom>
          <a:solidFill>
            <a:srgbClr val="FF674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2734056"/>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03120" y="2734056"/>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834640" y="2734056"/>
            <a:ext cx="731520" cy="676656"/>
          </a:xfrm>
          <a:prstGeom prst="rect">
            <a:avLst/>
          </a:prstGeom>
          <a:solidFill>
            <a:srgbClr val="FF674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66160" y="2734056"/>
            <a:ext cx="731520" cy="676656"/>
          </a:xfrm>
          <a:prstGeom prst="rect">
            <a:avLst/>
          </a:prstGeom>
          <a:solidFill>
            <a:srgbClr val="FF674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7680" y="2734056"/>
            <a:ext cx="731520" cy="676656"/>
          </a:xfrm>
          <a:prstGeom prst="rect">
            <a:avLst/>
          </a:prstGeom>
          <a:solidFill>
            <a:srgbClr val="0D0D0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71600" y="2057400"/>
            <a:ext cx="731520" cy="676656"/>
          </a:xfrm>
          <a:prstGeom prst="rect">
            <a:avLst/>
          </a:prstGeom>
          <a:solidFill>
            <a:srgbClr val="FFD2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03120" y="2057400"/>
            <a:ext cx="731520" cy="676656"/>
          </a:xfrm>
          <a:prstGeom prst="rect">
            <a:avLst/>
          </a:prstGeom>
          <a:solidFill>
            <a:srgbClr val="FF674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834640" y="2057400"/>
            <a:ext cx="731520" cy="676656"/>
          </a:xfrm>
          <a:prstGeom prst="rect">
            <a:avLst/>
          </a:prstGeom>
          <a:solidFill>
            <a:srgbClr val="FF674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66160" y="2057400"/>
            <a:ext cx="731520" cy="676656"/>
          </a:xfrm>
          <a:prstGeom prst="rect">
            <a:avLst/>
          </a:prstGeom>
          <a:solidFill>
            <a:srgbClr val="0D0D0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97680" y="2057400"/>
            <a:ext cx="731520" cy="676656"/>
          </a:xfrm>
          <a:prstGeom prst="rect">
            <a:avLst/>
          </a:prstGeom>
          <a:solidFill>
            <a:srgbClr val="0D0D0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71600" y="5486400"/>
            <a:ext cx="3657600" cy="274320"/>
          </a:xfrm>
          <a:prstGeom prst="rect">
            <a:avLst/>
          </a:prstGeom>
          <a:noFill/>
        </p:spPr>
        <p:txBody>
          <a:bodyPr wrap="square" lIns="0" rIns="0" tIns="0" bIns="0">
            <a:spAutoFit/>
          </a:bodyPr>
          <a:lstStyle/>
          <a:p>
            <a:pPr algn="ctr"/>
            <a:r>
              <a:rPr sz="1000" b="1" i="0">
                <a:solidFill>
                  <a:srgbClr val="0D0D0D"/>
                </a:solidFill>
                <a:latin typeface="Source Sans Pro"/>
              </a:rPr>
              <a:t>Likelihood →</a:t>
            </a:r>
          </a:p>
        </p:txBody>
      </p:sp>
      <p:sp>
        <p:nvSpPr>
          <p:cNvPr id="34" name="TextBox 33"/>
          <p:cNvSpPr txBox="1"/>
          <p:nvPr/>
        </p:nvSpPr>
        <p:spPr>
          <a:xfrm>
            <a:off x="685800" y="3566160"/>
            <a:ext cx="640080" cy="365760"/>
          </a:xfrm>
          <a:prstGeom prst="rect">
            <a:avLst/>
          </a:prstGeom>
          <a:noFill/>
        </p:spPr>
        <p:txBody>
          <a:bodyPr wrap="square" lIns="0" rIns="0" tIns="0" bIns="0" anchor="ctr">
            <a:spAutoFit/>
          </a:bodyPr>
          <a:lstStyle/>
          <a:p>
            <a:pPr algn="ctr"/>
            <a:r>
              <a:rPr sz="1000" b="1" i="0">
                <a:solidFill>
                  <a:srgbClr val="0D0D0D"/>
                </a:solidFill>
                <a:latin typeface="Source Sans Pro"/>
              </a:rPr>
              <a:t>Impact ↑</a:t>
            </a:r>
          </a:p>
        </p:txBody>
      </p:sp>
      <p:sp>
        <p:nvSpPr>
          <p:cNvPr id="35" name="Rounded Rectangle 34"/>
          <p:cNvSpPr/>
          <p:nvPr/>
        </p:nvSpPr>
        <p:spPr>
          <a:xfrm>
            <a:off x="5715000" y="1417320"/>
            <a:ext cx="6019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97880" y="1554480"/>
            <a:ext cx="5654040" cy="365760"/>
          </a:xfrm>
          <a:prstGeom prst="rect">
            <a:avLst/>
          </a:prstGeom>
          <a:noFill/>
        </p:spPr>
        <p:txBody>
          <a:bodyPr wrap="square" lIns="0" rIns="0" tIns="0" bIns="0">
            <a:spAutoFit/>
          </a:bodyPr>
          <a:lstStyle/>
          <a:p>
            <a:pPr algn="l"/>
            <a:r>
              <a:rPr sz="1300" b="0" i="1">
                <a:solidFill>
                  <a:srgbClr val="0D0D0D"/>
                </a:solidFill>
                <a:latin typeface="Palatino Linotype"/>
              </a:rPr>
              <a:t>Top 8 risks</a:t>
            </a:r>
          </a:p>
        </p:txBody>
      </p:sp>
      <p:sp>
        <p:nvSpPr>
          <p:cNvPr id="37" name="Oval 36"/>
          <p:cNvSpPr/>
          <p:nvPr/>
        </p:nvSpPr>
        <p:spPr>
          <a:xfrm>
            <a:off x="5897880" y="210312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97880" y="210312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R1</a:t>
            </a:r>
          </a:p>
        </p:txBody>
      </p:sp>
      <p:cxnSp>
        <p:nvCxnSpPr>
          <p:cNvPr id="39" name="Connector 38"/>
          <p:cNvCxnSpPr/>
          <p:nvPr/>
        </p:nvCxnSpPr>
        <p:spPr>
          <a:xfrm>
            <a:off x="6263640" y="225856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5897880" y="260604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97880" y="260604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R2</a:t>
            </a:r>
          </a:p>
        </p:txBody>
      </p:sp>
      <p:cxnSp>
        <p:nvCxnSpPr>
          <p:cNvPr id="42" name="Connector 41"/>
          <p:cNvCxnSpPr/>
          <p:nvPr/>
        </p:nvCxnSpPr>
        <p:spPr>
          <a:xfrm>
            <a:off x="6263640" y="276148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5897880" y="310896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97880" y="310896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R3</a:t>
            </a:r>
          </a:p>
        </p:txBody>
      </p:sp>
      <p:cxnSp>
        <p:nvCxnSpPr>
          <p:cNvPr id="45" name="Connector 44"/>
          <p:cNvCxnSpPr/>
          <p:nvPr/>
        </p:nvCxnSpPr>
        <p:spPr>
          <a:xfrm>
            <a:off x="6263640" y="326440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897880" y="361188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97880" y="361188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R4</a:t>
            </a:r>
          </a:p>
        </p:txBody>
      </p:sp>
      <p:cxnSp>
        <p:nvCxnSpPr>
          <p:cNvPr id="48" name="Connector 47"/>
          <p:cNvCxnSpPr/>
          <p:nvPr/>
        </p:nvCxnSpPr>
        <p:spPr>
          <a:xfrm>
            <a:off x="6263640" y="376732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5897880" y="411480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97880" y="411480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R5</a:t>
            </a:r>
          </a:p>
        </p:txBody>
      </p:sp>
      <p:cxnSp>
        <p:nvCxnSpPr>
          <p:cNvPr id="51" name="Connector 50"/>
          <p:cNvCxnSpPr/>
          <p:nvPr/>
        </p:nvCxnSpPr>
        <p:spPr>
          <a:xfrm>
            <a:off x="6263640" y="427024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897880" y="461772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97880" y="461772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R6</a:t>
            </a:r>
          </a:p>
        </p:txBody>
      </p:sp>
      <p:cxnSp>
        <p:nvCxnSpPr>
          <p:cNvPr id="54" name="Connector 53"/>
          <p:cNvCxnSpPr/>
          <p:nvPr/>
        </p:nvCxnSpPr>
        <p:spPr>
          <a:xfrm>
            <a:off x="6263640" y="477316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5897880" y="512064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97880" y="512064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R7</a:t>
            </a:r>
          </a:p>
        </p:txBody>
      </p:sp>
      <p:cxnSp>
        <p:nvCxnSpPr>
          <p:cNvPr id="57" name="Connector 56"/>
          <p:cNvCxnSpPr/>
          <p:nvPr/>
        </p:nvCxnSpPr>
        <p:spPr>
          <a:xfrm>
            <a:off x="6263640" y="527608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897880" y="5623560"/>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97880" y="5623560"/>
            <a:ext cx="274320" cy="274320"/>
          </a:xfrm>
          <a:prstGeom prst="rect">
            <a:avLst/>
          </a:prstGeom>
          <a:noFill/>
        </p:spPr>
        <p:txBody>
          <a:bodyPr wrap="square" lIns="0" rIns="0" tIns="0" bIns="0" anchor="ctr">
            <a:spAutoFit/>
          </a:bodyPr>
          <a:lstStyle/>
          <a:p>
            <a:pPr algn="ctr"/>
            <a:r>
              <a:rPr sz="900" b="1" i="0">
                <a:solidFill>
                  <a:srgbClr val="0D0D0D"/>
                </a:solidFill>
                <a:latin typeface="Source Sans Pro"/>
              </a:rPr>
              <a:t>R8</a:t>
            </a:r>
          </a:p>
        </p:txBody>
      </p:sp>
      <p:cxnSp>
        <p:nvCxnSpPr>
          <p:cNvPr id="60" name="Connector 59"/>
          <p:cNvCxnSpPr/>
          <p:nvPr/>
        </p:nvCxnSpPr>
        <p:spPr>
          <a:xfrm>
            <a:off x="6263640" y="5779008"/>
            <a:ext cx="528828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1" name="Picture 60"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2" name="TextBox 61"/>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