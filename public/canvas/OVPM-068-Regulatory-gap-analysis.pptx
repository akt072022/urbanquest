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68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Regulatory gap analysis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structured assessment matrix that scores local planning laws based on their clarity, consistency, and functional effectiveness, accompanied by targeted recommendations for legislative reform,.</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68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Regulatory gap analysis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Putting the law itself on trial; proving that when a city fails its poorest residents, the fault often lies not in a lack of money, but in the rigid, outdated texts of its own legal code.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structured assessment matrix that scores local planning laws based on their clarity, consistency, and functional effectiveness, accompanied by targeted recommendations for legislative reform,.</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months of legal analysis and validation
Material  ·  Planning Law Assessment Framework grids, municipal codes, legal drafting tools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UN-Habitat’s Planning Law Assessment Framework provides an objective matrix to evaluate the functional effectiveness of urban laws. By scoring regulations on transparency and capacity for implementation, cities can objectively identify where complex, bureaucratic processes allow for the manipulation of public resources, driving targeted legislative amendments to support equitable public space and housing,,.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68  ·  ANIMATION CANVAS  ·  </a:t>
            </a:r>
            <a:r>
              <a:rPr sz="1000" b="1" i="0">
                <a:solidFill>
                  <a:srgbClr val="0D0D0D"/>
                </a:solidFill>
                <a:latin typeface="Source Sans Pro"/>
              </a:rPr>
              <a:t>REGULATORY GAP ANALYSIS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Regulation × current state × gap × workaround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months of legal analysis and validation</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7315200" cy="274320"/>
          </a:xfrm>
          <a:prstGeom prst="rect">
            <a:avLst/>
          </a:prstGeom>
          <a:noFill/>
        </p:spPr>
        <p:txBody>
          <a:bodyPr wrap="square" lIns="0" rIns="0" tIns="0" bIns="0">
            <a:spAutoFit/>
          </a:bodyPr>
          <a:lstStyle/>
          <a:p>
            <a:pPr algn="l"/>
            <a:r>
              <a:rPr sz="1300" b="0" i="1">
                <a:solidFill>
                  <a:srgbClr val="0D0D0D"/>
                </a:solidFill>
                <a:latin typeface="Palatino Linotype"/>
              </a:rPr>
              <a:t>Gap analysis register</a:t>
            </a:r>
          </a:p>
        </p:txBody>
      </p:sp>
      <p:sp>
        <p:nvSpPr>
          <p:cNvPr id="8" name="Rectangle 7"/>
          <p:cNvSpPr/>
          <p:nvPr/>
        </p:nvSpPr>
        <p:spPr>
          <a:xfrm>
            <a:off x="685800" y="1920240"/>
            <a:ext cx="2164080" cy="38404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20240"/>
            <a:ext cx="2164080" cy="384048"/>
          </a:xfrm>
          <a:prstGeom prst="rect">
            <a:avLst/>
          </a:prstGeom>
          <a:noFill/>
        </p:spPr>
        <p:txBody>
          <a:bodyPr wrap="square" lIns="0" rIns="0" tIns="0" bIns="0" anchor="ctr">
            <a:spAutoFit/>
          </a:bodyPr>
          <a:lstStyle/>
          <a:p>
            <a:pPr algn="ctr"/>
            <a:r>
              <a:rPr sz="1000" b="1" i="0">
                <a:solidFill>
                  <a:srgbClr val="FFD200"/>
                </a:solidFill>
                <a:latin typeface="Source Sans Pro"/>
              </a:rPr>
              <a:t>Regulation</a:t>
            </a:r>
          </a:p>
        </p:txBody>
      </p:sp>
      <p:sp>
        <p:nvSpPr>
          <p:cNvPr id="10" name="Rectangle 9"/>
          <p:cNvSpPr/>
          <p:nvPr/>
        </p:nvSpPr>
        <p:spPr>
          <a:xfrm>
            <a:off x="2849880" y="192024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80" y="192024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Current state</a:t>
            </a:r>
          </a:p>
        </p:txBody>
      </p:sp>
      <p:sp>
        <p:nvSpPr>
          <p:cNvPr id="12" name="Rectangle 11"/>
          <p:cNvSpPr/>
          <p:nvPr/>
        </p:nvSpPr>
        <p:spPr>
          <a:xfrm>
            <a:off x="5013960" y="192024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13960" y="192024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Gap identified</a:t>
            </a:r>
          </a:p>
        </p:txBody>
      </p:sp>
      <p:sp>
        <p:nvSpPr>
          <p:cNvPr id="14" name="Rectangle 13"/>
          <p:cNvSpPr/>
          <p:nvPr/>
        </p:nvSpPr>
        <p:spPr>
          <a:xfrm>
            <a:off x="7178040" y="192024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192024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Workaround</a:t>
            </a:r>
          </a:p>
        </p:txBody>
      </p:sp>
      <p:sp>
        <p:nvSpPr>
          <p:cNvPr id="16" name="Rectangle 15"/>
          <p:cNvSpPr/>
          <p:nvPr/>
        </p:nvSpPr>
        <p:spPr>
          <a:xfrm>
            <a:off x="9342120" y="1920240"/>
            <a:ext cx="2164080" cy="38404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42120" y="1920240"/>
            <a:ext cx="2164080" cy="384048"/>
          </a:xfrm>
          <a:prstGeom prst="rect">
            <a:avLst/>
          </a:prstGeom>
          <a:noFill/>
        </p:spPr>
        <p:txBody>
          <a:bodyPr wrap="square" lIns="0" rIns="0" tIns="0" bIns="0" anchor="ctr">
            <a:spAutoFit/>
          </a:bodyPr>
          <a:lstStyle/>
          <a:p>
            <a:pPr algn="ctr"/>
            <a:r>
              <a:rPr sz="1000" b="1" i="0">
                <a:solidFill>
                  <a:srgbClr val="0D0D0D"/>
                </a:solidFill>
                <a:latin typeface="Source Sans Pro"/>
              </a:rPr>
              <a:t>Reform needed?</a:t>
            </a:r>
          </a:p>
        </p:txBody>
      </p:sp>
      <p:sp>
        <p:nvSpPr>
          <p:cNvPr id="18" name="Rectangle 17"/>
          <p:cNvSpPr/>
          <p:nvPr/>
        </p:nvSpPr>
        <p:spPr>
          <a:xfrm>
            <a:off x="685800" y="23042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49880" y="23042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13960" y="23042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23042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42120" y="23042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27614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849880" y="27614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13960" y="27614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78040" y="27614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342120" y="27614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32186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49880" y="32186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13960" y="32186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78040" y="32186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342120" y="32186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36758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849880" y="36758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13960" y="36758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78040" y="36758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342120" y="36758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 y="41330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849880" y="41330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13960" y="41330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178040" y="41330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342120" y="41330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5800" y="45902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849880" y="45902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13960" y="45902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178040" y="45902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342120" y="45902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5800" y="50474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849880" y="50474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13960" y="50474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178040" y="50474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342120" y="5047488"/>
            <a:ext cx="2164080" cy="457200"/>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85800" y="55046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849880" y="55046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13960" y="55046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178040" y="55046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342120" y="5504688"/>
            <a:ext cx="2164080" cy="457200"/>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9" name="TextBox 5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68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