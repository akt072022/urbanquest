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56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0" i="0">
                <a:solidFill>
                  <a:srgbClr val="0D0D0D"/>
                </a:solidFill>
                <a:latin typeface="Palatino Linotype"/>
              </a:rPr>
              <a:t>Mobility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Operational deployments of innovative transport solutions (e.g., zero-emission logistics, automated vehicles) rigorously tested in live traffic, supported by multi-stakeholder governance frameworks.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G2 · Proof of 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Spatial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47088" y="5943600"/>
            <a:ext cx="1376172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Environmental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2988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Economic</a:t>
            </a:r>
          </a:p>
        </p:txBody>
      </p:sp>
      <p:pic>
        <p:nvPicPr>
          <p:cNvPr id="12" name="Picture 11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56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Mobility labs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G2 · Proof of Fit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Turning the asphalt into a classroom; refusing to accept traffic congestion as a permanent disease, and instead inviting the community to actively invent the cure.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Operational deployments of innovative transport solutions (e.g., zero-emission logistics, automated vehicles) rigorously tested in live traffic, supported by multi-stakeholder governance frameworks.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2 to 5 years of continuous operation and testing
Material  ·  Transport vehicles, traffic monitoring sensors, data platforms, public-private partnership agreements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The SafeCONNECT project in Saint Germain-En-Laye operates as a mobility living lab. It collaboratively tests the pedestrianization of city-centers and the deployment of flexible physical and digital tools. By using the live urban environment as a testbed, the lab generates a real-world shift towards sustainable travel modes while relaunching the local economy.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56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MOBILITY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Mobility lab · test · measure ·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2 to 5 years of continuous operation and testing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2695956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2238756" cy="365760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User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22387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who is invited
representative mix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.0" y="2788920"/>
            <a:ext cx="223875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.0" y="2990088"/>
            <a:ext cx="223875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317748" y="1417320"/>
            <a:ext cx="2695956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46348" y="1600200"/>
            <a:ext cx="2238756" cy="365760"/>
          </a:xfrm>
          <a:prstGeom prst="roundRect">
            <a:avLst>
              <a:gd name="adj" fmla="val 50000"/>
            </a:avLst>
          </a:prstGeom>
          <a:solidFill>
            <a:srgbClr val="459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Mode tested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6348" y="2103120"/>
            <a:ext cx="22387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shared bike, AV shuttle…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46348.0" y="2788920"/>
            <a:ext cx="223875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546348.0" y="2990088"/>
            <a:ext cx="223875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78296" y="1417320"/>
            <a:ext cx="2695956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6896" y="1600200"/>
            <a:ext cx="2238756" cy="365760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Network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6896" y="2103120"/>
            <a:ext cx="22387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corridor vs district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6896.0" y="2788920"/>
            <a:ext cx="223875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406896.0" y="2990088"/>
            <a:ext cx="223875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038844" y="1417320"/>
            <a:ext cx="2695956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67444" y="1600200"/>
            <a:ext cx="2238756" cy="365760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Duration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7444" y="2103120"/>
            <a:ext cx="22387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days · weeks · months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267444.0" y="2788920"/>
            <a:ext cx="223875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267444.0" y="2990088"/>
            <a:ext cx="223875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57200" y="3429000"/>
            <a:ext cx="1127760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5661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0D0D0D"/>
                </a:solidFill>
                <a:latin typeface="Palatino Linotype"/>
              </a:rPr>
              <a:t>Instrumentation × success metrics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3931920"/>
            <a:ext cx="2286000" cy="292608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93192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Trips/day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71800" y="3931920"/>
            <a:ext cx="2844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71800" y="3639312"/>
            <a:ext cx="2844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757575"/>
                </a:solidFill>
                <a:latin typeface="Source Sans Pro"/>
              </a:rPr>
              <a:t>Baseline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16600" y="3931920"/>
            <a:ext cx="2844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16600" y="3639312"/>
            <a:ext cx="2844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757575"/>
                </a:solidFill>
                <a:latin typeface="Source Sans Pro"/>
              </a:rPr>
              <a:t>Target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61400" y="3931920"/>
            <a:ext cx="2844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61400" y="3639312"/>
            <a:ext cx="2844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757575"/>
                </a:solidFill>
                <a:latin typeface="Source Sans Pro"/>
              </a:rPr>
              <a:t>Actual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4224528"/>
            <a:ext cx="22860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4224528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Modal shift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71800" y="4224528"/>
            <a:ext cx="2844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16600" y="4224528"/>
            <a:ext cx="2844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661400" y="4224528"/>
            <a:ext cx="2844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85800" y="4517136"/>
            <a:ext cx="2286000" cy="292608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4517136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Equity coverage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71800" y="4517136"/>
            <a:ext cx="2844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816600" y="4517136"/>
            <a:ext cx="2844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661400" y="4517136"/>
            <a:ext cx="2844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85800" y="4809744"/>
            <a:ext cx="22860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4809744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Cost per trip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71800" y="4809744"/>
            <a:ext cx="2844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816600" y="4809744"/>
            <a:ext cx="2844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661400" y="4809744"/>
            <a:ext cx="2844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5800" y="5102352"/>
            <a:ext cx="2286000" cy="292608"/>
          </a:xfrm>
          <a:prstGeom prst="rect">
            <a:avLst/>
          </a:prstGeom>
          <a:solidFill>
            <a:srgbClr val="EEECE6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5102352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Emissions delta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971800" y="5102352"/>
            <a:ext cx="2844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816600" y="5102352"/>
            <a:ext cx="2844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661400" y="5102352"/>
            <a:ext cx="2844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85800" y="5394960"/>
            <a:ext cx="22860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2960" y="539496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User satisfaction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971800" y="5394960"/>
            <a:ext cx="2844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816600" y="5394960"/>
            <a:ext cx="2844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661400" y="5394960"/>
            <a:ext cx="2844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56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