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115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BREEAM Communities / LEED ND / DGNB Urban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scored certification roadmap (e.g., Bronze, Silver, Gold, Platinum) demonstrating compliance with comprehensive sustainability criteria across energy, transport, and community well-being.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115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BREEAM Communities / LEED ND / DGNB Urban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Quantifying the invisible impact of bricks and mortar on human wellbeing, ensuring that building a new district is an act of environmental stewardship rather than mere extraction.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scored certification roadmap (e.g., Bronze, Silver, Gold, Platinum) demonstrating compliance with comprehensive sustainability criteria across energy, transport, and community well-being.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 to 6 months during the master planning phase
Material  ·  Technical guidance manuals for BREEAM/LEED/DGNB, masterplan documents, certification scoring spreadsheets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 evaluating urban sustainability, researchers compared these tools to assess the Meudon la Forêt neighborhood in France. The study proved that adopting a single global assessment tool as a universal solution is not feasible; instead, municipalities must select or adapt frameworks like BREEAM or DGNB based on their specific geographical context, recognizing that neighborhood patterns and local economic realities heavily influence the scores,,.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115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BREEAM COMMUNITIES / LEED ND / DGNB URBAN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Sustainability scoring · 10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 to 6 months during the master planning phase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3429000"/>
            <a:ext cx="731520" cy="731520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63840" y="3063240"/>
            <a:ext cx="1463040" cy="1463040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0" y="2697480"/>
            <a:ext cx="2194560" cy="2194560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0" y="2331720"/>
            <a:ext cx="2926080" cy="2926080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1965960"/>
            <a:ext cx="3657600" cy="3657600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8595360" y="1965960"/>
            <a:ext cx="0" cy="182880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8120" y="14173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Source Sans Pro"/>
              </a:rPr>
              <a:t>Energy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595360" y="2315229"/>
            <a:ext cx="1074941" cy="147953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34923" y="1845175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Source Sans Pro"/>
              </a:rPr>
              <a:t>Water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595360" y="3229629"/>
            <a:ext cx="1739292" cy="56513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48752" y="2965315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Source Sans Pro"/>
              </a:rPr>
              <a:t>Materials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3794760"/>
            <a:ext cx="1739292" cy="56513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948752" y="434988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Source Sans Pro"/>
              </a:rPr>
              <a:t>Transport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60" y="3794760"/>
            <a:ext cx="1074941" cy="147953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34923" y="547002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Source Sans Pro"/>
              </a:rPr>
              <a:t>Land use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0" y="3794760"/>
            <a:ext cx="0" cy="182880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18120" y="58978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Source Sans Pro"/>
              </a:rPr>
              <a:t>Pollution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520418" y="3794760"/>
            <a:ext cx="1074942" cy="147953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01316" y="547002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Source Sans Pro"/>
              </a:rPr>
              <a:t>Health &amp; wellbeing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856067" y="3794760"/>
            <a:ext cx="1739293" cy="56513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87487" y="434988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Source Sans Pro"/>
              </a:rPr>
              <a:t>Innovation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6856067" y="3229629"/>
            <a:ext cx="1739293" cy="56513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87487" y="2965315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Source Sans Pro"/>
              </a:rPr>
              <a:t>Management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7520418" y="2315229"/>
            <a:ext cx="1074942" cy="147953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01316" y="1845175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Source Sans Pro"/>
              </a:rPr>
              <a:t>Community</a:t>
            </a:r>
          </a:p>
        </p:txBody>
      </p:sp>
      <p:sp>
        <p:nvSpPr>
          <p:cNvPr id="31" name="Oval 30"/>
          <p:cNvSpPr/>
          <p:nvPr/>
        </p:nvSpPr>
        <p:spPr>
          <a:xfrm>
            <a:off x="8555360" y="3754760"/>
            <a:ext cx="80000" cy="80000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1417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Scoring grid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828800"/>
            <a:ext cx="5120640" cy="29260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182880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D200"/>
                </a:solidFill>
                <a:latin typeface="Source Sans Pro"/>
              </a:rPr>
              <a:t>Theme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576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1184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3792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121408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212140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Energy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59936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52544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5152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37760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30368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2414016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241401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Water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59936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52544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45152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937760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30368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2706624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2706624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Materials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59936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52544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45152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37760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30368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2999232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299923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Transport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59936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52544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45152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937760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230368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7200" y="3291840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329184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Land use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59936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52544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45152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937760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230368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7200" y="3584448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358444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Pollution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59936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352544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645152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937760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230368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7200" y="3877056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387705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Health &amp; wellbeing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59936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52544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645152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937760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230368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57200" y="4169664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4360" y="4169664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Innovation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059936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52544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645152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937760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230368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57200" y="4462272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4360" y="446227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Management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59936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352544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645152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937760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230368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57200" y="4754880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4360" y="475488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Community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059936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352544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45152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937760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230368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115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