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92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Financial modeling (DCF / NPV / IRR)</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detailed Discounted Cash Flow (DCF) spreadsheet yielding the Financial Net Present Value (FNPV) and the Internal Rate of Return (IRR) of the proposed development.</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Financial modeling (DCF / NPV / IRR)</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Translating grand civic visions into the ruthless, necessary arithmetic of survival, ensuring that today's promises do not become tomorrow's financial ruins.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detailed Discounted Cash Flow (DCF) spreadsheet yielding the Financial Net Present Value (FNPV) and the Internal Rate of Return (IRR) of the proposed development.</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5 weeks
Material  ·  Financial modeling software (Excel/dedicated platforms), market revenue forecasts, construction cost databases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assessing large-scale infrastructure, the European Commission demands robust financial modeling. Planners establish working capital, track operational profits against replacement investments, and apply a 10% or similar benchmark IRR to determine if an operation can generate enough operating cash flow to be sustainable. Similarly, financial analysis was combined with spatial criteria to appraise the profitability and maintenance costs of reusing the historic Vimercate hosp…</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92  ·  ANIMATION CANVAS  ·  </a:t>
            </a:r>
            <a:r>
              <a:rPr sz="1000" b="1" i="0">
                <a:solidFill>
                  <a:srgbClr val="0D0D0D"/>
                </a:solidFill>
                <a:latin typeface="Source Sans Pro"/>
              </a:rPr>
              <a:t>FINANCIAL MODELING (DCF / NPV / IRR)</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DCF model · NPV · IRR · payback</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5 weeks</a:t>
            </a:r>
          </a:p>
        </p:txBody>
      </p:sp>
      <p:sp>
        <p:nvSpPr>
          <p:cNvPr id="6" name="Rounded Rectangle 5"/>
          <p:cNvSpPr/>
          <p:nvPr/>
        </p:nvSpPr>
        <p:spPr>
          <a:xfrm>
            <a:off x="457200" y="1417320"/>
            <a:ext cx="2695956" cy="14630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NPV</a:t>
            </a:r>
          </a:p>
        </p:txBody>
      </p:sp>
      <p:sp>
        <p:nvSpPr>
          <p:cNvPr id="8" name="TextBox 7"/>
          <p:cNvSpPr txBox="1"/>
          <p:nvPr/>
        </p:nvSpPr>
        <p:spPr>
          <a:xfrm>
            <a:off x="685800" y="2103120"/>
            <a:ext cx="2238756" cy="640080"/>
          </a:xfrm>
          <a:prstGeom prst="rect">
            <a:avLst/>
          </a:prstGeom>
          <a:noFill/>
        </p:spPr>
        <p:txBody>
          <a:bodyPr wrap="square" lIns="0" rIns="0" tIns="0" bIns="0" anchor="ctr">
            <a:spAutoFit/>
          </a:bodyPr>
          <a:lstStyle/>
          <a:p>
            <a:pPr algn="ctr"/>
            <a:r>
              <a:rPr sz="2200" b="0" i="0">
                <a:solidFill>
                  <a:srgbClr val="0D0D0D"/>
                </a:solidFill>
                <a:latin typeface="Palatino Linotype"/>
              </a:rPr>
              <a:t>€ ____ M</a:t>
            </a:r>
          </a:p>
        </p:txBody>
      </p:sp>
      <p:sp>
        <p:nvSpPr>
          <p:cNvPr id="9" name="Rounded Rectangle 8"/>
          <p:cNvSpPr/>
          <p:nvPr/>
        </p:nvSpPr>
        <p:spPr>
          <a:xfrm>
            <a:off x="3317748" y="1417320"/>
            <a:ext cx="2695956" cy="14630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46348"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IRR</a:t>
            </a:r>
          </a:p>
        </p:txBody>
      </p:sp>
      <p:sp>
        <p:nvSpPr>
          <p:cNvPr id="11" name="TextBox 10"/>
          <p:cNvSpPr txBox="1"/>
          <p:nvPr/>
        </p:nvSpPr>
        <p:spPr>
          <a:xfrm>
            <a:off x="3546348" y="2103120"/>
            <a:ext cx="2238756" cy="640080"/>
          </a:xfrm>
          <a:prstGeom prst="rect">
            <a:avLst/>
          </a:prstGeom>
          <a:noFill/>
        </p:spPr>
        <p:txBody>
          <a:bodyPr wrap="square" lIns="0" rIns="0" tIns="0" bIns="0" anchor="ctr">
            <a:spAutoFit/>
          </a:bodyPr>
          <a:lstStyle/>
          <a:p>
            <a:pPr algn="ctr"/>
            <a:r>
              <a:rPr sz="2200" b="0" i="0">
                <a:solidFill>
                  <a:srgbClr val="0D0D0D"/>
                </a:solidFill>
                <a:latin typeface="Palatino Linotype"/>
              </a:rPr>
              <a:t>__ %</a:t>
            </a:r>
          </a:p>
        </p:txBody>
      </p:sp>
      <p:sp>
        <p:nvSpPr>
          <p:cNvPr id="12" name="Rounded Rectangle 11"/>
          <p:cNvSpPr/>
          <p:nvPr/>
        </p:nvSpPr>
        <p:spPr>
          <a:xfrm>
            <a:off x="6178296" y="1417320"/>
            <a:ext cx="2695956" cy="14630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6896"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Payback</a:t>
            </a:r>
          </a:p>
        </p:txBody>
      </p:sp>
      <p:sp>
        <p:nvSpPr>
          <p:cNvPr id="14" name="TextBox 13"/>
          <p:cNvSpPr txBox="1"/>
          <p:nvPr/>
        </p:nvSpPr>
        <p:spPr>
          <a:xfrm>
            <a:off x="6406896" y="2103120"/>
            <a:ext cx="2238756" cy="640080"/>
          </a:xfrm>
          <a:prstGeom prst="rect">
            <a:avLst/>
          </a:prstGeom>
          <a:noFill/>
        </p:spPr>
        <p:txBody>
          <a:bodyPr wrap="square" lIns="0" rIns="0" tIns="0" bIns="0" anchor="ctr">
            <a:spAutoFit/>
          </a:bodyPr>
          <a:lstStyle/>
          <a:p>
            <a:pPr algn="ctr"/>
            <a:r>
              <a:rPr sz="2200" b="0" i="0">
                <a:solidFill>
                  <a:srgbClr val="0D0D0D"/>
                </a:solidFill>
                <a:latin typeface="Palatino Linotype"/>
              </a:rPr>
              <a:t>__ years</a:t>
            </a:r>
          </a:p>
        </p:txBody>
      </p:sp>
      <p:sp>
        <p:nvSpPr>
          <p:cNvPr id="15" name="Rounded Rectangle 14"/>
          <p:cNvSpPr/>
          <p:nvPr/>
        </p:nvSpPr>
        <p:spPr>
          <a:xfrm>
            <a:off x="9038844" y="1417320"/>
            <a:ext cx="2695956" cy="14630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LCOE / unit cost</a:t>
            </a:r>
          </a:p>
        </p:txBody>
      </p:sp>
      <p:sp>
        <p:nvSpPr>
          <p:cNvPr id="17" name="TextBox 16"/>
          <p:cNvSpPr txBox="1"/>
          <p:nvPr/>
        </p:nvSpPr>
        <p:spPr>
          <a:xfrm>
            <a:off x="9267444" y="2103120"/>
            <a:ext cx="2238756" cy="640080"/>
          </a:xfrm>
          <a:prstGeom prst="rect">
            <a:avLst/>
          </a:prstGeom>
          <a:noFill/>
        </p:spPr>
        <p:txBody>
          <a:bodyPr wrap="square" lIns="0" rIns="0" tIns="0" bIns="0" anchor="ctr">
            <a:spAutoFit/>
          </a:bodyPr>
          <a:lstStyle/>
          <a:p>
            <a:pPr algn="ctr"/>
            <a:r>
              <a:rPr sz="2200" b="0" i="0">
                <a:solidFill>
                  <a:srgbClr val="0D0D0D"/>
                </a:solidFill>
                <a:latin typeface="Palatino Linotype"/>
              </a:rPr>
              <a:t>€/__ </a:t>
            </a:r>
          </a:p>
        </p:txBody>
      </p:sp>
      <p:sp>
        <p:nvSpPr>
          <p:cNvPr id="18" name="Rounded Rectangle 17"/>
          <p:cNvSpPr/>
          <p:nvPr/>
        </p:nvSpPr>
        <p:spPr>
          <a:xfrm>
            <a:off x="457200" y="3063240"/>
            <a:ext cx="11277600" cy="29718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200400"/>
            <a:ext cx="7315200" cy="274320"/>
          </a:xfrm>
          <a:prstGeom prst="rect">
            <a:avLst/>
          </a:prstGeom>
          <a:noFill/>
        </p:spPr>
        <p:txBody>
          <a:bodyPr wrap="square" lIns="0" rIns="0" tIns="0" bIns="0">
            <a:spAutoFit/>
          </a:bodyPr>
          <a:lstStyle/>
          <a:p>
            <a:pPr algn="l"/>
            <a:r>
              <a:rPr sz="1300" b="0" i="1">
                <a:solidFill>
                  <a:srgbClr val="0D0D0D"/>
                </a:solidFill>
                <a:latin typeface="Palatino Linotype"/>
              </a:rPr>
              <a:t>Cash-flow strip · 10 years</a:t>
            </a:r>
          </a:p>
        </p:txBody>
      </p:sp>
      <p:sp>
        <p:nvSpPr>
          <p:cNvPr id="20" name="Rectangle 19"/>
          <p:cNvSpPr/>
          <p:nvPr/>
        </p:nvSpPr>
        <p:spPr>
          <a:xfrm>
            <a:off x="251460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460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Y1</a:t>
            </a:r>
          </a:p>
        </p:txBody>
      </p:sp>
      <p:sp>
        <p:nvSpPr>
          <p:cNvPr id="22" name="Rectangle 21"/>
          <p:cNvSpPr/>
          <p:nvPr/>
        </p:nvSpPr>
        <p:spPr>
          <a:xfrm>
            <a:off x="341376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1376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Y2</a:t>
            </a:r>
          </a:p>
        </p:txBody>
      </p:sp>
      <p:sp>
        <p:nvSpPr>
          <p:cNvPr id="24" name="Rectangle 23"/>
          <p:cNvSpPr/>
          <p:nvPr/>
        </p:nvSpPr>
        <p:spPr>
          <a:xfrm>
            <a:off x="431292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1292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Y3</a:t>
            </a:r>
          </a:p>
        </p:txBody>
      </p:sp>
      <p:sp>
        <p:nvSpPr>
          <p:cNvPr id="26" name="Rectangle 25"/>
          <p:cNvSpPr/>
          <p:nvPr/>
        </p:nvSpPr>
        <p:spPr>
          <a:xfrm>
            <a:off x="521208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Y4</a:t>
            </a:r>
          </a:p>
        </p:txBody>
      </p:sp>
      <p:sp>
        <p:nvSpPr>
          <p:cNvPr id="28" name="Rectangle 27"/>
          <p:cNvSpPr/>
          <p:nvPr/>
        </p:nvSpPr>
        <p:spPr>
          <a:xfrm>
            <a:off x="611124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1124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Y5</a:t>
            </a:r>
          </a:p>
        </p:txBody>
      </p:sp>
      <p:sp>
        <p:nvSpPr>
          <p:cNvPr id="30" name="Rectangle 29"/>
          <p:cNvSpPr/>
          <p:nvPr/>
        </p:nvSpPr>
        <p:spPr>
          <a:xfrm>
            <a:off x="701040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040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Y6</a:t>
            </a:r>
          </a:p>
        </p:txBody>
      </p:sp>
      <p:sp>
        <p:nvSpPr>
          <p:cNvPr id="32" name="Rectangle 31"/>
          <p:cNvSpPr/>
          <p:nvPr/>
        </p:nvSpPr>
        <p:spPr>
          <a:xfrm>
            <a:off x="790956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0956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Y7</a:t>
            </a:r>
          </a:p>
        </p:txBody>
      </p:sp>
      <p:sp>
        <p:nvSpPr>
          <p:cNvPr id="34" name="Rectangle 33"/>
          <p:cNvSpPr/>
          <p:nvPr/>
        </p:nvSpPr>
        <p:spPr>
          <a:xfrm>
            <a:off x="880872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0872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Y8</a:t>
            </a:r>
          </a:p>
        </p:txBody>
      </p:sp>
      <p:sp>
        <p:nvSpPr>
          <p:cNvPr id="36" name="Rectangle 35"/>
          <p:cNvSpPr/>
          <p:nvPr/>
        </p:nvSpPr>
        <p:spPr>
          <a:xfrm>
            <a:off x="970788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0788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Y9</a:t>
            </a:r>
          </a:p>
        </p:txBody>
      </p:sp>
      <p:sp>
        <p:nvSpPr>
          <p:cNvPr id="38" name="Rectangle 37"/>
          <p:cNvSpPr/>
          <p:nvPr/>
        </p:nvSpPr>
        <p:spPr>
          <a:xfrm>
            <a:off x="10607040" y="3566160"/>
            <a:ext cx="89916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07040" y="3566160"/>
            <a:ext cx="899160" cy="292608"/>
          </a:xfrm>
          <a:prstGeom prst="rect">
            <a:avLst/>
          </a:prstGeom>
          <a:noFill/>
        </p:spPr>
        <p:txBody>
          <a:bodyPr wrap="square" lIns="0" rIns="0" tIns="0" bIns="0" anchor="ctr">
            <a:spAutoFit/>
          </a:bodyPr>
          <a:lstStyle/>
          <a:p>
            <a:pPr algn="ctr"/>
            <a:r>
              <a:rPr sz="900" b="1" i="0">
                <a:solidFill>
                  <a:srgbClr val="0D0D0D"/>
                </a:solidFill>
                <a:latin typeface="Source Sans Pro"/>
              </a:rPr>
              <a:t>Y10</a:t>
            </a:r>
          </a:p>
        </p:txBody>
      </p:sp>
      <p:sp>
        <p:nvSpPr>
          <p:cNvPr id="40" name="Rectangle 39"/>
          <p:cNvSpPr/>
          <p:nvPr/>
        </p:nvSpPr>
        <p:spPr>
          <a:xfrm>
            <a:off x="685800" y="3566160"/>
            <a:ext cx="1828800" cy="29260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3566160"/>
            <a:ext cx="1828800" cy="292608"/>
          </a:xfrm>
          <a:prstGeom prst="rect">
            <a:avLst/>
          </a:prstGeom>
          <a:noFill/>
        </p:spPr>
        <p:txBody>
          <a:bodyPr wrap="square" lIns="0" rIns="0" tIns="0" bIns="0" anchor="ctr">
            <a:spAutoFit/>
          </a:bodyPr>
          <a:lstStyle/>
          <a:p>
            <a:pPr algn="ctr"/>
            <a:r>
              <a:rPr sz="900" b="1" i="0">
                <a:solidFill>
                  <a:srgbClr val="FFD200"/>
                </a:solidFill>
                <a:latin typeface="Source Sans Pro"/>
              </a:rPr>
              <a:t>Line item</a:t>
            </a:r>
          </a:p>
        </p:txBody>
      </p:sp>
      <p:sp>
        <p:nvSpPr>
          <p:cNvPr id="42" name="Rectangle 41"/>
          <p:cNvSpPr/>
          <p:nvPr/>
        </p:nvSpPr>
        <p:spPr>
          <a:xfrm>
            <a:off x="685800" y="3858768"/>
            <a:ext cx="18288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3858768"/>
            <a:ext cx="1554480" cy="457200"/>
          </a:xfrm>
          <a:prstGeom prst="rect">
            <a:avLst/>
          </a:prstGeom>
          <a:noFill/>
        </p:spPr>
        <p:txBody>
          <a:bodyPr wrap="square" lIns="0" rIns="0" tIns="0" bIns="0" anchor="ctr">
            <a:spAutoFit/>
          </a:bodyPr>
          <a:lstStyle/>
          <a:p>
            <a:pPr algn="l"/>
            <a:r>
              <a:rPr sz="1000" b="1" i="0">
                <a:solidFill>
                  <a:srgbClr val="0D0D0D"/>
                </a:solidFill>
                <a:latin typeface="Source Sans Pro"/>
              </a:rPr>
              <a:t>Revenues</a:t>
            </a:r>
          </a:p>
        </p:txBody>
      </p:sp>
      <p:sp>
        <p:nvSpPr>
          <p:cNvPr id="44" name="Rectangle 43"/>
          <p:cNvSpPr/>
          <p:nvPr/>
        </p:nvSpPr>
        <p:spPr>
          <a:xfrm>
            <a:off x="251460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41376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31292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1208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1124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1040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90956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80872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70788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607040" y="38587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85800" y="4315968"/>
            <a:ext cx="18288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4315968"/>
            <a:ext cx="1554480" cy="457200"/>
          </a:xfrm>
          <a:prstGeom prst="rect">
            <a:avLst/>
          </a:prstGeom>
          <a:noFill/>
        </p:spPr>
        <p:txBody>
          <a:bodyPr wrap="square" lIns="0" rIns="0" tIns="0" bIns="0" anchor="ctr">
            <a:spAutoFit/>
          </a:bodyPr>
          <a:lstStyle/>
          <a:p>
            <a:pPr algn="l"/>
            <a:r>
              <a:rPr sz="1000" b="1" i="0">
                <a:solidFill>
                  <a:srgbClr val="0D0D0D"/>
                </a:solidFill>
                <a:latin typeface="Source Sans Pro"/>
              </a:rPr>
              <a:t>OPEX</a:t>
            </a:r>
          </a:p>
        </p:txBody>
      </p:sp>
      <p:sp>
        <p:nvSpPr>
          <p:cNvPr id="56" name="Rectangle 55"/>
          <p:cNvSpPr/>
          <p:nvPr/>
        </p:nvSpPr>
        <p:spPr>
          <a:xfrm>
            <a:off x="251460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41376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31292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21208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1124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01040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0956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80872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70788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607040" y="43159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85800" y="4773168"/>
            <a:ext cx="18288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2960" y="4773168"/>
            <a:ext cx="1554480" cy="457200"/>
          </a:xfrm>
          <a:prstGeom prst="rect">
            <a:avLst/>
          </a:prstGeom>
          <a:noFill/>
        </p:spPr>
        <p:txBody>
          <a:bodyPr wrap="square" lIns="0" rIns="0" tIns="0" bIns="0" anchor="ctr">
            <a:spAutoFit/>
          </a:bodyPr>
          <a:lstStyle/>
          <a:p>
            <a:pPr algn="l"/>
            <a:r>
              <a:rPr sz="1000" b="1" i="0">
                <a:solidFill>
                  <a:srgbClr val="0D0D0D"/>
                </a:solidFill>
                <a:latin typeface="Source Sans Pro"/>
              </a:rPr>
              <a:t>CAPEX</a:t>
            </a:r>
          </a:p>
        </p:txBody>
      </p:sp>
      <p:sp>
        <p:nvSpPr>
          <p:cNvPr id="68" name="Rectangle 67"/>
          <p:cNvSpPr/>
          <p:nvPr/>
        </p:nvSpPr>
        <p:spPr>
          <a:xfrm>
            <a:off x="251460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41376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31292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21208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1124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1040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90956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80872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70788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607040" y="47731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85800" y="5230368"/>
            <a:ext cx="182880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22960" y="5230368"/>
            <a:ext cx="1554480" cy="457200"/>
          </a:xfrm>
          <a:prstGeom prst="rect">
            <a:avLst/>
          </a:prstGeom>
          <a:noFill/>
        </p:spPr>
        <p:txBody>
          <a:bodyPr wrap="square" lIns="0" rIns="0" tIns="0" bIns="0" anchor="ctr">
            <a:spAutoFit/>
          </a:bodyPr>
          <a:lstStyle/>
          <a:p>
            <a:pPr algn="l"/>
            <a:r>
              <a:rPr sz="1000" b="1" i="0">
                <a:solidFill>
                  <a:srgbClr val="0D0D0D"/>
                </a:solidFill>
                <a:latin typeface="Source Sans Pro"/>
              </a:rPr>
              <a:t>Net cash flow</a:t>
            </a:r>
          </a:p>
        </p:txBody>
      </p:sp>
      <p:sp>
        <p:nvSpPr>
          <p:cNvPr id="80" name="Rectangle 79"/>
          <p:cNvSpPr/>
          <p:nvPr/>
        </p:nvSpPr>
        <p:spPr>
          <a:xfrm>
            <a:off x="251460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41376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31292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21208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11124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01040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90956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80872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70788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607040" y="52303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85800" y="5687568"/>
            <a:ext cx="182880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2960" y="5687568"/>
            <a:ext cx="1554480" cy="457200"/>
          </a:xfrm>
          <a:prstGeom prst="rect">
            <a:avLst/>
          </a:prstGeom>
          <a:noFill/>
        </p:spPr>
        <p:txBody>
          <a:bodyPr wrap="square" lIns="0" rIns="0" tIns="0" bIns="0" anchor="ctr">
            <a:spAutoFit/>
          </a:bodyPr>
          <a:lstStyle/>
          <a:p>
            <a:pPr algn="l"/>
            <a:r>
              <a:rPr sz="1000" b="1" i="0">
                <a:solidFill>
                  <a:srgbClr val="0D0D0D"/>
                </a:solidFill>
                <a:latin typeface="Source Sans Pro"/>
              </a:rPr>
              <a:t>Discounted CF</a:t>
            </a:r>
          </a:p>
        </p:txBody>
      </p:sp>
      <p:sp>
        <p:nvSpPr>
          <p:cNvPr id="92" name="Rectangle 91"/>
          <p:cNvSpPr/>
          <p:nvPr/>
        </p:nvSpPr>
        <p:spPr>
          <a:xfrm>
            <a:off x="251460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341376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31292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21208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11124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701040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90956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80872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70788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607040" y="5687568"/>
            <a:ext cx="89916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Picture 10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103" name="TextBox 10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