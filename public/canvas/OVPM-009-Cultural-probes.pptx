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09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0" i="0">
                <a:solidFill>
                  <a:srgbClr val="0D0D0D"/>
                </a:solidFill>
                <a:latin typeface="Palatino Linotype"/>
              </a:rPr>
              <a:t>Cultural probes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A collection of self-documented, highly personal data (diaries, photographs, emotional responses) that reveals the lived experiences and latent desires of the community 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G1 · Proof of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943600"/>
            <a:ext cx="1376172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Social / User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345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Heritage</a:t>
            </a:r>
          </a:p>
        </p:txBody>
      </p:sp>
      <p:pic>
        <p:nvPicPr>
          <p:cNvPr id="11" name="Picture 10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09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Cultural probes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G1 · Proof of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Engaging participants in imaginative and playful participation, allowing them to capture the poetry of their daily lives on their own terms rather than answering sterile survey questions 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A collection of self-documented, highly personal data (diaries, photographs, emotional responses) that reveals the lived experiences and latent desires of the community 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1 to 2 weeks of participant self-tracking 
Material  ·  Custom probe kits (cameras, printed maps, logbooks, stamped envelopes)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In a multi-national project aimed at increasing the presence of the elderly in local communities, researchers deployed Cultural Probes. In Peccioli (Italy), the probes helped uncover a relaxed community in a beautiful setting, leading planners to focus on amplifying social and pastoral soundscapes. In Oslo, the probes engaged an educated community, prompting elders to lead community-wide conversations on social issues , 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09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CULTURAL PROBES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Probe kit design · self-tracking by participants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1 to 2 weeks of participant self-tracking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2695956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Disposable camera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22387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Capture 5 daily moments
(noise, shelter, joy)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834640"/>
            <a:ext cx="2147316" cy="777240"/>
          </a:xfrm>
          <a:prstGeom prst="rect">
            <a:avLst/>
          </a:prstGeom>
          <a:solidFill>
            <a:srgbClr val="EEECE6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214731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kit content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7748" y="1417320"/>
            <a:ext cx="2695956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46348" y="160020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EF9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Daily diary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6348" y="2103120"/>
            <a:ext cx="22387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Log routines in your
own words &amp; pace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92068" y="2834640"/>
            <a:ext cx="2147316" cy="777240"/>
          </a:xfrm>
          <a:prstGeom prst="rect">
            <a:avLst/>
          </a:prstGeom>
          <a:solidFill>
            <a:srgbClr val="EEECE6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2068" y="2834640"/>
            <a:ext cx="214731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kit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296" y="1417320"/>
            <a:ext cx="2695956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6896" y="160020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Personal 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6896" y="2103120"/>
            <a:ext cx="22387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Sketch your routes,
fears, favourite places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52616" y="2834640"/>
            <a:ext cx="2147316" cy="777240"/>
          </a:xfrm>
          <a:prstGeom prst="rect">
            <a:avLst/>
          </a:prstGeom>
          <a:solidFill>
            <a:srgbClr val="EEECE6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2616" y="2834640"/>
            <a:ext cx="214731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kit content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38844" y="1417320"/>
            <a:ext cx="2695956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267444" y="160020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459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Postcards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7444" y="2103120"/>
            <a:ext cx="22387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Reply to 5 prompts,
return by post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13164" y="2834640"/>
            <a:ext cx="2147316" cy="777240"/>
          </a:xfrm>
          <a:prstGeom prst="rect">
            <a:avLst/>
          </a:prstGeom>
          <a:solidFill>
            <a:srgbClr val="EEECE6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13164" y="2834640"/>
            <a:ext cx="214731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kit content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0233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0D0D0D"/>
                </a:solidFill>
                <a:latin typeface="Palatino Linotype"/>
              </a:rPr>
              <a:t>2-week self-tracking schedule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389120"/>
            <a:ext cx="1127760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457200.0" y="4389120"/>
            <a:ext cx="0.0" cy="640080"/>
          </a:xfrm>
          <a:prstGeom prst="line">
            <a:avLst/>
          </a:prstGeom>
          <a:ln w="508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57200" y="4526280"/>
            <a:ext cx="80554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D0D0D"/>
                </a:solidFill>
                <a:latin typeface="Source Sans Pro"/>
              </a:rPr>
              <a:t>D1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262742.8571428573" y="4389120"/>
            <a:ext cx="0.0" cy="640080"/>
          </a:xfrm>
          <a:prstGeom prst="line">
            <a:avLst/>
          </a:prstGeom>
          <a:ln w="508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262742" y="4526280"/>
            <a:ext cx="80554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D0D0D"/>
                </a:solidFill>
                <a:latin typeface="Source Sans Pro"/>
              </a:rPr>
              <a:t>D2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068285.7142857143" y="4389120"/>
            <a:ext cx="0.0" cy="640080"/>
          </a:xfrm>
          <a:prstGeom prst="line">
            <a:avLst/>
          </a:prstGeom>
          <a:ln w="508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068285" y="4526280"/>
            <a:ext cx="80554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D0D0D"/>
                </a:solidFill>
                <a:latin typeface="Source Sans Pro"/>
              </a:rPr>
              <a:t>D3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873828.5714285714" y="4389120"/>
            <a:ext cx="0.0" cy="640080"/>
          </a:xfrm>
          <a:prstGeom prst="line">
            <a:avLst/>
          </a:prstGeom>
          <a:ln w="508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873828" y="4526280"/>
            <a:ext cx="80554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D0D0D"/>
                </a:solidFill>
                <a:latin typeface="Source Sans Pro"/>
              </a:rPr>
              <a:t>D4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679371.4285714286" y="4389120"/>
            <a:ext cx="0.0" cy="640080"/>
          </a:xfrm>
          <a:prstGeom prst="line">
            <a:avLst/>
          </a:prstGeom>
          <a:ln w="508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679371" y="4526280"/>
            <a:ext cx="80554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D0D0D"/>
                </a:solidFill>
                <a:latin typeface="Source Sans Pro"/>
              </a:rPr>
              <a:t>D5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484914.285714285" y="4389120"/>
            <a:ext cx="0.0" cy="640080"/>
          </a:xfrm>
          <a:prstGeom prst="line">
            <a:avLst/>
          </a:prstGeom>
          <a:ln w="508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484914" y="4526280"/>
            <a:ext cx="80554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D0D0D"/>
                </a:solidFill>
                <a:latin typeface="Source Sans Pro"/>
              </a:rPr>
              <a:t>D6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290457.142857143" y="4389120"/>
            <a:ext cx="0.0" cy="640080"/>
          </a:xfrm>
          <a:prstGeom prst="line">
            <a:avLst/>
          </a:prstGeom>
          <a:ln w="508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290457" y="4526280"/>
            <a:ext cx="80554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D0D0D"/>
                </a:solidFill>
                <a:latin typeface="Source Sans Pro"/>
              </a:rPr>
              <a:t>D7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096000.0" y="4389120"/>
            <a:ext cx="0.0" cy="640080"/>
          </a:xfrm>
          <a:prstGeom prst="line">
            <a:avLst/>
          </a:prstGeom>
          <a:ln w="508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096000" y="4526280"/>
            <a:ext cx="80554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D0D0D"/>
                </a:solidFill>
                <a:latin typeface="Source Sans Pro"/>
              </a:rPr>
              <a:t>D8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901542.857142857" y="4389120"/>
            <a:ext cx="0.0" cy="640080"/>
          </a:xfrm>
          <a:prstGeom prst="line">
            <a:avLst/>
          </a:prstGeom>
          <a:ln w="508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901542" y="4526280"/>
            <a:ext cx="80554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D0D0D"/>
                </a:solidFill>
                <a:latin typeface="Source Sans Pro"/>
              </a:rPr>
              <a:t>D9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707085.714285715" y="4389120"/>
            <a:ext cx="0.0" cy="640080"/>
          </a:xfrm>
          <a:prstGeom prst="line">
            <a:avLst/>
          </a:prstGeom>
          <a:ln w="508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707085" y="4526280"/>
            <a:ext cx="80554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D0D0D"/>
                </a:solidFill>
                <a:latin typeface="Source Sans Pro"/>
              </a:rPr>
              <a:t>D10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512628.57142857" y="4389120"/>
            <a:ext cx="0.0" cy="640080"/>
          </a:xfrm>
          <a:prstGeom prst="line">
            <a:avLst/>
          </a:prstGeom>
          <a:ln w="508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512628" y="4526280"/>
            <a:ext cx="80554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D0D0D"/>
                </a:solidFill>
                <a:latin typeface="Source Sans Pro"/>
              </a:rPr>
              <a:t>D11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318171.42857143" y="4389120"/>
            <a:ext cx="0.0" cy="640080"/>
          </a:xfrm>
          <a:prstGeom prst="line">
            <a:avLst/>
          </a:prstGeom>
          <a:ln w="508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9318171" y="4526280"/>
            <a:ext cx="80554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D0D0D"/>
                </a:solidFill>
                <a:latin typeface="Source Sans Pro"/>
              </a:rPr>
              <a:t>D12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0123714.285714285" y="4389120"/>
            <a:ext cx="0.0" cy="640080"/>
          </a:xfrm>
          <a:prstGeom prst="line">
            <a:avLst/>
          </a:prstGeom>
          <a:ln w="508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0123714" y="4526280"/>
            <a:ext cx="80554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D0D0D"/>
                </a:solidFill>
                <a:latin typeface="Source Sans Pro"/>
              </a:rPr>
              <a:t>D13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0929257.142857144" y="4389120"/>
            <a:ext cx="0.0" cy="640080"/>
          </a:xfrm>
          <a:prstGeom prst="line">
            <a:avLst/>
          </a:prstGeom>
          <a:ln w="508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0929257" y="4526280"/>
            <a:ext cx="80554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D0D0D"/>
                </a:solidFill>
                <a:latin typeface="Source Sans Pro"/>
              </a:rPr>
              <a:t>D14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" y="5120640"/>
            <a:ext cx="1127760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5800" y="52303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0D0D0D"/>
                </a:solidFill>
                <a:latin typeface="Palatino Linotype"/>
              </a:rPr>
              <a:t>Pattern synthesis · what the kits tell us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731520" y="5577840"/>
            <a:ext cx="1072896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31520" y="5833872"/>
            <a:ext cx="1072896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31520" y="6089904"/>
            <a:ext cx="1072896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1" name="Picture 60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09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