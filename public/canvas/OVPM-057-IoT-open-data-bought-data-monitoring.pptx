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57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IoT, open-data, bought data monitoring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Continuous, real-time data streams tracking air quality, waste levels, and traffic flows, translated into actionable public dashboards and automated alerts for municipal services.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IoT, open-data, bought data monitoring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Giving the city a nervous system; transforming silent concrete and asphalt into a living, communicative entity that constantly informs the community about the health of its shared environment.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Continuous, real-time data streams tracking air quality, waste levels, and traffic flows, translated into actionable public dashboards and automated alerts for municipal services.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Continuous deployment; 3 to 6 months for initial sensor network setup
Material  ·  IoT sensors, edge computing hardware, open data platforms, secure communication networks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Chicago’s Array of Things project operates as an urban observatory utilizing edge computing to process environmental and infrastructure data directly at the source. By transmitting only critical summaries instead of raw sensor data, the city monitors its environment efficiently without compromising network capacity. Similarly, Amsterdam uses IoT sensors to optimize waste collection, demonstrating concrete operational savings of up to 40%.</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57  ·  ANIMATION CANVAS  ·  </a:t>
            </a:r>
            <a:r>
              <a:rPr sz="1000" b="1" i="0">
                <a:solidFill>
                  <a:srgbClr val="0D0D0D"/>
                </a:solidFill>
                <a:latin typeface="Source Sans Pro"/>
              </a:rPr>
              <a:t>IOT, OPEN-DATA, BOUGHT DATA MONITORING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Three data-source families · trade-offs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Continuous deployment; 3 to 6 months for initial sensor…</a:t>
            </a:r>
          </a:p>
        </p:txBody>
      </p:sp>
      <p:sp>
        <p:nvSpPr>
          <p:cNvPr id="6" name="Rounded Rectangle 5"/>
          <p:cNvSpPr/>
          <p:nvPr/>
        </p:nvSpPr>
        <p:spPr>
          <a:xfrm>
            <a:off x="457200" y="1417320"/>
            <a:ext cx="3649472"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IoT sensors</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live · costly · privacy-sensitive</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Open data</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free · slow · uneven</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Bought data</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rich · expensive · contracts</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794760"/>
            <a:ext cx="11277600" cy="25603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931920"/>
            <a:ext cx="7315200" cy="274320"/>
          </a:xfrm>
          <a:prstGeom prst="rect">
            <a:avLst/>
          </a:prstGeom>
          <a:noFill/>
        </p:spPr>
        <p:txBody>
          <a:bodyPr wrap="square" lIns="0" rIns="0" tIns="0" bIns="0">
            <a:spAutoFit/>
          </a:bodyPr>
          <a:lstStyle/>
          <a:p>
            <a:pPr algn="l"/>
            <a:r>
              <a:rPr sz="1300" b="0" i="1">
                <a:solidFill>
                  <a:srgbClr val="0D0D0D"/>
                </a:solidFill>
                <a:latin typeface="Palatino Linotype"/>
              </a:rPr>
              <a:t>Use case × data source</a:t>
            </a:r>
          </a:p>
        </p:txBody>
      </p:sp>
      <p:sp>
        <p:nvSpPr>
          <p:cNvPr id="26" name="Rectangle 25"/>
          <p:cNvSpPr/>
          <p:nvPr/>
        </p:nvSpPr>
        <p:spPr>
          <a:xfrm>
            <a:off x="685800" y="4297680"/>
            <a:ext cx="2286000" cy="29260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297680"/>
            <a:ext cx="2286000" cy="292608"/>
          </a:xfrm>
          <a:prstGeom prst="rect">
            <a:avLst/>
          </a:prstGeom>
          <a:noFill/>
        </p:spPr>
        <p:txBody>
          <a:bodyPr wrap="square" lIns="0" rIns="0" tIns="0" bIns="0" anchor="ctr">
            <a:spAutoFit/>
          </a:bodyPr>
          <a:lstStyle/>
          <a:p>
            <a:pPr algn="ctr"/>
            <a:r>
              <a:rPr sz="950" b="1" i="0">
                <a:solidFill>
                  <a:srgbClr val="FFD200"/>
                </a:solidFill>
                <a:latin typeface="Source Sans Pro"/>
              </a:rPr>
              <a:t>Use case</a:t>
            </a:r>
          </a:p>
        </p:txBody>
      </p:sp>
      <p:sp>
        <p:nvSpPr>
          <p:cNvPr id="28" name="Rectangle 27"/>
          <p:cNvSpPr/>
          <p:nvPr/>
        </p:nvSpPr>
        <p:spPr>
          <a:xfrm>
            <a:off x="2971800" y="4297680"/>
            <a:ext cx="284480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4297680"/>
            <a:ext cx="2844800" cy="292608"/>
          </a:xfrm>
          <a:prstGeom prst="rect">
            <a:avLst/>
          </a:prstGeom>
          <a:noFill/>
        </p:spPr>
        <p:txBody>
          <a:bodyPr wrap="square" lIns="0" rIns="0" tIns="0" bIns="0" anchor="ctr">
            <a:spAutoFit/>
          </a:bodyPr>
          <a:lstStyle/>
          <a:p>
            <a:pPr algn="ctr"/>
            <a:r>
              <a:rPr sz="950" b="1" i="0">
                <a:solidFill>
                  <a:srgbClr val="0D0D0D"/>
                </a:solidFill>
                <a:latin typeface="Source Sans Pro"/>
              </a:rPr>
              <a:t>IoT</a:t>
            </a:r>
          </a:p>
        </p:txBody>
      </p:sp>
      <p:sp>
        <p:nvSpPr>
          <p:cNvPr id="30" name="Rectangle 29"/>
          <p:cNvSpPr/>
          <p:nvPr/>
        </p:nvSpPr>
        <p:spPr>
          <a:xfrm>
            <a:off x="5816600" y="4297680"/>
            <a:ext cx="284480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16600" y="4297680"/>
            <a:ext cx="2844800" cy="292608"/>
          </a:xfrm>
          <a:prstGeom prst="rect">
            <a:avLst/>
          </a:prstGeom>
          <a:noFill/>
        </p:spPr>
        <p:txBody>
          <a:bodyPr wrap="square" lIns="0" rIns="0" tIns="0" bIns="0" anchor="ctr">
            <a:spAutoFit/>
          </a:bodyPr>
          <a:lstStyle/>
          <a:p>
            <a:pPr algn="ctr"/>
            <a:r>
              <a:rPr sz="950" b="1" i="0">
                <a:solidFill>
                  <a:srgbClr val="0D0D0D"/>
                </a:solidFill>
                <a:latin typeface="Source Sans Pro"/>
              </a:rPr>
              <a:t>Open</a:t>
            </a:r>
          </a:p>
        </p:txBody>
      </p:sp>
      <p:sp>
        <p:nvSpPr>
          <p:cNvPr id="32" name="Rectangle 31"/>
          <p:cNvSpPr/>
          <p:nvPr/>
        </p:nvSpPr>
        <p:spPr>
          <a:xfrm>
            <a:off x="8661400" y="4297680"/>
            <a:ext cx="284480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61400" y="4297680"/>
            <a:ext cx="2844800" cy="292608"/>
          </a:xfrm>
          <a:prstGeom prst="rect">
            <a:avLst/>
          </a:prstGeom>
          <a:noFill/>
        </p:spPr>
        <p:txBody>
          <a:bodyPr wrap="square" lIns="0" rIns="0" tIns="0" bIns="0" anchor="ctr">
            <a:spAutoFit/>
          </a:bodyPr>
          <a:lstStyle/>
          <a:p>
            <a:pPr algn="ctr"/>
            <a:r>
              <a:rPr sz="950" b="1" i="0">
                <a:solidFill>
                  <a:srgbClr val="0D0D0D"/>
                </a:solidFill>
                <a:latin typeface="Source Sans Pro"/>
              </a:rPr>
              <a:t>Bought</a:t>
            </a:r>
          </a:p>
        </p:txBody>
      </p:sp>
      <p:sp>
        <p:nvSpPr>
          <p:cNvPr id="34" name="Rectangle 33"/>
          <p:cNvSpPr/>
          <p:nvPr/>
        </p:nvSpPr>
        <p:spPr>
          <a:xfrm>
            <a:off x="685800" y="4590288"/>
            <a:ext cx="228600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590288"/>
            <a:ext cx="2011680" cy="292608"/>
          </a:xfrm>
          <a:prstGeom prst="rect">
            <a:avLst/>
          </a:prstGeom>
          <a:noFill/>
        </p:spPr>
        <p:txBody>
          <a:bodyPr wrap="square" lIns="0" rIns="0" tIns="0" bIns="0" anchor="ctr">
            <a:spAutoFit/>
          </a:bodyPr>
          <a:lstStyle/>
          <a:p>
            <a:pPr algn="l"/>
            <a:r>
              <a:rPr sz="1000" b="0" i="0">
                <a:solidFill>
                  <a:srgbClr val="0D0D0D"/>
                </a:solidFill>
                <a:latin typeface="Source Sans Pro"/>
              </a:rPr>
              <a:t>Mobility</a:t>
            </a:r>
          </a:p>
        </p:txBody>
      </p:sp>
      <p:sp>
        <p:nvSpPr>
          <p:cNvPr id="36" name="Rectangle 35"/>
          <p:cNvSpPr/>
          <p:nvPr/>
        </p:nvSpPr>
        <p:spPr>
          <a:xfrm>
            <a:off x="2971800" y="4590288"/>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16600" y="4590288"/>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661400" y="4590288"/>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4882896"/>
            <a:ext cx="22860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882896"/>
            <a:ext cx="2011680" cy="292608"/>
          </a:xfrm>
          <a:prstGeom prst="rect">
            <a:avLst/>
          </a:prstGeom>
          <a:noFill/>
        </p:spPr>
        <p:txBody>
          <a:bodyPr wrap="square" lIns="0" rIns="0" tIns="0" bIns="0" anchor="ctr">
            <a:spAutoFit/>
          </a:bodyPr>
          <a:lstStyle/>
          <a:p>
            <a:pPr algn="l"/>
            <a:r>
              <a:rPr sz="1000" b="0" i="0">
                <a:solidFill>
                  <a:srgbClr val="0D0D0D"/>
                </a:solidFill>
                <a:latin typeface="Source Sans Pro"/>
              </a:rPr>
              <a:t>Air quality</a:t>
            </a:r>
          </a:p>
        </p:txBody>
      </p:sp>
      <p:sp>
        <p:nvSpPr>
          <p:cNvPr id="41" name="Rectangle 40"/>
          <p:cNvSpPr/>
          <p:nvPr/>
        </p:nvSpPr>
        <p:spPr>
          <a:xfrm>
            <a:off x="2971800" y="4882896"/>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16600" y="4882896"/>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61400" y="4882896"/>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5175504"/>
            <a:ext cx="228600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5175504"/>
            <a:ext cx="2011680" cy="292608"/>
          </a:xfrm>
          <a:prstGeom prst="rect">
            <a:avLst/>
          </a:prstGeom>
          <a:noFill/>
        </p:spPr>
        <p:txBody>
          <a:bodyPr wrap="square" lIns="0" rIns="0" tIns="0" bIns="0" anchor="ctr">
            <a:spAutoFit/>
          </a:bodyPr>
          <a:lstStyle/>
          <a:p>
            <a:pPr algn="l"/>
            <a:r>
              <a:rPr sz="1000" b="0" i="0">
                <a:solidFill>
                  <a:srgbClr val="0D0D0D"/>
                </a:solidFill>
                <a:latin typeface="Source Sans Pro"/>
              </a:rPr>
              <a:t>Public space</a:t>
            </a:r>
          </a:p>
        </p:txBody>
      </p:sp>
      <p:sp>
        <p:nvSpPr>
          <p:cNvPr id="46" name="Rectangle 45"/>
          <p:cNvSpPr/>
          <p:nvPr/>
        </p:nvSpPr>
        <p:spPr>
          <a:xfrm>
            <a:off x="2971800" y="5175504"/>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16600" y="5175504"/>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61400" y="5175504"/>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85800" y="5468112"/>
            <a:ext cx="22860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5468112"/>
            <a:ext cx="2011680" cy="292608"/>
          </a:xfrm>
          <a:prstGeom prst="rect">
            <a:avLst/>
          </a:prstGeom>
          <a:noFill/>
        </p:spPr>
        <p:txBody>
          <a:bodyPr wrap="square" lIns="0" rIns="0" tIns="0" bIns="0" anchor="ctr">
            <a:spAutoFit/>
          </a:bodyPr>
          <a:lstStyle/>
          <a:p>
            <a:pPr algn="l"/>
            <a:r>
              <a:rPr sz="1000" b="0" i="0">
                <a:solidFill>
                  <a:srgbClr val="0D0D0D"/>
                </a:solidFill>
                <a:latin typeface="Source Sans Pro"/>
              </a:rPr>
              <a:t>Energy</a:t>
            </a:r>
          </a:p>
        </p:txBody>
      </p:sp>
      <p:sp>
        <p:nvSpPr>
          <p:cNvPr id="51" name="Rectangle 50"/>
          <p:cNvSpPr/>
          <p:nvPr/>
        </p:nvSpPr>
        <p:spPr>
          <a:xfrm>
            <a:off x="2971800" y="5468112"/>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16600" y="5468112"/>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61400" y="5468112"/>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800" y="5760720"/>
            <a:ext cx="2286000" cy="29260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5760720"/>
            <a:ext cx="2011680" cy="292608"/>
          </a:xfrm>
          <a:prstGeom prst="rect">
            <a:avLst/>
          </a:prstGeom>
          <a:noFill/>
        </p:spPr>
        <p:txBody>
          <a:bodyPr wrap="square" lIns="0" rIns="0" tIns="0" bIns="0" anchor="ctr">
            <a:spAutoFit/>
          </a:bodyPr>
          <a:lstStyle/>
          <a:p>
            <a:pPr algn="l"/>
            <a:r>
              <a:rPr sz="1000" b="0" i="0">
                <a:solidFill>
                  <a:srgbClr val="0D0D0D"/>
                </a:solidFill>
                <a:latin typeface="Source Sans Pro"/>
              </a:rPr>
              <a:t>Safety</a:t>
            </a:r>
          </a:p>
        </p:txBody>
      </p:sp>
      <p:sp>
        <p:nvSpPr>
          <p:cNvPr id="56" name="Rectangle 55"/>
          <p:cNvSpPr/>
          <p:nvPr/>
        </p:nvSpPr>
        <p:spPr>
          <a:xfrm>
            <a:off x="2971800" y="5760720"/>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16600" y="5760720"/>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661400" y="5760720"/>
            <a:ext cx="284480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0" name="TextBox 59"/>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