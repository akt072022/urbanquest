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63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0D0D0D"/>
                </a:solidFill>
                <a:latin typeface="Palatino Linotype"/>
              </a:rPr>
              <a:t>Noise mapping (ISO 1996 / EU Directive 2002/49/EC)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Strategic contour maps (e.g., Lden 55-75 dB) and statistical exposure reports identifying the exact number of dwellings and citizens subjected to harmful noise levels.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63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Noise mapping (ISO 1996 / EU Directive 2002/49/EC)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Acknowledging that silence is not an empty void, but a precious, fragile public asset; actively mapping noise prevents the exhaustion of the human mind by the relentless machinery of the 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Strategic contour maps (e.g., Lden 55-75 dB) and statistical exposure reports identifying the exact number of dwellings and citizens subjected to harmful noise levels.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months of data aggregation and modeling
Material  ·  Acoustic calculation software (e.g., SoundPLAN, OpeNoise), GIS population grids, traffic flow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Open Geospatial Consortium (OGC) Urban Digital Twin Interoperability Pilot developed a workflow for noise simulation using the OpeNoise tool within QGIS. By combining CityGML building models with real-time IoT noise sensor data via the SensorThings API, the pilot enabled cities to visualize 3D noise impacts on buildings, directly supporting decisions to mitigate pollution.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63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NOISE MAPPING (ISO 1996 / EU DIRECTIVE 2002/49/EC)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Noise zones · ambient · peak · impact on populations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months of data aggregation and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400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Noise contour map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1783080"/>
            <a:ext cx="4389120" cy="4389120"/>
          </a:xfrm>
          <a:prstGeom prst="ellipse">
            <a:avLst/>
          </a:prstGeom>
          <a:solidFill>
            <a:srgbClr val="00ED93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2331720"/>
            <a:ext cx="3291840" cy="3291840"/>
          </a:xfrm>
          <a:prstGeom prst="ellipse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2880360"/>
            <a:ext cx="2194560" cy="2194560"/>
          </a:xfrm>
          <a:prstGeom prst="ellipse">
            <a:avLst/>
          </a:prstGeom>
          <a:solidFill>
            <a:srgbClr val="FF674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0" y="3520440"/>
            <a:ext cx="914400" cy="914400"/>
          </a:xfrm>
          <a:prstGeom prst="ellipse">
            <a:avLst/>
          </a:prstGeom>
          <a:solidFill>
            <a:srgbClr val="0D0D0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&lt; 55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77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55–65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260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D0D0D"/>
                </a:solidFill>
                <a:latin typeface="Source Sans Pro"/>
              </a:rPr>
              <a:t>65–75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ource Sans Pro"/>
              </a:rPr>
              <a:t>&gt; 75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417320"/>
            <a:ext cx="4648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554480"/>
            <a:ext cx="4282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D0D0D"/>
                </a:solidFill>
                <a:latin typeface="Palatino Linotype"/>
              </a:rPr>
              <a:t>People exposed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075688"/>
            <a:ext cx="292608" cy="292608"/>
          </a:xfrm>
          <a:prstGeom prst="rect">
            <a:avLst/>
          </a:prstGeom>
          <a:solidFill>
            <a:srgbClr val="00ED93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011680"/>
            <a:ext cx="3916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&lt; 55 dB · safe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35240" y="2514600"/>
            <a:ext cx="39166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269480" y="2852928"/>
            <a:ext cx="292608" cy="292608"/>
          </a:xfrm>
          <a:prstGeom prst="rect">
            <a:avLst/>
          </a:prstGeom>
          <a:solidFill>
            <a:srgbClr val="FFD200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788920"/>
            <a:ext cx="3916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55–65 dB · annoyance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35240" y="3291840"/>
            <a:ext cx="39166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269480" y="3630168"/>
            <a:ext cx="292608" cy="292608"/>
          </a:xfrm>
          <a:prstGeom prst="rect">
            <a:avLst/>
          </a:prstGeom>
          <a:solidFill>
            <a:srgbClr val="FF674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566160"/>
            <a:ext cx="3916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65–75 dB · health risk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35240" y="4069080"/>
            <a:ext cx="39166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269480" y="4407408"/>
            <a:ext cx="292608" cy="292608"/>
          </a:xfrm>
          <a:prstGeom prst="rect">
            <a:avLst/>
          </a:prstGeom>
          <a:solidFill>
            <a:srgbClr val="0D0D0D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343400"/>
            <a:ext cx="3916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&gt; 75 dB · severe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35240" y="4846320"/>
            <a:ext cx="391668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63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