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94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6400" b="0" i="0">
                <a:solidFill>
                  <a:srgbClr val="0D0D0D"/>
                </a:solidFill>
                <a:latin typeface="Palatino Linotype"/>
              </a:rPr>
              <a:t>Land value capture</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legally binding fiscal framework or contractual exaction (e.g., impact fees, infrastructure levies) designed to redirect a portion of private real estate gains back to the public purse.</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G4 · Proof of Sustainability</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94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Land value capture</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Reclaiming the wealth generated by the collective city, ensuring that the prosperity built by the public is not entirely enclosed behind private walls.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legally binding fiscal framework or contractual exaction (e.g., impact fees, infrastructure levies) designed to redirect a portion of private real estate gains back to the public purse.</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6 to 12 months for policy design and negotiation
Material  ·  Real estate appraisal data, municipal zoning laws, developer agreement templates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New Urban Agenda explicitly advocates for developer exactions and impact fees as powerful value capture tools. Developers are required to pay upfront charges to cover the cost of extending utility networks or are mandated to set aside land for public use in exchange for development rights. This mechanism is utilized successfully globally, including through joint development agreements and density bonuses, ensuring urban population growth directly finances its own require…</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94  ·  ANIMATION CANVAS  ·  </a:t>
            </a:r>
            <a:r>
              <a:rPr sz="1000" b="1" i="0">
                <a:solidFill>
                  <a:srgbClr val="0D0D0D"/>
                </a:solidFill>
                <a:latin typeface="Source Sans Pro"/>
              </a:rPr>
              <a:t>LAND VALUE CAPTURE</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Mechanisms · betterment · contributions · TIF · BIDs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6 to 12 months for policy design and negotiation</a:t>
            </a:r>
          </a:p>
        </p:txBody>
      </p:sp>
      <p:sp>
        <p:nvSpPr>
          <p:cNvPr id="6" name="Rounded Rectangle 5"/>
          <p:cNvSpPr/>
          <p:nvPr/>
        </p:nvSpPr>
        <p:spPr>
          <a:xfrm>
            <a:off x="457200"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3192272"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Betterment levy</a:t>
            </a:r>
          </a:p>
        </p:txBody>
      </p:sp>
      <p:sp>
        <p:nvSpPr>
          <p:cNvPr id="8" name="TextBox 7"/>
          <p:cNvSpPr txBox="1"/>
          <p:nvPr/>
        </p:nvSpPr>
        <p:spPr>
          <a:xfrm>
            <a:off x="685800"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tax on land-value uplift</a:t>
            </a:r>
          </a:p>
        </p:txBody>
      </p:sp>
      <p:cxnSp>
        <p:nvCxnSpPr>
          <p:cNvPr id="9" name="Connector 8"/>
          <p:cNvCxnSpPr/>
          <p:nvPr/>
        </p:nvCxnSpPr>
        <p:spPr>
          <a:xfrm>
            <a:off x="685800.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71264"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99864" y="1600200"/>
            <a:ext cx="3192272"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Developer contributions</a:t>
            </a:r>
          </a:p>
        </p:txBody>
      </p:sp>
      <p:sp>
        <p:nvSpPr>
          <p:cNvPr id="14" name="TextBox 13"/>
          <p:cNvSpPr txBox="1"/>
          <p:nvPr/>
        </p:nvSpPr>
        <p:spPr>
          <a:xfrm>
            <a:off x="4499864"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in-kind or cash</a:t>
            </a:r>
          </a:p>
        </p:txBody>
      </p:sp>
      <p:cxnSp>
        <p:nvCxnSpPr>
          <p:cNvPr id="15" name="Connector 14"/>
          <p:cNvCxnSpPr/>
          <p:nvPr/>
        </p:nvCxnSpPr>
        <p:spPr>
          <a:xfrm>
            <a:off x="4499864.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499864.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499864.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85328"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13928" y="1600200"/>
            <a:ext cx="3192272"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TIF</a:t>
            </a:r>
          </a:p>
        </p:txBody>
      </p:sp>
      <p:sp>
        <p:nvSpPr>
          <p:cNvPr id="20" name="TextBox 19"/>
          <p:cNvSpPr txBox="1"/>
          <p:nvPr/>
        </p:nvSpPr>
        <p:spPr>
          <a:xfrm>
            <a:off x="8313928"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tax-increment financing</a:t>
            </a:r>
          </a:p>
        </p:txBody>
      </p:sp>
      <p:cxnSp>
        <p:nvCxnSpPr>
          <p:cNvPr id="21" name="Connector 20"/>
          <p:cNvCxnSpPr/>
          <p:nvPr/>
        </p:nvCxnSpPr>
        <p:spPr>
          <a:xfrm>
            <a:off x="8313928.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313928.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313928.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57200"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4059936"/>
            <a:ext cx="3192272"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Sale of development rights</a:t>
            </a:r>
          </a:p>
        </p:txBody>
      </p:sp>
      <p:sp>
        <p:nvSpPr>
          <p:cNvPr id="26" name="TextBox 25"/>
          <p:cNvSpPr txBox="1"/>
          <p:nvPr/>
        </p:nvSpPr>
        <p:spPr>
          <a:xfrm>
            <a:off x="685800"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transferable bonus</a:t>
            </a:r>
          </a:p>
        </p:txBody>
      </p:sp>
      <p:cxnSp>
        <p:nvCxnSpPr>
          <p:cNvPr id="27" name="Connector 26"/>
          <p:cNvCxnSpPr/>
          <p:nvPr/>
        </p:nvCxnSpPr>
        <p:spPr>
          <a:xfrm>
            <a:off x="685800.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85800.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85800.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271264"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499864" y="4059936"/>
            <a:ext cx="3192272"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BIDs</a:t>
            </a:r>
          </a:p>
        </p:txBody>
      </p:sp>
      <p:sp>
        <p:nvSpPr>
          <p:cNvPr id="32" name="TextBox 31"/>
          <p:cNvSpPr txBox="1"/>
          <p:nvPr/>
        </p:nvSpPr>
        <p:spPr>
          <a:xfrm>
            <a:off x="4499864"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business improvement districts</a:t>
            </a:r>
          </a:p>
        </p:txBody>
      </p:sp>
      <p:cxnSp>
        <p:nvCxnSpPr>
          <p:cNvPr id="33" name="Connector 32"/>
          <p:cNvCxnSpPr/>
          <p:nvPr/>
        </p:nvCxnSpPr>
        <p:spPr>
          <a:xfrm>
            <a:off x="4499864.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499864.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499864.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85328"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313928" y="4059936"/>
            <a:ext cx="3192272" cy="365760"/>
          </a:xfrm>
          <a:prstGeom prst="roundRect">
            <a:avLst>
              <a:gd name="adj" fmla="val 50000"/>
            </a:avLst>
          </a:prstGeom>
          <a:solidFill>
            <a:srgbClr val="C48B4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Land readjustment</a:t>
            </a:r>
          </a:p>
        </p:txBody>
      </p:sp>
      <p:sp>
        <p:nvSpPr>
          <p:cNvPr id="38" name="TextBox 37"/>
          <p:cNvSpPr txBox="1"/>
          <p:nvPr/>
        </p:nvSpPr>
        <p:spPr>
          <a:xfrm>
            <a:off x="8313928"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pooling &amp; re-allocation</a:t>
            </a:r>
          </a:p>
        </p:txBody>
      </p:sp>
      <p:cxnSp>
        <p:nvCxnSpPr>
          <p:cNvPr id="39" name="Connector 38"/>
          <p:cNvCxnSpPr/>
          <p:nvPr/>
        </p:nvCxnSpPr>
        <p:spPr>
          <a:xfrm>
            <a:off x="8313928.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313928.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313928.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42" name="Picture 41"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3" name="TextBox 42"/>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94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