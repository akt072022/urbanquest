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23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Participatory budgeting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portfolio of citizen-proposed projects that are legally approved, prioritized by popular vote, and financially backed by a dedicated portion of the municipal budget,.</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1" name="Rounded Rectangle 10"/>
          <p:cNvSpPr/>
          <p:nvPr/>
        </p:nvSpPr>
        <p:spPr>
          <a:xfrm>
            <a:off x="3145536"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23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Participatory budgeting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Putting the city’s wallet directly into the hands of its inhabitants; proving that institutional trust is best measured by the actual sharing of financial power.</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portfolio of citizen-proposed projects that are legally approved, prioritized by popular vote, and financially backed by a dedicated portion of the municipal budget,.</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An annual cycle (ideation, evaluation, voting, execution)
Material  ·  Digital participation platforms (Decidim, Consul), municipal budget allocation, technical evaluation grids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City of Barcelona uses the open-source platform Decidim to manage its participatory budgeting. The platform allows citizens to propose, debate, and vote on how to distribute public resources for neighborhood improvements. The software's open code ensures transparency and traceable decision-making, translating the concept of "We decide" into concrete financial allocations,,.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23  ·  ANIMATION CANVAS  ·  </a:t>
            </a:r>
            <a:r>
              <a:rPr sz="1000" b="1" i="0">
                <a:solidFill>
                  <a:srgbClr val="0D0D0D"/>
                </a:solidFill>
                <a:latin typeface="Source Sans Pro"/>
              </a:rPr>
              <a:t>PARTICIPATORY BUDGETING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Citizens propose · vote · decide allocation</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An annual cycle (ideation, evaluation, voting, executio…</a:t>
            </a:r>
          </a:p>
        </p:txBody>
      </p:sp>
      <p:sp>
        <p:nvSpPr>
          <p:cNvPr id="6" name="Rounded Rectangle 5"/>
          <p:cNvSpPr/>
          <p:nvPr/>
        </p:nvSpPr>
        <p:spPr>
          <a:xfrm>
            <a:off x="457200" y="1417320"/>
            <a:ext cx="1705356"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600200"/>
            <a:ext cx="133959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Propose</a:t>
            </a:r>
          </a:p>
        </p:txBody>
      </p:sp>
      <p:sp>
        <p:nvSpPr>
          <p:cNvPr id="8" name="TextBox 7"/>
          <p:cNvSpPr txBox="1"/>
          <p:nvPr/>
        </p:nvSpPr>
        <p:spPr>
          <a:xfrm>
            <a:off x="640080" y="2103120"/>
            <a:ext cx="1339596" cy="548640"/>
          </a:xfrm>
          <a:prstGeom prst="rect">
            <a:avLst/>
          </a:prstGeom>
          <a:noFill/>
        </p:spPr>
        <p:txBody>
          <a:bodyPr wrap="square" lIns="0" rIns="0" tIns="0" bIns="0">
            <a:spAutoFit/>
          </a:bodyPr>
          <a:lstStyle/>
          <a:p>
            <a:pPr algn="l"/>
            <a:r>
              <a:rPr sz="1000" b="0" i="1">
                <a:solidFill>
                  <a:srgbClr val="757575"/>
                </a:solidFill>
                <a:latin typeface="Palatino Linotype"/>
              </a:rPr>
              <a:t>Residents submit ideas to spend public money</a:t>
            </a:r>
          </a:p>
        </p:txBody>
      </p:sp>
      <p:cxnSp>
        <p:nvCxnSpPr>
          <p:cNvPr id="9" name="Connector 8"/>
          <p:cNvCxnSpPr/>
          <p:nvPr/>
        </p:nvCxnSpPr>
        <p:spPr>
          <a:xfrm>
            <a:off x="640080.0" y="27432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40080.0" y="29718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40080.0" y="32004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327148" y="1417320"/>
            <a:ext cx="1705356"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510028" y="1600200"/>
            <a:ext cx="133959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Shortlist</a:t>
            </a:r>
          </a:p>
        </p:txBody>
      </p:sp>
      <p:sp>
        <p:nvSpPr>
          <p:cNvPr id="14" name="TextBox 13"/>
          <p:cNvSpPr txBox="1"/>
          <p:nvPr/>
        </p:nvSpPr>
        <p:spPr>
          <a:xfrm>
            <a:off x="2510028" y="2103120"/>
            <a:ext cx="1339596" cy="548640"/>
          </a:xfrm>
          <a:prstGeom prst="rect">
            <a:avLst/>
          </a:prstGeom>
          <a:noFill/>
        </p:spPr>
        <p:txBody>
          <a:bodyPr wrap="square" lIns="0" rIns="0" tIns="0" bIns="0">
            <a:spAutoFit/>
          </a:bodyPr>
          <a:lstStyle/>
          <a:p>
            <a:pPr algn="l"/>
            <a:r>
              <a:rPr sz="1000" b="0" i="1">
                <a:solidFill>
                  <a:srgbClr val="757575"/>
                </a:solidFill>
                <a:latin typeface="Palatino Linotype"/>
              </a:rPr>
              <a:t>Eligibility check &amp; expert costing</a:t>
            </a:r>
          </a:p>
        </p:txBody>
      </p:sp>
      <p:cxnSp>
        <p:nvCxnSpPr>
          <p:cNvPr id="15" name="Connector 14"/>
          <p:cNvCxnSpPr/>
          <p:nvPr/>
        </p:nvCxnSpPr>
        <p:spPr>
          <a:xfrm>
            <a:off x="2510028.0" y="27432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510028.0" y="29718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510028.0" y="32004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197096" y="1417320"/>
            <a:ext cx="1705356"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79976" y="1600200"/>
            <a:ext cx="133959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Vote</a:t>
            </a:r>
          </a:p>
        </p:txBody>
      </p:sp>
      <p:sp>
        <p:nvSpPr>
          <p:cNvPr id="20" name="TextBox 19"/>
          <p:cNvSpPr txBox="1"/>
          <p:nvPr/>
        </p:nvSpPr>
        <p:spPr>
          <a:xfrm>
            <a:off x="4379976" y="2103120"/>
            <a:ext cx="1339596" cy="548640"/>
          </a:xfrm>
          <a:prstGeom prst="rect">
            <a:avLst/>
          </a:prstGeom>
          <a:noFill/>
        </p:spPr>
        <p:txBody>
          <a:bodyPr wrap="square" lIns="0" rIns="0" tIns="0" bIns="0">
            <a:spAutoFit/>
          </a:bodyPr>
          <a:lstStyle/>
          <a:p>
            <a:pPr algn="l"/>
            <a:r>
              <a:rPr sz="1000" b="0" i="1">
                <a:solidFill>
                  <a:srgbClr val="757575"/>
                </a:solidFill>
                <a:latin typeface="Palatino Linotype"/>
              </a:rPr>
              <a:t>Open vote, all residents 14+</a:t>
            </a:r>
          </a:p>
        </p:txBody>
      </p:sp>
      <p:cxnSp>
        <p:nvCxnSpPr>
          <p:cNvPr id="21" name="Connector 20"/>
          <p:cNvCxnSpPr/>
          <p:nvPr/>
        </p:nvCxnSpPr>
        <p:spPr>
          <a:xfrm>
            <a:off x="4379976.0" y="27432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379976.0" y="29718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379976.0" y="32004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067044" y="1417320"/>
            <a:ext cx="1705356" cy="21945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249924" y="1600200"/>
            <a:ext cx="133959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Implement</a:t>
            </a:r>
          </a:p>
        </p:txBody>
      </p:sp>
      <p:sp>
        <p:nvSpPr>
          <p:cNvPr id="26" name="TextBox 25"/>
          <p:cNvSpPr txBox="1"/>
          <p:nvPr/>
        </p:nvSpPr>
        <p:spPr>
          <a:xfrm>
            <a:off x="6249924" y="2103120"/>
            <a:ext cx="1339596" cy="548640"/>
          </a:xfrm>
          <a:prstGeom prst="rect">
            <a:avLst/>
          </a:prstGeom>
          <a:noFill/>
        </p:spPr>
        <p:txBody>
          <a:bodyPr wrap="square" lIns="0" rIns="0" tIns="0" bIns="0">
            <a:spAutoFit/>
          </a:bodyPr>
          <a:lstStyle/>
          <a:p>
            <a:pPr algn="l"/>
            <a:r>
              <a:rPr sz="1000" b="0" i="1">
                <a:solidFill>
                  <a:srgbClr val="757575"/>
                </a:solidFill>
                <a:latin typeface="Palatino Linotype"/>
              </a:rPr>
              <a:t>Top-ranked projects get funded</a:t>
            </a:r>
          </a:p>
        </p:txBody>
      </p:sp>
      <p:cxnSp>
        <p:nvCxnSpPr>
          <p:cNvPr id="27" name="Connector 26"/>
          <p:cNvCxnSpPr/>
          <p:nvPr/>
        </p:nvCxnSpPr>
        <p:spPr>
          <a:xfrm>
            <a:off x="6249924.0" y="27432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249924.0" y="29718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249924.0" y="3200400"/>
            <a:ext cx="133959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001000" y="1417320"/>
            <a:ext cx="37338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83880" y="1600200"/>
            <a:ext cx="3368040" cy="365760"/>
          </a:xfrm>
          <a:prstGeom prst="rect">
            <a:avLst/>
          </a:prstGeom>
          <a:noFill/>
        </p:spPr>
        <p:txBody>
          <a:bodyPr wrap="square" lIns="0" rIns="0" tIns="0" bIns="0">
            <a:spAutoFit/>
          </a:bodyPr>
          <a:lstStyle/>
          <a:p>
            <a:pPr algn="l"/>
            <a:r>
              <a:rPr sz="1300" b="0" i="1">
                <a:solidFill>
                  <a:srgbClr val="0D0D0D"/>
                </a:solidFill>
                <a:latin typeface="Palatino Linotype"/>
              </a:rPr>
              <a:t>Budget envelope</a:t>
            </a:r>
          </a:p>
        </p:txBody>
      </p:sp>
      <p:sp>
        <p:nvSpPr>
          <p:cNvPr id="32" name="TextBox 31"/>
          <p:cNvSpPr txBox="1"/>
          <p:nvPr/>
        </p:nvSpPr>
        <p:spPr>
          <a:xfrm>
            <a:off x="8183880" y="2148840"/>
            <a:ext cx="3368040" cy="640080"/>
          </a:xfrm>
          <a:prstGeom prst="rect">
            <a:avLst/>
          </a:prstGeom>
          <a:noFill/>
        </p:spPr>
        <p:txBody>
          <a:bodyPr wrap="square" lIns="0" rIns="0" tIns="0" bIns="0">
            <a:spAutoFit/>
          </a:bodyPr>
          <a:lstStyle/>
          <a:p>
            <a:pPr algn="l"/>
            <a:r>
              <a:rPr sz="3200" b="0" i="0">
                <a:solidFill>
                  <a:srgbClr val="0D0D0D"/>
                </a:solidFill>
                <a:latin typeface="Palatino Linotype"/>
              </a:rPr>
              <a:t>€ ____</a:t>
            </a:r>
          </a:p>
        </p:txBody>
      </p:sp>
      <p:sp>
        <p:nvSpPr>
          <p:cNvPr id="33" name="TextBox 32"/>
          <p:cNvSpPr txBox="1"/>
          <p:nvPr/>
        </p:nvSpPr>
        <p:spPr>
          <a:xfrm>
            <a:off x="8183880" y="3246120"/>
            <a:ext cx="3368040" cy="274320"/>
          </a:xfrm>
          <a:prstGeom prst="rect">
            <a:avLst/>
          </a:prstGeom>
          <a:noFill/>
        </p:spPr>
        <p:txBody>
          <a:bodyPr wrap="square" lIns="0" rIns="0" tIns="0" bIns="0">
            <a:spAutoFit/>
          </a:bodyPr>
          <a:lstStyle/>
          <a:p>
            <a:pPr algn="l"/>
            <a:r>
              <a:rPr sz="1000" b="1" i="0">
                <a:solidFill>
                  <a:srgbClr val="0D0D0D"/>
                </a:solidFill>
                <a:latin typeface="Source Sans Pro"/>
              </a:rPr>
              <a:t>Public space</a:t>
            </a:r>
          </a:p>
        </p:txBody>
      </p:sp>
      <p:sp>
        <p:nvSpPr>
          <p:cNvPr id="34" name="Rectangle 33"/>
          <p:cNvSpPr/>
          <p:nvPr/>
        </p:nvSpPr>
        <p:spPr>
          <a:xfrm>
            <a:off x="8183880" y="3520440"/>
            <a:ext cx="3368040" cy="146304"/>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83880" y="3520440"/>
            <a:ext cx="1010412" cy="146304"/>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83880" y="3749040"/>
            <a:ext cx="3368040" cy="274320"/>
          </a:xfrm>
          <a:prstGeom prst="rect">
            <a:avLst/>
          </a:prstGeom>
          <a:noFill/>
        </p:spPr>
        <p:txBody>
          <a:bodyPr wrap="square" lIns="0" rIns="0" tIns="0" bIns="0">
            <a:spAutoFit/>
          </a:bodyPr>
          <a:lstStyle/>
          <a:p>
            <a:pPr algn="l"/>
            <a:r>
              <a:rPr sz="1000" b="1" i="0">
                <a:solidFill>
                  <a:srgbClr val="0D0D0D"/>
                </a:solidFill>
                <a:latin typeface="Source Sans Pro"/>
              </a:rPr>
              <a:t>Mobility</a:t>
            </a:r>
          </a:p>
        </p:txBody>
      </p:sp>
      <p:sp>
        <p:nvSpPr>
          <p:cNvPr id="37" name="Rectangle 36"/>
          <p:cNvSpPr/>
          <p:nvPr/>
        </p:nvSpPr>
        <p:spPr>
          <a:xfrm>
            <a:off x="8183880" y="4023360"/>
            <a:ext cx="3368040" cy="146304"/>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83880" y="4023360"/>
            <a:ext cx="842010" cy="146304"/>
          </a:xfrm>
          <a:prstGeom prst="rect">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83880" y="4251960"/>
            <a:ext cx="3368040" cy="274320"/>
          </a:xfrm>
          <a:prstGeom prst="rect">
            <a:avLst/>
          </a:prstGeom>
          <a:noFill/>
        </p:spPr>
        <p:txBody>
          <a:bodyPr wrap="square" lIns="0" rIns="0" tIns="0" bIns="0">
            <a:spAutoFit/>
          </a:bodyPr>
          <a:lstStyle/>
          <a:p>
            <a:pPr algn="l"/>
            <a:r>
              <a:rPr sz="1000" b="1" i="0">
                <a:solidFill>
                  <a:srgbClr val="0D0D0D"/>
                </a:solidFill>
                <a:latin typeface="Source Sans Pro"/>
              </a:rPr>
              <a:t>Culture</a:t>
            </a:r>
          </a:p>
        </p:txBody>
      </p:sp>
      <p:sp>
        <p:nvSpPr>
          <p:cNvPr id="40" name="Rectangle 39"/>
          <p:cNvSpPr/>
          <p:nvPr/>
        </p:nvSpPr>
        <p:spPr>
          <a:xfrm>
            <a:off x="8183880" y="4526280"/>
            <a:ext cx="3368040" cy="146304"/>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83880" y="4526280"/>
            <a:ext cx="673608" cy="146304"/>
          </a:xfrm>
          <a:prstGeom prst="rect">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83880" y="4754880"/>
            <a:ext cx="3368040" cy="274320"/>
          </a:xfrm>
          <a:prstGeom prst="rect">
            <a:avLst/>
          </a:prstGeom>
          <a:noFill/>
        </p:spPr>
        <p:txBody>
          <a:bodyPr wrap="square" lIns="0" rIns="0" tIns="0" bIns="0">
            <a:spAutoFit/>
          </a:bodyPr>
          <a:lstStyle/>
          <a:p>
            <a:pPr algn="l"/>
            <a:r>
              <a:rPr sz="1000" b="1" i="0">
                <a:solidFill>
                  <a:srgbClr val="0D0D0D"/>
                </a:solidFill>
                <a:latin typeface="Source Sans Pro"/>
              </a:rPr>
              <a:t>Climate</a:t>
            </a:r>
          </a:p>
        </p:txBody>
      </p:sp>
      <p:sp>
        <p:nvSpPr>
          <p:cNvPr id="43" name="Rectangle 42"/>
          <p:cNvSpPr/>
          <p:nvPr/>
        </p:nvSpPr>
        <p:spPr>
          <a:xfrm>
            <a:off x="8183880" y="5029200"/>
            <a:ext cx="3368040" cy="146304"/>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183880" y="5029200"/>
            <a:ext cx="505205" cy="146304"/>
          </a:xfrm>
          <a:prstGeom prst="rect">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183880" y="5257800"/>
            <a:ext cx="3368040" cy="274320"/>
          </a:xfrm>
          <a:prstGeom prst="rect">
            <a:avLst/>
          </a:prstGeom>
          <a:noFill/>
        </p:spPr>
        <p:txBody>
          <a:bodyPr wrap="square" lIns="0" rIns="0" tIns="0" bIns="0">
            <a:spAutoFit/>
          </a:bodyPr>
          <a:lstStyle/>
          <a:p>
            <a:pPr algn="l"/>
            <a:r>
              <a:rPr sz="1000" b="1" i="0">
                <a:solidFill>
                  <a:srgbClr val="0D0D0D"/>
                </a:solidFill>
                <a:latin typeface="Source Sans Pro"/>
              </a:rPr>
              <a:t>Other</a:t>
            </a:r>
          </a:p>
        </p:txBody>
      </p:sp>
      <p:sp>
        <p:nvSpPr>
          <p:cNvPr id="46" name="Rectangle 45"/>
          <p:cNvSpPr/>
          <p:nvPr/>
        </p:nvSpPr>
        <p:spPr>
          <a:xfrm>
            <a:off x="8183880" y="5532120"/>
            <a:ext cx="3368040" cy="146304"/>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83880" y="5532120"/>
            <a:ext cx="336803" cy="146304"/>
          </a:xfrm>
          <a:prstGeom prst="rect">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3886200"/>
            <a:ext cx="7315200" cy="274320"/>
          </a:xfrm>
          <a:prstGeom prst="rect">
            <a:avLst/>
          </a:prstGeom>
          <a:noFill/>
        </p:spPr>
        <p:txBody>
          <a:bodyPr wrap="square" lIns="0" rIns="0" tIns="0" bIns="0">
            <a:spAutoFit/>
          </a:bodyPr>
          <a:lstStyle/>
          <a:p>
            <a:pPr algn="l"/>
            <a:r>
              <a:rPr sz="1300" b="0" i="1">
                <a:solidFill>
                  <a:srgbClr val="0D0D0D"/>
                </a:solidFill>
                <a:latin typeface="Palatino Linotype"/>
              </a:rPr>
              <a:t>Engagement principles</a:t>
            </a:r>
          </a:p>
        </p:txBody>
      </p:sp>
      <p:sp>
        <p:nvSpPr>
          <p:cNvPr id="49" name="Rounded Rectangle 48"/>
          <p:cNvSpPr/>
          <p:nvPr/>
        </p:nvSpPr>
        <p:spPr>
          <a:xfrm>
            <a:off x="502920" y="4297680"/>
            <a:ext cx="166878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Transparent rules</a:t>
            </a:r>
          </a:p>
        </p:txBody>
      </p:sp>
      <p:sp>
        <p:nvSpPr>
          <p:cNvPr id="50" name="Rounded Rectangle 49"/>
          <p:cNvSpPr/>
          <p:nvPr/>
        </p:nvSpPr>
        <p:spPr>
          <a:xfrm>
            <a:off x="2308860" y="4297680"/>
            <a:ext cx="166878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Independent oversight</a:t>
            </a:r>
          </a:p>
        </p:txBody>
      </p:sp>
      <p:sp>
        <p:nvSpPr>
          <p:cNvPr id="51" name="Rounded Rectangle 50"/>
          <p:cNvSpPr/>
          <p:nvPr/>
        </p:nvSpPr>
        <p:spPr>
          <a:xfrm>
            <a:off x="4114800" y="4297680"/>
            <a:ext cx="166878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Real money on the table</a:t>
            </a:r>
          </a:p>
        </p:txBody>
      </p:sp>
      <p:sp>
        <p:nvSpPr>
          <p:cNvPr id="52" name="Rounded Rectangle 51"/>
          <p:cNvSpPr/>
          <p:nvPr/>
        </p:nvSpPr>
        <p:spPr>
          <a:xfrm>
            <a:off x="5920740" y="4297680"/>
            <a:ext cx="166878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Visible follow-through</a:t>
            </a:r>
          </a:p>
        </p:txBody>
      </p:sp>
      <p:pic>
        <p:nvPicPr>
          <p:cNvPr id="53" name="Picture 5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4" name="TextBox 5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23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