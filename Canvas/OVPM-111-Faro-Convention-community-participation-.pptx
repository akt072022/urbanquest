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111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4200" b="0" i="0">
                <a:solidFill>
                  <a:srgbClr val="0D0D0D"/>
                </a:solidFill>
                <a:latin typeface="Palatino Linotype"/>
              </a:rPr>
              <a:t>Faro Convention community participation framework</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heritage-led strategy or community agreement that formally recognizes a "heritage community" and delegates shared management or valorization responsibilities to local residents.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G3 · Proof of Anchoring</a:t>
            </a:r>
          </a:p>
        </p:txBody>
      </p:sp>
      <p:sp>
        <p:nvSpPr>
          <p:cNvPr id="8" name="Rounded Rectangle 7"/>
          <p:cNvSpPr/>
          <p:nvPr/>
        </p:nvSpPr>
        <p:spPr>
          <a:xfrm>
            <a:off x="2880360" y="5212080"/>
            <a:ext cx="2194560" cy="384048"/>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G4 · Proof of Sustainability</a:t>
            </a:r>
          </a:p>
        </p:txBody>
      </p:sp>
      <p:sp>
        <p:nvSpPr>
          <p:cNvPr id="9" name="TextBox 8"/>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10" name="Rounded Rectangle 9"/>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Heritage</a:t>
            </a:r>
          </a:p>
        </p:txBody>
      </p:sp>
      <p:sp>
        <p:nvSpPr>
          <p:cNvPr id="11" name="Rounded Rectangle 10"/>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sp>
        <p:nvSpPr>
          <p:cNvPr id="12" name="Rounded Rectangle 11"/>
          <p:cNvSpPr/>
          <p:nvPr/>
        </p:nvSpPr>
        <p:spPr>
          <a:xfrm>
            <a:off x="33329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pic>
        <p:nvPicPr>
          <p:cNvPr id="13" name="Picture 12"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4" name="TextBox 13"/>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111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Faro Convention community participation framework</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G3 · Proof of Anchoring</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Democratizing memory; recognizing that heritage is not a frozen museum curated by experts, but a living, breathing dialogue shaped by the people who inhabit and love the space.</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heritage-led strategy or community agreement that formally recognizes a "heritage community" and delegates shared management or valorization responsibilities to local residents.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3 to 6 months for dialogue and formal agreement
Material  ·  Faro Convention principles, stakeholder mapping grids, collaborative agreement templates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European Cultural Heritage Strategy for the 21st Century (Namur Strategy) implements Faro principles to promote good governance and social participation. By encouraging heritage communities to engage directly with their local sites, municipalities foster profound social inclusion and empower citizens to define what specific elements of their past should shape their future,.</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111  ·  ANIMATION CANVAS  ·  </a:t>
            </a:r>
            <a:r>
              <a:rPr sz="1000" b="1" i="0">
                <a:solidFill>
                  <a:srgbClr val="0D0D0D"/>
                </a:solidFill>
                <a:latin typeface="Source Sans Pro"/>
              </a:rPr>
              <a:t>FARO CONVENTION COMMUNITY PARTICIPATION FRAMEWORK</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Heritage as right · communities lead</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3 to 6 months for dialogue and formal agreement</a:t>
            </a:r>
          </a:p>
        </p:txBody>
      </p:sp>
      <p:sp>
        <p:nvSpPr>
          <p:cNvPr id="6" name="Rounded Rectangle 5"/>
          <p:cNvSpPr/>
          <p:nvPr/>
        </p:nvSpPr>
        <p:spPr>
          <a:xfrm>
            <a:off x="457200"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1666646" cy="365760"/>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Heritage communities</a:t>
            </a:r>
          </a:p>
        </p:txBody>
      </p:sp>
      <p:sp>
        <p:nvSpPr>
          <p:cNvPr id="8" name="TextBox 7"/>
          <p:cNvSpPr txBox="1"/>
          <p:nvPr/>
        </p:nvSpPr>
        <p:spPr>
          <a:xfrm>
            <a:off x="685800"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who decides what is heritage</a:t>
            </a:r>
          </a:p>
        </p:txBody>
      </p:sp>
      <p:cxnSp>
        <p:nvCxnSpPr>
          <p:cNvPr id="9" name="Connector 8"/>
          <p:cNvCxnSpPr/>
          <p:nvPr/>
        </p:nvCxnSpPr>
        <p:spPr>
          <a:xfrm>
            <a:off x="685800.0" y="274320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85800.0" y="303580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32841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62102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91363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420624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449884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85800.0" y="479145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85800.0" y="508406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85800.0" y="537667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85800.0" y="566928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2745638"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974238" y="1600200"/>
            <a:ext cx="1666646" cy="365760"/>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Common heritage</a:t>
            </a:r>
          </a:p>
        </p:txBody>
      </p:sp>
      <p:sp>
        <p:nvSpPr>
          <p:cNvPr id="22" name="TextBox 21"/>
          <p:cNvSpPr txBox="1"/>
          <p:nvPr/>
        </p:nvSpPr>
        <p:spPr>
          <a:xfrm>
            <a:off x="2974238"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shared responsibility</a:t>
            </a:r>
          </a:p>
        </p:txBody>
      </p:sp>
      <p:cxnSp>
        <p:nvCxnSpPr>
          <p:cNvPr id="23" name="Connector 22"/>
          <p:cNvCxnSpPr/>
          <p:nvPr/>
        </p:nvCxnSpPr>
        <p:spPr>
          <a:xfrm>
            <a:off x="2974238.4" y="274320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974238.4" y="303580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974238.4" y="332841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974238.4" y="362102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974238.4" y="391363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974238.4" y="420624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974238.4" y="4498848.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974238.4" y="4791456.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974238.4" y="5084064.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974238.4" y="5376672.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2974238.4" y="5669280.0"/>
            <a:ext cx="1666646.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5034076"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262676" y="1600200"/>
            <a:ext cx="1666646" cy="365760"/>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Quality of life</a:t>
            </a:r>
          </a:p>
        </p:txBody>
      </p:sp>
      <p:sp>
        <p:nvSpPr>
          <p:cNvPr id="36" name="TextBox 35"/>
          <p:cNvSpPr txBox="1"/>
          <p:nvPr/>
        </p:nvSpPr>
        <p:spPr>
          <a:xfrm>
            <a:off x="5262676"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heritage as wellbeing</a:t>
            </a:r>
          </a:p>
        </p:txBody>
      </p:sp>
      <p:cxnSp>
        <p:nvCxnSpPr>
          <p:cNvPr id="37" name="Connector 36"/>
          <p:cNvCxnSpPr/>
          <p:nvPr/>
        </p:nvCxnSpPr>
        <p:spPr>
          <a:xfrm>
            <a:off x="5262676.8" y="274320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5262676.8" y="3035808.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262676.8" y="3328416.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5262676.8" y="3621024.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5262676.8" y="3913632.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5262676.8" y="420624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262676.8" y="4498848.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5262676.8" y="4791456.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262676.8" y="5084064.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5262676.8" y="5376672.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5262676.8" y="5669280.0"/>
            <a:ext cx="1666646.399999999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7322515"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7551115" y="1600200"/>
            <a:ext cx="1666646" cy="365760"/>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Knowledge transfer</a:t>
            </a:r>
          </a:p>
        </p:txBody>
      </p:sp>
      <p:sp>
        <p:nvSpPr>
          <p:cNvPr id="50" name="TextBox 49"/>
          <p:cNvSpPr txBox="1"/>
          <p:nvPr/>
        </p:nvSpPr>
        <p:spPr>
          <a:xfrm>
            <a:off x="7551115"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inter-generational learning</a:t>
            </a:r>
          </a:p>
        </p:txBody>
      </p:sp>
      <p:cxnSp>
        <p:nvCxnSpPr>
          <p:cNvPr id="51" name="Connector 50"/>
          <p:cNvCxnSpPr/>
          <p:nvPr/>
        </p:nvCxnSpPr>
        <p:spPr>
          <a:xfrm>
            <a:off x="7551115.199999999" y="274320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7551115.199999999" y="303580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551115.199999999" y="332841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7551115.199999999" y="362102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7551115.199999999" y="391363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7551115.199999999" y="420624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551115.199999999" y="449884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551115.199999999" y="479145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7551115.199999999" y="508406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7551115.199999999" y="537667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551115.199999999" y="566928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62" name="Rounded Rectangle 61"/>
          <p:cNvSpPr/>
          <p:nvPr/>
        </p:nvSpPr>
        <p:spPr>
          <a:xfrm>
            <a:off x="9610953" y="1417320"/>
            <a:ext cx="2123846"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9839553" y="1600200"/>
            <a:ext cx="1666646" cy="365760"/>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Reflection &amp; dialogue</a:t>
            </a:r>
          </a:p>
        </p:txBody>
      </p:sp>
      <p:sp>
        <p:nvSpPr>
          <p:cNvPr id="64" name="TextBox 63"/>
          <p:cNvSpPr txBox="1"/>
          <p:nvPr/>
        </p:nvSpPr>
        <p:spPr>
          <a:xfrm>
            <a:off x="9839553" y="2103120"/>
            <a:ext cx="1666646" cy="457200"/>
          </a:xfrm>
          <a:prstGeom prst="rect">
            <a:avLst/>
          </a:prstGeom>
          <a:noFill/>
        </p:spPr>
        <p:txBody>
          <a:bodyPr wrap="square" lIns="0" rIns="0" tIns="0" bIns="0">
            <a:spAutoFit/>
          </a:bodyPr>
          <a:lstStyle/>
          <a:p>
            <a:pPr algn="l"/>
            <a:r>
              <a:rPr sz="1050" b="0" i="1">
                <a:solidFill>
                  <a:srgbClr val="757575"/>
                </a:solidFill>
                <a:latin typeface="Palatino Linotype"/>
              </a:rPr>
              <a:t>on conflict and memory</a:t>
            </a:r>
          </a:p>
        </p:txBody>
      </p:sp>
      <p:cxnSp>
        <p:nvCxnSpPr>
          <p:cNvPr id="65" name="Connector 64"/>
          <p:cNvCxnSpPr/>
          <p:nvPr/>
        </p:nvCxnSpPr>
        <p:spPr>
          <a:xfrm>
            <a:off x="9839553.6" y="274320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839553.6" y="303580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839553.6" y="332841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839553.6" y="362102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839553.6" y="391363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839553.6" y="420624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839553.6" y="4498848.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9839553.6" y="4791456.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839553.6" y="5084064.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839553.6" y="5376672.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839553.6" y="5669280.0"/>
            <a:ext cx="1666646.4000000004" cy="0.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pic>
        <p:nvPicPr>
          <p:cNvPr id="76" name="Picture 75"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77" name="TextBox 76"/>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111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