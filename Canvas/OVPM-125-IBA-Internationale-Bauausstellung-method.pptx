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125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0D0D0D"/>
                </a:solidFill>
                <a:latin typeface="Palatino Linotype"/>
              </a:rPr>
              <a:t>IBA · Internationale Bauausstellung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10-year strategic memorandum, a novel governance structure, and a final portfolio of fully constructed, future-oriented urban districts presented to an international audience.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G3 · Proof of Anchoring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47088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2988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Economic</a:t>
            </a:r>
          </a:p>
        </p:txBody>
      </p:sp>
      <p:pic>
        <p:nvPicPr>
          <p:cNvPr id="13" name="Picture 1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125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IBA · Internationale Bauausstellung 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G3 · Proof of Anchoring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Treating the city itself as a living, breathing laboratory where the future of human dwelling is not just debated in meeting rooms, but physically rehearsed and built in real-time.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10-year strategic memorandum, a novel governance structure, and a final portfolio of fully constructed, future-oriented urban districts presented to an international audience.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6 to 10 years
Material  ·  IBA Memorandum, project qualification matrices, international advisory boards, public exhibition infrastructure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The IBA Emscher Park in North Rhine-Westphalia successfully transformed a scarred, 70-kilometer industrial coal mining landscape into a vibrant cultural and economic hub through nature-based solutions and architectural renewal. More recently, the IBA Wien focused strictly on "New Social Housing," exploring forward-looking living concepts, affordable mobility, and social inclusion to shape new, highly livable neighborhoods like the Sonnwendeviertel.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125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IBA · INTERNATIONALE BAUAUSSTELLUNG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IBA · 10-year urban experimentation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6 to 10 years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12384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1666646" cy="365760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Memorandum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16666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guiding theme · ambition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.0" y="2743200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.0" y="3035808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.0" y="3328416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.0" y="3621024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.0" y="3913632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5800.0" y="4206240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5800.0" y="4498848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.0" y="4791456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.0" y="5084064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.0" y="5376672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.0" y="5669280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745638" y="1417320"/>
            <a:ext cx="212384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4238" y="1600200"/>
            <a:ext cx="1666646" cy="365760"/>
          </a:xfrm>
          <a:prstGeom prst="roundRect">
            <a:avLst>
              <a:gd name="adj" fmla="val 50000"/>
            </a:avLst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Independent agency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4238" y="2103120"/>
            <a:ext cx="16666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mandate · budget · runway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974238.4" y="2743200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974238.4" y="3035808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974238.4" y="3328416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974238.4" y="3621024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974238.4" y="3913632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974238.4" y="4206240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74238.4" y="4498848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74238.4" y="4791456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974238.4" y="5084064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974238.4" y="5376672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974238.4" y="5669280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034076" y="1417320"/>
            <a:ext cx="212384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262676" y="1600200"/>
            <a:ext cx="1666646" cy="365760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Open call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62676" y="2103120"/>
            <a:ext cx="16666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rigorous project qualification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262676.8" y="2743200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262676.8" y="3035808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262676.8" y="3328416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262676.8" y="3621024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262676.8" y="3913632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262676.8" y="4206240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262676.8" y="4498848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262676.8" y="4791456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262676.8" y="5084064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262676.8" y="5376672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262676.8" y="5669280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322515" y="1417320"/>
            <a:ext cx="212384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551115" y="1600200"/>
            <a:ext cx="1666646" cy="365760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Implementation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51115" y="2103120"/>
            <a:ext cx="16666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6-10 years of building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551115.199999999" y="2743200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551115.199999999" y="3035808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551115.199999999" y="3328416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551115.199999999" y="3621024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551115.199999999" y="3913632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551115.199999999" y="4206240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551115.199999999" y="4498848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551115.199999999" y="4791456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551115.199999999" y="5084064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551115.199999999" y="5376672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551115.199999999" y="5669280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9610953" y="1417320"/>
            <a:ext cx="212384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839553" y="1600200"/>
            <a:ext cx="1666646" cy="365760"/>
          </a:xfrm>
          <a:prstGeom prst="roundRect">
            <a:avLst>
              <a:gd name="adj" fmla="val 50000"/>
            </a:avLst>
          </a:prstGeom>
          <a:solidFill>
            <a:srgbClr val="EF9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Festivalization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39553" y="2103120"/>
            <a:ext cx="16666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final year exhibition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839553.6" y="2743200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839553.6" y="3035808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839553.6" y="3328416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839553.6" y="3621024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839553.6" y="3913632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839553.6" y="4206240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839553.6" y="4498848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839553.6" y="4791456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839553.6" y="5084064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839553.6" y="5376672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839553.6" y="5669280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6" name="Picture 75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125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