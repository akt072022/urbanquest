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39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Conservation Management Plan (CMP)</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formal, ratified document that outlines the site's significance, identifies conservation policies, and assigns specific long-term maintenance responsibilities to distinct actors,.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3145536"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39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Conservation Management Plan (CMP)</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Making a pact with future generations; writing down a solemn promise that the beauty and history we inherited today will be fiercely protected for tomorrow.</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formal, ratified document that outlines the site's significance, identifies conservation policies, and assigns specific long-term maintenance responsibilities to distinct actors,.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to draft and adopt the plan
Material  ·  Statutory planning documents, heritage significance assessments, financial forecasts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management plan for the Old Town of Corfu, a UNESCO World Heritage site, utilized systematic methodologies and indicators to monitor the overall performance of the site. It established concrete action plans and legislative instruments to coordinate the activities of all municipal operators and guarantee the site's long-term conservation,.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39  ·  ANIMATION CANVAS  ·  </a:t>
            </a:r>
            <a:r>
              <a:rPr sz="1000" b="1" i="0">
                <a:solidFill>
                  <a:srgbClr val="0D0D0D"/>
                </a:solidFill>
                <a:latin typeface="Source Sans Pro"/>
              </a:rPr>
              <a:t>CONSERVATION MANAGEMENT PLAN (CMP)</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CMP cycle · understand · plan · act · monitor</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to draft and adopt the plan</a:t>
            </a:r>
          </a:p>
        </p:txBody>
      </p:sp>
      <p:sp>
        <p:nvSpPr>
          <p:cNvPr id="6" name="Rounded Rectangle 5"/>
          <p:cNvSpPr/>
          <p:nvPr/>
        </p:nvSpPr>
        <p:spPr>
          <a:xfrm>
            <a:off x="457200"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 Understand</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history, fabric, values, threats</a:t>
            </a:r>
          </a:p>
        </p:txBody>
      </p:sp>
      <p:sp>
        <p:nvSpPr>
          <p:cNvPr id="9" name="TextBox 8"/>
          <p:cNvSpPr txBox="1"/>
          <p:nvPr/>
        </p:nvSpPr>
        <p:spPr>
          <a:xfrm>
            <a:off x="685800" y="2697480"/>
            <a:ext cx="365760" cy="274320"/>
          </a:xfrm>
          <a:prstGeom prst="rect">
            <a:avLst/>
          </a:prstGeom>
          <a:noFill/>
        </p:spPr>
        <p:txBody>
          <a:bodyPr wrap="square" lIns="0" rIns="0" tIns="0" bIns="0">
            <a:spAutoFit/>
          </a:bodyPr>
          <a:lstStyle/>
          <a:p>
            <a:pPr algn="l"/>
            <a:r>
              <a:rPr sz="900" b="1" i="0">
                <a:solidFill>
                  <a:srgbClr val="757575"/>
                </a:solidFill>
                <a:latin typeface="Source Sans Pro"/>
              </a:rPr>
              <a:t>D1</a:t>
            </a:r>
          </a:p>
        </p:txBody>
      </p:sp>
      <p:cxnSp>
        <p:nvCxnSpPr>
          <p:cNvPr id="10" name="Connector 9"/>
          <p:cNvCxnSpPr/>
          <p:nvPr/>
        </p:nvCxnSpPr>
        <p:spPr>
          <a:xfrm>
            <a:off x="1051560.0" y="2862072"/>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026664"/>
            <a:ext cx="365760" cy="274320"/>
          </a:xfrm>
          <a:prstGeom prst="rect">
            <a:avLst/>
          </a:prstGeom>
          <a:noFill/>
        </p:spPr>
        <p:txBody>
          <a:bodyPr wrap="square" lIns="0" rIns="0" tIns="0" bIns="0">
            <a:spAutoFit/>
          </a:bodyPr>
          <a:lstStyle/>
          <a:p>
            <a:pPr algn="l"/>
            <a:r>
              <a:rPr sz="900" b="1" i="0">
                <a:solidFill>
                  <a:srgbClr val="757575"/>
                </a:solidFill>
                <a:latin typeface="Source Sans Pro"/>
              </a:rPr>
              <a:t>D2</a:t>
            </a:r>
          </a:p>
        </p:txBody>
      </p:sp>
      <p:cxnSp>
        <p:nvCxnSpPr>
          <p:cNvPr id="12" name="Connector 11"/>
          <p:cNvCxnSpPr/>
          <p:nvPr/>
        </p:nvCxnSpPr>
        <p:spPr>
          <a:xfrm>
            <a:off x="1051560.0" y="3191256"/>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355848"/>
            <a:ext cx="365760" cy="274320"/>
          </a:xfrm>
          <a:prstGeom prst="rect">
            <a:avLst/>
          </a:prstGeom>
          <a:noFill/>
        </p:spPr>
        <p:txBody>
          <a:bodyPr wrap="square" lIns="0" rIns="0" tIns="0" bIns="0">
            <a:spAutoFit/>
          </a:bodyPr>
          <a:lstStyle/>
          <a:p>
            <a:pPr algn="l"/>
            <a:r>
              <a:rPr sz="900" b="1" i="0">
                <a:solidFill>
                  <a:srgbClr val="757575"/>
                </a:solidFill>
                <a:latin typeface="Source Sans Pro"/>
              </a:rPr>
              <a:t>D3</a:t>
            </a:r>
          </a:p>
        </p:txBody>
      </p:sp>
      <p:cxnSp>
        <p:nvCxnSpPr>
          <p:cNvPr id="14" name="Connector 13"/>
          <p:cNvCxnSpPr/>
          <p:nvPr/>
        </p:nvCxnSpPr>
        <p:spPr>
          <a:xfrm>
            <a:off x="1051560.0" y="3520440"/>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685032"/>
            <a:ext cx="365760" cy="274320"/>
          </a:xfrm>
          <a:prstGeom prst="rect">
            <a:avLst/>
          </a:prstGeom>
          <a:noFill/>
        </p:spPr>
        <p:txBody>
          <a:bodyPr wrap="square" lIns="0" rIns="0" tIns="0" bIns="0">
            <a:spAutoFit/>
          </a:bodyPr>
          <a:lstStyle/>
          <a:p>
            <a:pPr algn="l"/>
            <a:r>
              <a:rPr sz="900" b="1" i="0">
                <a:solidFill>
                  <a:srgbClr val="757575"/>
                </a:solidFill>
                <a:latin typeface="Source Sans Pro"/>
              </a:rPr>
              <a:t>D4</a:t>
            </a:r>
          </a:p>
        </p:txBody>
      </p:sp>
      <p:cxnSp>
        <p:nvCxnSpPr>
          <p:cNvPr id="16" name="Connector 15"/>
          <p:cNvCxnSpPr/>
          <p:nvPr/>
        </p:nvCxnSpPr>
        <p:spPr>
          <a:xfrm>
            <a:off x="1051560.0" y="3849624"/>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17748"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2. Significance</a:t>
            </a:r>
          </a:p>
        </p:txBody>
      </p:sp>
      <p:sp>
        <p:nvSpPr>
          <p:cNvPr id="19" name="TextBox 18"/>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declare what is most important</a:t>
            </a:r>
          </a:p>
        </p:txBody>
      </p:sp>
      <p:sp>
        <p:nvSpPr>
          <p:cNvPr id="20" name="TextBox 19"/>
          <p:cNvSpPr txBox="1"/>
          <p:nvPr/>
        </p:nvSpPr>
        <p:spPr>
          <a:xfrm>
            <a:off x="3546348" y="2697480"/>
            <a:ext cx="365760" cy="274320"/>
          </a:xfrm>
          <a:prstGeom prst="rect">
            <a:avLst/>
          </a:prstGeom>
          <a:noFill/>
        </p:spPr>
        <p:txBody>
          <a:bodyPr wrap="square" lIns="0" rIns="0" tIns="0" bIns="0">
            <a:spAutoFit/>
          </a:bodyPr>
          <a:lstStyle/>
          <a:p>
            <a:pPr algn="l"/>
            <a:r>
              <a:rPr sz="900" b="1" i="0">
                <a:solidFill>
                  <a:srgbClr val="757575"/>
                </a:solidFill>
                <a:latin typeface="Source Sans Pro"/>
              </a:rPr>
              <a:t>D1</a:t>
            </a:r>
          </a:p>
        </p:txBody>
      </p:sp>
      <p:cxnSp>
        <p:nvCxnSpPr>
          <p:cNvPr id="21" name="Connector 20"/>
          <p:cNvCxnSpPr/>
          <p:nvPr/>
        </p:nvCxnSpPr>
        <p:spPr>
          <a:xfrm>
            <a:off x="3912108.0" y="2862072"/>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46348" y="3026664"/>
            <a:ext cx="365760" cy="274320"/>
          </a:xfrm>
          <a:prstGeom prst="rect">
            <a:avLst/>
          </a:prstGeom>
          <a:noFill/>
        </p:spPr>
        <p:txBody>
          <a:bodyPr wrap="square" lIns="0" rIns="0" tIns="0" bIns="0">
            <a:spAutoFit/>
          </a:bodyPr>
          <a:lstStyle/>
          <a:p>
            <a:pPr algn="l"/>
            <a:r>
              <a:rPr sz="900" b="1" i="0">
                <a:solidFill>
                  <a:srgbClr val="757575"/>
                </a:solidFill>
                <a:latin typeface="Source Sans Pro"/>
              </a:rPr>
              <a:t>D2</a:t>
            </a:r>
          </a:p>
        </p:txBody>
      </p:sp>
      <p:cxnSp>
        <p:nvCxnSpPr>
          <p:cNvPr id="23" name="Connector 22"/>
          <p:cNvCxnSpPr/>
          <p:nvPr/>
        </p:nvCxnSpPr>
        <p:spPr>
          <a:xfrm>
            <a:off x="3912108.0" y="3191256"/>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46348" y="3355848"/>
            <a:ext cx="365760" cy="274320"/>
          </a:xfrm>
          <a:prstGeom prst="rect">
            <a:avLst/>
          </a:prstGeom>
          <a:noFill/>
        </p:spPr>
        <p:txBody>
          <a:bodyPr wrap="square" lIns="0" rIns="0" tIns="0" bIns="0">
            <a:spAutoFit/>
          </a:bodyPr>
          <a:lstStyle/>
          <a:p>
            <a:pPr algn="l"/>
            <a:r>
              <a:rPr sz="900" b="1" i="0">
                <a:solidFill>
                  <a:srgbClr val="757575"/>
                </a:solidFill>
                <a:latin typeface="Source Sans Pro"/>
              </a:rPr>
              <a:t>D3</a:t>
            </a:r>
          </a:p>
        </p:txBody>
      </p:sp>
      <p:cxnSp>
        <p:nvCxnSpPr>
          <p:cNvPr id="25" name="Connector 24"/>
          <p:cNvCxnSpPr/>
          <p:nvPr/>
        </p:nvCxnSpPr>
        <p:spPr>
          <a:xfrm>
            <a:off x="3912108.0" y="3520440"/>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46348" y="3685032"/>
            <a:ext cx="365760" cy="274320"/>
          </a:xfrm>
          <a:prstGeom prst="rect">
            <a:avLst/>
          </a:prstGeom>
          <a:noFill/>
        </p:spPr>
        <p:txBody>
          <a:bodyPr wrap="square" lIns="0" rIns="0" tIns="0" bIns="0">
            <a:spAutoFit/>
          </a:bodyPr>
          <a:lstStyle/>
          <a:p>
            <a:pPr algn="l"/>
            <a:r>
              <a:rPr sz="900" b="1" i="0">
                <a:solidFill>
                  <a:srgbClr val="757575"/>
                </a:solidFill>
                <a:latin typeface="Source Sans Pro"/>
              </a:rPr>
              <a:t>D4</a:t>
            </a:r>
          </a:p>
        </p:txBody>
      </p:sp>
      <p:cxnSp>
        <p:nvCxnSpPr>
          <p:cNvPr id="27" name="Connector 26"/>
          <p:cNvCxnSpPr/>
          <p:nvPr/>
        </p:nvCxnSpPr>
        <p:spPr>
          <a:xfrm>
            <a:off x="3912108.0" y="3849624"/>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78296"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3. Policy</a:t>
            </a:r>
          </a:p>
        </p:txBody>
      </p:sp>
      <p:sp>
        <p:nvSpPr>
          <p:cNvPr id="30" name="TextBox 29"/>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what we will and will not do</a:t>
            </a:r>
          </a:p>
        </p:txBody>
      </p:sp>
      <p:sp>
        <p:nvSpPr>
          <p:cNvPr id="31" name="TextBox 30"/>
          <p:cNvSpPr txBox="1"/>
          <p:nvPr/>
        </p:nvSpPr>
        <p:spPr>
          <a:xfrm>
            <a:off x="6406896" y="2697480"/>
            <a:ext cx="365760" cy="274320"/>
          </a:xfrm>
          <a:prstGeom prst="rect">
            <a:avLst/>
          </a:prstGeom>
          <a:noFill/>
        </p:spPr>
        <p:txBody>
          <a:bodyPr wrap="square" lIns="0" rIns="0" tIns="0" bIns="0">
            <a:spAutoFit/>
          </a:bodyPr>
          <a:lstStyle/>
          <a:p>
            <a:pPr algn="l"/>
            <a:r>
              <a:rPr sz="900" b="1" i="0">
                <a:solidFill>
                  <a:srgbClr val="757575"/>
                </a:solidFill>
                <a:latin typeface="Source Sans Pro"/>
              </a:rPr>
              <a:t>D1</a:t>
            </a:r>
          </a:p>
        </p:txBody>
      </p:sp>
      <p:cxnSp>
        <p:nvCxnSpPr>
          <p:cNvPr id="32" name="Connector 31"/>
          <p:cNvCxnSpPr/>
          <p:nvPr/>
        </p:nvCxnSpPr>
        <p:spPr>
          <a:xfrm>
            <a:off x="6772656.0" y="2862072"/>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6896" y="3026664"/>
            <a:ext cx="365760" cy="274320"/>
          </a:xfrm>
          <a:prstGeom prst="rect">
            <a:avLst/>
          </a:prstGeom>
          <a:noFill/>
        </p:spPr>
        <p:txBody>
          <a:bodyPr wrap="square" lIns="0" rIns="0" tIns="0" bIns="0">
            <a:spAutoFit/>
          </a:bodyPr>
          <a:lstStyle/>
          <a:p>
            <a:pPr algn="l"/>
            <a:r>
              <a:rPr sz="900" b="1" i="0">
                <a:solidFill>
                  <a:srgbClr val="757575"/>
                </a:solidFill>
                <a:latin typeface="Source Sans Pro"/>
              </a:rPr>
              <a:t>D2</a:t>
            </a:r>
          </a:p>
        </p:txBody>
      </p:sp>
      <p:cxnSp>
        <p:nvCxnSpPr>
          <p:cNvPr id="34" name="Connector 33"/>
          <p:cNvCxnSpPr/>
          <p:nvPr/>
        </p:nvCxnSpPr>
        <p:spPr>
          <a:xfrm>
            <a:off x="6772656.0" y="3191256"/>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6896" y="3355848"/>
            <a:ext cx="365760" cy="274320"/>
          </a:xfrm>
          <a:prstGeom prst="rect">
            <a:avLst/>
          </a:prstGeom>
          <a:noFill/>
        </p:spPr>
        <p:txBody>
          <a:bodyPr wrap="square" lIns="0" rIns="0" tIns="0" bIns="0">
            <a:spAutoFit/>
          </a:bodyPr>
          <a:lstStyle/>
          <a:p>
            <a:pPr algn="l"/>
            <a:r>
              <a:rPr sz="900" b="1" i="0">
                <a:solidFill>
                  <a:srgbClr val="757575"/>
                </a:solidFill>
                <a:latin typeface="Source Sans Pro"/>
              </a:rPr>
              <a:t>D3</a:t>
            </a:r>
          </a:p>
        </p:txBody>
      </p:sp>
      <p:cxnSp>
        <p:nvCxnSpPr>
          <p:cNvPr id="36" name="Connector 35"/>
          <p:cNvCxnSpPr/>
          <p:nvPr/>
        </p:nvCxnSpPr>
        <p:spPr>
          <a:xfrm>
            <a:off x="6772656.0" y="3520440"/>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6896" y="3685032"/>
            <a:ext cx="365760" cy="274320"/>
          </a:xfrm>
          <a:prstGeom prst="rect">
            <a:avLst/>
          </a:prstGeom>
          <a:noFill/>
        </p:spPr>
        <p:txBody>
          <a:bodyPr wrap="square" lIns="0" rIns="0" tIns="0" bIns="0">
            <a:spAutoFit/>
          </a:bodyPr>
          <a:lstStyle/>
          <a:p>
            <a:pPr algn="l"/>
            <a:r>
              <a:rPr sz="900" b="1" i="0">
                <a:solidFill>
                  <a:srgbClr val="757575"/>
                </a:solidFill>
                <a:latin typeface="Source Sans Pro"/>
              </a:rPr>
              <a:t>D4</a:t>
            </a:r>
          </a:p>
        </p:txBody>
      </p:sp>
      <p:cxnSp>
        <p:nvCxnSpPr>
          <p:cNvPr id="38" name="Connector 37"/>
          <p:cNvCxnSpPr/>
          <p:nvPr/>
        </p:nvCxnSpPr>
        <p:spPr>
          <a:xfrm>
            <a:off x="6772656.0" y="3849624"/>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38844" y="141732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4. Action</a:t>
            </a:r>
          </a:p>
        </p:txBody>
      </p:sp>
      <p:sp>
        <p:nvSpPr>
          <p:cNvPr id="41" name="TextBox 40"/>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works, monitoring, review</a:t>
            </a:r>
          </a:p>
        </p:txBody>
      </p:sp>
      <p:sp>
        <p:nvSpPr>
          <p:cNvPr id="42" name="TextBox 41"/>
          <p:cNvSpPr txBox="1"/>
          <p:nvPr/>
        </p:nvSpPr>
        <p:spPr>
          <a:xfrm>
            <a:off x="9267444" y="2697480"/>
            <a:ext cx="365760" cy="274320"/>
          </a:xfrm>
          <a:prstGeom prst="rect">
            <a:avLst/>
          </a:prstGeom>
          <a:noFill/>
        </p:spPr>
        <p:txBody>
          <a:bodyPr wrap="square" lIns="0" rIns="0" tIns="0" bIns="0">
            <a:spAutoFit/>
          </a:bodyPr>
          <a:lstStyle/>
          <a:p>
            <a:pPr algn="l"/>
            <a:r>
              <a:rPr sz="900" b="1" i="0">
                <a:solidFill>
                  <a:srgbClr val="757575"/>
                </a:solidFill>
                <a:latin typeface="Source Sans Pro"/>
              </a:rPr>
              <a:t>D1</a:t>
            </a:r>
          </a:p>
        </p:txBody>
      </p:sp>
      <p:cxnSp>
        <p:nvCxnSpPr>
          <p:cNvPr id="43" name="Connector 42"/>
          <p:cNvCxnSpPr/>
          <p:nvPr/>
        </p:nvCxnSpPr>
        <p:spPr>
          <a:xfrm>
            <a:off x="9633204.0" y="2862072"/>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267444" y="3026664"/>
            <a:ext cx="365760" cy="274320"/>
          </a:xfrm>
          <a:prstGeom prst="rect">
            <a:avLst/>
          </a:prstGeom>
          <a:noFill/>
        </p:spPr>
        <p:txBody>
          <a:bodyPr wrap="square" lIns="0" rIns="0" tIns="0" bIns="0">
            <a:spAutoFit/>
          </a:bodyPr>
          <a:lstStyle/>
          <a:p>
            <a:pPr algn="l"/>
            <a:r>
              <a:rPr sz="900" b="1" i="0">
                <a:solidFill>
                  <a:srgbClr val="757575"/>
                </a:solidFill>
                <a:latin typeface="Source Sans Pro"/>
              </a:rPr>
              <a:t>D2</a:t>
            </a:r>
          </a:p>
        </p:txBody>
      </p:sp>
      <p:cxnSp>
        <p:nvCxnSpPr>
          <p:cNvPr id="45" name="Connector 44"/>
          <p:cNvCxnSpPr/>
          <p:nvPr/>
        </p:nvCxnSpPr>
        <p:spPr>
          <a:xfrm>
            <a:off x="9633204.0" y="3191256"/>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267444" y="3355848"/>
            <a:ext cx="365760" cy="274320"/>
          </a:xfrm>
          <a:prstGeom prst="rect">
            <a:avLst/>
          </a:prstGeom>
          <a:noFill/>
        </p:spPr>
        <p:txBody>
          <a:bodyPr wrap="square" lIns="0" rIns="0" tIns="0" bIns="0">
            <a:spAutoFit/>
          </a:bodyPr>
          <a:lstStyle/>
          <a:p>
            <a:pPr algn="l"/>
            <a:r>
              <a:rPr sz="900" b="1" i="0">
                <a:solidFill>
                  <a:srgbClr val="757575"/>
                </a:solidFill>
                <a:latin typeface="Source Sans Pro"/>
              </a:rPr>
              <a:t>D3</a:t>
            </a:r>
          </a:p>
        </p:txBody>
      </p:sp>
      <p:cxnSp>
        <p:nvCxnSpPr>
          <p:cNvPr id="47" name="Connector 46"/>
          <p:cNvCxnSpPr/>
          <p:nvPr/>
        </p:nvCxnSpPr>
        <p:spPr>
          <a:xfrm>
            <a:off x="9633204.0" y="3520440"/>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267444" y="3685032"/>
            <a:ext cx="365760" cy="274320"/>
          </a:xfrm>
          <a:prstGeom prst="rect">
            <a:avLst/>
          </a:prstGeom>
          <a:noFill/>
        </p:spPr>
        <p:txBody>
          <a:bodyPr wrap="square" lIns="0" rIns="0" tIns="0" bIns="0">
            <a:spAutoFit/>
          </a:bodyPr>
          <a:lstStyle/>
          <a:p>
            <a:pPr algn="l"/>
            <a:r>
              <a:rPr sz="900" b="1" i="0">
                <a:solidFill>
                  <a:srgbClr val="757575"/>
                </a:solidFill>
                <a:latin typeface="Source Sans Pro"/>
              </a:rPr>
              <a:t>D4</a:t>
            </a:r>
          </a:p>
        </p:txBody>
      </p:sp>
      <p:cxnSp>
        <p:nvCxnSpPr>
          <p:cNvPr id="49" name="Connector 48"/>
          <p:cNvCxnSpPr/>
          <p:nvPr/>
        </p:nvCxnSpPr>
        <p:spPr>
          <a:xfrm>
            <a:off x="9633204.0" y="3849624"/>
            <a:ext cx="18729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457200" y="4343400"/>
            <a:ext cx="11277600" cy="16459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 y="4480560"/>
            <a:ext cx="7315200" cy="274320"/>
          </a:xfrm>
          <a:prstGeom prst="rect">
            <a:avLst/>
          </a:prstGeom>
          <a:noFill/>
        </p:spPr>
        <p:txBody>
          <a:bodyPr wrap="square" lIns="0" rIns="0" tIns="0" bIns="0">
            <a:spAutoFit/>
          </a:bodyPr>
          <a:lstStyle/>
          <a:p>
            <a:pPr algn="l"/>
            <a:r>
              <a:rPr sz="1300" b="0" i="1">
                <a:solidFill>
                  <a:srgbClr val="0D0D0D"/>
                </a:solidFill>
                <a:latin typeface="Palatino Linotype"/>
              </a:rPr>
              <a:t>5-year review cycle</a:t>
            </a:r>
          </a:p>
        </p:txBody>
      </p:sp>
      <p:cxnSp>
        <p:nvCxnSpPr>
          <p:cNvPr id="52" name="Connector 51"/>
          <p:cNvCxnSpPr/>
          <p:nvPr/>
        </p:nvCxnSpPr>
        <p:spPr>
          <a:xfrm>
            <a:off x="914400" y="5120640"/>
            <a:ext cx="10363200" cy="0"/>
          </a:xfrm>
          <a:prstGeom prst="line">
            <a:avLst/>
          </a:prstGeom>
          <a:ln w="12700">
            <a:solidFill>
              <a:srgbClr val="0D0D0D"/>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749808" y="495604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5349240"/>
            <a:ext cx="914400" cy="274320"/>
          </a:xfrm>
          <a:prstGeom prst="rect">
            <a:avLst/>
          </a:prstGeom>
          <a:noFill/>
        </p:spPr>
        <p:txBody>
          <a:bodyPr wrap="square" lIns="0" rIns="0" tIns="0" bIns="0">
            <a:spAutoFit/>
          </a:bodyPr>
          <a:lstStyle/>
          <a:p>
            <a:pPr algn="ctr"/>
            <a:r>
              <a:rPr sz="900" b="1" i="0">
                <a:solidFill>
                  <a:srgbClr val="0D0D0D"/>
                </a:solidFill>
                <a:latin typeface="Source Sans Pro"/>
              </a:rPr>
              <a:t>Year 1</a:t>
            </a:r>
          </a:p>
        </p:txBody>
      </p:sp>
      <p:sp>
        <p:nvSpPr>
          <p:cNvPr id="55" name="Oval 54"/>
          <p:cNvSpPr/>
          <p:nvPr/>
        </p:nvSpPr>
        <p:spPr>
          <a:xfrm>
            <a:off x="3340608" y="495604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048000" y="5349240"/>
            <a:ext cx="914400" cy="274320"/>
          </a:xfrm>
          <a:prstGeom prst="rect">
            <a:avLst/>
          </a:prstGeom>
          <a:noFill/>
        </p:spPr>
        <p:txBody>
          <a:bodyPr wrap="square" lIns="0" rIns="0" tIns="0" bIns="0">
            <a:spAutoFit/>
          </a:bodyPr>
          <a:lstStyle/>
          <a:p>
            <a:pPr algn="ctr"/>
            <a:r>
              <a:rPr sz="900" b="1" i="0">
                <a:solidFill>
                  <a:srgbClr val="0D0D0D"/>
                </a:solidFill>
                <a:latin typeface="Source Sans Pro"/>
              </a:rPr>
              <a:t>Year 2</a:t>
            </a:r>
          </a:p>
        </p:txBody>
      </p:sp>
      <p:sp>
        <p:nvSpPr>
          <p:cNvPr id="57" name="Oval 56"/>
          <p:cNvSpPr/>
          <p:nvPr/>
        </p:nvSpPr>
        <p:spPr>
          <a:xfrm>
            <a:off x="5931408" y="495604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38800" y="5349240"/>
            <a:ext cx="914400" cy="274320"/>
          </a:xfrm>
          <a:prstGeom prst="rect">
            <a:avLst/>
          </a:prstGeom>
          <a:noFill/>
        </p:spPr>
        <p:txBody>
          <a:bodyPr wrap="square" lIns="0" rIns="0" tIns="0" bIns="0">
            <a:spAutoFit/>
          </a:bodyPr>
          <a:lstStyle/>
          <a:p>
            <a:pPr algn="ctr"/>
            <a:r>
              <a:rPr sz="900" b="1" i="0">
                <a:solidFill>
                  <a:srgbClr val="0D0D0D"/>
                </a:solidFill>
                <a:latin typeface="Source Sans Pro"/>
              </a:rPr>
              <a:t>Year 3</a:t>
            </a:r>
          </a:p>
        </p:txBody>
      </p:sp>
      <p:sp>
        <p:nvSpPr>
          <p:cNvPr id="59" name="Oval 58"/>
          <p:cNvSpPr/>
          <p:nvPr/>
        </p:nvSpPr>
        <p:spPr>
          <a:xfrm>
            <a:off x="8522208" y="495604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0" y="5349240"/>
            <a:ext cx="914400" cy="274320"/>
          </a:xfrm>
          <a:prstGeom prst="rect">
            <a:avLst/>
          </a:prstGeom>
          <a:noFill/>
        </p:spPr>
        <p:txBody>
          <a:bodyPr wrap="square" lIns="0" rIns="0" tIns="0" bIns="0">
            <a:spAutoFit/>
          </a:bodyPr>
          <a:lstStyle/>
          <a:p>
            <a:pPr algn="ctr"/>
            <a:r>
              <a:rPr sz="900" b="1" i="0">
                <a:solidFill>
                  <a:srgbClr val="0D0D0D"/>
                </a:solidFill>
                <a:latin typeface="Source Sans Pro"/>
              </a:rPr>
              <a:t>Year 4</a:t>
            </a:r>
          </a:p>
        </p:txBody>
      </p:sp>
      <p:sp>
        <p:nvSpPr>
          <p:cNvPr id="61" name="Oval 60"/>
          <p:cNvSpPr/>
          <p:nvPr/>
        </p:nvSpPr>
        <p:spPr>
          <a:xfrm>
            <a:off x="11113008" y="495604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20400" y="5349240"/>
            <a:ext cx="914400" cy="274320"/>
          </a:xfrm>
          <a:prstGeom prst="rect">
            <a:avLst/>
          </a:prstGeom>
          <a:noFill/>
        </p:spPr>
        <p:txBody>
          <a:bodyPr wrap="square" lIns="0" rIns="0" tIns="0" bIns="0">
            <a:spAutoFit/>
          </a:bodyPr>
          <a:lstStyle/>
          <a:p>
            <a:pPr algn="ctr"/>
            <a:r>
              <a:rPr sz="900" b="1" i="0">
                <a:solidFill>
                  <a:srgbClr val="0D0D0D"/>
                </a:solidFill>
                <a:latin typeface="Source Sans Pro"/>
              </a:rPr>
              <a:t>Year 5</a:t>
            </a:r>
          </a:p>
        </p:txBody>
      </p:sp>
      <p:pic>
        <p:nvPicPr>
          <p:cNvPr id="63" name="Picture 6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4" name="TextBox 6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39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