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41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Material decay &amp; condition survey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localized, metric diagnostic report mapping specific material degradations (e.g., cracking, surface erosion) directly onto the architectural geometry of the historical asset,.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Heritage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Environmental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9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41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Material decay &amp; condition survey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Listening to the scars of a building; recognizing that every crack, stain, and eroded brick tells the story of time and weather, demanding careful healing rather than violent erasure.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localized, metric diagnostic report mapping specific material degradations (e.g., cracking, surface erosion) directly onto the architectural geometry of the historical asset,.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2 to 4 weeks of field survey and data compilation
Material  ·  Spherical cameras, non-destructive testing equipment, HBIM/GIS software, standardized condition survey grids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Carta del Rischio project in Mirandola (Italy) surveyed an entire urban block heavily damaged by an earthquake. Using spherical photogrammetry integrated into a GIS environment, researchers rapidly mapped the exact condition, metric deformations, and vulnerabilities of building facades. This allowed operators to continuously monitor the post-seismic reconstruction and prioritize preservation interventions remotely,.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41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MATERIAL DECAY &amp; CONDITION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Element × condition state · severity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2 to 4 weeks of field survey and data compilation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776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D0D0D"/>
                </a:solidFill>
                <a:latin typeface="Palatino Linotype"/>
              </a:rPr>
              <a:t>Element × condition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2194560" cy="365760"/>
          </a:xfrm>
          <a:prstGeom prst="rect">
            <a:avLst/>
          </a:prstGeom>
          <a:solidFill>
            <a:srgbClr val="0D0D0D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D200"/>
                </a:solidFill>
                <a:latin typeface="Source Sans Pro"/>
              </a:rPr>
              <a:t>Element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2240280"/>
            <a:ext cx="2042160" cy="365760"/>
          </a:xfrm>
          <a:prstGeom prst="rect">
            <a:avLst/>
          </a:prstGeom>
          <a:solidFill>
            <a:srgbClr val="00ED93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240280"/>
            <a:ext cx="2042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Sound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22520" y="2240280"/>
            <a:ext cx="2042160" cy="365760"/>
          </a:xfrm>
          <a:prstGeom prst="rect">
            <a:avLst/>
          </a:prstGeom>
          <a:solidFill>
            <a:srgbClr val="FFD200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2520" y="2240280"/>
            <a:ext cx="2042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Surface decay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4680" y="2240280"/>
            <a:ext cx="2042160" cy="365760"/>
          </a:xfrm>
          <a:prstGeom prst="rect">
            <a:avLst/>
          </a:prstGeom>
          <a:solidFill>
            <a:srgbClr val="FF674D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4680" y="2240280"/>
            <a:ext cx="2042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Structural decay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2240280"/>
            <a:ext cx="2042160" cy="365760"/>
          </a:xfrm>
          <a:prstGeom prst="rect">
            <a:avLst/>
          </a:prstGeom>
          <a:solidFill>
            <a:srgbClr val="0D0D0D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2240280"/>
            <a:ext cx="2042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ource Sans Pro"/>
              </a:rPr>
              <a:t>Loss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49000" y="2240280"/>
            <a:ext cx="914400" cy="365760"/>
          </a:xfrm>
          <a:prstGeom prst="rect">
            <a:avLst/>
          </a:prstGeom>
          <a:solidFill>
            <a:srgbClr val="FFD200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49000" y="22402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Action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606040"/>
            <a:ext cx="2194560" cy="384048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60604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Stone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2606040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10000" y="2715768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22520" y="2606040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0" y="2715768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4680" y="2606040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94320" y="2715768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6840" y="2606040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36480" y="2715768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049000" y="2606040"/>
            <a:ext cx="91440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2990088"/>
            <a:ext cx="2194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2990088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Brick / Mortar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360" y="2990088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099816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22520" y="2990088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52160" y="3099816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64680" y="2990088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94320" y="3099816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06840" y="2990088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36480" y="3099816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049000" y="2990088"/>
            <a:ext cx="91440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5800" y="3374136"/>
            <a:ext cx="2194560" cy="384048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337413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Wood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80360" y="3374136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10000" y="3483864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922520" y="3374136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52160" y="3483864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64680" y="3374136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894320" y="3483864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06840" y="3374136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36480" y="3483864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049000" y="3374136"/>
            <a:ext cx="91440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5800" y="3758184"/>
            <a:ext cx="2194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3758184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Metal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80360" y="3758184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810000" y="3867912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22520" y="3758184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852160" y="3867912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964680" y="3758184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894320" y="3867912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006840" y="3758184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936480" y="3867912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049000" y="3758184"/>
            <a:ext cx="91440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5800" y="4142232"/>
            <a:ext cx="2194560" cy="384048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4142232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Render / Plaster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360" y="4142232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810000" y="4251960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922520" y="4142232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52160" y="4251960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964680" y="4142232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894320" y="4251960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006840" y="4142232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936480" y="4251960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049000" y="4142232"/>
            <a:ext cx="91440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" y="4526280"/>
            <a:ext cx="2194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2960" y="452628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Roofing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80360" y="4526280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810000" y="4636008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922520" y="4526280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852160" y="4636008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64680" y="4526280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894320" y="4636008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006840" y="4526280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936480" y="4636008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049000" y="4526280"/>
            <a:ext cx="91440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5800" y="4910328"/>
            <a:ext cx="2194560" cy="384048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2960" y="4910328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Glass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880360" y="4910328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810000" y="5020056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922520" y="4910328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852160" y="5020056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964680" y="4910328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894320" y="5020056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006840" y="4910328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936480" y="5020056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1049000" y="4910328"/>
            <a:ext cx="91440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85800" y="5294376"/>
            <a:ext cx="2194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22960" y="529437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Decoration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880360" y="5294376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810000" y="5404104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922520" y="5294376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852160" y="5404104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964680" y="5294376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894320" y="5404104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06840" y="5294376"/>
            <a:ext cx="2042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936480" y="5404104"/>
            <a:ext cx="182880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1049000" y="5294376"/>
            <a:ext cx="91440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8" name="Picture 107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41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