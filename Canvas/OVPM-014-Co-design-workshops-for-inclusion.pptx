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OVPM Co-Design Toolkit  ·  Tool 14 of 133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760" y="5029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1">
                <a:solidFill>
                  <a:srgbClr val="0D0D0D"/>
                </a:solidFill>
                <a:latin typeface="Palatino Linotype"/>
              </a:rPr>
              <a:t>Method canvas for co-design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7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200" b="0" i="0">
                <a:solidFill>
                  <a:srgbClr val="0D0D0D"/>
                </a:solidFill>
                <a:latin typeface="Palatino Linotype"/>
              </a:rPr>
              <a:t>Co-design workshops for inclusion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What this tool produces  ·  </a:t>
            </a:r>
            <a:r>
              <a:rPr sz="1500" b="0" i="1">
                <a:solidFill>
                  <a:srgbClr val="0D0D0D"/>
                </a:solidFill>
                <a:latin typeface="Palatino Linotype"/>
              </a:rPr>
              <a:t>Specific design adjustments and functional requirements that eliminate barriers for vulnerable populations, formulated directly by those populations.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2120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FFFFFF"/>
                </a:solidFill>
                <a:latin typeface="Source Sans Pro"/>
              </a:rPr>
              <a:t>G2 · Proof of Fit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6692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D0D0D"/>
                </a:solidFill>
                <a:latin typeface="Source Sans Pro"/>
              </a:rPr>
              <a:t>Dimensions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943600"/>
            <a:ext cx="1376172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Social / User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34540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Spatial</a:t>
            </a:r>
          </a:p>
        </p:txBody>
      </p:sp>
      <p:pic>
        <p:nvPicPr>
          <p:cNvPr id="11" name="Picture 10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760" y="6024114"/>
            <a:ext cx="1371600" cy="33096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271760" y="6395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14  ·  FACILITATOR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Preparing the workshop  ·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Co-design workshops for inclusion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G2 · Proof of Fit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Why this tool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Amplifying the voices of the silent and ensuring that the city is built for all its inhabitants, dismantling the physical and administrative barriers that exclude the most vulnerable.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Evidence we produce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Specific design adjustments and functional requirements that eliminate barriers for vulnerable populations, formulated directly by those populations.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Duration &amp; Material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Duration  ·  1 half-day tailored session per target group
Material  ·  Highly adapted facilitation tools (audio dramas, tactile models, specialized interpreters)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Reference 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The "Future frequency" framework developed by the Finnish Innovation Fund (SITRA). To create an inclusive co-design environment, participants are brought into the future through different audio dramas (e.g., exploring future democracy or climate impacts), and are then asked to collaboratively discuss how this impacts present-day urban planning . Similarly, the "Ulisse" project demonstrated this by co-designing a digital platform for cultural activities exclusively with, and…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35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0D0D"/>
                </a:solidFill>
                <a:latin typeface="Source Sans Pro"/>
              </a:rPr>
              <a:t>Suggested agenda  ·  </a:t>
            </a:r>
            <a:r>
              <a:rPr sz="1000" b="0" i="0">
                <a:solidFill>
                  <a:srgbClr val="757575"/>
                </a:solidFill>
                <a:latin typeface="Source Sans Pro"/>
              </a:rPr>
              <a:t>Brief (10 min)  ›  Method walk-through (15 min)  ›  Animation canvas (60–90 min)  ›  Harvest (20 min)</a:t>
            </a:r>
          </a:p>
        </p:txBody>
      </p:sp>
      <p:pic>
        <p:nvPicPr>
          <p:cNvPr id="23" name="Picture 22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14  ·  ANIMATION CANVAS  ·  </a:t>
            </a:r>
            <a:r>
              <a:rPr sz="1000" b="1" i="0">
                <a:solidFill>
                  <a:srgbClr val="0D0D0D"/>
                </a:solidFill>
                <a:latin typeface="Source Sans Pro"/>
              </a:rPr>
              <a:t>CO-DESIGN WORKSHOPS FOR INCLUSION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0D0D0D"/>
                </a:solidFill>
                <a:latin typeface="Palatino Linotype"/>
              </a:rPr>
              <a:t>Inclusive co-design · adapted to who is in the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4008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757575"/>
                </a:solidFill>
                <a:latin typeface="Source Sans Pro"/>
              </a:rPr>
              <a:t>Duration</a:t>
            </a:r>
          </a:p>
          <a:p>
            <a:pPr algn="r"/>
            <a:r>
              <a:rPr sz="1000" b="0" i="0">
                <a:solidFill>
                  <a:srgbClr val="0D0D0D"/>
                </a:solidFill>
                <a:latin typeface="Source Sans Pro"/>
              </a:rPr>
              <a:t>1 half-day tailored session per target group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11277600" cy="1097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Target group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1082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757575"/>
                </a:solidFill>
                <a:latin typeface="Palatino Linotype"/>
              </a:rPr>
              <a:t>Who is often left out · what makes their daily life different · what they fear about workshops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697480"/>
            <a:ext cx="2695956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2880360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Audio drama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337560"/>
            <a:ext cx="223875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757575"/>
                </a:solidFill>
                <a:latin typeface="Palatino Linotype"/>
              </a:rPr>
              <a:t>Bring the future as a story
to trigger discussion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114800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069080"/>
            <a:ext cx="20558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Selected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434840"/>
            <a:ext cx="22387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757575"/>
                </a:solidFill>
                <a:latin typeface="Source Sans Pro"/>
              </a:rPr>
              <a:t>What we need: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17748" y="2697480"/>
            <a:ext cx="2695956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46348" y="2880360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EF9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Visual toolkit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6348" y="3337560"/>
            <a:ext cx="223875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757575"/>
                </a:solidFill>
                <a:latin typeface="Palatino Linotype"/>
              </a:rPr>
              <a:t>Replace text with icons,
models, photo prompts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92068" y="4114800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66388" y="4069080"/>
            <a:ext cx="20558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Selected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6348" y="4434840"/>
            <a:ext cx="22387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757575"/>
                </a:solidFill>
                <a:latin typeface="Source Sans Pro"/>
              </a:rPr>
              <a:t>What we need: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8296" y="2697480"/>
            <a:ext cx="2695956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6896" y="2880360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459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Sign language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6896" y="3337560"/>
            <a:ext cx="223875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757575"/>
                </a:solidFill>
                <a:latin typeface="Palatino Linotype"/>
              </a:rPr>
              <a:t>Two interpreters minimum,
paced facilitation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52616" y="4114800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6936" y="4069080"/>
            <a:ext cx="20558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Selected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6896" y="4434840"/>
            <a:ext cx="22387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757575"/>
                </a:solidFill>
                <a:latin typeface="Source Sans Pro"/>
              </a:rPr>
              <a:t>What we need: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38844" y="2697480"/>
            <a:ext cx="2695956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267444" y="2880360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Tactile models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67444" y="3337560"/>
            <a:ext cx="223875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757575"/>
                </a:solidFill>
                <a:latin typeface="Palatino Linotype"/>
              </a:rPr>
              <a:t>Build the place in 3D
so hands can think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13164" y="4114800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87484" y="4069080"/>
            <a:ext cx="20558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Selected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67444" y="4434840"/>
            <a:ext cx="22387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757575"/>
                </a:solidFill>
                <a:latin typeface="Source Sans Pro"/>
              </a:rPr>
              <a:t>What we need: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074920"/>
            <a:ext cx="11277600" cy="1097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51663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0D0D0D"/>
                </a:solidFill>
                <a:latin typeface="Palatino Linotype"/>
              </a:rPr>
              <a:t>Specific requirements integrated into the project brief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31520" y="5532120"/>
            <a:ext cx="1072896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31520" y="5806440"/>
            <a:ext cx="1072896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Picture 36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14  ·  HARVEST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Harvesting our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learnings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757575"/>
                </a:solidFill>
                <a:latin typeface="Palatino Linotype"/>
              </a:rPr>
              <a:t>After running the canvas, capture three layers of insight.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Stand-out signals, surprising stories, ideas to remember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772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72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772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72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72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72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926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26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Concrete adaptations to our context, our team, our constraints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6126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6126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6126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6126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6126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6126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26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280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480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Skills, allies, resources, decisions still to secure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480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4480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4480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4480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4480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4480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4480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35304" y="1801368"/>
            <a:ext cx="2450592" cy="420624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inspires 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32960" y="1801368"/>
            <a:ext cx="2926080" cy="420624"/>
          </a:xfrm>
          <a:prstGeom prst="roundRect">
            <a:avLst>
              <a:gd name="adj" fmla="val 50000"/>
            </a:avLst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How to apply it here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02600" y="1801368"/>
            <a:ext cx="3657600" cy="420624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we need to be autonomous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263640"/>
            <a:ext cx="1127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757575"/>
                </a:solidFill>
                <a:latin typeface="Palatino Linotype"/>
              </a:rPr>
              <a:t>Each participant fills a copy. Then debrief together to surface patterns and next steps.</a:t>
            </a:r>
          </a:p>
        </p:txBody>
      </p:sp>
      <p:pic>
        <p:nvPicPr>
          <p:cNvPr id="37" name="Picture 36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