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Soil &amp; contamination assessment</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detailed Environmental Site Assessment (Phase I &amp; II) identifying pollutant concentrations, historical liabilities, and a costed site remediation plan.</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Soil &amp; contamination assessment</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Healing the wounded earth, acknowledging the industrial scars of the past to safely reclaim forgotten brownfields for future generations without exposing them to invisible harm.</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detailed Environmental Site Assessment (Phase I &amp; II) identifying pollutant concentrations, historical liabilities, and a costed site remediation plan.</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depending on testing requirements
Material  ·  ISO 18400 sampling standards, historical land registries, environmental laboratory services, Phase I/II assessment frameworks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European Commission’s brownfield redevelopment strategies highlight the absolute necessity of identifying contaminated sites and conducting rigorous risk assessments. In European site developments, assessing soil contamination via standard ISO 18400 is a strict prerequisite to prevent human health impacts and safely transition hazardous industrial waste landscapes into vibrant, livable urban areas,,.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107  ·  ANIMATION CANVAS  ·  </a:t>
            </a:r>
            <a:r>
              <a:rPr sz="1000" b="1" i="0">
                <a:solidFill>
                  <a:srgbClr val="0D0D0D"/>
                </a:solidFill>
                <a:latin typeface="Source Sans Pro"/>
              </a:rPr>
              <a:t>SOIL &amp; CONTAMINATION ASSESSMENT</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Soil zones · history × contamination × treatment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 depending on testing requirements</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2164080" cy="38404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83080"/>
            <a:ext cx="2164080" cy="384048"/>
          </a:xfrm>
          <a:prstGeom prst="rect">
            <a:avLst/>
          </a:prstGeom>
          <a:noFill/>
        </p:spPr>
        <p:txBody>
          <a:bodyPr wrap="square" lIns="0" rIns="0" tIns="0" bIns="0" anchor="ctr">
            <a:spAutoFit/>
          </a:bodyPr>
          <a:lstStyle/>
          <a:p>
            <a:pPr algn="ctr"/>
            <a:r>
              <a:rPr sz="1000" b="1" i="0">
                <a:solidFill>
                  <a:srgbClr val="FFD200"/>
                </a:solidFill>
                <a:latin typeface="Source Sans Pro"/>
              </a:rPr>
              <a:t>Zone</a:t>
            </a:r>
          </a:p>
        </p:txBody>
      </p:sp>
      <p:sp>
        <p:nvSpPr>
          <p:cNvPr id="9" name="Rectangle 8"/>
          <p:cNvSpPr/>
          <p:nvPr/>
        </p:nvSpPr>
        <p:spPr>
          <a:xfrm>
            <a:off x="284988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988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Past use</a:t>
            </a:r>
          </a:p>
        </p:txBody>
      </p:sp>
      <p:sp>
        <p:nvSpPr>
          <p:cNvPr id="11" name="Rectangle 10"/>
          <p:cNvSpPr/>
          <p:nvPr/>
        </p:nvSpPr>
        <p:spPr>
          <a:xfrm>
            <a:off x="501396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396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Suspected contaminant</a:t>
            </a:r>
          </a:p>
        </p:txBody>
      </p:sp>
      <p:sp>
        <p:nvSpPr>
          <p:cNvPr id="13" name="Rectangle 12"/>
          <p:cNvSpPr/>
          <p:nvPr/>
        </p:nvSpPr>
        <p:spPr>
          <a:xfrm>
            <a:off x="717804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Sampled?</a:t>
            </a:r>
          </a:p>
        </p:txBody>
      </p:sp>
      <p:sp>
        <p:nvSpPr>
          <p:cNvPr id="15" name="Rectangle 14"/>
          <p:cNvSpPr/>
          <p:nvPr/>
        </p:nvSpPr>
        <p:spPr>
          <a:xfrm>
            <a:off x="934212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4212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Treatment plan</a:t>
            </a:r>
          </a:p>
        </p:txBody>
      </p:sp>
      <p:sp>
        <p:nvSpPr>
          <p:cNvPr id="17" name="Rectangle 16"/>
          <p:cNvSpPr/>
          <p:nvPr/>
        </p:nvSpPr>
        <p:spPr>
          <a:xfrm>
            <a:off x="68580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4988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1396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7804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4212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4988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1396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7804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4212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84988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1396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7804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4212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84988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1396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7804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34212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4988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1396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7804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34212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4988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396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7804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34212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4988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1396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7804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4212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8580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4988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1396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7804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34212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8" name="TextBox 5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