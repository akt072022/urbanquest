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D0D0D"/>
                </a:solidFill>
                <a:latin typeface="Source Sans Pro"/>
              </a:rPr>
              <a:t>OVPM Co-Design Toolkit  ·  Tool 16 of 133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85760" y="5029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1">
                <a:solidFill>
                  <a:srgbClr val="0D0D0D"/>
                </a:solidFill>
                <a:latin typeface="Palatino Linotype"/>
              </a:rPr>
              <a:t>Method canvas for co-design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109472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200" b="0" i="0">
                <a:solidFill>
                  <a:srgbClr val="0D0D0D"/>
                </a:solidFill>
                <a:latin typeface="Palatino Linotype"/>
              </a:rPr>
              <a:t>Impact assessment frameworks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93192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D0D0D"/>
                </a:solidFill>
                <a:latin typeface="Source Sans Pro"/>
              </a:rPr>
              <a:t>What this tool produces  ·  </a:t>
            </a:r>
            <a:r>
              <a:rPr sz="1500" b="0" i="1">
                <a:solidFill>
                  <a:srgbClr val="0D0D0D"/>
                </a:solidFill>
                <a:latin typeface="Palatino Linotype"/>
              </a:rPr>
              <a:t>A structured, data-driven evaluation report detailing the precise feasibility, social, and spatial impacts of the intervention, forming the basis for policy scale-up 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21208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FFFFFF"/>
                </a:solidFill>
                <a:latin typeface="Source Sans Pro"/>
              </a:rPr>
              <a:t>G4 · Proof of Sustainability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6692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D0D0D"/>
                </a:solidFill>
                <a:latin typeface="Source Sans Pro"/>
              </a:rPr>
              <a:t>Dimensions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943600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000">
                <a:solidFill>
                  <a:srgbClr val="0D0D0D"/>
                </a:solidFill>
                <a:latin typeface="Source Sans Pro"/>
              </a:rPr>
              <a:t>Economic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47088" y="5943600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000">
                <a:solidFill>
                  <a:srgbClr val="0D0D0D"/>
                </a:solidFill>
                <a:latin typeface="Source Sans Pro"/>
              </a:rPr>
              <a:t>Regulation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45536" y="5943600"/>
            <a:ext cx="1376172" cy="329184"/>
          </a:xfrm>
          <a:prstGeom prst="roundRect">
            <a:avLst>
              <a:gd name="adj" fmla="val 50000"/>
            </a:avLst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000">
                <a:solidFill>
                  <a:srgbClr val="0D0D0D"/>
                </a:solidFill>
                <a:latin typeface="Source Sans Pro"/>
              </a:rPr>
              <a:t>Environmental</a:t>
            </a:r>
          </a:p>
        </p:txBody>
      </p:sp>
      <p:pic>
        <p:nvPicPr>
          <p:cNvPr id="12" name="Picture 11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1760" y="6024114"/>
            <a:ext cx="1371600" cy="33096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71760" y="63950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Source Sans Pro"/>
              </a:rPr>
              <a:t>TOOL 16  ·  FACILITATOR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0D0D0D"/>
                </a:solidFill>
                <a:latin typeface="Palatino Linotype"/>
              </a:rPr>
              <a:t>Preparing the workshop  ·  </a:t>
            </a:r>
            <a:r>
              <a:rPr sz="2800" b="0" i="1">
                <a:solidFill>
                  <a:srgbClr val="0D0D0D"/>
                </a:solidFill>
                <a:latin typeface="Palatino Linotype"/>
              </a:rPr>
              <a:t>Impact assessment frameworks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0D0D0D"/>
                </a:solidFill>
                <a:latin typeface="Source Sans Pro"/>
              </a:rPr>
              <a:t>G4 · Proof of Sustainability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03120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2267712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4028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Why this tool matters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06040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Grounding political promises in rigorous reality; replacing comfortable assumptions of success with the hard, undeniable truth of measured impact.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60" y="2103120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2267712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224028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Evidence we produce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606040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A structured, data-driven evaluation report detailing the precise feasibility, social, and spatial impacts of the intervention, forming the basis for policy scale-up 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160519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4325111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297679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Duration &amp; Material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663439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Duration  ·  1 to 3 months of data collection and evaluation post-implementation
Material  ·  Standardized assessment matrices, GIS mapping for spatial impact, post-occupancy surveys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80760" y="4160519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4325111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4297679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Reference case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4663439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The FURNISH project utilized a shared assessment framework structured strictly around three impact dimensions: feasibility (fabrication, replicability), social impact (interaction, user perception), and spatial impact (changes in movement, spatial activation). This allowed for a systematic, comparable evaluation of pilot interventions deployed across different European cities , , 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03504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D0D0D"/>
                </a:solidFill>
                <a:latin typeface="Source Sans Pro"/>
              </a:rPr>
              <a:t>Suggested agenda  ·  </a:t>
            </a:r>
            <a:r>
              <a:rPr sz="1000" b="0" i="0">
                <a:solidFill>
                  <a:srgbClr val="757575"/>
                </a:solidFill>
                <a:latin typeface="Source Sans Pro"/>
              </a:rPr>
              <a:t>Brief (10 min)  ›  Method walk-through (15 min)  ›  Animation canvas (60–90 min)  ›  Harvest (20 min)</a:t>
            </a:r>
          </a:p>
        </p:txBody>
      </p:sp>
      <p:pic>
        <p:nvPicPr>
          <p:cNvPr id="23" name="Picture 22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680" y="6214844"/>
            <a:ext cx="960120" cy="23167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774680" y="64665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Source Sans Pro"/>
              </a:rPr>
              <a:t>TOOL 16  ·  ANIMATION CANVAS  ·  </a:t>
            </a:r>
            <a:r>
              <a:rPr sz="1000" b="1" i="0">
                <a:solidFill>
                  <a:srgbClr val="0D0D0D"/>
                </a:solidFill>
                <a:latin typeface="Source Sans Pro"/>
              </a:rPr>
              <a:t>IMPACT ASSESSMENT FRAMEWORKS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0" i="0">
                <a:solidFill>
                  <a:srgbClr val="0D0D0D"/>
                </a:solidFill>
                <a:latin typeface="Palatino Linotype"/>
              </a:rPr>
              <a:t>Impact dimensions × indicators × scoring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640080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1" i="0">
                <a:solidFill>
                  <a:srgbClr val="757575"/>
                </a:solidFill>
                <a:latin typeface="Source Sans Pro"/>
              </a:rPr>
              <a:t>Duration</a:t>
            </a:r>
          </a:p>
          <a:p>
            <a:pPr algn="r"/>
            <a:r>
              <a:rPr sz="1000" b="0" i="0">
                <a:solidFill>
                  <a:srgbClr val="0D0D0D"/>
                </a:solidFill>
                <a:latin typeface="Source Sans Pro"/>
              </a:rPr>
              <a:t>1 to 3 months of data collection and evaluation post-im…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2695956" cy="4754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600200"/>
            <a:ext cx="1828800" cy="329184"/>
          </a:xfrm>
          <a:prstGeom prst="roundRect">
            <a:avLst>
              <a:gd name="adj" fmla="val 50000"/>
            </a:avLst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0D0D0D"/>
                </a:solidFill>
                <a:latin typeface="Source Sans Pro"/>
              </a:rPr>
              <a:t>Social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57400"/>
            <a:ext cx="223875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757575"/>
                </a:solidFill>
                <a:latin typeface="Palatino Linotype"/>
              </a:rPr>
              <a:t>inclusion, equity, well-being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514600"/>
            <a:ext cx="22387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0D0D0D"/>
                </a:solidFill>
                <a:latin typeface="Source Sans Pro"/>
              </a:rPr>
              <a:t>Selected indicators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889504"/>
            <a:ext cx="164592" cy="164592"/>
          </a:xfrm>
          <a:prstGeom prst="rect">
            <a:avLst/>
          </a:prstGeom>
          <a:solidFill>
            <a:srgbClr val="FFFFFF"/>
          </a:solidFill>
          <a:ln w="508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914400.0" y="2999232"/>
            <a:ext cx="2010156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2339340" y="3108960"/>
            <a:ext cx="73152" cy="73152"/>
          </a:xfrm>
          <a:prstGeom prst="ellipse">
            <a:avLst/>
          </a:prstGeom>
          <a:noFill/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449068" y="3108960"/>
            <a:ext cx="73152" cy="73152"/>
          </a:xfrm>
          <a:prstGeom prst="ellipse">
            <a:avLst/>
          </a:prstGeom>
          <a:noFill/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558796" y="3108960"/>
            <a:ext cx="73152" cy="73152"/>
          </a:xfrm>
          <a:prstGeom prst="ellipse">
            <a:avLst/>
          </a:prstGeom>
          <a:noFill/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668524" y="3108960"/>
            <a:ext cx="73152" cy="73152"/>
          </a:xfrm>
          <a:prstGeom prst="ellipse">
            <a:avLst/>
          </a:prstGeom>
          <a:noFill/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778252" y="3108960"/>
            <a:ext cx="73152" cy="73152"/>
          </a:xfrm>
          <a:prstGeom prst="ellipse">
            <a:avLst/>
          </a:prstGeom>
          <a:noFill/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5800" y="3346704"/>
            <a:ext cx="164592" cy="164592"/>
          </a:xfrm>
          <a:prstGeom prst="rect">
            <a:avLst/>
          </a:prstGeom>
          <a:solidFill>
            <a:srgbClr val="FFFFFF"/>
          </a:solidFill>
          <a:ln w="508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914400.0" y="3456432"/>
            <a:ext cx="2010156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2339340" y="3566160"/>
            <a:ext cx="73152" cy="73152"/>
          </a:xfrm>
          <a:prstGeom prst="ellipse">
            <a:avLst/>
          </a:prstGeom>
          <a:noFill/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449068" y="3566160"/>
            <a:ext cx="73152" cy="73152"/>
          </a:xfrm>
          <a:prstGeom prst="ellipse">
            <a:avLst/>
          </a:prstGeom>
          <a:noFill/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558796" y="3566160"/>
            <a:ext cx="73152" cy="73152"/>
          </a:xfrm>
          <a:prstGeom prst="ellipse">
            <a:avLst/>
          </a:prstGeom>
          <a:noFill/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668524" y="3566160"/>
            <a:ext cx="73152" cy="73152"/>
          </a:xfrm>
          <a:prstGeom prst="ellipse">
            <a:avLst/>
          </a:prstGeom>
          <a:noFill/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778252" y="3566160"/>
            <a:ext cx="73152" cy="73152"/>
          </a:xfrm>
          <a:prstGeom prst="ellipse">
            <a:avLst/>
          </a:prstGeom>
          <a:noFill/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5800" y="3803904"/>
            <a:ext cx="164592" cy="164592"/>
          </a:xfrm>
          <a:prstGeom prst="rect">
            <a:avLst/>
          </a:prstGeom>
          <a:solidFill>
            <a:srgbClr val="FFFFFF"/>
          </a:solidFill>
          <a:ln w="508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914400.0" y="3913632"/>
            <a:ext cx="2010156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2339340" y="4023360"/>
            <a:ext cx="73152" cy="73152"/>
          </a:xfrm>
          <a:prstGeom prst="ellipse">
            <a:avLst/>
          </a:prstGeom>
          <a:noFill/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449068" y="4023360"/>
            <a:ext cx="73152" cy="73152"/>
          </a:xfrm>
          <a:prstGeom prst="ellipse">
            <a:avLst/>
          </a:prstGeom>
          <a:noFill/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558796" y="4023360"/>
            <a:ext cx="73152" cy="73152"/>
          </a:xfrm>
          <a:prstGeom prst="ellipse">
            <a:avLst/>
          </a:prstGeom>
          <a:noFill/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668524" y="4023360"/>
            <a:ext cx="73152" cy="73152"/>
          </a:xfrm>
          <a:prstGeom prst="ellipse">
            <a:avLst/>
          </a:prstGeom>
          <a:noFill/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778252" y="4023360"/>
            <a:ext cx="73152" cy="73152"/>
          </a:xfrm>
          <a:prstGeom prst="ellipse">
            <a:avLst/>
          </a:prstGeom>
          <a:noFill/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85800" y="4261104"/>
            <a:ext cx="164592" cy="164592"/>
          </a:xfrm>
          <a:prstGeom prst="rect">
            <a:avLst/>
          </a:prstGeom>
          <a:solidFill>
            <a:srgbClr val="FFFFFF"/>
          </a:solidFill>
          <a:ln w="508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>
            <a:off x="914400.0" y="4370832"/>
            <a:ext cx="2010156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2339340" y="4480560"/>
            <a:ext cx="73152" cy="73152"/>
          </a:xfrm>
          <a:prstGeom prst="ellipse">
            <a:avLst/>
          </a:prstGeom>
          <a:noFill/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449068" y="4480560"/>
            <a:ext cx="73152" cy="73152"/>
          </a:xfrm>
          <a:prstGeom prst="ellipse">
            <a:avLst/>
          </a:prstGeom>
          <a:noFill/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2558796" y="4480560"/>
            <a:ext cx="73152" cy="73152"/>
          </a:xfrm>
          <a:prstGeom prst="ellipse">
            <a:avLst/>
          </a:prstGeom>
          <a:noFill/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2668524" y="4480560"/>
            <a:ext cx="73152" cy="73152"/>
          </a:xfrm>
          <a:prstGeom prst="ellipse">
            <a:avLst/>
          </a:prstGeom>
          <a:noFill/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2778252" y="4480560"/>
            <a:ext cx="73152" cy="73152"/>
          </a:xfrm>
          <a:prstGeom prst="ellipse">
            <a:avLst/>
          </a:prstGeom>
          <a:noFill/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85800" y="5623560"/>
            <a:ext cx="2238756" cy="310896"/>
          </a:xfrm>
          <a:prstGeom prst="roundRect">
            <a:avLst>
              <a:gd name="adj" fmla="val 50000"/>
            </a:avLst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000">
                <a:solidFill>
                  <a:srgbClr val="FFFFFF"/>
                </a:solidFill>
                <a:latin typeface="Source Sans Pro"/>
              </a:rPr>
              <a:t>Total ____ / 20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317748" y="1417320"/>
            <a:ext cx="2695956" cy="4754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3546348" y="1600200"/>
            <a:ext cx="1828800" cy="329184"/>
          </a:xfrm>
          <a:prstGeom prst="roundRect">
            <a:avLst>
              <a:gd name="adj" fmla="val 50000"/>
            </a:avLst>
          </a:prstGeom>
          <a:solidFill>
            <a:srgbClr val="00E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0D0D0D"/>
                </a:solidFill>
                <a:latin typeface="Source Sans Pro"/>
              </a:rPr>
              <a:t>Environmental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46348" y="2057400"/>
            <a:ext cx="223875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757575"/>
                </a:solidFill>
                <a:latin typeface="Palatino Linotype"/>
              </a:rPr>
              <a:t>emissions, biodiversity, water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46348" y="2514600"/>
            <a:ext cx="22387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0D0D0D"/>
                </a:solidFill>
                <a:latin typeface="Source Sans Pro"/>
              </a:rPr>
              <a:t>Selected indicators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546348" y="2889504"/>
            <a:ext cx="164592" cy="164592"/>
          </a:xfrm>
          <a:prstGeom prst="rect">
            <a:avLst/>
          </a:prstGeom>
          <a:solidFill>
            <a:srgbClr val="FFFFFF"/>
          </a:solidFill>
          <a:ln w="508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" name="Connector 43"/>
          <p:cNvCxnSpPr/>
          <p:nvPr/>
        </p:nvCxnSpPr>
        <p:spPr>
          <a:xfrm>
            <a:off x="3774948.0" y="2999232"/>
            <a:ext cx="2010156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Oval 44"/>
          <p:cNvSpPr/>
          <p:nvPr/>
        </p:nvSpPr>
        <p:spPr>
          <a:xfrm>
            <a:off x="5199888" y="3108960"/>
            <a:ext cx="73152" cy="73152"/>
          </a:xfrm>
          <a:prstGeom prst="ellipse">
            <a:avLst/>
          </a:prstGeom>
          <a:noFill/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5309616" y="3108960"/>
            <a:ext cx="73152" cy="73152"/>
          </a:xfrm>
          <a:prstGeom prst="ellipse">
            <a:avLst/>
          </a:prstGeom>
          <a:noFill/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5419344" y="3108960"/>
            <a:ext cx="73152" cy="73152"/>
          </a:xfrm>
          <a:prstGeom prst="ellipse">
            <a:avLst/>
          </a:prstGeom>
          <a:noFill/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5529072" y="3108960"/>
            <a:ext cx="73152" cy="73152"/>
          </a:xfrm>
          <a:prstGeom prst="ellipse">
            <a:avLst/>
          </a:prstGeom>
          <a:noFill/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5638800" y="3108960"/>
            <a:ext cx="73152" cy="73152"/>
          </a:xfrm>
          <a:prstGeom prst="ellipse">
            <a:avLst/>
          </a:prstGeom>
          <a:noFill/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546348" y="3346704"/>
            <a:ext cx="164592" cy="164592"/>
          </a:xfrm>
          <a:prstGeom prst="rect">
            <a:avLst/>
          </a:prstGeom>
          <a:solidFill>
            <a:srgbClr val="FFFFFF"/>
          </a:solidFill>
          <a:ln w="508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" name="Connector 50"/>
          <p:cNvCxnSpPr/>
          <p:nvPr/>
        </p:nvCxnSpPr>
        <p:spPr>
          <a:xfrm>
            <a:off x="3774948.0" y="3456432"/>
            <a:ext cx="2010156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Oval 51"/>
          <p:cNvSpPr/>
          <p:nvPr/>
        </p:nvSpPr>
        <p:spPr>
          <a:xfrm>
            <a:off x="5199888" y="3566160"/>
            <a:ext cx="73152" cy="73152"/>
          </a:xfrm>
          <a:prstGeom prst="ellipse">
            <a:avLst/>
          </a:prstGeom>
          <a:noFill/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5309616" y="3566160"/>
            <a:ext cx="73152" cy="73152"/>
          </a:xfrm>
          <a:prstGeom prst="ellipse">
            <a:avLst/>
          </a:prstGeom>
          <a:noFill/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5419344" y="3566160"/>
            <a:ext cx="73152" cy="73152"/>
          </a:xfrm>
          <a:prstGeom prst="ellipse">
            <a:avLst/>
          </a:prstGeom>
          <a:noFill/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5529072" y="3566160"/>
            <a:ext cx="73152" cy="73152"/>
          </a:xfrm>
          <a:prstGeom prst="ellipse">
            <a:avLst/>
          </a:prstGeom>
          <a:noFill/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5638800" y="3566160"/>
            <a:ext cx="73152" cy="73152"/>
          </a:xfrm>
          <a:prstGeom prst="ellipse">
            <a:avLst/>
          </a:prstGeom>
          <a:noFill/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3546348" y="3803904"/>
            <a:ext cx="164592" cy="164592"/>
          </a:xfrm>
          <a:prstGeom prst="rect">
            <a:avLst/>
          </a:prstGeom>
          <a:solidFill>
            <a:srgbClr val="FFFFFF"/>
          </a:solidFill>
          <a:ln w="508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" name="Connector 57"/>
          <p:cNvCxnSpPr/>
          <p:nvPr/>
        </p:nvCxnSpPr>
        <p:spPr>
          <a:xfrm>
            <a:off x="3774948.0" y="3913632"/>
            <a:ext cx="2010156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Oval 58"/>
          <p:cNvSpPr/>
          <p:nvPr/>
        </p:nvSpPr>
        <p:spPr>
          <a:xfrm>
            <a:off x="5199888" y="4023360"/>
            <a:ext cx="73152" cy="73152"/>
          </a:xfrm>
          <a:prstGeom prst="ellipse">
            <a:avLst/>
          </a:prstGeom>
          <a:noFill/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5309616" y="4023360"/>
            <a:ext cx="73152" cy="73152"/>
          </a:xfrm>
          <a:prstGeom prst="ellipse">
            <a:avLst/>
          </a:prstGeom>
          <a:noFill/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5419344" y="4023360"/>
            <a:ext cx="73152" cy="73152"/>
          </a:xfrm>
          <a:prstGeom prst="ellipse">
            <a:avLst/>
          </a:prstGeom>
          <a:noFill/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5529072" y="4023360"/>
            <a:ext cx="73152" cy="73152"/>
          </a:xfrm>
          <a:prstGeom prst="ellipse">
            <a:avLst/>
          </a:prstGeom>
          <a:noFill/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5638800" y="4023360"/>
            <a:ext cx="73152" cy="73152"/>
          </a:xfrm>
          <a:prstGeom prst="ellipse">
            <a:avLst/>
          </a:prstGeom>
          <a:noFill/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3546348" y="4261104"/>
            <a:ext cx="164592" cy="164592"/>
          </a:xfrm>
          <a:prstGeom prst="rect">
            <a:avLst/>
          </a:prstGeom>
          <a:solidFill>
            <a:srgbClr val="FFFFFF"/>
          </a:solidFill>
          <a:ln w="508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" name="Connector 64"/>
          <p:cNvCxnSpPr/>
          <p:nvPr/>
        </p:nvCxnSpPr>
        <p:spPr>
          <a:xfrm>
            <a:off x="3774948.0" y="4370832"/>
            <a:ext cx="2010156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Oval 65"/>
          <p:cNvSpPr/>
          <p:nvPr/>
        </p:nvSpPr>
        <p:spPr>
          <a:xfrm>
            <a:off x="5199888" y="4480560"/>
            <a:ext cx="73152" cy="73152"/>
          </a:xfrm>
          <a:prstGeom prst="ellipse">
            <a:avLst/>
          </a:prstGeom>
          <a:noFill/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5309616" y="4480560"/>
            <a:ext cx="73152" cy="73152"/>
          </a:xfrm>
          <a:prstGeom prst="ellipse">
            <a:avLst/>
          </a:prstGeom>
          <a:noFill/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5419344" y="4480560"/>
            <a:ext cx="73152" cy="73152"/>
          </a:xfrm>
          <a:prstGeom prst="ellipse">
            <a:avLst/>
          </a:prstGeom>
          <a:noFill/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5529072" y="4480560"/>
            <a:ext cx="73152" cy="73152"/>
          </a:xfrm>
          <a:prstGeom prst="ellipse">
            <a:avLst/>
          </a:prstGeom>
          <a:noFill/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5638800" y="4480560"/>
            <a:ext cx="73152" cy="73152"/>
          </a:xfrm>
          <a:prstGeom prst="ellipse">
            <a:avLst/>
          </a:prstGeom>
          <a:noFill/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3546348" y="5623560"/>
            <a:ext cx="2238756" cy="310896"/>
          </a:xfrm>
          <a:prstGeom prst="roundRect">
            <a:avLst>
              <a:gd name="adj" fmla="val 50000"/>
            </a:avLst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000">
                <a:solidFill>
                  <a:srgbClr val="FFFFFF"/>
                </a:solidFill>
                <a:latin typeface="Source Sans Pro"/>
              </a:rPr>
              <a:t>Total ____ / 20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178296" y="1417320"/>
            <a:ext cx="2695956" cy="4754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6406896" y="1600200"/>
            <a:ext cx="1828800" cy="329184"/>
          </a:xfrm>
          <a:prstGeom prst="roundRect">
            <a:avLst>
              <a:gd name="adj" fmla="val 50000"/>
            </a:avLst>
          </a:prstGeom>
          <a:solidFill>
            <a:srgbClr val="459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0D0D0D"/>
                </a:solidFill>
                <a:latin typeface="Source Sans Pro"/>
              </a:rPr>
              <a:t>Economic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406896" y="2057400"/>
            <a:ext cx="223875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757575"/>
                </a:solidFill>
                <a:latin typeface="Palatino Linotype"/>
              </a:rPr>
              <a:t>jobs, value, resilience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406896" y="2514600"/>
            <a:ext cx="22387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0D0D0D"/>
                </a:solidFill>
                <a:latin typeface="Source Sans Pro"/>
              </a:rPr>
              <a:t>Selected indicators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406896" y="2889504"/>
            <a:ext cx="164592" cy="164592"/>
          </a:xfrm>
          <a:prstGeom prst="rect">
            <a:avLst/>
          </a:prstGeom>
          <a:solidFill>
            <a:srgbClr val="FFFFFF"/>
          </a:solidFill>
          <a:ln w="508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7" name="Connector 76"/>
          <p:cNvCxnSpPr/>
          <p:nvPr/>
        </p:nvCxnSpPr>
        <p:spPr>
          <a:xfrm>
            <a:off x="6635496.0" y="2999232"/>
            <a:ext cx="2010156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Oval 77"/>
          <p:cNvSpPr/>
          <p:nvPr/>
        </p:nvSpPr>
        <p:spPr>
          <a:xfrm>
            <a:off x="8060436" y="3108960"/>
            <a:ext cx="73152" cy="73152"/>
          </a:xfrm>
          <a:prstGeom prst="ellipse">
            <a:avLst/>
          </a:prstGeom>
          <a:noFill/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8170164" y="3108960"/>
            <a:ext cx="73152" cy="73152"/>
          </a:xfrm>
          <a:prstGeom prst="ellipse">
            <a:avLst/>
          </a:prstGeom>
          <a:noFill/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8279892" y="3108960"/>
            <a:ext cx="73152" cy="73152"/>
          </a:xfrm>
          <a:prstGeom prst="ellipse">
            <a:avLst/>
          </a:prstGeom>
          <a:noFill/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8389620" y="3108960"/>
            <a:ext cx="73152" cy="73152"/>
          </a:xfrm>
          <a:prstGeom prst="ellipse">
            <a:avLst/>
          </a:prstGeom>
          <a:noFill/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8499348" y="3108960"/>
            <a:ext cx="73152" cy="73152"/>
          </a:xfrm>
          <a:prstGeom prst="ellipse">
            <a:avLst/>
          </a:prstGeom>
          <a:noFill/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406896" y="3346704"/>
            <a:ext cx="164592" cy="164592"/>
          </a:xfrm>
          <a:prstGeom prst="rect">
            <a:avLst/>
          </a:prstGeom>
          <a:solidFill>
            <a:srgbClr val="FFFFFF"/>
          </a:solidFill>
          <a:ln w="508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4" name="Connector 83"/>
          <p:cNvCxnSpPr/>
          <p:nvPr/>
        </p:nvCxnSpPr>
        <p:spPr>
          <a:xfrm>
            <a:off x="6635496.0" y="3456432"/>
            <a:ext cx="2010156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Oval 84"/>
          <p:cNvSpPr/>
          <p:nvPr/>
        </p:nvSpPr>
        <p:spPr>
          <a:xfrm>
            <a:off x="8060436" y="3566160"/>
            <a:ext cx="73152" cy="73152"/>
          </a:xfrm>
          <a:prstGeom prst="ellipse">
            <a:avLst/>
          </a:prstGeom>
          <a:noFill/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8170164" y="3566160"/>
            <a:ext cx="73152" cy="73152"/>
          </a:xfrm>
          <a:prstGeom prst="ellipse">
            <a:avLst/>
          </a:prstGeom>
          <a:noFill/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8279892" y="3566160"/>
            <a:ext cx="73152" cy="73152"/>
          </a:xfrm>
          <a:prstGeom prst="ellipse">
            <a:avLst/>
          </a:prstGeom>
          <a:noFill/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8389620" y="3566160"/>
            <a:ext cx="73152" cy="73152"/>
          </a:xfrm>
          <a:prstGeom prst="ellipse">
            <a:avLst/>
          </a:prstGeom>
          <a:noFill/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8499348" y="3566160"/>
            <a:ext cx="73152" cy="73152"/>
          </a:xfrm>
          <a:prstGeom prst="ellipse">
            <a:avLst/>
          </a:prstGeom>
          <a:noFill/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6406896" y="3803904"/>
            <a:ext cx="164592" cy="164592"/>
          </a:xfrm>
          <a:prstGeom prst="rect">
            <a:avLst/>
          </a:prstGeom>
          <a:solidFill>
            <a:srgbClr val="FFFFFF"/>
          </a:solidFill>
          <a:ln w="508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1" name="Connector 90"/>
          <p:cNvCxnSpPr/>
          <p:nvPr/>
        </p:nvCxnSpPr>
        <p:spPr>
          <a:xfrm>
            <a:off x="6635496.0" y="3913632"/>
            <a:ext cx="2010156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Oval 91"/>
          <p:cNvSpPr/>
          <p:nvPr/>
        </p:nvSpPr>
        <p:spPr>
          <a:xfrm>
            <a:off x="8060436" y="4023360"/>
            <a:ext cx="73152" cy="73152"/>
          </a:xfrm>
          <a:prstGeom prst="ellipse">
            <a:avLst/>
          </a:prstGeom>
          <a:noFill/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8170164" y="4023360"/>
            <a:ext cx="73152" cy="73152"/>
          </a:xfrm>
          <a:prstGeom prst="ellipse">
            <a:avLst/>
          </a:prstGeom>
          <a:noFill/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8279892" y="4023360"/>
            <a:ext cx="73152" cy="73152"/>
          </a:xfrm>
          <a:prstGeom prst="ellipse">
            <a:avLst/>
          </a:prstGeom>
          <a:noFill/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8389620" y="4023360"/>
            <a:ext cx="73152" cy="73152"/>
          </a:xfrm>
          <a:prstGeom prst="ellipse">
            <a:avLst/>
          </a:prstGeom>
          <a:noFill/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8499348" y="4023360"/>
            <a:ext cx="73152" cy="73152"/>
          </a:xfrm>
          <a:prstGeom prst="ellipse">
            <a:avLst/>
          </a:prstGeom>
          <a:noFill/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6406896" y="4261104"/>
            <a:ext cx="164592" cy="164592"/>
          </a:xfrm>
          <a:prstGeom prst="rect">
            <a:avLst/>
          </a:prstGeom>
          <a:solidFill>
            <a:srgbClr val="FFFFFF"/>
          </a:solidFill>
          <a:ln w="508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8" name="Connector 97"/>
          <p:cNvCxnSpPr/>
          <p:nvPr/>
        </p:nvCxnSpPr>
        <p:spPr>
          <a:xfrm>
            <a:off x="6635496.0" y="4370832"/>
            <a:ext cx="2010156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Oval 98"/>
          <p:cNvSpPr/>
          <p:nvPr/>
        </p:nvSpPr>
        <p:spPr>
          <a:xfrm>
            <a:off x="8060436" y="4480560"/>
            <a:ext cx="73152" cy="73152"/>
          </a:xfrm>
          <a:prstGeom prst="ellipse">
            <a:avLst/>
          </a:prstGeom>
          <a:noFill/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8170164" y="4480560"/>
            <a:ext cx="73152" cy="73152"/>
          </a:xfrm>
          <a:prstGeom prst="ellipse">
            <a:avLst/>
          </a:prstGeom>
          <a:noFill/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8279892" y="4480560"/>
            <a:ext cx="73152" cy="73152"/>
          </a:xfrm>
          <a:prstGeom prst="ellipse">
            <a:avLst/>
          </a:prstGeom>
          <a:noFill/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8389620" y="4480560"/>
            <a:ext cx="73152" cy="73152"/>
          </a:xfrm>
          <a:prstGeom prst="ellipse">
            <a:avLst/>
          </a:prstGeom>
          <a:noFill/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8499348" y="4480560"/>
            <a:ext cx="73152" cy="73152"/>
          </a:xfrm>
          <a:prstGeom prst="ellipse">
            <a:avLst/>
          </a:prstGeom>
          <a:noFill/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ounded Rectangle 103"/>
          <p:cNvSpPr/>
          <p:nvPr/>
        </p:nvSpPr>
        <p:spPr>
          <a:xfrm>
            <a:off x="6406896" y="5623560"/>
            <a:ext cx="2238756" cy="310896"/>
          </a:xfrm>
          <a:prstGeom prst="roundRect">
            <a:avLst>
              <a:gd name="adj" fmla="val 50000"/>
            </a:avLst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000">
                <a:solidFill>
                  <a:srgbClr val="FFFFFF"/>
                </a:solidFill>
                <a:latin typeface="Source Sans Pro"/>
              </a:rPr>
              <a:t>Total ____ / 20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9038844" y="1417320"/>
            <a:ext cx="2695956" cy="4754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ounded Rectangle 105"/>
          <p:cNvSpPr/>
          <p:nvPr/>
        </p:nvSpPr>
        <p:spPr>
          <a:xfrm>
            <a:off x="9267444" y="1600200"/>
            <a:ext cx="1828800" cy="329184"/>
          </a:xfrm>
          <a:prstGeom prst="roundRect">
            <a:avLst>
              <a:gd name="adj" fmla="val 50000"/>
            </a:avLst>
          </a:prstGeom>
          <a:solidFill>
            <a:srgbClr val="EF9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0D0D0D"/>
                </a:solidFill>
                <a:latin typeface="Source Sans Pro"/>
              </a:rPr>
              <a:t>Cultural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267444" y="2057400"/>
            <a:ext cx="223875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757575"/>
                </a:solidFill>
                <a:latin typeface="Palatino Linotype"/>
              </a:rPr>
              <a:t>identity, heritage, narrative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9267444" y="2514600"/>
            <a:ext cx="22387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0D0D0D"/>
                </a:solidFill>
                <a:latin typeface="Source Sans Pro"/>
              </a:rPr>
              <a:t>Selected indicators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9267444" y="2889504"/>
            <a:ext cx="164592" cy="164592"/>
          </a:xfrm>
          <a:prstGeom prst="rect">
            <a:avLst/>
          </a:prstGeom>
          <a:solidFill>
            <a:srgbClr val="FFFFFF"/>
          </a:solidFill>
          <a:ln w="508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0" name="Connector 109"/>
          <p:cNvCxnSpPr/>
          <p:nvPr/>
        </p:nvCxnSpPr>
        <p:spPr>
          <a:xfrm>
            <a:off x="9496044.0" y="2999232"/>
            <a:ext cx="2010156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Oval 110"/>
          <p:cNvSpPr/>
          <p:nvPr/>
        </p:nvSpPr>
        <p:spPr>
          <a:xfrm>
            <a:off x="10920984" y="3108960"/>
            <a:ext cx="73152" cy="73152"/>
          </a:xfrm>
          <a:prstGeom prst="ellipse">
            <a:avLst/>
          </a:prstGeom>
          <a:noFill/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11030712" y="3108960"/>
            <a:ext cx="73152" cy="73152"/>
          </a:xfrm>
          <a:prstGeom prst="ellipse">
            <a:avLst/>
          </a:prstGeom>
          <a:noFill/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11140440" y="3108960"/>
            <a:ext cx="73152" cy="73152"/>
          </a:xfrm>
          <a:prstGeom prst="ellipse">
            <a:avLst/>
          </a:prstGeom>
          <a:noFill/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11250168" y="3108960"/>
            <a:ext cx="73152" cy="73152"/>
          </a:xfrm>
          <a:prstGeom prst="ellipse">
            <a:avLst/>
          </a:prstGeom>
          <a:noFill/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11359896" y="3108960"/>
            <a:ext cx="73152" cy="73152"/>
          </a:xfrm>
          <a:prstGeom prst="ellipse">
            <a:avLst/>
          </a:prstGeom>
          <a:noFill/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9267444" y="3346704"/>
            <a:ext cx="164592" cy="164592"/>
          </a:xfrm>
          <a:prstGeom prst="rect">
            <a:avLst/>
          </a:prstGeom>
          <a:solidFill>
            <a:srgbClr val="FFFFFF"/>
          </a:solidFill>
          <a:ln w="508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7" name="Connector 116"/>
          <p:cNvCxnSpPr/>
          <p:nvPr/>
        </p:nvCxnSpPr>
        <p:spPr>
          <a:xfrm>
            <a:off x="9496044.0" y="3456432"/>
            <a:ext cx="2010156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Oval 117"/>
          <p:cNvSpPr/>
          <p:nvPr/>
        </p:nvSpPr>
        <p:spPr>
          <a:xfrm>
            <a:off x="10920984" y="3566160"/>
            <a:ext cx="73152" cy="73152"/>
          </a:xfrm>
          <a:prstGeom prst="ellipse">
            <a:avLst/>
          </a:prstGeom>
          <a:noFill/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11030712" y="3566160"/>
            <a:ext cx="73152" cy="73152"/>
          </a:xfrm>
          <a:prstGeom prst="ellipse">
            <a:avLst/>
          </a:prstGeom>
          <a:noFill/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11140440" y="3566160"/>
            <a:ext cx="73152" cy="73152"/>
          </a:xfrm>
          <a:prstGeom prst="ellipse">
            <a:avLst/>
          </a:prstGeom>
          <a:noFill/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11250168" y="3566160"/>
            <a:ext cx="73152" cy="73152"/>
          </a:xfrm>
          <a:prstGeom prst="ellipse">
            <a:avLst/>
          </a:prstGeom>
          <a:noFill/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11359896" y="3566160"/>
            <a:ext cx="73152" cy="73152"/>
          </a:xfrm>
          <a:prstGeom prst="ellipse">
            <a:avLst/>
          </a:prstGeom>
          <a:noFill/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9267444" y="3803904"/>
            <a:ext cx="164592" cy="164592"/>
          </a:xfrm>
          <a:prstGeom prst="rect">
            <a:avLst/>
          </a:prstGeom>
          <a:solidFill>
            <a:srgbClr val="FFFFFF"/>
          </a:solidFill>
          <a:ln w="508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4" name="Connector 123"/>
          <p:cNvCxnSpPr/>
          <p:nvPr/>
        </p:nvCxnSpPr>
        <p:spPr>
          <a:xfrm>
            <a:off x="9496044.0" y="3913632"/>
            <a:ext cx="2010156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Oval 124"/>
          <p:cNvSpPr/>
          <p:nvPr/>
        </p:nvSpPr>
        <p:spPr>
          <a:xfrm>
            <a:off x="10920984" y="4023360"/>
            <a:ext cx="73152" cy="73152"/>
          </a:xfrm>
          <a:prstGeom prst="ellipse">
            <a:avLst/>
          </a:prstGeom>
          <a:noFill/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11030712" y="4023360"/>
            <a:ext cx="73152" cy="73152"/>
          </a:xfrm>
          <a:prstGeom prst="ellipse">
            <a:avLst/>
          </a:prstGeom>
          <a:noFill/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11140440" y="4023360"/>
            <a:ext cx="73152" cy="73152"/>
          </a:xfrm>
          <a:prstGeom prst="ellipse">
            <a:avLst/>
          </a:prstGeom>
          <a:noFill/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11250168" y="4023360"/>
            <a:ext cx="73152" cy="73152"/>
          </a:xfrm>
          <a:prstGeom prst="ellipse">
            <a:avLst/>
          </a:prstGeom>
          <a:noFill/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11359896" y="4023360"/>
            <a:ext cx="73152" cy="73152"/>
          </a:xfrm>
          <a:prstGeom prst="ellipse">
            <a:avLst/>
          </a:prstGeom>
          <a:noFill/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9267444" y="4261104"/>
            <a:ext cx="164592" cy="164592"/>
          </a:xfrm>
          <a:prstGeom prst="rect">
            <a:avLst/>
          </a:prstGeom>
          <a:solidFill>
            <a:srgbClr val="FFFFFF"/>
          </a:solidFill>
          <a:ln w="508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1" name="Connector 130"/>
          <p:cNvCxnSpPr/>
          <p:nvPr/>
        </p:nvCxnSpPr>
        <p:spPr>
          <a:xfrm>
            <a:off x="9496044.0" y="4370832"/>
            <a:ext cx="2010156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Oval 131"/>
          <p:cNvSpPr/>
          <p:nvPr/>
        </p:nvSpPr>
        <p:spPr>
          <a:xfrm>
            <a:off x="10920984" y="4480560"/>
            <a:ext cx="73152" cy="73152"/>
          </a:xfrm>
          <a:prstGeom prst="ellipse">
            <a:avLst/>
          </a:prstGeom>
          <a:noFill/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11030712" y="4480560"/>
            <a:ext cx="73152" cy="73152"/>
          </a:xfrm>
          <a:prstGeom prst="ellipse">
            <a:avLst/>
          </a:prstGeom>
          <a:noFill/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11140440" y="4480560"/>
            <a:ext cx="73152" cy="73152"/>
          </a:xfrm>
          <a:prstGeom prst="ellipse">
            <a:avLst/>
          </a:prstGeom>
          <a:noFill/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11250168" y="4480560"/>
            <a:ext cx="73152" cy="73152"/>
          </a:xfrm>
          <a:prstGeom prst="ellipse">
            <a:avLst/>
          </a:prstGeom>
          <a:noFill/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11359896" y="4480560"/>
            <a:ext cx="73152" cy="73152"/>
          </a:xfrm>
          <a:prstGeom prst="ellipse">
            <a:avLst/>
          </a:prstGeom>
          <a:noFill/>
          <a:ln w="508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ounded Rectangle 136"/>
          <p:cNvSpPr/>
          <p:nvPr/>
        </p:nvSpPr>
        <p:spPr>
          <a:xfrm>
            <a:off x="9267444" y="5623560"/>
            <a:ext cx="2238756" cy="310896"/>
          </a:xfrm>
          <a:prstGeom prst="roundRect">
            <a:avLst>
              <a:gd name="adj" fmla="val 50000"/>
            </a:avLst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000">
                <a:solidFill>
                  <a:srgbClr val="FFFFFF"/>
                </a:solidFill>
                <a:latin typeface="Source Sans Pro"/>
              </a:rPr>
              <a:t>Total ____ / 20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57200" y="6263640"/>
            <a:ext cx="1127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757575"/>
                </a:solidFill>
                <a:latin typeface="Palatino Linotype"/>
              </a:rPr>
              <a:t>Score each indicator 1·5 then sum. Use the radar to compare scenarios.</a:t>
            </a:r>
          </a:p>
        </p:txBody>
      </p:sp>
      <p:pic>
        <p:nvPicPr>
          <p:cNvPr id="139" name="Picture 138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680" y="6214844"/>
            <a:ext cx="960120" cy="231676"/>
          </a:xfrm>
          <a:prstGeom prst="rect">
            <a:avLst/>
          </a:prstGeom>
        </p:spPr>
      </p:pic>
      <p:sp>
        <p:nvSpPr>
          <p:cNvPr id="140" name="TextBox 139"/>
          <p:cNvSpPr txBox="1"/>
          <p:nvPr/>
        </p:nvSpPr>
        <p:spPr>
          <a:xfrm>
            <a:off x="10774680" y="64665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Source Sans Pro"/>
              </a:rPr>
              <a:t>TOOL 16  ·  HARVEST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0D0D0D"/>
                </a:solidFill>
                <a:latin typeface="Palatino Linotype"/>
              </a:rPr>
              <a:t>Harvesting our  </a:t>
            </a:r>
            <a:r>
              <a:rPr sz="2800" b="0" i="1">
                <a:solidFill>
                  <a:srgbClr val="0D0D0D"/>
                </a:solidFill>
                <a:latin typeface="Palatino Linotype"/>
              </a:rPr>
              <a:t>learnings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757575"/>
                </a:solidFill>
                <a:latin typeface="Palatino Linotype"/>
              </a:rPr>
              <a:t>After running the canvas, capture three layers of insight.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011680"/>
            <a:ext cx="3606800" cy="40233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514600"/>
            <a:ext cx="2966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Palatino Linotype"/>
              </a:rPr>
              <a:t>Stand-out signals, surprising stories, ideas to remember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.0" y="315468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77240.0" y="353872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77240.0" y="3922776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77240.0" y="4306824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77240.0" y="4690872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7240.0" y="507492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7240.0" y="545896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292600" y="2011680"/>
            <a:ext cx="3606800" cy="40233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2640" y="2514600"/>
            <a:ext cx="2966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Palatino Linotype"/>
              </a:rPr>
              <a:t>Concrete adaptations to our context, our team, our constraints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612640.0" y="315468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612640.0" y="353872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612640.0" y="3922776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612640.0" y="4306824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612640.0" y="4690872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612640.0" y="507492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612640.0" y="545896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128000" y="2011680"/>
            <a:ext cx="3606800" cy="40233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48040" y="2514600"/>
            <a:ext cx="2966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Palatino Linotype"/>
              </a:rPr>
              <a:t>Skills, allies, resources, decisions still to secure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448040.0" y="315468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448040.0" y="353872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448040.0" y="3922776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448040.0" y="4306824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448040.0" y="4690872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448040.0" y="507492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448040.0" y="545896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1035304" y="1801368"/>
            <a:ext cx="2450592" cy="420624"/>
          </a:xfrm>
          <a:prstGeom prst="roundRect">
            <a:avLst>
              <a:gd name="adj" fmla="val 50000"/>
            </a:avLst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200">
                <a:solidFill>
                  <a:srgbClr val="0D0D0D"/>
                </a:solidFill>
                <a:latin typeface="Source Sans Pro"/>
              </a:rPr>
              <a:t>What inspires me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632960" y="1801368"/>
            <a:ext cx="2926080" cy="420624"/>
          </a:xfrm>
          <a:prstGeom prst="roundRect">
            <a:avLst>
              <a:gd name="adj" fmla="val 50000"/>
            </a:avLst>
          </a:prstGeom>
          <a:solidFill>
            <a:srgbClr val="FF6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200">
                <a:solidFill>
                  <a:srgbClr val="0D0D0D"/>
                </a:solidFill>
                <a:latin typeface="Source Sans Pro"/>
              </a:rPr>
              <a:t>How to apply it here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02600" y="1801368"/>
            <a:ext cx="3657600" cy="420624"/>
          </a:xfrm>
          <a:prstGeom prst="roundRect">
            <a:avLst>
              <a:gd name="adj" fmla="val 50000"/>
            </a:avLst>
          </a:prstGeom>
          <a:solidFill>
            <a:srgbClr val="00E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200">
                <a:solidFill>
                  <a:srgbClr val="0D0D0D"/>
                </a:solidFill>
                <a:latin typeface="Source Sans Pro"/>
              </a:rPr>
              <a:t>What we need to be autonomous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263640"/>
            <a:ext cx="1127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757575"/>
                </a:solidFill>
                <a:latin typeface="Palatino Linotype"/>
              </a:rPr>
              <a:t>Each participant fills a copy. Then debrief together to surface patterns and next steps.</a:t>
            </a:r>
          </a:p>
        </p:txBody>
      </p:sp>
      <p:pic>
        <p:nvPicPr>
          <p:cNvPr id="37" name="Picture 36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680" y="6214844"/>
            <a:ext cx="960120" cy="231676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0774680" y="64665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