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83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0" i="0">
                <a:solidFill>
                  <a:srgbClr val="0D0D0D"/>
                </a:solidFill>
                <a:latin typeface="Palatino Linotype"/>
              </a:rPr>
              <a:t>Economic network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segmented territorial map visualizing industries, local businesses, anchor institutions, and the networking spaces that connect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83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Economic network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Revealing the hidden web of human relationships, shared spaces, and tacit knowledge that truly powers a local economy, far beyond mere corporate balance sheets.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segmented territorial map visualizing industries, local businesses, anchor institutions, and the networking spaces that connect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4 to 6 weeks
Material  ·  Geographic Information Systems (GIS), local business registries, spatial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World Bank notes that mapping "networking assets" and economic drivers is essential in assessing urban tech environments. By plotting incubators, universities, and commercial spaces on a territorial map, planners can identify missing linkages and physical barriers, ensuring that investments target community-building hubs rather than disconnected geographic parks.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83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ECONOMIC NETWORK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Sectors × suppliers × clients × spillovers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4 to 6 weeks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776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D0D0D"/>
                </a:solidFill>
                <a:latin typeface="Palatino Linotype"/>
              </a:rPr>
              <a:t>Cluster diagram</a:t>
            </a:r>
          </a:p>
        </p:txBody>
      </p:sp>
      <p:sp>
        <p:nvSpPr>
          <p:cNvPr id="8" name="Oval 7"/>
          <p:cNvSpPr/>
          <p:nvPr/>
        </p:nvSpPr>
        <p:spPr>
          <a:xfrm>
            <a:off x="5455920" y="3429000"/>
            <a:ext cx="1280160" cy="731520"/>
          </a:xfrm>
          <a:prstGeom prst="ellipse">
            <a:avLst/>
          </a:prstGeom>
          <a:solidFill>
            <a:srgbClr val="FFD200"/>
          </a:solidFill>
          <a:ln w="889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55920" y="342900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D0D0D"/>
                </a:solidFill>
                <a:latin typeface="Palatino Linotype"/>
              </a:rPr>
              <a:t>Anchor sector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6096000.0" y="2331720"/>
            <a:ext cx="0.0" cy="1463040.0"/>
          </a:xfrm>
          <a:prstGeom prst="line">
            <a:avLst/>
          </a:prstGeom>
          <a:ln w="762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547360" y="2057400"/>
            <a:ext cx="1097280" cy="548640"/>
          </a:xfrm>
          <a:prstGeom prst="ellipse">
            <a:avLst/>
          </a:prstGeom>
          <a:solidFill>
            <a:srgbClr val="FF674D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47360" y="20574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Suppliers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096000.0" y="3063240"/>
            <a:ext cx="1742165.0" cy="731520.0"/>
          </a:xfrm>
          <a:prstGeom prst="line">
            <a:avLst/>
          </a:prstGeom>
          <a:ln w="762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289525" y="2788920"/>
            <a:ext cx="1097280" cy="548640"/>
          </a:xfrm>
          <a:prstGeom prst="ellipse">
            <a:avLst/>
          </a:prstGeom>
          <a:solidFill>
            <a:srgbClr val="459ACB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9525" y="278892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Logistics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0.0" y="3794760.0"/>
            <a:ext cx="1742165.0" cy="731520.0"/>
          </a:xfrm>
          <a:prstGeom prst="line">
            <a:avLst/>
          </a:prstGeom>
          <a:ln w="762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289525" y="4251960"/>
            <a:ext cx="1097280" cy="548640"/>
          </a:xfrm>
          <a:prstGeom prst="ellipse">
            <a:avLst/>
          </a:prstGeom>
          <a:solidFill>
            <a:srgbClr val="00ED93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9525" y="425196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Clients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.0" y="3794760.0"/>
            <a:ext cx="0.0" cy="1463040.0"/>
          </a:xfrm>
          <a:prstGeom prst="line">
            <a:avLst/>
          </a:prstGeom>
          <a:ln w="762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547360" y="4983480"/>
            <a:ext cx="1097280" cy="548640"/>
          </a:xfrm>
          <a:prstGeom prst="ellipse">
            <a:avLst/>
          </a:prstGeom>
          <a:solidFill>
            <a:srgbClr val="EF98D6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47360" y="49834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R&amp;D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353834" y="3794760.0"/>
            <a:ext cx="1742166.0" cy="731520.0"/>
          </a:xfrm>
          <a:prstGeom prst="line">
            <a:avLst/>
          </a:prstGeom>
          <a:ln w="762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805194" y="4251960"/>
            <a:ext cx="1097280" cy="548640"/>
          </a:xfrm>
          <a:prstGeom prst="ellipse">
            <a:avLst/>
          </a:prstGeom>
          <a:solidFill>
            <a:srgbClr val="C48B4F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05194" y="425196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Skills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4353834" y="3063240"/>
            <a:ext cx="1742166.0" cy="731520.0"/>
          </a:xfrm>
          <a:prstGeom prst="line">
            <a:avLst/>
          </a:prstGeom>
          <a:ln w="762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805194" y="2788920"/>
            <a:ext cx="1097280" cy="548640"/>
          </a:xfrm>
          <a:prstGeom prst="ellipse">
            <a:avLst/>
          </a:prstGeom>
          <a:solidFill>
            <a:srgbClr val="3360FF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05194" y="278892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Finance</a:t>
            </a:r>
          </a:p>
        </p:txBody>
      </p:sp>
      <p:pic>
        <p:nvPicPr>
          <p:cNvPr id="28" name="Picture 27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83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