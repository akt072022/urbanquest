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04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Aperitours (Walkshops / Exploratory Walks)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Direct, in-situ evaluation of the physical environment, immediate adjustments to proposed design interventions, and strengthened trust between technical staff and locals.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04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Aperitours (Walkshops / Exploratory Walks)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Abolishing the hierarchy between the planner and the inhabitant by walking the same ground, turning a rigid administrative procedure into a candid conversation among neighbors.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Direct, in-situ evaluation of the physical environment, immediate adjustments to proposed design interventions, and strengthened trust between technical staff and locals.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2 to 3 hours, ideally late afternoon
Material  ·  Printed route maps, clipboards, sketchpads, pencils, refreshments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City of Luxembourg runs "Apéri'tours", where the Mayor, Aldermen, and technical departments tour districts alongside residents. They combine walking, urban sketching, and small-group priority workshops to capture the essence of their neighborhoods and collaboratively identify details that require intervention.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04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APERITOURS (WALKSHOPS / EXPLORATORY WALKS)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Walking route · 4 stops, 1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2 to 3 hours, ideally late afternoon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The route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11680"/>
            <a:ext cx="10363200" cy="0"/>
          </a:xfrm>
          <a:prstGeom prst="line">
            <a:avLst/>
          </a:prstGeom>
          <a:ln w="15240">
            <a:solidFill>
              <a:srgbClr val="0D0D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13232" y="1810512"/>
            <a:ext cx="402336" cy="402336"/>
          </a:xfrm>
          <a:prstGeom prst="ellipse">
            <a:avLst/>
          </a:prstGeom>
          <a:solidFill>
            <a:srgbClr val="FFD200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1051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Palatino Linotyp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Start</a:t>
            </a:r>
          </a:p>
        </p:txBody>
      </p:sp>
      <p:sp>
        <p:nvSpPr>
          <p:cNvPr id="11" name="Oval 10"/>
          <p:cNvSpPr/>
          <p:nvPr/>
        </p:nvSpPr>
        <p:spPr>
          <a:xfrm>
            <a:off x="4167632" y="1810512"/>
            <a:ext cx="402336" cy="402336"/>
          </a:xfrm>
          <a:prstGeom prst="ellipse">
            <a:avLst/>
          </a:prstGeom>
          <a:solidFill>
            <a:srgbClr val="FFD200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7632" y="181051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Palatino Linotyp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0160" y="2286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Stop 1</a:t>
            </a:r>
          </a:p>
        </p:txBody>
      </p:sp>
      <p:sp>
        <p:nvSpPr>
          <p:cNvPr id="14" name="Oval 13"/>
          <p:cNvSpPr/>
          <p:nvPr/>
        </p:nvSpPr>
        <p:spPr>
          <a:xfrm>
            <a:off x="7622032" y="1810512"/>
            <a:ext cx="402336" cy="402336"/>
          </a:xfrm>
          <a:prstGeom prst="ellipse">
            <a:avLst/>
          </a:prstGeom>
          <a:solidFill>
            <a:srgbClr val="FFD200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2032" y="181051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Palatino Linotyp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4560" y="2286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Stop 2</a:t>
            </a:r>
          </a:p>
        </p:txBody>
      </p:sp>
      <p:sp>
        <p:nvSpPr>
          <p:cNvPr id="17" name="Oval 16"/>
          <p:cNvSpPr/>
          <p:nvPr/>
        </p:nvSpPr>
        <p:spPr>
          <a:xfrm>
            <a:off x="11076432" y="1810512"/>
            <a:ext cx="402336" cy="402336"/>
          </a:xfrm>
          <a:prstGeom prst="ellipse">
            <a:avLst/>
          </a:prstGeom>
          <a:solidFill>
            <a:srgbClr val="FFD200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76432" y="181051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Palatino Linotyp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960" y="2286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651760"/>
            <a:ext cx="2695956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2834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Stop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4612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Place 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611880"/>
            <a:ext cx="2238756" cy="137160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14800"/>
            <a:ext cx="22387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urban sketch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2064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ED93"/>
                </a:solidFill>
                <a:latin typeface="Source Sans Pro"/>
              </a:rPr>
              <a:t>+ what 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48640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674D"/>
                </a:solidFill>
                <a:latin typeface="Source Sans Pro"/>
              </a:rPr>
              <a:t>−  what fails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17748" y="2651760"/>
            <a:ext cx="2695956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46348" y="2834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Stop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6348" y="324612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Place name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46348" y="3611880"/>
            <a:ext cx="2238756" cy="137160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6348" y="4114800"/>
            <a:ext cx="22387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urban sketch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6348" y="512064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ED93"/>
                </a:solidFill>
                <a:latin typeface="Source Sans Pro"/>
              </a:rPr>
              <a:t>+ what works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6348" y="548640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674D"/>
                </a:solidFill>
                <a:latin typeface="Source Sans Pro"/>
              </a:rPr>
              <a:t>−  what fails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8296" y="2651760"/>
            <a:ext cx="2695956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6896" y="2834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Stop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6896" y="324612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Place name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6896" y="3611880"/>
            <a:ext cx="2238756" cy="137160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6896" y="4114800"/>
            <a:ext cx="22387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urban sketch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6896" y="512064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ED93"/>
                </a:solidFill>
                <a:latin typeface="Source Sans Pro"/>
              </a:rPr>
              <a:t>+ what works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6896" y="548640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674D"/>
                </a:solidFill>
                <a:latin typeface="Source Sans Pro"/>
              </a:rPr>
              <a:t>−  what fails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38844" y="2651760"/>
            <a:ext cx="2695956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67444" y="2834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Stop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7444" y="324612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Place name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67444" y="3611880"/>
            <a:ext cx="2238756" cy="137160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7444" y="4114800"/>
            <a:ext cx="22387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urban sketch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67444" y="512064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ED93"/>
                </a:solidFill>
                <a:latin typeface="Source Sans Pro"/>
              </a:rPr>
              <a:t>+ what works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7444" y="548640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674D"/>
                </a:solidFill>
                <a:latin typeface="Source Sans Pro"/>
              </a:rPr>
              <a:t>−  what fails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893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Mission: Prioritize!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17520" y="6035040"/>
            <a:ext cx="871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Each participant gets 3 stickers · vote on the most urgent intervention seen along the route.</a:t>
            </a:r>
          </a:p>
        </p:txBody>
      </p:sp>
      <p:pic>
        <p:nvPicPr>
          <p:cNvPr id="50" name="Picture 49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04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