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79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0" i="0">
                <a:solidFill>
                  <a:srgbClr val="0D0D0D"/>
                </a:solidFill>
                <a:latin typeface="Palatino Linotype"/>
              </a:rPr>
              <a:t>Integrated Territorial Investment (ITI) / CLLD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formally approved integrated territorial strategy document that combines funding from various operational programs (ERDF, ESF) governed by a dedicated local steering committee.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G3 · Proof of Anchoring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G4 · Proof of Sustainability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Regulation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47088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Economic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45536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Spatial</a:t>
            </a:r>
          </a:p>
        </p:txBody>
      </p:sp>
      <p:pic>
        <p:nvPicPr>
          <p:cNvPr id="13" name="Picture 1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79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Integrated Territorial Investment (ITI) / CLLD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G3 · Proof of Anchoring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Breaking down rigid institutional silos to weave together fragmented funding streams, empowering local actors to stitch their own cohesive urban fabric from the bottom 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formally approved integrated territorial strategy document that combines funding from various operational programs (ERDF, ESF) governed by a dedicated local steering committee.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6 to 12 months for strategy drafting and funding approval
Material  ·  European Structural Investment Funds (ESIF) guidelines, regional data, partnership agreements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Through Cohesion Policy, the European Regional Development Fund (ERDF) specifically promotes Integrated Territorial Investments (ITI) to foster sustainable urban development. By channeling funds into a localized, integrated plan rather than isolated sectoral projects, cities can concurrently address physical infrastructure, social inclusion, and low-carbon transitions under one unified governance model.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79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INTEGRATED TERRITORIAL INVESTMENT (ITI) / CLLD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Integrated Territorial Investment · CLLD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6 to 12 months for strategy drafting and funding approv…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411480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0D0D0D"/>
                </a:solidFill>
                <a:latin typeface="Palatino Linotype"/>
              </a:rPr>
              <a:t>Territory 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Functional area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2423160"/>
            <a:ext cx="374904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0080" y="2587752"/>
            <a:ext cx="374904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2834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Population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3200400"/>
            <a:ext cx="374904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" y="3364992"/>
            <a:ext cx="374904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61188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Boundaries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3977640"/>
            <a:ext cx="374904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40080" y="4142232"/>
            <a:ext cx="374904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438912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Stakeholder mix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4754880"/>
            <a:ext cx="374904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0080" y="4919472"/>
            <a:ext cx="374904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516636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Strategic focus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5532120"/>
            <a:ext cx="374904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0080" y="5696712"/>
            <a:ext cx="374904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800600" y="1417320"/>
            <a:ext cx="693420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3480" y="1554480"/>
            <a:ext cx="656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0D0D0D"/>
                </a:solidFill>
                <a:latin typeface="Palatino Linotype"/>
              </a:rPr>
              <a:t>Funding mix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112264"/>
            <a:ext cx="201168" cy="201168"/>
          </a:xfrm>
          <a:prstGeom prst="rect">
            <a:avLst/>
          </a:prstGeom>
          <a:solidFill>
            <a:srgbClr val="FFD200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0" y="205740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ERDF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26680" y="2148840"/>
            <a:ext cx="3733800" cy="164592"/>
          </a:xfrm>
          <a:prstGeom prst="rect">
            <a:avLst/>
          </a:prstGeom>
          <a:solidFill>
            <a:srgbClr val="EEECE6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26680" y="2148840"/>
            <a:ext cx="1493520" cy="164592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83480" y="2752344"/>
            <a:ext cx="201168" cy="201168"/>
          </a:xfrm>
          <a:prstGeom prst="rect">
            <a:avLst/>
          </a:prstGeom>
          <a:solidFill>
            <a:srgbClr val="459ACB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0" y="269748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ESF+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26680" y="2788920"/>
            <a:ext cx="3733800" cy="164592"/>
          </a:xfrm>
          <a:prstGeom prst="rect">
            <a:avLst/>
          </a:prstGeom>
          <a:solidFill>
            <a:srgbClr val="EEECE6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26680" y="2788920"/>
            <a:ext cx="1792224" cy="164592"/>
          </a:xfrm>
          <a:prstGeom prst="rect">
            <a:avLst/>
          </a:prstGeom>
          <a:solidFill>
            <a:srgbClr val="459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983480" y="3392424"/>
            <a:ext cx="201168" cy="201168"/>
          </a:xfrm>
          <a:prstGeom prst="rect">
            <a:avLst/>
          </a:prstGeom>
          <a:solidFill>
            <a:srgbClr val="FF674D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333756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Cohesion Fund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26680" y="3429000"/>
            <a:ext cx="3733800" cy="164592"/>
          </a:xfrm>
          <a:prstGeom prst="rect">
            <a:avLst/>
          </a:prstGeom>
          <a:solidFill>
            <a:srgbClr val="EEECE6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26680" y="3429000"/>
            <a:ext cx="2090928" cy="164592"/>
          </a:xfrm>
          <a:prstGeom prst="rect">
            <a:avLst/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83480" y="4032504"/>
            <a:ext cx="201168" cy="201168"/>
          </a:xfrm>
          <a:prstGeom prst="rect">
            <a:avLst/>
          </a:prstGeom>
          <a:solidFill>
            <a:srgbClr val="00ED93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0" y="397764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EAFRD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26680" y="4069080"/>
            <a:ext cx="3733800" cy="164592"/>
          </a:xfrm>
          <a:prstGeom prst="rect">
            <a:avLst/>
          </a:prstGeom>
          <a:solidFill>
            <a:srgbClr val="EEECE6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26680" y="4069080"/>
            <a:ext cx="2389632" cy="164592"/>
          </a:xfrm>
          <a:prstGeom prst="rect">
            <a:avLst/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983480" y="4672584"/>
            <a:ext cx="201168" cy="201168"/>
          </a:xfrm>
          <a:prstGeom prst="rect">
            <a:avLst/>
          </a:prstGeom>
          <a:solidFill>
            <a:srgbClr val="EF98D6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0" y="461772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National co-finance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26680" y="4709160"/>
            <a:ext cx="3733800" cy="164592"/>
          </a:xfrm>
          <a:prstGeom prst="rect">
            <a:avLst/>
          </a:prstGeom>
          <a:solidFill>
            <a:srgbClr val="EEECE6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26680" y="4709160"/>
            <a:ext cx="2688336" cy="164592"/>
          </a:xfrm>
          <a:prstGeom prst="rect">
            <a:avLst/>
          </a:prstGeom>
          <a:solidFill>
            <a:srgbClr val="EF9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983480" y="5312664"/>
            <a:ext cx="201168" cy="201168"/>
          </a:xfrm>
          <a:prstGeom prst="rect">
            <a:avLst/>
          </a:prstGeom>
          <a:solidFill>
            <a:srgbClr val="C48B4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0" y="525780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Local match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26680" y="5349240"/>
            <a:ext cx="3733800" cy="164592"/>
          </a:xfrm>
          <a:prstGeom prst="rect">
            <a:avLst/>
          </a:prstGeom>
          <a:solidFill>
            <a:srgbClr val="EEECE6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26680" y="5349240"/>
            <a:ext cx="2987040" cy="164592"/>
          </a:xfrm>
          <a:prstGeom prst="rect">
            <a:avLst/>
          </a:prstGeom>
          <a:solidFill>
            <a:srgbClr val="C48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79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