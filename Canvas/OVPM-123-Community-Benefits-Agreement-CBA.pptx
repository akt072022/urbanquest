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123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5200" b="0" i="0">
                <a:solidFill>
                  <a:srgbClr val="0D0D0D"/>
                </a:solidFill>
                <a:latin typeface="Palatino Linotype"/>
              </a:rPr>
              <a:t>Community Benefits Agreement (CBA)</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legally binding contract between a private developer and a coalition of community organizations guaranteeing specific local benefits (e.g., affordable housing, living-wage jobs).</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G4 · Proof of Sustainability</a:t>
            </a:r>
          </a:p>
        </p:txBody>
      </p:sp>
      <p:sp>
        <p:nvSpPr>
          <p:cNvPr id="8" name="Rounded Rectangle 7"/>
          <p:cNvSpPr/>
          <p:nvPr/>
        </p:nvSpPr>
        <p:spPr>
          <a:xfrm>
            <a:off x="2880360" y="5212080"/>
            <a:ext cx="2194560" cy="384048"/>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G3 · Proof of Anchoring</a:t>
            </a:r>
          </a:p>
        </p:txBody>
      </p:sp>
      <p:sp>
        <p:nvSpPr>
          <p:cNvPr id="9" name="TextBox 8"/>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10" name="Rounded Rectangle 9"/>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Economic</a:t>
            </a:r>
          </a:p>
        </p:txBody>
      </p:sp>
      <p:sp>
        <p:nvSpPr>
          <p:cNvPr id="11" name="Rounded Rectangle 10"/>
          <p:cNvSpPr/>
          <p:nvPr/>
        </p:nvSpPr>
        <p:spPr>
          <a:xfrm>
            <a:off x="1847088"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Social / User</a:t>
            </a:r>
          </a:p>
        </p:txBody>
      </p:sp>
      <p:sp>
        <p:nvSpPr>
          <p:cNvPr id="12" name="Rounded Rectangle 11"/>
          <p:cNvSpPr/>
          <p:nvPr/>
        </p:nvSpPr>
        <p:spPr>
          <a:xfrm>
            <a:off x="3332988"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Regulation</a:t>
            </a:r>
          </a:p>
        </p:txBody>
      </p:sp>
      <p:pic>
        <p:nvPicPr>
          <p:cNvPr id="13" name="Picture 12"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4" name="TextBox 13"/>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123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Community Benefits Agreement (CBA)</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G4 · Proof of Sustainability</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Transforming the violence of gentrification and displacement into a legally binding pact of mutual prosperity, demanding that those who profit from the city also nourish its roots.</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legally binding contract between a private developer and a coalition of community organizations guaranteeing specific local benefits (e.g., affordable housing, living-wage jobs).</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6 to 18 months for organizing and negotiation
Material  ·  Legal contract templates, community organizing resources, socio-economic baseline data</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Analyzed heavily in the political economy of urban development, CBAs are utilized by community coalitions to hold massive development projects accountable. By requiring developers to sign enforceable contracts prior to securing municipal zoning variances, residents have successfully mandated the inclusion of living-wage jobs and environmental mitigations, ensuring that megaprojects tangibly benefit the existing neighborhoods rather than displacing them.</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123  ·  ANIMATION CANVAS  ·  </a:t>
            </a:r>
            <a:r>
              <a:rPr sz="1000" b="1" i="0">
                <a:solidFill>
                  <a:srgbClr val="0D0D0D"/>
                </a:solidFill>
                <a:latin typeface="Source Sans Pro"/>
              </a:rPr>
              <a:t>COMMUNITY BENEFITS AGREEMENT (CBA)</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Community contract · commitments · enforcement</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6 to 18 months for organizing and negotiation</a:t>
            </a:r>
          </a:p>
        </p:txBody>
      </p:sp>
      <p:sp>
        <p:nvSpPr>
          <p:cNvPr id="6" name="Rounded Rectangle 5"/>
          <p:cNvSpPr/>
          <p:nvPr/>
        </p:nvSpPr>
        <p:spPr>
          <a:xfrm>
            <a:off x="457200" y="1417320"/>
            <a:ext cx="269595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600200"/>
            <a:ext cx="2238756" cy="365760"/>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Coalition</a:t>
            </a:r>
          </a:p>
        </p:txBody>
      </p:sp>
      <p:sp>
        <p:nvSpPr>
          <p:cNvPr id="8" name="TextBox 7"/>
          <p:cNvSpPr txBox="1"/>
          <p:nvPr/>
        </p:nvSpPr>
        <p:spPr>
          <a:xfrm>
            <a:off x="685800" y="2103120"/>
            <a:ext cx="2238756" cy="457200"/>
          </a:xfrm>
          <a:prstGeom prst="rect">
            <a:avLst/>
          </a:prstGeom>
          <a:noFill/>
        </p:spPr>
        <p:txBody>
          <a:bodyPr wrap="square" lIns="0" rIns="0" tIns="0" bIns="0">
            <a:spAutoFit/>
          </a:bodyPr>
          <a:lstStyle/>
          <a:p>
            <a:pPr algn="l"/>
            <a:r>
              <a:rPr sz="1050" b="0" i="1">
                <a:solidFill>
                  <a:srgbClr val="757575"/>
                </a:solidFill>
                <a:latin typeface="Palatino Linotype"/>
              </a:rPr>
              <a:t>who signs on the community side</a:t>
            </a:r>
          </a:p>
        </p:txBody>
      </p:sp>
      <p:cxnSp>
        <p:nvCxnSpPr>
          <p:cNvPr id="9" name="Connector 8"/>
          <p:cNvCxnSpPr/>
          <p:nvPr/>
        </p:nvCxnSpPr>
        <p:spPr>
          <a:xfrm>
            <a:off x="685800.0" y="274320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85800.0" y="303580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85800.0" y="332841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85800.0" y="362102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85800.0" y="391363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85800.0" y="420624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85800.0" y="449884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479145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85800.0" y="508406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85800.0" y="537667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85800.0" y="566928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317748" y="1417320"/>
            <a:ext cx="269595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3546348" y="1600200"/>
            <a:ext cx="2238756" cy="365760"/>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Developer commitments</a:t>
            </a:r>
          </a:p>
        </p:txBody>
      </p:sp>
      <p:sp>
        <p:nvSpPr>
          <p:cNvPr id="22" name="TextBox 21"/>
          <p:cNvSpPr txBox="1"/>
          <p:nvPr/>
        </p:nvSpPr>
        <p:spPr>
          <a:xfrm>
            <a:off x="3546348" y="2103120"/>
            <a:ext cx="2238756" cy="457200"/>
          </a:xfrm>
          <a:prstGeom prst="rect">
            <a:avLst/>
          </a:prstGeom>
          <a:noFill/>
        </p:spPr>
        <p:txBody>
          <a:bodyPr wrap="square" lIns="0" rIns="0" tIns="0" bIns="0">
            <a:spAutoFit/>
          </a:bodyPr>
          <a:lstStyle/>
          <a:p>
            <a:pPr algn="l"/>
            <a:r>
              <a:rPr sz="1050" b="0" i="1">
                <a:solidFill>
                  <a:srgbClr val="757575"/>
                </a:solidFill>
                <a:latin typeface="Palatino Linotype"/>
              </a:rPr>
              <a:t>jobs · housing · amenities</a:t>
            </a:r>
          </a:p>
        </p:txBody>
      </p:sp>
      <p:cxnSp>
        <p:nvCxnSpPr>
          <p:cNvPr id="23" name="Connector 22"/>
          <p:cNvCxnSpPr/>
          <p:nvPr/>
        </p:nvCxnSpPr>
        <p:spPr>
          <a:xfrm>
            <a:off x="3546348.0" y="274320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546348.0" y="303580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546348.0" y="332841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546348.0" y="362102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546348.0" y="391363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546348.0" y="420624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546348.0" y="449884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546348.0" y="479145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3546348.0" y="508406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3546348.0" y="537667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3546348.0" y="566928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178296" y="1417320"/>
            <a:ext cx="269595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406896" y="1600200"/>
            <a:ext cx="2238756" cy="365760"/>
          </a:xfrm>
          <a:prstGeom prst="roundRect">
            <a:avLst>
              <a:gd name="adj" fmla="val 50000"/>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Monitoring</a:t>
            </a:r>
          </a:p>
        </p:txBody>
      </p:sp>
      <p:sp>
        <p:nvSpPr>
          <p:cNvPr id="36" name="TextBox 35"/>
          <p:cNvSpPr txBox="1"/>
          <p:nvPr/>
        </p:nvSpPr>
        <p:spPr>
          <a:xfrm>
            <a:off x="6406896" y="2103120"/>
            <a:ext cx="2238756" cy="457200"/>
          </a:xfrm>
          <a:prstGeom prst="rect">
            <a:avLst/>
          </a:prstGeom>
          <a:noFill/>
        </p:spPr>
        <p:txBody>
          <a:bodyPr wrap="square" lIns="0" rIns="0" tIns="0" bIns="0">
            <a:spAutoFit/>
          </a:bodyPr>
          <a:lstStyle/>
          <a:p>
            <a:pPr algn="l"/>
            <a:r>
              <a:rPr sz="1050" b="0" i="1">
                <a:solidFill>
                  <a:srgbClr val="757575"/>
                </a:solidFill>
                <a:latin typeface="Palatino Linotype"/>
              </a:rPr>
              <a:t>joint committee · KPIs</a:t>
            </a:r>
          </a:p>
        </p:txBody>
      </p:sp>
      <p:cxnSp>
        <p:nvCxnSpPr>
          <p:cNvPr id="37" name="Connector 36"/>
          <p:cNvCxnSpPr/>
          <p:nvPr/>
        </p:nvCxnSpPr>
        <p:spPr>
          <a:xfrm>
            <a:off x="6406896.0" y="274320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406896.0" y="303580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406896.0" y="332841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6406896.0" y="362102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406896.0" y="391363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6406896.0" y="420624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6406896.0" y="449884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6406896.0" y="479145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6406896.0" y="508406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6406896.0" y="537667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6406896.0" y="566928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9038844" y="1417320"/>
            <a:ext cx="269595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9267444" y="1600200"/>
            <a:ext cx="2238756" cy="365760"/>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Enforcement</a:t>
            </a:r>
          </a:p>
        </p:txBody>
      </p:sp>
      <p:sp>
        <p:nvSpPr>
          <p:cNvPr id="50" name="TextBox 49"/>
          <p:cNvSpPr txBox="1"/>
          <p:nvPr/>
        </p:nvSpPr>
        <p:spPr>
          <a:xfrm>
            <a:off x="9267444" y="2103120"/>
            <a:ext cx="2238756" cy="457200"/>
          </a:xfrm>
          <a:prstGeom prst="rect">
            <a:avLst/>
          </a:prstGeom>
          <a:noFill/>
        </p:spPr>
        <p:txBody>
          <a:bodyPr wrap="square" lIns="0" rIns="0" tIns="0" bIns="0">
            <a:spAutoFit/>
          </a:bodyPr>
          <a:lstStyle/>
          <a:p>
            <a:pPr algn="l"/>
            <a:r>
              <a:rPr sz="1050" b="0" i="1">
                <a:solidFill>
                  <a:srgbClr val="757575"/>
                </a:solidFill>
                <a:latin typeface="Palatino Linotype"/>
              </a:rPr>
              <a:t>remedies when breached</a:t>
            </a:r>
          </a:p>
        </p:txBody>
      </p:sp>
      <p:cxnSp>
        <p:nvCxnSpPr>
          <p:cNvPr id="51" name="Connector 50"/>
          <p:cNvCxnSpPr/>
          <p:nvPr/>
        </p:nvCxnSpPr>
        <p:spPr>
          <a:xfrm>
            <a:off x="9267444.0" y="274320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9267444.0" y="303580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9267444.0" y="332841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9267444.0" y="362102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9267444.0" y="391363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9267444.0" y="420624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9267444.0" y="449884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9267444.0" y="479145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9267444.0" y="508406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9267444.0" y="537667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9267444.0" y="566928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pic>
        <p:nvPicPr>
          <p:cNvPr id="62" name="Picture 61"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63" name="TextBox 62"/>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123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