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51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0" i="0">
                <a:solidFill>
                  <a:srgbClr val="0D0D0D"/>
                </a:solidFill>
                <a:latin typeface="Palatino Linotype"/>
              </a:rPr>
              <a:t>15-minute city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Visual proximity atlases and spatial analyses demonstrating whether residents can access education, healthcare, and fresh food within a 15-minute walk or 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1" name="Picture 10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51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15-minute city 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Demanding the right to time; ensuring that no resident is forced to lose hours of their life in transit just to access the basic necessities of human dignity.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Visual proximity atlases and spatial analyses demonstrating whether residents can access education, healthcare, and fresh food within a 15-minute walk or 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2 to 4 weeks of data collection and spatial modeling
Material  ·  GIS software, demographic census data, open-source mapping data (e.g., OSM)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During the FURNISH project at the Institut Barri Besòs in Barcelona, researchers utilized the Carer Cities platform to generate a "proximity atlas". This digital tool mapped health, educational, and everyday services within 5-, 10-, and 15-minute walking distances. The visual gradients allowed the school community to directly see the neighborhood's spatial inequalities and advocate for better local access.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51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15-MINUTE CITY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Six daily-life functions in 15 minutes by foot or bike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2 to 4 weeks of data collection and spatial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029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2423160" y="3411077"/>
            <a:ext cx="1097280" cy="950244"/>
          </a:xfrm>
          <a:prstGeom prst="hexagon">
            <a:avLst/>
          </a:prstGeom>
          <a:solidFill>
            <a:srgbClr val="FFD200"/>
          </a:solidFill>
          <a:ln w="1016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3411077"/>
            <a:ext cx="1097280" cy="9502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1">
                <a:solidFill>
                  <a:srgbClr val="0D0D0D"/>
                </a:solidFill>
                <a:latin typeface="Palatino Linotype"/>
              </a:rPr>
              <a:t>home</a:t>
            </a:r>
          </a:p>
        </p:txBody>
      </p:sp>
      <p:sp>
        <p:nvSpPr>
          <p:cNvPr id="9" name="Hexagon 8"/>
          <p:cNvSpPr/>
          <p:nvPr/>
        </p:nvSpPr>
        <p:spPr>
          <a:xfrm>
            <a:off x="2423160" y="1856597"/>
            <a:ext cx="1097280" cy="950244"/>
          </a:xfrm>
          <a:prstGeom prst="hexagon">
            <a:avLst/>
          </a:prstGeom>
          <a:solidFill>
            <a:srgbClr val="EF98D6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856597"/>
            <a:ext cx="1097280" cy="9502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Source Sans Pro"/>
              </a:rPr>
              <a:t>Live</a:t>
            </a:r>
          </a:p>
        </p:txBody>
      </p:sp>
      <p:sp>
        <p:nvSpPr>
          <p:cNvPr id="11" name="Hexagon 10"/>
          <p:cNvSpPr/>
          <p:nvPr/>
        </p:nvSpPr>
        <p:spPr>
          <a:xfrm>
            <a:off x="3769379" y="2633837"/>
            <a:ext cx="1097280" cy="950244"/>
          </a:xfrm>
          <a:prstGeom prst="hexagon">
            <a:avLst/>
          </a:prstGeom>
          <a:solidFill>
            <a:srgbClr val="459ACB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9379" y="2633837"/>
            <a:ext cx="1097280" cy="9502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Source Sans Pro"/>
              </a:rPr>
              <a:t>Work</a:t>
            </a:r>
          </a:p>
        </p:txBody>
      </p:sp>
      <p:sp>
        <p:nvSpPr>
          <p:cNvPr id="13" name="Hexagon 12"/>
          <p:cNvSpPr/>
          <p:nvPr/>
        </p:nvSpPr>
        <p:spPr>
          <a:xfrm>
            <a:off x="3769379" y="4188317"/>
            <a:ext cx="1097280" cy="950244"/>
          </a:xfrm>
          <a:prstGeom prst="hexagon">
            <a:avLst/>
          </a:prstGeom>
          <a:solidFill>
            <a:srgbClr val="00ED93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9379" y="4188317"/>
            <a:ext cx="1097280" cy="9502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Source Sans Pro"/>
              </a:rPr>
              <a:t>Care</a:t>
            </a:r>
          </a:p>
        </p:txBody>
      </p:sp>
      <p:sp>
        <p:nvSpPr>
          <p:cNvPr id="15" name="Hexagon 14"/>
          <p:cNvSpPr/>
          <p:nvPr/>
        </p:nvSpPr>
        <p:spPr>
          <a:xfrm>
            <a:off x="2423160" y="4965557"/>
            <a:ext cx="1097280" cy="950244"/>
          </a:xfrm>
          <a:prstGeom prst="hexagon">
            <a:avLst/>
          </a:prstGeom>
          <a:solidFill>
            <a:srgbClr val="FF674D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4965557"/>
            <a:ext cx="1097280" cy="9502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Source Sans Pro"/>
              </a:rPr>
              <a:t>Learn</a:t>
            </a:r>
          </a:p>
        </p:txBody>
      </p:sp>
      <p:sp>
        <p:nvSpPr>
          <p:cNvPr id="17" name="Hexagon 16"/>
          <p:cNvSpPr/>
          <p:nvPr/>
        </p:nvSpPr>
        <p:spPr>
          <a:xfrm>
            <a:off x="1076940" y="4188317"/>
            <a:ext cx="1097280" cy="950244"/>
          </a:xfrm>
          <a:prstGeom prst="hexagon">
            <a:avLst/>
          </a:prstGeom>
          <a:solidFill>
            <a:srgbClr val="C48B4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6940" y="4188317"/>
            <a:ext cx="1097280" cy="9502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Source Sans Pro"/>
              </a:rPr>
              <a:t>Supply</a:t>
            </a:r>
          </a:p>
        </p:txBody>
      </p:sp>
      <p:sp>
        <p:nvSpPr>
          <p:cNvPr id="19" name="Hexagon 18"/>
          <p:cNvSpPr/>
          <p:nvPr/>
        </p:nvSpPr>
        <p:spPr>
          <a:xfrm>
            <a:off x="1076940" y="2633837"/>
            <a:ext cx="1097280" cy="950244"/>
          </a:xfrm>
          <a:prstGeom prst="hexagon">
            <a:avLst/>
          </a:prstGeom>
          <a:solidFill>
            <a:srgbClr val="3360FF"/>
          </a:solidFill>
          <a:ln w="762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6940" y="2633837"/>
            <a:ext cx="1097280" cy="9502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Source Sans Pro"/>
              </a:rPr>
              <a:t>Enjoy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1417320"/>
            <a:ext cx="60198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1554480"/>
            <a:ext cx="5654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Function audit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2075688"/>
            <a:ext cx="182880" cy="182880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011680"/>
            <a:ext cx="5379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Primary school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2322576"/>
            <a:ext cx="537972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897880" y="2532888"/>
            <a:ext cx="182880" cy="182880"/>
          </a:xfrm>
          <a:prstGeom prst="rect">
            <a:avLst/>
          </a:prstGeom>
          <a:solidFill>
            <a:srgbClr val="00ED93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468880"/>
            <a:ext cx="5379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Pharmacy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72200" y="2779776"/>
            <a:ext cx="537972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897880" y="2990088"/>
            <a:ext cx="182880" cy="182880"/>
          </a:xfrm>
          <a:prstGeom prst="rect">
            <a:avLst/>
          </a:prstGeom>
          <a:solidFill>
            <a:srgbClr val="FF674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926080"/>
            <a:ext cx="5379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Daily groceries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72200" y="3236976"/>
            <a:ext cx="537972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897880" y="3447288"/>
            <a:ext cx="182880" cy="182880"/>
          </a:xfrm>
          <a:prstGeom prst="rect">
            <a:avLst/>
          </a:prstGeom>
          <a:solidFill>
            <a:srgbClr val="459ACB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383280"/>
            <a:ext cx="5379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GP / clinic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72200" y="3694176"/>
            <a:ext cx="537972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897880" y="3904488"/>
            <a:ext cx="182880" cy="182880"/>
          </a:xfrm>
          <a:prstGeom prst="rect">
            <a:avLst/>
          </a:prstGeom>
          <a:solidFill>
            <a:srgbClr val="EF98D6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840480"/>
            <a:ext cx="5379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Public transport stop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72200" y="4151376"/>
            <a:ext cx="537972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897880" y="4361688"/>
            <a:ext cx="182880" cy="182880"/>
          </a:xfrm>
          <a:prstGeom prst="rect">
            <a:avLst/>
          </a:prstGeom>
          <a:solidFill>
            <a:srgbClr val="00ED93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4297680"/>
            <a:ext cx="5379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Park / playground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72200" y="4608576"/>
            <a:ext cx="537972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897880" y="4818888"/>
            <a:ext cx="182880" cy="182880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754880"/>
            <a:ext cx="5379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Community space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72200" y="5065776"/>
            <a:ext cx="537972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897880" y="5276088"/>
            <a:ext cx="182880" cy="182880"/>
          </a:xfrm>
          <a:prstGeom prst="rect">
            <a:avLst/>
          </a:prstGeom>
          <a:solidFill>
            <a:srgbClr val="459ACB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5212080"/>
            <a:ext cx="5379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Workplace cluster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172200" y="5522976"/>
            <a:ext cx="537972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51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