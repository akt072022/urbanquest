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116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ISO 37120 / 37101 / 37123 smart city indicators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standardized dashboard of city indicators conforming to ISO specifications, enabling direct performance comparison with other global cities.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G4 · Proof of Sustainability</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1" name="Rounded Rectangle 10"/>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2" name="Rounded Rectangle 11"/>
          <p:cNvSpPr/>
          <p:nvPr/>
        </p:nvSpPr>
        <p:spPr>
          <a:xfrm>
            <a:off x="33329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116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ISO 37120 / 37101 / 37123 smart city indicators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Translating the chaotic, pulsing life of a city into a universal language of shared metrics, allowing a town in Europe to learn directly from the triumphs and struggles of a metropolis across the globe.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standardized dashboard of city indicators conforming to ISO specifications, enabling direct performance comparison with other global cities.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4 to 6 months for data collection and certification
Material  ·  ISO standard documents, municipal databases, open-data publishing platforms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World Council on City Data (WCCD) utilizes ISO 37120 to certify municipalities worldwide. By 2018, 52 cities had successfully standardized their metrics using this framework, overcoming the challenge of fragmented data. This allowed them to objectively benchmark their performance in areas such as public transport and water quality against international peers, directly supporting their transition into smarter, more sustainable environments.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116  ·  ANIMATION CANVAS  ·  </a:t>
            </a:r>
            <a:r>
              <a:rPr sz="1000" b="1" i="0">
                <a:solidFill>
                  <a:srgbClr val="0D0D0D"/>
                </a:solidFill>
                <a:latin typeface="Source Sans Pro"/>
              </a:rPr>
              <a:t>ISO 37120 / 37101 / 37123 SMART CITY INDICATORS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Smart city ISO indicators · services · smart · resilience</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4 to 6 months for data collection and certification</a:t>
            </a:r>
          </a:p>
        </p:txBody>
      </p:sp>
      <p:sp>
        <p:nvSpPr>
          <p:cNvPr id="6" name="Rounded Rectangle 5"/>
          <p:cNvSpPr/>
          <p:nvPr/>
        </p:nvSpPr>
        <p:spPr>
          <a:xfrm>
            <a:off x="457200" y="1417320"/>
            <a:ext cx="3649472"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3192272"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ISO 37120 · services</a:t>
            </a:r>
          </a:p>
        </p:txBody>
      </p:sp>
      <p:sp>
        <p:nvSpPr>
          <p:cNvPr id="8" name="TextBox 7"/>
          <p:cNvSpPr txBox="1"/>
          <p:nvPr/>
        </p:nvSpPr>
        <p:spPr>
          <a:xfrm>
            <a:off x="685800"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transport, water, education, health</a:t>
            </a:r>
          </a:p>
        </p:txBody>
      </p:sp>
      <p:cxnSp>
        <p:nvCxnSpPr>
          <p:cNvPr id="9" name="Connector 8"/>
          <p:cNvCxnSpPr/>
          <p:nvPr/>
        </p:nvCxnSpPr>
        <p:spPr>
          <a:xfrm>
            <a:off x="685800.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271264" y="1417320"/>
            <a:ext cx="3649472"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99864" y="1600200"/>
            <a:ext cx="3192272"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ISO 37122 · smart</a:t>
            </a:r>
          </a:p>
        </p:txBody>
      </p:sp>
      <p:sp>
        <p:nvSpPr>
          <p:cNvPr id="22" name="TextBox 21"/>
          <p:cNvSpPr txBox="1"/>
          <p:nvPr/>
        </p:nvSpPr>
        <p:spPr>
          <a:xfrm>
            <a:off x="4499864"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digital infrastructure &amp; innovation</a:t>
            </a:r>
          </a:p>
        </p:txBody>
      </p:sp>
      <p:cxnSp>
        <p:nvCxnSpPr>
          <p:cNvPr id="23" name="Connector 22"/>
          <p:cNvCxnSpPr/>
          <p:nvPr/>
        </p:nvCxnSpPr>
        <p:spPr>
          <a:xfrm>
            <a:off x="4499864.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499864.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99864.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99864.0" y="362102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499864.0" y="391363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499864.0" y="420624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99864.0" y="449884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99864.0" y="479145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499864.0" y="508406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499864.0" y="537667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499864.0" y="566928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085328" y="1417320"/>
            <a:ext cx="3649472"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313928" y="1600200"/>
            <a:ext cx="3192272"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ISO 37123 · resilience</a:t>
            </a:r>
          </a:p>
        </p:txBody>
      </p:sp>
      <p:sp>
        <p:nvSpPr>
          <p:cNvPr id="36" name="TextBox 35"/>
          <p:cNvSpPr txBox="1"/>
          <p:nvPr/>
        </p:nvSpPr>
        <p:spPr>
          <a:xfrm>
            <a:off x="8313928"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preparedness &amp; adaptive capacity</a:t>
            </a:r>
          </a:p>
        </p:txBody>
      </p:sp>
      <p:cxnSp>
        <p:nvCxnSpPr>
          <p:cNvPr id="37" name="Connector 36"/>
          <p:cNvCxnSpPr/>
          <p:nvPr/>
        </p:nvCxnSpPr>
        <p:spPr>
          <a:xfrm>
            <a:off x="8313928.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313928.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313928.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313928.0" y="362102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313928.0" y="391363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313928.0" y="420624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313928.0" y="449884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313928.0" y="479145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313928.0" y="508406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313928.0" y="537667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313928.0" y="566928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48" name="Picture 47"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9" name="TextBox 48"/>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116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