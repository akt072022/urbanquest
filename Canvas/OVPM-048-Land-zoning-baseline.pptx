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48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0" i="0">
                <a:solidFill>
                  <a:srgbClr val="0D0D0D"/>
                </a:solidFill>
                <a:latin typeface="Palatino Linotype"/>
              </a:rPr>
              <a:t>Land &amp; zoning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consolidated, interactive spatial map detailing current land uses, vacant lots, property ownership boundaries, and statutory zoning restrictions across the project area,.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Regulation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47088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Spatial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45536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Economic</a:t>
            </a:r>
          </a:p>
        </p:txBody>
      </p:sp>
      <p:pic>
        <p:nvPicPr>
          <p:cNvPr id="12" name="Picture 11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48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Land &amp; zoning baseline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Stripping away administrative illusions to reveal the raw, unvarnished truth of who owns the city and which spaces lie abandoned, waiting to be reclaimed for the public good.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consolidated, interactive spatial map detailing current land uses, vacant lots, property ownership boundaries, and statutory zoning restrictions across the project area,.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3 to 6 weeks of data aggregation and mapping
Material  ·  Open-source mapping data (OSM), municipal master plans, GIS software, field survey checklists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In the EU Urban Agenda's "Compact Cities" initiative, a dedicated mapping layer was developed specifically to identify and manage under-used land. This baseline data provided municipal stakeholders with actionable guidelines to target vacant lots for effective redevelopment, combating urban sprawl and optimizing existing infrastructure.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48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LAND &amp; ZONING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Use × intensity × constraint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3 to 6 weeks of data aggregation and mapping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41148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0D0D0D"/>
                </a:solidFill>
                <a:latin typeface="Palatino Linotype"/>
              </a:rPr>
              <a:t>Zone categories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75688"/>
            <a:ext cx="292608" cy="292608"/>
          </a:xfrm>
          <a:prstGeom prst="rect">
            <a:avLst/>
          </a:prstGeom>
          <a:solidFill>
            <a:srgbClr val="FFD200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Residential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578608"/>
            <a:ext cx="292608" cy="292608"/>
          </a:xfrm>
          <a:prstGeom prst="rect">
            <a:avLst/>
          </a:prstGeom>
          <a:solidFill>
            <a:srgbClr val="FF674D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146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Mixed-use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081528"/>
            <a:ext cx="292608" cy="292608"/>
          </a:xfrm>
          <a:prstGeom prst="rect">
            <a:avLst/>
          </a:prstGeom>
          <a:solidFill>
            <a:srgbClr val="459ACB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1752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Commercial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584448"/>
            <a:ext cx="292608" cy="292608"/>
          </a:xfrm>
          <a:prstGeom prst="rect">
            <a:avLst/>
          </a:prstGeom>
          <a:solidFill>
            <a:srgbClr val="0D0D0D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52044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Industrial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087368"/>
            <a:ext cx="292608" cy="292608"/>
          </a:xfrm>
          <a:prstGeom prst="rect">
            <a:avLst/>
          </a:prstGeom>
          <a:solidFill>
            <a:srgbClr val="00ED93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02336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Civic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590288"/>
            <a:ext cx="292608" cy="292608"/>
          </a:xfrm>
          <a:prstGeom prst="rect">
            <a:avLst/>
          </a:prstGeom>
          <a:solidFill>
            <a:srgbClr val="EF98D6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52628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Heritage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093208"/>
            <a:ext cx="292608" cy="292608"/>
          </a:xfrm>
          <a:prstGeom prst="rect">
            <a:avLst/>
          </a:prstGeom>
          <a:solidFill>
            <a:srgbClr val="A8CB6E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0292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Open / Natural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1417320"/>
            <a:ext cx="69342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1554480"/>
            <a:ext cx="656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0D0D0D"/>
                </a:solidFill>
                <a:latin typeface="Palatino Linotype"/>
              </a:rPr>
              <a:t>Zone profile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2011680"/>
            <a:ext cx="6568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Zone code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983480" y="2340864"/>
            <a:ext cx="656844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983480" y="2468880"/>
            <a:ext cx="6568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Permitted uses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983480" y="2798064"/>
            <a:ext cx="656844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983480" y="2926080"/>
            <a:ext cx="6568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Floor-area ratio (FAR)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983480" y="3255264"/>
            <a:ext cx="656844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983480" y="3383280"/>
            <a:ext cx="6568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Height limit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983480" y="3712464"/>
            <a:ext cx="656844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983480" y="3840480"/>
            <a:ext cx="6568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Coverage limit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983480" y="4169664"/>
            <a:ext cx="656844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983480" y="4297680"/>
            <a:ext cx="6568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Setbacks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983480" y="4626864"/>
            <a:ext cx="656844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983480" y="4754880"/>
            <a:ext cx="6568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Heritage / risk overlays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983480" y="5084064"/>
            <a:ext cx="656844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983480" y="5212080"/>
            <a:ext cx="6568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Affordable housing share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983480" y="5541264"/>
            <a:ext cx="656844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Picture 39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48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