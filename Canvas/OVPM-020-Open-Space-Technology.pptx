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20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Open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Rapidly formed working groups, immediate action plans, and a highly motivated network of volunteers ready to tackle self-identified priorities.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Open Space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Trusting the community entirely by surrendering control of the agenda; proving that when you give people empty space and real responsibility, they organically build their own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Rapidly formed working groups, immediate action plans, and a highly motivated network of volunteers ready to tackle self-identified priorities.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2 days of self-organized workshops
Material  ·  Large open room, blank agenda wall, flipcharts, markers, post-its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a coastal town facing rising flood risks, the local council utilized Open Space Technology. Within 30 minutes, the blank agenda wall was filled with citizen-led topics like "Redesigning our drainage system" and "Volunteer emergency networks." By the closing circle, working groups had set future meeting dates, and one team had already drafted a concrete grant application for flood defenses.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OPEN SPACE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Marketplace · self-organized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2 days of self-organized workshops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Marketplace board · propose, gather,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822960" cy="365760"/>
          </a:xfrm>
          <a:prstGeom prst="rect">
            <a:avLst/>
          </a:prstGeom>
          <a:solidFill>
            <a:srgbClr val="0D0D0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783080"/>
            <a:ext cx="3484880" cy="36576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348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09:00·10:30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5040" y="1783080"/>
            <a:ext cx="3484880" cy="36576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5040" y="1783080"/>
            <a:ext cx="348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11:00·12:30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9920" y="1783080"/>
            <a:ext cx="3484880" cy="36576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9920" y="1783080"/>
            <a:ext cx="348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14:00·15:30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822960" cy="685800"/>
          </a:xfrm>
          <a:prstGeom prst="rect">
            <a:avLst/>
          </a:prstGeom>
          <a:solidFill>
            <a:srgbClr val="EEECE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1488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2219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146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5040" y="21488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6480" y="22219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6480" y="25146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9920" y="21488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1360" y="22219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360" y="25146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34640"/>
            <a:ext cx="822960" cy="685800"/>
          </a:xfrm>
          <a:prstGeom prst="rect">
            <a:avLst/>
          </a:prstGeom>
          <a:solidFill>
            <a:srgbClr val="EEECE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28346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29077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2004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5040" y="28346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56480" y="29077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6480" y="32004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9920" y="28346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1360" y="29077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360" y="32004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20440"/>
            <a:ext cx="822960" cy="685800"/>
          </a:xfrm>
          <a:prstGeom prst="rect">
            <a:avLst/>
          </a:prstGeom>
          <a:solidFill>
            <a:srgbClr val="EEECE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2044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5204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5935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8862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65040" y="35204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6480" y="35935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6480" y="38862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49920" y="35204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1360" y="35935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1360" y="38862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822960" cy="685800"/>
          </a:xfrm>
          <a:prstGeom prst="rect">
            <a:avLst/>
          </a:prstGeom>
          <a:solidFill>
            <a:srgbClr val="EEECE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20624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0" y="42062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42793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65040" y="42062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56480" y="42793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56480" y="45720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49920" y="4206240"/>
            <a:ext cx="3484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41360" y="4279392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topic ____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1360" y="4572000"/>
            <a:ext cx="330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host ____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074920"/>
            <a:ext cx="112776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166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Open Space rules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62356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850">
                <a:solidFill>
                  <a:srgbClr val="0D0D0D"/>
                </a:solidFill>
                <a:latin typeface="Source Sans Pro"/>
              </a:rPr>
              <a:t>Whoever comes are the rig…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989320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Palatino Linotype"/>
              </a:rPr>
              <a:t>Whoever comes are the right people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49880" y="562356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850">
                <a:solidFill>
                  <a:srgbClr val="0D0D0D"/>
                </a:solidFill>
                <a:latin typeface="Source Sans Pro"/>
              </a:rPr>
              <a:t>Whatever happens is the o…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49880" y="5989320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Palatino Linotype"/>
              </a:rPr>
              <a:t>Whatever happens is the only thing that could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13960" y="562356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850">
                <a:solidFill>
                  <a:srgbClr val="0D0D0D"/>
                </a:solidFill>
                <a:latin typeface="Source Sans Pro"/>
              </a:rPr>
              <a:t>When it starts is the rig…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3960" y="5989320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Palatino Linotype"/>
              </a:rPr>
              <a:t>When it starts is the right time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78040" y="562356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850">
                <a:solidFill>
                  <a:srgbClr val="0D0D0D"/>
                </a:solidFill>
                <a:latin typeface="Source Sans Pro"/>
              </a:rPr>
              <a:t>When it is over, it is ov…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5989320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Palatino Linotype"/>
              </a:rPr>
              <a:t>When it is over, it is over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42120" y="562356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850">
                <a:solidFill>
                  <a:srgbClr val="0D0D0D"/>
                </a:solidFill>
                <a:latin typeface="Source Sans Pro"/>
              </a:rPr>
              <a:t>The Law of Two Feet · mov…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42120" y="5989320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Palatino Linotype"/>
              </a:rPr>
              <a:t>The Law of Two Feet · move at any time</a:t>
            </a:r>
          </a:p>
        </p:txBody>
      </p:sp>
      <p:pic>
        <p:nvPicPr>
          <p:cNvPr id="71" name="Picture 7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