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72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Public inquiry / Enquête publique</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statutory report compiling public grievances, formal recommendations by independent guarantors, and the official, legally binding responses of the planning authority.</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G3 · Proof of Anchoring</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sp>
        <p:nvSpPr>
          <p:cNvPr id="10" name="Rounded Rectangle 9"/>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pic>
        <p:nvPicPr>
          <p:cNvPr id="11" name="Picture 10"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2" name="TextBox 11"/>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72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Public inquiry / Enquête publique</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G3 · Proof of Anchoring</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Subjecting the quiet calculations of experts to the loud, messy, and necessary judgment of the street; ensuring that the final word belongs to those who will live with the consequences.</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statutory report compiling public grievances, formal recommendations by independent guarantors, and the official, legally binding responses of the planning authority.</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1 to 2 months of mandatory public display and hearings
Material  ·  Complete planning dossiers, digital contribution platforms, independent guarantors, recording equipment</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In Grenoble (France), a massive urban cable car project was submitted to a rigorous public inquiry process. Over a period of one month, the project utilized public hearings, stakeholder workshops, and an online participatory platform. Despite 204 written contributions and intense scrutiny, independent guarantors synthesized the feedback into 10 recommendations, legitimizing the project and moving it forward with democratic backing.</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72  ·  ANIMATION CANVAS  ·  </a:t>
            </a:r>
            <a:r>
              <a:rPr sz="1000" b="1" i="0">
                <a:solidFill>
                  <a:srgbClr val="0D0D0D"/>
                </a:solidFill>
                <a:latin typeface="Source Sans Pro"/>
              </a:rPr>
              <a:t>PUBLIC INQUIRY / ENQUÊTE PUBLIQUE</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Public inquiry timeline · 6 milestones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1 to 2 months of mandatory public display and hearings</a:t>
            </a:r>
          </a:p>
        </p:txBody>
      </p:sp>
      <p:cxnSp>
        <p:nvCxnSpPr>
          <p:cNvPr id="6" name="Connector 5"/>
          <p:cNvCxnSpPr/>
          <p:nvPr/>
        </p:nvCxnSpPr>
        <p:spPr>
          <a:xfrm>
            <a:off x="914400" y="2788920"/>
            <a:ext cx="10363200" cy="0"/>
          </a:xfrm>
          <a:prstGeom prst="line">
            <a:avLst/>
          </a:prstGeom>
          <a:ln w="12700">
            <a:solidFill>
              <a:srgbClr val="0D0D0D"/>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685800" y="2560320"/>
            <a:ext cx="457200" cy="457200"/>
          </a:xfrm>
          <a:prstGeom prst="ellipse">
            <a:avLst/>
          </a:prstGeom>
          <a:solidFill>
            <a:srgbClr val="FFD200"/>
          </a:solidFill>
          <a:ln w="889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560320"/>
            <a:ext cx="457200" cy="457200"/>
          </a:xfrm>
          <a:prstGeom prst="rect">
            <a:avLst/>
          </a:prstGeom>
          <a:noFill/>
        </p:spPr>
        <p:txBody>
          <a:bodyPr wrap="square" lIns="0" rIns="0" tIns="0" bIns="0" anchor="ctr">
            <a:spAutoFit/>
          </a:bodyPr>
          <a:lstStyle/>
          <a:p>
            <a:pPr algn="ctr"/>
            <a:r>
              <a:rPr sz="1400" b="1" i="0">
                <a:solidFill>
                  <a:srgbClr val="0D0D0D"/>
                </a:solidFill>
                <a:latin typeface="Palatino Linotype"/>
              </a:rPr>
              <a:t>1</a:t>
            </a:r>
          </a:p>
        </p:txBody>
      </p:sp>
      <p:sp>
        <p:nvSpPr>
          <p:cNvPr id="9" name="TextBox 8"/>
          <p:cNvSpPr txBox="1"/>
          <p:nvPr/>
        </p:nvSpPr>
        <p:spPr>
          <a:xfrm>
            <a:off x="274320" y="3154680"/>
            <a:ext cx="1280160" cy="274320"/>
          </a:xfrm>
          <a:prstGeom prst="rect">
            <a:avLst/>
          </a:prstGeom>
          <a:noFill/>
        </p:spPr>
        <p:txBody>
          <a:bodyPr wrap="square" lIns="0" rIns="0" tIns="0" bIns="0">
            <a:spAutoFit/>
          </a:bodyPr>
          <a:lstStyle/>
          <a:p>
            <a:pPr algn="ctr"/>
            <a:r>
              <a:rPr sz="1000" b="1" i="0">
                <a:solidFill>
                  <a:srgbClr val="0D0D0D"/>
                </a:solidFill>
                <a:latin typeface="Source Sans Pro"/>
              </a:rPr>
              <a:t>Notice</a:t>
            </a:r>
          </a:p>
        </p:txBody>
      </p:sp>
      <p:sp>
        <p:nvSpPr>
          <p:cNvPr id="10" name="TextBox 9"/>
          <p:cNvSpPr txBox="1"/>
          <p:nvPr/>
        </p:nvSpPr>
        <p:spPr>
          <a:xfrm>
            <a:off x="91440" y="3429000"/>
            <a:ext cx="1645920" cy="365760"/>
          </a:xfrm>
          <a:prstGeom prst="rect">
            <a:avLst/>
          </a:prstGeom>
          <a:noFill/>
        </p:spPr>
        <p:txBody>
          <a:bodyPr wrap="square" lIns="0" rIns="0" tIns="0" bIns="0">
            <a:spAutoFit/>
          </a:bodyPr>
          <a:lstStyle/>
          <a:p>
            <a:pPr algn="ctr"/>
            <a:r>
              <a:rPr sz="900" b="0" i="1">
                <a:solidFill>
                  <a:srgbClr val="757575"/>
                </a:solidFill>
                <a:latin typeface="Palatino Linotype"/>
              </a:rPr>
              <a:t>official announcement</a:t>
            </a:r>
          </a:p>
        </p:txBody>
      </p:sp>
      <p:sp>
        <p:nvSpPr>
          <p:cNvPr id="11" name="Oval 10"/>
          <p:cNvSpPr/>
          <p:nvPr/>
        </p:nvSpPr>
        <p:spPr>
          <a:xfrm>
            <a:off x="2758440" y="2560320"/>
            <a:ext cx="457200" cy="457200"/>
          </a:xfrm>
          <a:prstGeom prst="ellipse">
            <a:avLst/>
          </a:prstGeom>
          <a:solidFill>
            <a:srgbClr val="FFD200"/>
          </a:solidFill>
          <a:ln w="889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58440" y="2560320"/>
            <a:ext cx="457200" cy="457200"/>
          </a:xfrm>
          <a:prstGeom prst="rect">
            <a:avLst/>
          </a:prstGeom>
          <a:noFill/>
        </p:spPr>
        <p:txBody>
          <a:bodyPr wrap="square" lIns="0" rIns="0" tIns="0" bIns="0" anchor="ctr">
            <a:spAutoFit/>
          </a:bodyPr>
          <a:lstStyle/>
          <a:p>
            <a:pPr algn="ctr"/>
            <a:r>
              <a:rPr sz="1400" b="1" i="0">
                <a:solidFill>
                  <a:srgbClr val="0D0D0D"/>
                </a:solidFill>
                <a:latin typeface="Palatino Linotype"/>
              </a:rPr>
              <a:t>2</a:t>
            </a:r>
          </a:p>
        </p:txBody>
      </p:sp>
      <p:sp>
        <p:nvSpPr>
          <p:cNvPr id="13" name="TextBox 12"/>
          <p:cNvSpPr txBox="1"/>
          <p:nvPr/>
        </p:nvSpPr>
        <p:spPr>
          <a:xfrm>
            <a:off x="2346960" y="3154680"/>
            <a:ext cx="1280160" cy="274320"/>
          </a:xfrm>
          <a:prstGeom prst="rect">
            <a:avLst/>
          </a:prstGeom>
          <a:noFill/>
        </p:spPr>
        <p:txBody>
          <a:bodyPr wrap="square" lIns="0" rIns="0" tIns="0" bIns="0">
            <a:spAutoFit/>
          </a:bodyPr>
          <a:lstStyle/>
          <a:p>
            <a:pPr algn="ctr"/>
            <a:r>
              <a:rPr sz="1000" b="1" i="0">
                <a:solidFill>
                  <a:srgbClr val="0D0D0D"/>
                </a:solidFill>
                <a:latin typeface="Source Sans Pro"/>
              </a:rPr>
              <a:t>Open dossier</a:t>
            </a:r>
          </a:p>
        </p:txBody>
      </p:sp>
      <p:sp>
        <p:nvSpPr>
          <p:cNvPr id="14" name="TextBox 13"/>
          <p:cNvSpPr txBox="1"/>
          <p:nvPr/>
        </p:nvSpPr>
        <p:spPr>
          <a:xfrm>
            <a:off x="2164080" y="3429000"/>
            <a:ext cx="1645920" cy="365760"/>
          </a:xfrm>
          <a:prstGeom prst="rect">
            <a:avLst/>
          </a:prstGeom>
          <a:noFill/>
        </p:spPr>
        <p:txBody>
          <a:bodyPr wrap="square" lIns="0" rIns="0" tIns="0" bIns="0">
            <a:spAutoFit/>
          </a:bodyPr>
          <a:lstStyle/>
          <a:p>
            <a:pPr algn="ctr"/>
            <a:r>
              <a:rPr sz="900" b="0" i="1">
                <a:solidFill>
                  <a:srgbClr val="757575"/>
                </a:solidFill>
                <a:latin typeface="Palatino Linotype"/>
              </a:rPr>
              <a:t>documents accessible</a:t>
            </a:r>
          </a:p>
        </p:txBody>
      </p:sp>
      <p:sp>
        <p:nvSpPr>
          <p:cNvPr id="15" name="Oval 14"/>
          <p:cNvSpPr/>
          <p:nvPr/>
        </p:nvSpPr>
        <p:spPr>
          <a:xfrm>
            <a:off x="4831080" y="2560320"/>
            <a:ext cx="457200" cy="457200"/>
          </a:xfrm>
          <a:prstGeom prst="ellipse">
            <a:avLst/>
          </a:prstGeom>
          <a:solidFill>
            <a:srgbClr val="FFD200"/>
          </a:solidFill>
          <a:ln w="889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31080" y="2560320"/>
            <a:ext cx="457200" cy="457200"/>
          </a:xfrm>
          <a:prstGeom prst="rect">
            <a:avLst/>
          </a:prstGeom>
          <a:noFill/>
        </p:spPr>
        <p:txBody>
          <a:bodyPr wrap="square" lIns="0" rIns="0" tIns="0" bIns="0" anchor="ctr">
            <a:spAutoFit/>
          </a:bodyPr>
          <a:lstStyle/>
          <a:p>
            <a:pPr algn="ctr"/>
            <a:r>
              <a:rPr sz="1400" b="1" i="0">
                <a:solidFill>
                  <a:srgbClr val="0D0D0D"/>
                </a:solidFill>
                <a:latin typeface="Palatino Linotype"/>
              </a:rPr>
              <a:t>3</a:t>
            </a:r>
          </a:p>
        </p:txBody>
      </p:sp>
      <p:sp>
        <p:nvSpPr>
          <p:cNvPr id="17" name="TextBox 16"/>
          <p:cNvSpPr txBox="1"/>
          <p:nvPr/>
        </p:nvSpPr>
        <p:spPr>
          <a:xfrm>
            <a:off x="4419600" y="3154680"/>
            <a:ext cx="1280160" cy="274320"/>
          </a:xfrm>
          <a:prstGeom prst="rect">
            <a:avLst/>
          </a:prstGeom>
          <a:noFill/>
        </p:spPr>
        <p:txBody>
          <a:bodyPr wrap="square" lIns="0" rIns="0" tIns="0" bIns="0">
            <a:spAutoFit/>
          </a:bodyPr>
          <a:lstStyle/>
          <a:p>
            <a:pPr algn="ctr"/>
            <a:r>
              <a:rPr sz="1000" b="1" i="0">
                <a:solidFill>
                  <a:srgbClr val="0D0D0D"/>
                </a:solidFill>
                <a:latin typeface="Source Sans Pro"/>
              </a:rPr>
              <a:t>Hearings</a:t>
            </a:r>
          </a:p>
        </p:txBody>
      </p:sp>
      <p:sp>
        <p:nvSpPr>
          <p:cNvPr id="18" name="TextBox 17"/>
          <p:cNvSpPr txBox="1"/>
          <p:nvPr/>
        </p:nvSpPr>
        <p:spPr>
          <a:xfrm>
            <a:off x="4236720" y="3429000"/>
            <a:ext cx="1645920" cy="365760"/>
          </a:xfrm>
          <a:prstGeom prst="rect">
            <a:avLst/>
          </a:prstGeom>
          <a:noFill/>
        </p:spPr>
        <p:txBody>
          <a:bodyPr wrap="square" lIns="0" rIns="0" tIns="0" bIns="0">
            <a:spAutoFit/>
          </a:bodyPr>
          <a:lstStyle/>
          <a:p>
            <a:pPr algn="ctr"/>
            <a:r>
              <a:rPr sz="900" b="0" i="1">
                <a:solidFill>
                  <a:srgbClr val="757575"/>
                </a:solidFill>
                <a:latin typeface="Palatino Linotype"/>
              </a:rPr>
              <a:t>oral submissions</a:t>
            </a:r>
          </a:p>
        </p:txBody>
      </p:sp>
      <p:sp>
        <p:nvSpPr>
          <p:cNvPr id="19" name="Oval 18"/>
          <p:cNvSpPr/>
          <p:nvPr/>
        </p:nvSpPr>
        <p:spPr>
          <a:xfrm>
            <a:off x="6903720" y="2560320"/>
            <a:ext cx="457200" cy="457200"/>
          </a:xfrm>
          <a:prstGeom prst="ellipse">
            <a:avLst/>
          </a:prstGeom>
          <a:solidFill>
            <a:srgbClr val="FFD200"/>
          </a:solidFill>
          <a:ln w="889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03720" y="2560320"/>
            <a:ext cx="457200" cy="457200"/>
          </a:xfrm>
          <a:prstGeom prst="rect">
            <a:avLst/>
          </a:prstGeom>
          <a:noFill/>
        </p:spPr>
        <p:txBody>
          <a:bodyPr wrap="square" lIns="0" rIns="0" tIns="0" bIns="0" anchor="ctr">
            <a:spAutoFit/>
          </a:bodyPr>
          <a:lstStyle/>
          <a:p>
            <a:pPr algn="ctr"/>
            <a:r>
              <a:rPr sz="1400" b="1" i="0">
                <a:solidFill>
                  <a:srgbClr val="0D0D0D"/>
                </a:solidFill>
                <a:latin typeface="Palatino Linotype"/>
              </a:rPr>
              <a:t>4</a:t>
            </a:r>
          </a:p>
        </p:txBody>
      </p:sp>
      <p:sp>
        <p:nvSpPr>
          <p:cNvPr id="21" name="TextBox 20"/>
          <p:cNvSpPr txBox="1"/>
          <p:nvPr/>
        </p:nvSpPr>
        <p:spPr>
          <a:xfrm>
            <a:off x="6492240" y="3154680"/>
            <a:ext cx="1280160" cy="274320"/>
          </a:xfrm>
          <a:prstGeom prst="rect">
            <a:avLst/>
          </a:prstGeom>
          <a:noFill/>
        </p:spPr>
        <p:txBody>
          <a:bodyPr wrap="square" lIns="0" rIns="0" tIns="0" bIns="0">
            <a:spAutoFit/>
          </a:bodyPr>
          <a:lstStyle/>
          <a:p>
            <a:pPr algn="ctr"/>
            <a:r>
              <a:rPr sz="1000" b="1" i="0">
                <a:solidFill>
                  <a:srgbClr val="0D0D0D"/>
                </a:solidFill>
                <a:latin typeface="Source Sans Pro"/>
              </a:rPr>
              <a:t>Written input</a:t>
            </a:r>
          </a:p>
        </p:txBody>
      </p:sp>
      <p:sp>
        <p:nvSpPr>
          <p:cNvPr id="22" name="TextBox 21"/>
          <p:cNvSpPr txBox="1"/>
          <p:nvPr/>
        </p:nvSpPr>
        <p:spPr>
          <a:xfrm>
            <a:off x="6309360" y="3429000"/>
            <a:ext cx="1645920" cy="365760"/>
          </a:xfrm>
          <a:prstGeom prst="rect">
            <a:avLst/>
          </a:prstGeom>
          <a:noFill/>
        </p:spPr>
        <p:txBody>
          <a:bodyPr wrap="square" lIns="0" rIns="0" tIns="0" bIns="0">
            <a:spAutoFit/>
          </a:bodyPr>
          <a:lstStyle/>
          <a:p>
            <a:pPr algn="ctr"/>
            <a:r>
              <a:rPr sz="900" b="0" i="1">
                <a:solidFill>
                  <a:srgbClr val="757575"/>
                </a:solidFill>
                <a:latin typeface="Palatino Linotype"/>
              </a:rPr>
              <a:t>closed at deadline</a:t>
            </a:r>
          </a:p>
        </p:txBody>
      </p:sp>
      <p:sp>
        <p:nvSpPr>
          <p:cNvPr id="23" name="Oval 22"/>
          <p:cNvSpPr/>
          <p:nvPr/>
        </p:nvSpPr>
        <p:spPr>
          <a:xfrm>
            <a:off x="8976360" y="2560320"/>
            <a:ext cx="457200" cy="457200"/>
          </a:xfrm>
          <a:prstGeom prst="ellipse">
            <a:avLst/>
          </a:prstGeom>
          <a:solidFill>
            <a:srgbClr val="FFD200"/>
          </a:solidFill>
          <a:ln w="889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76360" y="2560320"/>
            <a:ext cx="457200" cy="457200"/>
          </a:xfrm>
          <a:prstGeom prst="rect">
            <a:avLst/>
          </a:prstGeom>
          <a:noFill/>
        </p:spPr>
        <p:txBody>
          <a:bodyPr wrap="square" lIns="0" rIns="0" tIns="0" bIns="0" anchor="ctr">
            <a:spAutoFit/>
          </a:bodyPr>
          <a:lstStyle/>
          <a:p>
            <a:pPr algn="ctr"/>
            <a:r>
              <a:rPr sz="1400" b="1" i="0">
                <a:solidFill>
                  <a:srgbClr val="0D0D0D"/>
                </a:solidFill>
                <a:latin typeface="Palatino Linotype"/>
              </a:rPr>
              <a:t>5</a:t>
            </a:r>
          </a:p>
        </p:txBody>
      </p:sp>
      <p:sp>
        <p:nvSpPr>
          <p:cNvPr id="25" name="TextBox 24"/>
          <p:cNvSpPr txBox="1"/>
          <p:nvPr/>
        </p:nvSpPr>
        <p:spPr>
          <a:xfrm>
            <a:off x="8564880" y="3154680"/>
            <a:ext cx="1280160" cy="274320"/>
          </a:xfrm>
          <a:prstGeom prst="rect">
            <a:avLst/>
          </a:prstGeom>
          <a:noFill/>
        </p:spPr>
        <p:txBody>
          <a:bodyPr wrap="square" lIns="0" rIns="0" tIns="0" bIns="0">
            <a:spAutoFit/>
          </a:bodyPr>
          <a:lstStyle/>
          <a:p>
            <a:pPr algn="ctr"/>
            <a:r>
              <a:rPr sz="1000" b="1" i="0">
                <a:solidFill>
                  <a:srgbClr val="0D0D0D"/>
                </a:solidFill>
                <a:latin typeface="Source Sans Pro"/>
              </a:rPr>
              <a:t>Commissioner report</a:t>
            </a:r>
          </a:p>
        </p:txBody>
      </p:sp>
      <p:sp>
        <p:nvSpPr>
          <p:cNvPr id="26" name="TextBox 25"/>
          <p:cNvSpPr txBox="1"/>
          <p:nvPr/>
        </p:nvSpPr>
        <p:spPr>
          <a:xfrm>
            <a:off x="8382000" y="3429000"/>
            <a:ext cx="1645920" cy="365760"/>
          </a:xfrm>
          <a:prstGeom prst="rect">
            <a:avLst/>
          </a:prstGeom>
          <a:noFill/>
        </p:spPr>
        <p:txBody>
          <a:bodyPr wrap="square" lIns="0" rIns="0" tIns="0" bIns="0">
            <a:spAutoFit/>
          </a:bodyPr>
          <a:lstStyle/>
          <a:p>
            <a:pPr algn="ctr"/>
            <a:r>
              <a:rPr sz="900" b="0" i="1">
                <a:solidFill>
                  <a:srgbClr val="757575"/>
                </a:solidFill>
                <a:latin typeface="Palatino Linotype"/>
              </a:rPr>
              <a:t>findings · recommendations</a:t>
            </a:r>
          </a:p>
        </p:txBody>
      </p:sp>
      <p:sp>
        <p:nvSpPr>
          <p:cNvPr id="27" name="Oval 26"/>
          <p:cNvSpPr/>
          <p:nvPr/>
        </p:nvSpPr>
        <p:spPr>
          <a:xfrm>
            <a:off x="11049000" y="2560320"/>
            <a:ext cx="457200" cy="457200"/>
          </a:xfrm>
          <a:prstGeom prst="ellipse">
            <a:avLst/>
          </a:prstGeom>
          <a:solidFill>
            <a:srgbClr val="FFD200"/>
          </a:solidFill>
          <a:ln w="889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049000" y="2560320"/>
            <a:ext cx="457200" cy="457200"/>
          </a:xfrm>
          <a:prstGeom prst="rect">
            <a:avLst/>
          </a:prstGeom>
          <a:noFill/>
        </p:spPr>
        <p:txBody>
          <a:bodyPr wrap="square" lIns="0" rIns="0" tIns="0" bIns="0" anchor="ctr">
            <a:spAutoFit/>
          </a:bodyPr>
          <a:lstStyle/>
          <a:p>
            <a:pPr algn="ctr"/>
            <a:r>
              <a:rPr sz="1400" b="1" i="0">
                <a:solidFill>
                  <a:srgbClr val="0D0D0D"/>
                </a:solidFill>
                <a:latin typeface="Palatino Linotype"/>
              </a:rPr>
              <a:t>6</a:t>
            </a:r>
          </a:p>
        </p:txBody>
      </p:sp>
      <p:sp>
        <p:nvSpPr>
          <p:cNvPr id="29" name="TextBox 28"/>
          <p:cNvSpPr txBox="1"/>
          <p:nvPr/>
        </p:nvSpPr>
        <p:spPr>
          <a:xfrm>
            <a:off x="10637520" y="3154680"/>
            <a:ext cx="1280160" cy="274320"/>
          </a:xfrm>
          <a:prstGeom prst="rect">
            <a:avLst/>
          </a:prstGeom>
          <a:noFill/>
        </p:spPr>
        <p:txBody>
          <a:bodyPr wrap="square" lIns="0" rIns="0" tIns="0" bIns="0">
            <a:spAutoFit/>
          </a:bodyPr>
          <a:lstStyle/>
          <a:p>
            <a:pPr algn="ctr"/>
            <a:r>
              <a:rPr sz="1000" b="1" i="0">
                <a:solidFill>
                  <a:srgbClr val="0D0D0D"/>
                </a:solidFill>
                <a:latin typeface="Source Sans Pro"/>
              </a:rPr>
              <a:t>Decision</a:t>
            </a:r>
          </a:p>
        </p:txBody>
      </p:sp>
      <p:sp>
        <p:nvSpPr>
          <p:cNvPr id="30" name="TextBox 29"/>
          <p:cNvSpPr txBox="1"/>
          <p:nvPr/>
        </p:nvSpPr>
        <p:spPr>
          <a:xfrm>
            <a:off x="10454640" y="3429000"/>
            <a:ext cx="1645920" cy="365760"/>
          </a:xfrm>
          <a:prstGeom prst="rect">
            <a:avLst/>
          </a:prstGeom>
          <a:noFill/>
        </p:spPr>
        <p:txBody>
          <a:bodyPr wrap="square" lIns="0" rIns="0" tIns="0" bIns="0">
            <a:spAutoFit/>
          </a:bodyPr>
          <a:lstStyle/>
          <a:p>
            <a:pPr algn="ctr"/>
            <a:r>
              <a:rPr sz="900" b="0" i="1">
                <a:solidFill>
                  <a:srgbClr val="757575"/>
                </a:solidFill>
                <a:latin typeface="Palatino Linotype"/>
              </a:rPr>
              <a:t>response published</a:t>
            </a:r>
          </a:p>
        </p:txBody>
      </p:sp>
      <p:sp>
        <p:nvSpPr>
          <p:cNvPr id="31" name="Rounded Rectangle 30"/>
          <p:cNvSpPr/>
          <p:nvPr/>
        </p:nvSpPr>
        <p:spPr>
          <a:xfrm>
            <a:off x="457200" y="4160520"/>
            <a:ext cx="11277600" cy="20116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4297680"/>
            <a:ext cx="7315200" cy="274320"/>
          </a:xfrm>
          <a:prstGeom prst="rect">
            <a:avLst/>
          </a:prstGeom>
          <a:noFill/>
        </p:spPr>
        <p:txBody>
          <a:bodyPr wrap="square" lIns="0" rIns="0" tIns="0" bIns="0">
            <a:spAutoFit/>
          </a:bodyPr>
          <a:lstStyle/>
          <a:p>
            <a:pPr algn="l"/>
            <a:r>
              <a:rPr sz="1300" b="0" i="1">
                <a:solidFill>
                  <a:srgbClr val="0D0D0D"/>
                </a:solidFill>
                <a:latin typeface="Palatino Linotype"/>
              </a:rPr>
              <a:t>Deliverables register</a:t>
            </a:r>
          </a:p>
        </p:txBody>
      </p:sp>
      <p:sp>
        <p:nvSpPr>
          <p:cNvPr id="33" name="TextBox 32"/>
          <p:cNvSpPr txBox="1"/>
          <p:nvPr/>
        </p:nvSpPr>
        <p:spPr>
          <a:xfrm>
            <a:off x="685800" y="4709160"/>
            <a:ext cx="3515360" cy="274320"/>
          </a:xfrm>
          <a:prstGeom prst="rect">
            <a:avLst/>
          </a:prstGeom>
          <a:noFill/>
        </p:spPr>
        <p:txBody>
          <a:bodyPr wrap="square" lIns="0" rIns="0" tIns="0" bIns="0">
            <a:spAutoFit/>
          </a:bodyPr>
          <a:lstStyle/>
          <a:p>
            <a:pPr algn="l"/>
            <a:r>
              <a:rPr sz="1000" b="1" i="0">
                <a:solidFill>
                  <a:srgbClr val="0D0D0D"/>
                </a:solidFill>
                <a:latin typeface="Source Sans Pro"/>
              </a:rPr>
              <a:t>Notice text</a:t>
            </a:r>
          </a:p>
        </p:txBody>
      </p:sp>
      <p:cxnSp>
        <p:nvCxnSpPr>
          <p:cNvPr id="34" name="Connector 33"/>
          <p:cNvCxnSpPr/>
          <p:nvPr/>
        </p:nvCxnSpPr>
        <p:spPr>
          <a:xfrm>
            <a:off x="685800.0" y="5074920"/>
            <a:ext cx="351536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292600" y="4709160"/>
            <a:ext cx="3515360" cy="274320"/>
          </a:xfrm>
          <a:prstGeom prst="rect">
            <a:avLst/>
          </a:prstGeom>
          <a:noFill/>
        </p:spPr>
        <p:txBody>
          <a:bodyPr wrap="square" lIns="0" rIns="0" tIns="0" bIns="0">
            <a:spAutoFit/>
          </a:bodyPr>
          <a:lstStyle/>
          <a:p>
            <a:pPr algn="l"/>
            <a:r>
              <a:rPr sz="1000" b="1" i="0">
                <a:solidFill>
                  <a:srgbClr val="0D0D0D"/>
                </a:solidFill>
                <a:latin typeface="Source Sans Pro"/>
              </a:rPr>
              <a:t>Dossier index</a:t>
            </a:r>
          </a:p>
        </p:txBody>
      </p:sp>
      <p:cxnSp>
        <p:nvCxnSpPr>
          <p:cNvPr id="36" name="Connector 35"/>
          <p:cNvCxnSpPr/>
          <p:nvPr/>
        </p:nvCxnSpPr>
        <p:spPr>
          <a:xfrm>
            <a:off x="4292600.0" y="5074920"/>
            <a:ext cx="351536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899400" y="4709160"/>
            <a:ext cx="3515360" cy="274320"/>
          </a:xfrm>
          <a:prstGeom prst="rect">
            <a:avLst/>
          </a:prstGeom>
          <a:noFill/>
        </p:spPr>
        <p:txBody>
          <a:bodyPr wrap="square" lIns="0" rIns="0" tIns="0" bIns="0">
            <a:spAutoFit/>
          </a:bodyPr>
          <a:lstStyle/>
          <a:p>
            <a:pPr algn="l"/>
            <a:r>
              <a:rPr sz="1000" b="1" i="0">
                <a:solidFill>
                  <a:srgbClr val="0D0D0D"/>
                </a:solidFill>
                <a:latin typeface="Source Sans Pro"/>
              </a:rPr>
              <a:t>Hearing minutes</a:t>
            </a:r>
          </a:p>
        </p:txBody>
      </p:sp>
      <p:cxnSp>
        <p:nvCxnSpPr>
          <p:cNvPr id="38" name="Connector 37"/>
          <p:cNvCxnSpPr/>
          <p:nvPr/>
        </p:nvCxnSpPr>
        <p:spPr>
          <a:xfrm>
            <a:off x="7899400.0" y="5074920"/>
            <a:ext cx="351536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85800" y="5303520"/>
            <a:ext cx="3515360" cy="274320"/>
          </a:xfrm>
          <a:prstGeom prst="rect">
            <a:avLst/>
          </a:prstGeom>
          <a:noFill/>
        </p:spPr>
        <p:txBody>
          <a:bodyPr wrap="square" lIns="0" rIns="0" tIns="0" bIns="0">
            <a:spAutoFit/>
          </a:bodyPr>
          <a:lstStyle/>
          <a:p>
            <a:pPr algn="l"/>
            <a:r>
              <a:rPr sz="1000" b="1" i="0">
                <a:solidFill>
                  <a:srgbClr val="0D0D0D"/>
                </a:solidFill>
                <a:latin typeface="Source Sans Pro"/>
              </a:rPr>
              <a:t>Written submissions</a:t>
            </a:r>
          </a:p>
        </p:txBody>
      </p:sp>
      <p:cxnSp>
        <p:nvCxnSpPr>
          <p:cNvPr id="40" name="Connector 39"/>
          <p:cNvCxnSpPr/>
          <p:nvPr/>
        </p:nvCxnSpPr>
        <p:spPr>
          <a:xfrm>
            <a:off x="685800.0" y="5669280"/>
            <a:ext cx="351536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4292600" y="5303520"/>
            <a:ext cx="3515360" cy="274320"/>
          </a:xfrm>
          <a:prstGeom prst="rect">
            <a:avLst/>
          </a:prstGeom>
          <a:noFill/>
        </p:spPr>
        <p:txBody>
          <a:bodyPr wrap="square" lIns="0" rIns="0" tIns="0" bIns="0">
            <a:spAutoFit/>
          </a:bodyPr>
          <a:lstStyle/>
          <a:p>
            <a:pPr algn="l"/>
            <a:r>
              <a:rPr sz="1000" b="1" i="0">
                <a:solidFill>
                  <a:srgbClr val="0D0D0D"/>
                </a:solidFill>
                <a:latin typeface="Source Sans Pro"/>
              </a:rPr>
              <a:t>Commissioner report</a:t>
            </a:r>
          </a:p>
        </p:txBody>
      </p:sp>
      <p:cxnSp>
        <p:nvCxnSpPr>
          <p:cNvPr id="42" name="Connector 41"/>
          <p:cNvCxnSpPr/>
          <p:nvPr/>
        </p:nvCxnSpPr>
        <p:spPr>
          <a:xfrm>
            <a:off x="4292600.0" y="5669280"/>
            <a:ext cx="351536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899400" y="5303520"/>
            <a:ext cx="3515360" cy="274320"/>
          </a:xfrm>
          <a:prstGeom prst="rect">
            <a:avLst/>
          </a:prstGeom>
          <a:noFill/>
        </p:spPr>
        <p:txBody>
          <a:bodyPr wrap="square" lIns="0" rIns="0" tIns="0" bIns="0">
            <a:spAutoFit/>
          </a:bodyPr>
          <a:lstStyle/>
          <a:p>
            <a:pPr algn="l"/>
            <a:r>
              <a:rPr sz="1000" b="1" i="0">
                <a:solidFill>
                  <a:srgbClr val="0D0D0D"/>
                </a:solidFill>
                <a:latin typeface="Source Sans Pro"/>
              </a:rPr>
              <a:t>Decision letter</a:t>
            </a:r>
          </a:p>
        </p:txBody>
      </p:sp>
      <p:cxnSp>
        <p:nvCxnSpPr>
          <p:cNvPr id="44" name="Connector 43"/>
          <p:cNvCxnSpPr/>
          <p:nvPr/>
        </p:nvCxnSpPr>
        <p:spPr>
          <a:xfrm>
            <a:off x="7899400.0" y="5669280"/>
            <a:ext cx="351536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45" name="Picture 44"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46" name="TextBox 45"/>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72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