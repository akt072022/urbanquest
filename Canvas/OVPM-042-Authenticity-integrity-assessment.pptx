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42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Authenticity &amp; integrity assessment</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structured matrix providing a quantitative and qualitative score that defines the degree to which a site retains its original architectural character and its intangible cultural meaning for the community,.</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sp>
        <p:nvSpPr>
          <p:cNvPr id="10" name="Rounded Rectangle 9"/>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42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Authenticity &amp; integrity assessment</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Defending the soul of a place against the homogenization of modern development; ensuring that a building remains a genuine witness to its own history, rather than a sterile replica.</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structured matrix providing a quantitative and qualitative score that defines the degree to which a site retains its original architectural character and its intangible cultural meaning for the community,.</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6 weeks of multidisciplinary assessment
Material  ·  QAAM scoring grids, PAM templates, HBIF forms, community workshop facilitation guides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International conservation experts utilized the Quantitative Architecture Authenticity Matrix (QAAM) framework to assess diverse heritage buildings globally. By combining measurable architectural indicators (tangible) with culturally rooted community narratives (intangible) via the PAM matrix, they avoided purely subjective decisions, offering a highly adaptable and rigorous score that guides future conservation planning,,.</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42  ·  ANIMATION CANVAS  ·  </a:t>
            </a:r>
            <a:r>
              <a:rPr sz="1000" b="1" i="0">
                <a:solidFill>
                  <a:srgbClr val="0D0D0D"/>
                </a:solidFill>
                <a:latin typeface="Source Sans Pro"/>
              </a:rPr>
              <a:t>AUTHENTICITY &amp; INTEGRITY ASSESSMENT</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Authenticity × integrity matrix</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6 weeks of multidisciplinary assessment</a:t>
            </a:r>
          </a:p>
        </p:txBody>
      </p:sp>
      <p:sp>
        <p:nvSpPr>
          <p:cNvPr id="6" name="Rounded Rectangle 5"/>
          <p:cNvSpPr/>
          <p:nvPr/>
        </p:nvSpPr>
        <p:spPr>
          <a:xfrm>
            <a:off x="457200" y="1417320"/>
            <a:ext cx="112776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7315200" cy="365760"/>
          </a:xfrm>
          <a:prstGeom prst="rect">
            <a:avLst/>
          </a:prstGeom>
          <a:noFill/>
        </p:spPr>
        <p:txBody>
          <a:bodyPr wrap="square" lIns="0" rIns="0" tIns="0" bIns="0">
            <a:spAutoFit/>
          </a:bodyPr>
          <a:lstStyle/>
          <a:p>
            <a:pPr algn="l"/>
            <a:r>
              <a:rPr sz="1400" b="0" i="1">
                <a:solidFill>
                  <a:srgbClr val="0D0D0D"/>
                </a:solidFill>
                <a:latin typeface="Palatino Linotype"/>
              </a:rPr>
              <a:t>Authenticity (true vs altered) × Integrity (whole vs fragmented)</a:t>
            </a:r>
          </a:p>
        </p:txBody>
      </p:sp>
      <p:cxnSp>
        <p:nvCxnSpPr>
          <p:cNvPr id="8" name="Connector 7"/>
          <p:cNvCxnSpPr/>
          <p:nvPr/>
        </p:nvCxnSpPr>
        <p:spPr>
          <a:xfrm>
            <a:off x="6553200.0" y="2240280"/>
            <a:ext cx="0.0" cy="3657600"/>
          </a:xfrm>
          <a:prstGeom prst="line">
            <a:avLst/>
          </a:prstGeom>
          <a:ln w="8890">
            <a:solidFill>
              <a:srgbClr val="0D0D0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828800" y="4069080.0"/>
            <a:ext cx="9448800" cy="0.0"/>
          </a:xfrm>
          <a:prstGeom prst="line">
            <a:avLst/>
          </a:prstGeom>
          <a:ln w="8890">
            <a:solidFill>
              <a:srgbClr val="0D0D0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828800" y="6035040"/>
            <a:ext cx="9448800" cy="274320"/>
          </a:xfrm>
          <a:prstGeom prst="rect">
            <a:avLst/>
          </a:prstGeom>
          <a:noFill/>
        </p:spPr>
        <p:txBody>
          <a:bodyPr wrap="square" lIns="0" rIns="0" tIns="0" bIns="0">
            <a:spAutoFit/>
          </a:bodyPr>
          <a:lstStyle/>
          <a:p>
            <a:pPr algn="ctr"/>
            <a:r>
              <a:rPr sz="1100" b="1" i="0">
                <a:solidFill>
                  <a:srgbClr val="0D0D0D"/>
                </a:solidFill>
                <a:latin typeface="Source Sans Pro"/>
              </a:rPr>
              <a:t>Integrity (whole vs fragmented)</a:t>
            </a:r>
          </a:p>
        </p:txBody>
      </p:sp>
      <p:sp>
        <p:nvSpPr>
          <p:cNvPr id="11" name="TextBox 10"/>
          <p:cNvSpPr txBox="1"/>
          <p:nvPr/>
        </p:nvSpPr>
        <p:spPr>
          <a:xfrm>
            <a:off x="685800" y="3886200"/>
            <a:ext cx="1097280" cy="365760"/>
          </a:xfrm>
          <a:prstGeom prst="rect">
            <a:avLst/>
          </a:prstGeom>
          <a:noFill/>
        </p:spPr>
        <p:txBody>
          <a:bodyPr wrap="square" lIns="0" rIns="0" tIns="0" bIns="0" anchor="ctr">
            <a:spAutoFit/>
          </a:bodyPr>
          <a:lstStyle/>
          <a:p>
            <a:pPr algn="l"/>
            <a:r>
              <a:rPr sz="1100" b="1" i="0">
                <a:solidFill>
                  <a:srgbClr val="0D0D0D"/>
                </a:solidFill>
                <a:latin typeface="Source Sans Pro"/>
              </a:rPr>
              <a:t>Authenticity (true vs altered)</a:t>
            </a:r>
          </a:p>
        </p:txBody>
      </p:sp>
      <p:sp>
        <p:nvSpPr>
          <p:cNvPr id="12" name="Rounded Rectangle 11"/>
          <p:cNvSpPr/>
          <p:nvPr/>
        </p:nvSpPr>
        <p:spPr>
          <a:xfrm>
            <a:off x="6736080" y="2423160"/>
            <a:ext cx="1828800" cy="32918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Reference case</a:t>
            </a:r>
          </a:p>
        </p:txBody>
      </p:sp>
      <p:sp>
        <p:nvSpPr>
          <p:cNvPr id="13" name="Rounded Rectangle 12"/>
          <p:cNvSpPr/>
          <p:nvPr/>
        </p:nvSpPr>
        <p:spPr>
          <a:xfrm>
            <a:off x="2011680" y="2423160"/>
            <a:ext cx="182880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Fragile authentic</a:t>
            </a:r>
          </a:p>
        </p:txBody>
      </p:sp>
      <p:sp>
        <p:nvSpPr>
          <p:cNvPr id="14" name="Rounded Rectangle 13"/>
          <p:cNvSpPr/>
          <p:nvPr/>
        </p:nvSpPr>
        <p:spPr>
          <a:xfrm>
            <a:off x="6736080" y="4251960"/>
            <a:ext cx="1828800" cy="329184"/>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Restored value</a:t>
            </a:r>
          </a:p>
        </p:txBody>
      </p:sp>
      <p:sp>
        <p:nvSpPr>
          <p:cNvPr id="15" name="Rounded Rectangle 14"/>
          <p:cNvSpPr/>
          <p:nvPr/>
        </p:nvSpPr>
        <p:spPr>
          <a:xfrm>
            <a:off x="2011680" y="4251960"/>
            <a:ext cx="1828800" cy="32918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Compromised</a:t>
            </a:r>
          </a:p>
        </p:txBody>
      </p:sp>
      <p:sp>
        <p:nvSpPr>
          <p:cNvPr id="16" name="TextBox 1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Map sites by their position. Restore upward. Document dissent.</a:t>
            </a:r>
          </a:p>
        </p:txBody>
      </p:sp>
      <p:pic>
        <p:nvPicPr>
          <p:cNvPr id="17" name="Picture 1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18" name="TextBox 1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42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