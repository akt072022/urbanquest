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24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Community asset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co-created spatial inventory of tangible assets (parks, local businesses) and intangible assets (cultural knowledge, trusted community leaders) that define the neighborhood's capacity,.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1" name="Rounded Rectangle 10"/>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Community asset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Looking at a marginalized neighborhood and seeing abundance rather than poverty; honoring the existing resilience, skills, and creativity of the people who already live there.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co-created spatial inventory of tangible assets (parks, local businesses) and intangible assets (cultural knowledge, trusted community leaders) that define the neighborhood's capacity,.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workshops (2 hours each), plus ongoing digital updates
Material  ·  Large printed maps, multi-colored markers/stickers, digital mapping software, clipboards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ELFT QI Community Mapping Toolkit demonstrates how mapping assets·ranging from physical spaces to local networks·allows residents to highlight the unique value of their environment. By allowing different users to mark the map based on their individual experiences (e.g., adding pop-up bubbles with text on digital maps), organizations capture a truly holistic, asset-based view of the neighborhood's potential,.</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24  ·  ANIMATION CANVAS  ·  </a:t>
            </a:r>
            <a:r>
              <a:rPr sz="1000" b="1" i="0">
                <a:solidFill>
                  <a:srgbClr val="0D0D0D"/>
                </a:solidFill>
                <a:latin typeface="Source Sans Pro"/>
              </a:rPr>
              <a:t>COMMUNITY ASSET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Asset wheel · what the community already has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workshops (2 hours each), plus ongoing digital u…</a:t>
            </a:r>
          </a:p>
        </p:txBody>
      </p:sp>
      <p:sp>
        <p:nvSpPr>
          <p:cNvPr id="6" name="Oval 5"/>
          <p:cNvSpPr/>
          <p:nvPr/>
        </p:nvSpPr>
        <p:spPr>
          <a:xfrm>
            <a:off x="1097280" y="2057400"/>
            <a:ext cx="3657600" cy="3657600"/>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19072" y="2679192"/>
            <a:ext cx="2414016" cy="2414016"/>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22576" y="3282696"/>
            <a:ext cx="1207008" cy="1207008"/>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2926080" y="2057400"/>
            <a:ext cx="0" cy="18288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926080" y="2593043"/>
            <a:ext cx="1293156" cy="1293157"/>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3886200"/>
            <a:ext cx="1828800" cy="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926080" y="3886200"/>
            <a:ext cx="1293156" cy="1293156"/>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926080" y="3886200"/>
            <a:ext cx="0" cy="18288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632923" y="3886200"/>
            <a:ext cx="1293157" cy="1293156"/>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097280" y="3886200"/>
            <a:ext cx="1828800" cy="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632923" y="2593043"/>
            <a:ext cx="1293157" cy="1293157"/>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60814" y="1545611"/>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Individual
skills</a:t>
            </a:r>
          </a:p>
        </p:txBody>
      </p:sp>
      <p:sp>
        <p:nvSpPr>
          <p:cNvPr id="18" name="Oval 17"/>
          <p:cNvSpPr/>
          <p:nvPr/>
        </p:nvSpPr>
        <p:spPr>
          <a:xfrm>
            <a:off x="3429513" y="2358607"/>
            <a:ext cx="182880" cy="18288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7988" y="2782785"/>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Associations</a:t>
            </a:r>
          </a:p>
        </p:txBody>
      </p:sp>
      <p:sp>
        <p:nvSpPr>
          <p:cNvPr id="20" name="Oval 19"/>
          <p:cNvSpPr/>
          <p:nvPr/>
        </p:nvSpPr>
        <p:spPr>
          <a:xfrm>
            <a:off x="4270792" y="3199886"/>
            <a:ext cx="182880" cy="182880"/>
          </a:xfrm>
          <a:prstGeom prst="ellipse">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97988" y="4532414"/>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Local economy</a:t>
            </a:r>
          </a:p>
        </p:txBody>
      </p:sp>
      <p:sp>
        <p:nvSpPr>
          <p:cNvPr id="22" name="Oval 21"/>
          <p:cNvSpPr/>
          <p:nvPr/>
        </p:nvSpPr>
        <p:spPr>
          <a:xfrm>
            <a:off x="4270792" y="4389633"/>
            <a:ext cx="182880" cy="182880"/>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0814" y="5769588"/>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Public spaces</a:t>
            </a:r>
          </a:p>
        </p:txBody>
      </p:sp>
      <p:sp>
        <p:nvSpPr>
          <p:cNvPr id="24" name="Oval 23"/>
          <p:cNvSpPr/>
          <p:nvPr/>
        </p:nvSpPr>
        <p:spPr>
          <a:xfrm>
            <a:off x="3429513" y="5230912"/>
            <a:ext cx="182880" cy="182880"/>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11185" y="5769588"/>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Stories &amp;
identity</a:t>
            </a:r>
          </a:p>
        </p:txBody>
      </p:sp>
      <p:sp>
        <p:nvSpPr>
          <p:cNvPr id="26" name="Oval 25"/>
          <p:cNvSpPr/>
          <p:nvPr/>
        </p:nvSpPr>
        <p:spPr>
          <a:xfrm>
            <a:off x="2239766" y="5230912"/>
            <a:ext cx="182880" cy="182880"/>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4011" y="4532414"/>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Natural
assets</a:t>
            </a:r>
          </a:p>
        </p:txBody>
      </p:sp>
      <p:sp>
        <p:nvSpPr>
          <p:cNvPr id="28" name="Oval 27"/>
          <p:cNvSpPr/>
          <p:nvPr/>
        </p:nvSpPr>
        <p:spPr>
          <a:xfrm>
            <a:off x="1398487" y="4389633"/>
            <a:ext cx="182880" cy="182880"/>
          </a:xfrm>
          <a:prstGeom prst="ellipse">
            <a:avLst/>
          </a:prstGeom>
          <a:solidFill>
            <a:srgbClr val="A8C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4011" y="2782785"/>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Built
heritage</a:t>
            </a:r>
          </a:p>
        </p:txBody>
      </p:sp>
      <p:sp>
        <p:nvSpPr>
          <p:cNvPr id="30" name="Oval 29"/>
          <p:cNvSpPr/>
          <p:nvPr/>
        </p:nvSpPr>
        <p:spPr>
          <a:xfrm>
            <a:off x="1398487" y="3199886"/>
            <a:ext cx="182880" cy="182880"/>
          </a:xfrm>
          <a:prstGeom prst="ellipse">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1185" y="1545611"/>
            <a:ext cx="1280160" cy="457200"/>
          </a:xfrm>
          <a:prstGeom prst="rect">
            <a:avLst/>
          </a:prstGeom>
          <a:noFill/>
        </p:spPr>
        <p:txBody>
          <a:bodyPr wrap="square" lIns="0" rIns="0" tIns="0" bIns="0" anchor="ctr">
            <a:spAutoFit/>
          </a:bodyPr>
          <a:lstStyle/>
          <a:p>
            <a:pPr algn="ctr"/>
            <a:r>
              <a:rPr sz="900" b="1" i="0">
                <a:solidFill>
                  <a:srgbClr val="0D0D0D"/>
                </a:solidFill>
                <a:latin typeface="Source Sans Pro"/>
              </a:rPr>
              <a:t>Networks</a:t>
            </a:r>
          </a:p>
        </p:txBody>
      </p:sp>
      <p:sp>
        <p:nvSpPr>
          <p:cNvPr id="32" name="Oval 31"/>
          <p:cNvSpPr/>
          <p:nvPr/>
        </p:nvSpPr>
        <p:spPr>
          <a:xfrm>
            <a:off x="2239766" y="2358607"/>
            <a:ext cx="182880" cy="182880"/>
          </a:xfrm>
          <a:prstGeom prst="ellipse">
            <a:avLst/>
          </a:prstGeom>
          <a:solidFill>
            <a:srgbClr val="336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468880" y="3429000"/>
            <a:ext cx="914400" cy="914400"/>
          </a:xfrm>
          <a:prstGeom prst="ellipse">
            <a:avLst/>
          </a:prstGeom>
          <a:solidFill>
            <a:srgbClr val="FFD200"/>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68880" y="3429000"/>
            <a:ext cx="914400" cy="914400"/>
          </a:xfrm>
          <a:prstGeom prst="rect">
            <a:avLst/>
          </a:prstGeom>
          <a:noFill/>
        </p:spPr>
        <p:txBody>
          <a:bodyPr wrap="square" lIns="0" rIns="0" tIns="0" bIns="0" anchor="ctr">
            <a:spAutoFit/>
          </a:bodyPr>
          <a:lstStyle/>
          <a:p>
            <a:pPr algn="ctr"/>
            <a:r>
              <a:rPr sz="1000" b="1" i="1">
                <a:solidFill>
                  <a:srgbClr val="0D0D0D"/>
                </a:solidFill>
                <a:latin typeface="Palatino Linotype"/>
              </a:rPr>
              <a:t>community</a:t>
            </a:r>
          </a:p>
        </p:txBody>
      </p:sp>
      <p:sp>
        <p:nvSpPr>
          <p:cNvPr id="35" name="Rounded Rectangle 34"/>
          <p:cNvSpPr/>
          <p:nvPr/>
        </p:nvSpPr>
        <p:spPr>
          <a:xfrm>
            <a:off x="5943600" y="1417320"/>
            <a:ext cx="5791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72200" y="1554480"/>
            <a:ext cx="5334000" cy="274320"/>
          </a:xfrm>
          <a:prstGeom prst="rect">
            <a:avLst/>
          </a:prstGeom>
          <a:noFill/>
        </p:spPr>
        <p:txBody>
          <a:bodyPr wrap="square" lIns="0" rIns="0" tIns="0" bIns="0">
            <a:spAutoFit/>
          </a:bodyPr>
          <a:lstStyle/>
          <a:p>
            <a:pPr algn="l"/>
            <a:r>
              <a:rPr sz="1300" b="0" i="1">
                <a:solidFill>
                  <a:srgbClr val="0D0D0D"/>
                </a:solidFill>
                <a:latin typeface="Palatino Linotype"/>
              </a:rPr>
              <a:t>Assets identified</a:t>
            </a:r>
          </a:p>
        </p:txBody>
      </p:sp>
      <p:sp>
        <p:nvSpPr>
          <p:cNvPr id="37" name="Oval 36"/>
          <p:cNvSpPr/>
          <p:nvPr/>
        </p:nvSpPr>
        <p:spPr>
          <a:xfrm>
            <a:off x="6126480" y="1975104"/>
            <a:ext cx="256032" cy="256032"/>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197510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1</a:t>
            </a:r>
          </a:p>
        </p:txBody>
      </p:sp>
      <p:cxnSp>
        <p:nvCxnSpPr>
          <p:cNvPr id="39" name="Connector 38"/>
          <p:cNvCxnSpPr/>
          <p:nvPr/>
        </p:nvCxnSpPr>
        <p:spPr>
          <a:xfrm>
            <a:off x="6492240" y="212140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126480" y="2478024"/>
            <a:ext cx="256032" cy="256032"/>
          </a:xfrm>
          <a:prstGeom prst="ellipse">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0" y="247802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2</a:t>
            </a:r>
          </a:p>
        </p:txBody>
      </p:sp>
      <p:cxnSp>
        <p:nvCxnSpPr>
          <p:cNvPr id="42" name="Connector 41"/>
          <p:cNvCxnSpPr/>
          <p:nvPr/>
        </p:nvCxnSpPr>
        <p:spPr>
          <a:xfrm>
            <a:off x="6492240" y="262432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126480" y="2980944"/>
            <a:ext cx="256032" cy="256032"/>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26480" y="298094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3</a:t>
            </a:r>
          </a:p>
        </p:txBody>
      </p:sp>
      <p:cxnSp>
        <p:nvCxnSpPr>
          <p:cNvPr id="45" name="Connector 44"/>
          <p:cNvCxnSpPr/>
          <p:nvPr/>
        </p:nvCxnSpPr>
        <p:spPr>
          <a:xfrm>
            <a:off x="6492240" y="312724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6126480" y="3483864"/>
            <a:ext cx="256032" cy="256032"/>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26480" y="348386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4</a:t>
            </a:r>
          </a:p>
        </p:txBody>
      </p:sp>
      <p:cxnSp>
        <p:nvCxnSpPr>
          <p:cNvPr id="48" name="Connector 47"/>
          <p:cNvCxnSpPr/>
          <p:nvPr/>
        </p:nvCxnSpPr>
        <p:spPr>
          <a:xfrm>
            <a:off x="6492240" y="363016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6126480" y="3986784"/>
            <a:ext cx="256032" cy="256032"/>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6480" y="398678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5</a:t>
            </a:r>
          </a:p>
        </p:txBody>
      </p:sp>
      <p:cxnSp>
        <p:nvCxnSpPr>
          <p:cNvPr id="51" name="Connector 50"/>
          <p:cNvCxnSpPr/>
          <p:nvPr/>
        </p:nvCxnSpPr>
        <p:spPr>
          <a:xfrm>
            <a:off x="6492240" y="413308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6126480" y="4489704"/>
            <a:ext cx="256032" cy="256032"/>
          </a:xfrm>
          <a:prstGeom prst="ellipse">
            <a:avLst/>
          </a:prstGeom>
          <a:solidFill>
            <a:srgbClr val="A8C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26480" y="448970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6</a:t>
            </a:r>
          </a:p>
        </p:txBody>
      </p:sp>
      <p:cxnSp>
        <p:nvCxnSpPr>
          <p:cNvPr id="54" name="Connector 53"/>
          <p:cNvCxnSpPr/>
          <p:nvPr/>
        </p:nvCxnSpPr>
        <p:spPr>
          <a:xfrm>
            <a:off x="6492240" y="463600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126480" y="4992624"/>
            <a:ext cx="256032" cy="256032"/>
          </a:xfrm>
          <a:prstGeom prst="ellipse">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26480" y="499262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7</a:t>
            </a:r>
          </a:p>
        </p:txBody>
      </p:sp>
      <p:cxnSp>
        <p:nvCxnSpPr>
          <p:cNvPr id="57" name="Connector 56"/>
          <p:cNvCxnSpPr/>
          <p:nvPr/>
        </p:nvCxnSpPr>
        <p:spPr>
          <a:xfrm>
            <a:off x="6492240" y="513892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126480" y="5495544"/>
            <a:ext cx="256032" cy="256032"/>
          </a:xfrm>
          <a:prstGeom prst="ellipse">
            <a:avLst/>
          </a:prstGeom>
          <a:solidFill>
            <a:srgbClr val="336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26480" y="5495544"/>
            <a:ext cx="256032" cy="256032"/>
          </a:xfrm>
          <a:prstGeom prst="rect">
            <a:avLst/>
          </a:prstGeom>
          <a:noFill/>
        </p:spPr>
        <p:txBody>
          <a:bodyPr wrap="square" lIns="0" rIns="0" tIns="0" bIns="0" anchor="ctr">
            <a:spAutoFit/>
          </a:bodyPr>
          <a:lstStyle/>
          <a:p>
            <a:pPr algn="ctr"/>
            <a:r>
              <a:rPr sz="900" b="1" i="0">
                <a:solidFill>
                  <a:srgbClr val="0D0D0D"/>
                </a:solidFill>
                <a:latin typeface="Source Sans Pro"/>
              </a:rPr>
              <a:t>8</a:t>
            </a:r>
          </a:p>
        </p:txBody>
      </p:sp>
      <p:cxnSp>
        <p:nvCxnSpPr>
          <p:cNvPr id="60" name="Connector 59"/>
          <p:cNvCxnSpPr/>
          <p:nvPr/>
        </p:nvCxnSpPr>
        <p:spPr>
          <a:xfrm>
            <a:off x="6492240" y="5641848"/>
            <a:ext cx="5013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1" name="Picture 60"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2" name="TextBox 61"/>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