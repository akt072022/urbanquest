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D0D0D"/>
                </a:solidFill>
                <a:latin typeface="Source Sans Pro"/>
              </a:rPr>
              <a:t>OVPM Co-Design Toolkit  ·  Tool 55 of 133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5760" y="5029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1">
                <a:solidFill>
                  <a:srgbClr val="0D0D0D"/>
                </a:solidFill>
                <a:latin typeface="Palatino Linotype"/>
              </a:rPr>
              <a:t>Method canvas for co-design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109472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0" i="0">
                <a:solidFill>
                  <a:srgbClr val="0D0D0D"/>
                </a:solidFill>
                <a:latin typeface="Palatino Linotype"/>
              </a:rPr>
              <a:t>Experience prototyping with zoning mock-ups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93192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D0D0D"/>
                </a:solidFill>
                <a:latin typeface="Source Sans Pro"/>
              </a:rPr>
              <a:t>What this tool produces  ·  </a:t>
            </a:r>
            <a:r>
              <a:rPr sz="1500" b="0" i="1">
                <a:solidFill>
                  <a:srgbClr val="0D0D0D"/>
                </a:solidFill>
                <a:latin typeface="Palatino Linotype"/>
              </a:rPr>
              <a:t>Physical, life-size simulations of proposed spatial footprints or building volumes, coupled with direct observational data on how people react to the new constraints.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21208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FFFFFF"/>
                </a:solidFill>
                <a:latin typeface="Source Sans Pro"/>
              </a:rPr>
              <a:t>G2 · Proof of Fit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6692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D0D0D"/>
                </a:solidFill>
                <a:latin typeface="Source Sans Pro"/>
              </a:rPr>
              <a:t>Dimensions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943600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000">
                <a:solidFill>
                  <a:srgbClr val="0D0D0D"/>
                </a:solidFill>
                <a:latin typeface="Source Sans Pro"/>
              </a:rPr>
              <a:t>Regulation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47088" y="5943600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000">
                <a:solidFill>
                  <a:srgbClr val="0D0D0D"/>
                </a:solidFill>
                <a:latin typeface="Source Sans Pro"/>
              </a:rPr>
              <a:t>Spatial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45536" y="5943600"/>
            <a:ext cx="1376172" cy="329184"/>
          </a:xfrm>
          <a:prstGeom prst="roundRect">
            <a:avLst>
              <a:gd name="adj" fmla="val 50000"/>
            </a:avLst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000">
                <a:solidFill>
                  <a:srgbClr val="0D0D0D"/>
                </a:solidFill>
                <a:latin typeface="Source Sans Pro"/>
              </a:rPr>
              <a:t>Social / User</a:t>
            </a:r>
          </a:p>
        </p:txBody>
      </p:sp>
      <p:pic>
        <p:nvPicPr>
          <p:cNvPr id="12" name="Picture 11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1760" y="6024114"/>
            <a:ext cx="1371600" cy="33096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71760" y="63950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Source Sans Pro"/>
              </a:rPr>
              <a:t>TOOL 55  ·  FACILITATOR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0D0D0D"/>
                </a:solidFill>
                <a:latin typeface="Palatino Linotype"/>
              </a:rPr>
              <a:t>Preparing the workshop  ·  </a:t>
            </a:r>
            <a:r>
              <a:rPr sz="2800" b="0" i="1">
                <a:solidFill>
                  <a:srgbClr val="0D0D0D"/>
                </a:solidFill>
                <a:latin typeface="Palatino Linotype"/>
              </a:rPr>
              <a:t>Experience prototyping with zoning mock-ups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G2 · Proof of Fit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03120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2267712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4028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Why this tool matters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06040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Pulling abstract legal codes down from the statute books and drawing them onto the dirt, allowing citizens to judge the law with their own bodies.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2103120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2267712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224028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Evidence we produce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606040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Physical, life-size simulations of proposed spatial footprints or building volumes, coupled with direct observational data on how people react to the new constraints.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160519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4325111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297679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Duration &amp; Material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663439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Duration  ·  2 to 3 days for construction and testing
Material  ·  Marking tape, cardboard, PVC pipes, temporary building materials, feedback forms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80760" y="4160519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4325111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4297679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Reference case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4663439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The Pop-up Town Hall project temporarily deployed flexible, life-size carbon fiber structures in underutilized spaces across New York, Berlin, and Mumbai. This experience prototyping provided a physical platform for citizens, scholars, and planners to engage directly with experimental ideas and collaboratively explore the future dimensions of urban spaces before permanent structures were built.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03504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D0D0D"/>
                </a:solidFill>
                <a:latin typeface="Source Sans Pro"/>
              </a:rPr>
              <a:t>Suggested agenda  ·  </a:t>
            </a:r>
            <a:r>
              <a:rPr sz="1000" b="0" i="0">
                <a:solidFill>
                  <a:srgbClr val="757575"/>
                </a:solidFill>
                <a:latin typeface="Source Sans Pro"/>
              </a:rPr>
              <a:t>Brief (10 min)  ›  Method walk-through (15 min)  ›  Animation canvas (60–90 min)  ›  Harvest (20 min)</a:t>
            </a:r>
          </a:p>
        </p:txBody>
      </p:sp>
      <p:pic>
        <p:nvPicPr>
          <p:cNvPr id="23" name="Picture 22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680" y="6214844"/>
            <a:ext cx="960120" cy="23167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774680" y="64665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Source Sans Pro"/>
              </a:rPr>
              <a:t>TOOL 55  ·  ANIMATION CANVAS  ·  </a:t>
            </a:r>
            <a:r>
              <a:rPr sz="1000" b="1" i="0">
                <a:solidFill>
                  <a:srgbClr val="0D0D0D"/>
                </a:solidFill>
                <a:latin typeface="Source Sans Pro"/>
              </a:rPr>
              <a:t>EXPERIENCE PROTOTYPING WITH ZONING MOCK-UPS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0" i="0">
                <a:solidFill>
                  <a:srgbClr val="0D0D0D"/>
                </a:solidFill>
                <a:latin typeface="Palatino Linotype"/>
              </a:rPr>
              <a:t>Three scenario mock-ups · A · B · 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640080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1" i="0">
                <a:solidFill>
                  <a:srgbClr val="757575"/>
                </a:solidFill>
                <a:latin typeface="Source Sans Pro"/>
              </a:rPr>
              <a:t>Duration</a:t>
            </a:r>
          </a:p>
          <a:p>
            <a:pPr algn="r"/>
            <a:r>
              <a:rPr sz="1000" b="0" i="0">
                <a:solidFill>
                  <a:srgbClr val="0D0D0D"/>
                </a:solidFill>
                <a:latin typeface="Source Sans Pro"/>
              </a:rPr>
              <a:t>2 to 3 days for construction and testing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3625088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600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Scenario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57400"/>
            <a:ext cx="316788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0D0D0D"/>
                </a:solidFill>
                <a:latin typeface="Palatino Linotype"/>
              </a:rPr>
              <a:t>Current zoning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514600"/>
            <a:ext cx="3167888" cy="1828800"/>
          </a:xfrm>
          <a:prstGeom prst="rect">
            <a:avLst/>
          </a:prstGeom>
          <a:solidFill>
            <a:srgbClr val="EEECE6"/>
          </a:solidFill>
          <a:ln w="508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514600"/>
            <a:ext cx="3167888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1">
                <a:solidFill>
                  <a:srgbClr val="757575"/>
                </a:solidFill>
                <a:latin typeface="Palatino Linotype"/>
              </a:rPr>
              <a:t>3D / plan mock-up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4526280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00E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000">
                <a:solidFill>
                  <a:srgbClr val="0D0D0D"/>
                </a:solidFill>
                <a:latin typeface="Source Sans Pro"/>
              </a:rPr>
              <a:t>Pros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148840.0" y="4690872"/>
            <a:ext cx="1704848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85800" y="5029200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FF6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000">
                <a:solidFill>
                  <a:srgbClr val="0D0D0D"/>
                </a:solidFill>
                <a:latin typeface="Source Sans Pro"/>
              </a:rPr>
              <a:t>Cons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148840.0" y="5193792"/>
            <a:ext cx="1704848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85800" y="5532120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000">
                <a:solidFill>
                  <a:srgbClr val="0D0D0D"/>
                </a:solidFill>
                <a:latin typeface="Source Sans Pro"/>
              </a:rPr>
              <a:t>Open question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148840.0" y="5696712"/>
            <a:ext cx="1704848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283456" y="1417320"/>
            <a:ext cx="3625088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512056" y="1600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FF6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Scenario 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12056" y="2057400"/>
            <a:ext cx="316788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0D0D0D"/>
                </a:solidFill>
                <a:latin typeface="Palatino Linotype"/>
              </a:rPr>
              <a:t>Mixed-use proposal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12056" y="2514600"/>
            <a:ext cx="3167888" cy="1828800"/>
          </a:xfrm>
          <a:prstGeom prst="rect">
            <a:avLst/>
          </a:prstGeom>
          <a:solidFill>
            <a:srgbClr val="EEECE6"/>
          </a:solidFill>
          <a:ln w="508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12056" y="2514600"/>
            <a:ext cx="3167888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1">
                <a:solidFill>
                  <a:srgbClr val="757575"/>
                </a:solidFill>
                <a:latin typeface="Palatino Linotype"/>
              </a:rPr>
              <a:t>3D / plan mock-up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12056" y="4526280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00E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000">
                <a:solidFill>
                  <a:srgbClr val="0D0D0D"/>
                </a:solidFill>
                <a:latin typeface="Source Sans Pro"/>
              </a:rPr>
              <a:t>Pros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975096.0" y="4690872"/>
            <a:ext cx="1704848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4512056" y="5029200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FF6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000">
                <a:solidFill>
                  <a:srgbClr val="0D0D0D"/>
                </a:solidFill>
                <a:latin typeface="Source Sans Pro"/>
              </a:rPr>
              <a:t>Cons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975096.0" y="5193792"/>
            <a:ext cx="1704848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4512056" y="5532120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000">
                <a:solidFill>
                  <a:srgbClr val="0D0D0D"/>
                </a:solidFill>
                <a:latin typeface="Source Sans Pro"/>
              </a:rPr>
              <a:t>Open question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975096.0" y="5696712"/>
            <a:ext cx="1704848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8109712" y="1417320"/>
            <a:ext cx="3625088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338312" y="1600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0E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Scenario 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38312" y="2057400"/>
            <a:ext cx="316788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0D0D0D"/>
                </a:solidFill>
                <a:latin typeface="Palatino Linotype"/>
              </a:rPr>
              <a:t>Bold rezone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338312" y="2514600"/>
            <a:ext cx="3167888" cy="1828800"/>
          </a:xfrm>
          <a:prstGeom prst="rect">
            <a:avLst/>
          </a:prstGeom>
          <a:solidFill>
            <a:srgbClr val="EEECE6"/>
          </a:solidFill>
          <a:ln w="508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38312" y="2514600"/>
            <a:ext cx="3167888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1">
                <a:solidFill>
                  <a:srgbClr val="757575"/>
                </a:solidFill>
                <a:latin typeface="Palatino Linotype"/>
              </a:rPr>
              <a:t>3D / plan mock-up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338312" y="4526280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00E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000">
                <a:solidFill>
                  <a:srgbClr val="0D0D0D"/>
                </a:solidFill>
                <a:latin typeface="Source Sans Pro"/>
              </a:rPr>
              <a:t>Pros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801352.0" y="4690872"/>
            <a:ext cx="1704848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8338312" y="5029200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FF6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000">
                <a:solidFill>
                  <a:srgbClr val="0D0D0D"/>
                </a:solidFill>
                <a:latin typeface="Source Sans Pro"/>
              </a:rPr>
              <a:t>Cons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801352.0" y="5193792"/>
            <a:ext cx="1704848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8338312" y="5532120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000">
                <a:solidFill>
                  <a:srgbClr val="0D0D0D"/>
                </a:solidFill>
                <a:latin typeface="Source Sans Pro"/>
              </a:rPr>
              <a:t>Open question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801352.0" y="5696712"/>
            <a:ext cx="1704848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9" name="Picture 38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680" y="6214844"/>
            <a:ext cx="960120" cy="231676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774680" y="64665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Source Sans Pro"/>
              </a:rPr>
              <a:t>TOOL 55  ·  HARVEST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0D0D0D"/>
                </a:solidFill>
                <a:latin typeface="Palatino Linotype"/>
              </a:rPr>
              <a:t>Harvesting our  </a:t>
            </a:r>
            <a:r>
              <a:rPr sz="2800" b="0" i="1">
                <a:solidFill>
                  <a:srgbClr val="0D0D0D"/>
                </a:solidFill>
                <a:latin typeface="Palatino Linotype"/>
              </a:rPr>
              <a:t>learnings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757575"/>
                </a:solidFill>
                <a:latin typeface="Palatino Linotype"/>
              </a:rPr>
              <a:t>After running the canvas, capture three layers of insight.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011680"/>
            <a:ext cx="360680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514600"/>
            <a:ext cx="2966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Stand-out signals, surprising stories, ideas to remember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.0" y="315468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77240.0" y="353872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77240.0" y="3922776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77240.0" y="4306824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77240.0" y="4690872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7240.0" y="507492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7240.0" y="545896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292600" y="2011680"/>
            <a:ext cx="360680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2640" y="2514600"/>
            <a:ext cx="2966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Concrete adaptations to our context, our team, our constraints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612640.0" y="315468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612640.0" y="353872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612640.0" y="3922776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612640.0" y="4306824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612640.0" y="4690872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612640.0" y="507492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612640.0" y="545896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128000" y="2011680"/>
            <a:ext cx="360680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48040" y="2514600"/>
            <a:ext cx="2966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Skills, allies, resources, decisions still to secure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48040.0" y="315468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448040.0" y="353872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448040.0" y="3922776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448040.0" y="4306824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448040.0" y="4690872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448040.0" y="507492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448040.0" y="545896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1035304" y="1801368"/>
            <a:ext cx="2450592" cy="420624"/>
          </a:xfrm>
          <a:prstGeom prst="roundRect">
            <a:avLst>
              <a:gd name="adj" fmla="val 50000"/>
            </a:avLst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What inspires me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32960" y="1801368"/>
            <a:ext cx="2926080" cy="420624"/>
          </a:xfrm>
          <a:prstGeom prst="roundRect">
            <a:avLst>
              <a:gd name="adj" fmla="val 50000"/>
            </a:avLst>
          </a:prstGeom>
          <a:solidFill>
            <a:srgbClr val="FF6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How to apply it here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02600" y="1801368"/>
            <a:ext cx="3657600" cy="420624"/>
          </a:xfrm>
          <a:prstGeom prst="roundRect">
            <a:avLst>
              <a:gd name="adj" fmla="val 50000"/>
            </a:avLst>
          </a:prstGeom>
          <a:solidFill>
            <a:srgbClr val="00E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What we need to be autonomous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263640"/>
            <a:ext cx="1127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757575"/>
                </a:solidFill>
                <a:latin typeface="Palatino Linotype"/>
              </a:rPr>
              <a:t>Each participant fills a copy. Then debrief together to surface patterns and next steps.</a:t>
            </a:r>
          </a:p>
        </p:txBody>
      </p:sp>
      <p:pic>
        <p:nvPicPr>
          <p:cNvPr id="37" name="Picture 36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680" y="6214844"/>
            <a:ext cx="960120" cy="231676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0774680" y="64665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