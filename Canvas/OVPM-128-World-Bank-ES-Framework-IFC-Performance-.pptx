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128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World Bank E&amp;S Framework / IFC Performance Standards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An Environmental and Social Commitment Plan (ESCP) detailing binding risk mitigation measures, supported by specific action plans (e.g., Resettlement Plan, Biodiversity Action Plan).</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sp>
        <p:nvSpPr>
          <p:cNvPr id="11" name="Rounded Rectangle 10"/>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2" name="Rounded Rectangle 11"/>
          <p:cNvSpPr/>
          <p:nvPr/>
        </p:nvSpPr>
        <p:spPr>
          <a:xfrm>
            <a:off x="33329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128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World Bank E&amp;S Framework</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Shielding the most vulnerable from the heavy machinery of global development, establishing an absolute legal boundary ensuring that new infrastructure never comes at the cost of human dignity or ecological integrity.</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An Environmental and Social Commitment Plan (ESCP) detailing binding risk mitigation measures, supported by specific action plans (e.g., Resettlement Plan, Biodiversity Action Plan).</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6 to 12 months prior to financial close
Material  ·  ESF Guidance Notes, Stakeholder Engagement templates, Environmental Impact Assessment reports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Multilateral development banks strictly apply these standards to urban operations. For instance, under ESS8, projects must evaluate their impact on both tangible and intangible cultural heritage, explicitly preventing the commercial exploitation of heritage without consent. Furthermore, financial intermediaries (ESS9) are now strictly required to monitor the environmental and social risks of all their sub-projects to ensure comprehensive accountability.</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128  ·  ANIMATION CANVAS  ·  </a:t>
            </a:r>
            <a:r>
              <a:rPr sz="1000" b="1" i="0">
                <a:solidFill>
                  <a:srgbClr val="0D0D0D"/>
                </a:solidFill>
                <a:latin typeface="Source Sans Pro"/>
              </a:rPr>
              <a:t>WORLD BANK E&amp;S FRAMEWORK / IFC PERFORMANCE STANDARDS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ESS standards · screen · assess · mitigate · monitor</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6 to 12 months prior to financial close</a:t>
            </a:r>
          </a:p>
        </p:txBody>
      </p:sp>
      <p:sp>
        <p:nvSpPr>
          <p:cNvPr id="6" name="Rounded Rectangle 5"/>
          <p:cNvSpPr/>
          <p:nvPr/>
        </p:nvSpPr>
        <p:spPr>
          <a:xfrm>
            <a:off x="457200" y="1417320"/>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223875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ESS1 · Assessment</a:t>
            </a:r>
          </a:p>
        </p:txBody>
      </p:sp>
      <p:sp>
        <p:nvSpPr>
          <p:cNvPr id="8" name="TextBox 7"/>
          <p:cNvSpPr txBox="1"/>
          <p:nvPr/>
        </p:nvSpPr>
        <p:spPr>
          <a:xfrm>
            <a:off x="685800"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screening &amp; risk categorization</a:t>
            </a:r>
          </a:p>
        </p:txBody>
      </p:sp>
      <p:cxnSp>
        <p:nvCxnSpPr>
          <p:cNvPr id="9" name="Connector 8"/>
          <p:cNvCxnSpPr/>
          <p:nvPr/>
        </p:nvCxnSpPr>
        <p:spPr>
          <a:xfrm>
            <a:off x="685800.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17748" y="1417320"/>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46348" y="1600200"/>
            <a:ext cx="223875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ESS2 · Labour &amp; working</a:t>
            </a:r>
          </a:p>
        </p:txBody>
      </p:sp>
      <p:sp>
        <p:nvSpPr>
          <p:cNvPr id="14" name="TextBox 13"/>
          <p:cNvSpPr txBox="1"/>
          <p:nvPr/>
        </p:nvSpPr>
        <p:spPr>
          <a:xfrm>
            <a:off x="3546348"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workers protection</a:t>
            </a:r>
          </a:p>
        </p:txBody>
      </p:sp>
      <p:cxnSp>
        <p:nvCxnSpPr>
          <p:cNvPr id="15" name="Connector 14"/>
          <p:cNvCxnSpPr/>
          <p:nvPr/>
        </p:nvCxnSpPr>
        <p:spPr>
          <a:xfrm>
            <a:off x="3546348.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546348.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546348.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178296" y="1417320"/>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6896" y="1600200"/>
            <a:ext cx="223875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ESS5 · Resettlement</a:t>
            </a:r>
          </a:p>
        </p:txBody>
      </p:sp>
      <p:sp>
        <p:nvSpPr>
          <p:cNvPr id="20" name="TextBox 19"/>
          <p:cNvSpPr txBox="1"/>
          <p:nvPr/>
        </p:nvSpPr>
        <p:spPr>
          <a:xfrm>
            <a:off x="6406896"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avoid · minimize · compensate</a:t>
            </a:r>
          </a:p>
        </p:txBody>
      </p:sp>
      <p:cxnSp>
        <p:nvCxnSpPr>
          <p:cNvPr id="21" name="Connector 20"/>
          <p:cNvCxnSpPr/>
          <p:nvPr/>
        </p:nvCxnSpPr>
        <p:spPr>
          <a:xfrm>
            <a:off x="6406896.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406896.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406896.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38844" y="1417320"/>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267444" y="1600200"/>
            <a:ext cx="223875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ESS6 · Biodiversity</a:t>
            </a:r>
          </a:p>
        </p:txBody>
      </p:sp>
      <p:sp>
        <p:nvSpPr>
          <p:cNvPr id="26" name="TextBox 25"/>
          <p:cNvSpPr txBox="1"/>
          <p:nvPr/>
        </p:nvSpPr>
        <p:spPr>
          <a:xfrm>
            <a:off x="9267444"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critical habitats protected</a:t>
            </a:r>
          </a:p>
        </p:txBody>
      </p:sp>
      <p:cxnSp>
        <p:nvCxnSpPr>
          <p:cNvPr id="27" name="Connector 26"/>
          <p:cNvCxnSpPr/>
          <p:nvPr/>
        </p:nvCxnSpPr>
        <p:spPr>
          <a:xfrm>
            <a:off x="9267444.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267444.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267444.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57200" y="3877056"/>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85800" y="4059936"/>
            <a:ext cx="2238756"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ESS7 · Indigenous Peoples</a:t>
            </a:r>
          </a:p>
        </p:txBody>
      </p:sp>
      <p:sp>
        <p:nvSpPr>
          <p:cNvPr id="32" name="TextBox 31"/>
          <p:cNvSpPr txBox="1"/>
          <p:nvPr/>
        </p:nvSpPr>
        <p:spPr>
          <a:xfrm>
            <a:off x="685800" y="4562856"/>
            <a:ext cx="2238756" cy="457200"/>
          </a:xfrm>
          <a:prstGeom prst="rect">
            <a:avLst/>
          </a:prstGeom>
          <a:noFill/>
        </p:spPr>
        <p:txBody>
          <a:bodyPr wrap="square" lIns="0" rIns="0" tIns="0" bIns="0">
            <a:spAutoFit/>
          </a:bodyPr>
          <a:lstStyle/>
          <a:p>
            <a:pPr algn="l"/>
            <a:r>
              <a:rPr sz="1050" b="0" i="1">
                <a:solidFill>
                  <a:srgbClr val="757575"/>
                </a:solidFill>
                <a:latin typeface="Palatino Linotype"/>
              </a:rPr>
              <a:t>FPIC · participation</a:t>
            </a:r>
          </a:p>
        </p:txBody>
      </p:sp>
      <p:cxnSp>
        <p:nvCxnSpPr>
          <p:cNvPr id="33" name="Connector 32"/>
          <p:cNvCxnSpPr/>
          <p:nvPr/>
        </p:nvCxnSpPr>
        <p:spPr>
          <a:xfrm>
            <a:off x="685800.0" y="520293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85800.0" y="549554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85800.0" y="578815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317748" y="3877056"/>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3546348" y="4059936"/>
            <a:ext cx="2238756" cy="365760"/>
          </a:xfrm>
          <a:prstGeom prst="roundRect">
            <a:avLst>
              <a:gd name="adj" fmla="val 50000"/>
            </a:avLst>
          </a:prstGeom>
          <a:solidFill>
            <a:srgbClr val="C48B4F"/>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ESS8 · Cultural heritage</a:t>
            </a:r>
          </a:p>
        </p:txBody>
      </p:sp>
      <p:sp>
        <p:nvSpPr>
          <p:cNvPr id="38" name="TextBox 37"/>
          <p:cNvSpPr txBox="1"/>
          <p:nvPr/>
        </p:nvSpPr>
        <p:spPr>
          <a:xfrm>
            <a:off x="3546348" y="4562856"/>
            <a:ext cx="2238756" cy="457200"/>
          </a:xfrm>
          <a:prstGeom prst="rect">
            <a:avLst/>
          </a:prstGeom>
          <a:noFill/>
        </p:spPr>
        <p:txBody>
          <a:bodyPr wrap="square" lIns="0" rIns="0" tIns="0" bIns="0">
            <a:spAutoFit/>
          </a:bodyPr>
          <a:lstStyle/>
          <a:p>
            <a:pPr algn="l"/>
            <a:r>
              <a:rPr sz="1050" b="0" i="1">
                <a:solidFill>
                  <a:srgbClr val="757575"/>
                </a:solidFill>
                <a:latin typeface="Palatino Linotype"/>
              </a:rPr>
              <a:t>tangible &amp; intangible</a:t>
            </a:r>
          </a:p>
        </p:txBody>
      </p:sp>
      <p:cxnSp>
        <p:nvCxnSpPr>
          <p:cNvPr id="39" name="Connector 38"/>
          <p:cNvCxnSpPr/>
          <p:nvPr/>
        </p:nvCxnSpPr>
        <p:spPr>
          <a:xfrm>
            <a:off x="3546348.0" y="520293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546348.0" y="549554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546348.0" y="578815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6178296" y="3877056"/>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406896" y="4059936"/>
            <a:ext cx="2238756" cy="365760"/>
          </a:xfrm>
          <a:prstGeom prst="roundRect">
            <a:avLst>
              <a:gd name="adj" fmla="val 50000"/>
            </a:avLst>
          </a:prstGeom>
          <a:solidFill>
            <a:srgbClr val="3360FF"/>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ESS10 · Stakeholder engagement</a:t>
            </a:r>
          </a:p>
        </p:txBody>
      </p:sp>
      <p:sp>
        <p:nvSpPr>
          <p:cNvPr id="44" name="TextBox 43"/>
          <p:cNvSpPr txBox="1"/>
          <p:nvPr/>
        </p:nvSpPr>
        <p:spPr>
          <a:xfrm>
            <a:off x="6406896" y="4562856"/>
            <a:ext cx="2238756" cy="457200"/>
          </a:xfrm>
          <a:prstGeom prst="rect">
            <a:avLst/>
          </a:prstGeom>
          <a:noFill/>
        </p:spPr>
        <p:txBody>
          <a:bodyPr wrap="square" lIns="0" rIns="0" tIns="0" bIns="0">
            <a:spAutoFit/>
          </a:bodyPr>
          <a:lstStyle/>
          <a:p>
            <a:pPr algn="l"/>
            <a:r>
              <a:rPr sz="1050" b="0" i="1">
                <a:solidFill>
                  <a:srgbClr val="757575"/>
                </a:solidFill>
                <a:latin typeface="Palatino Linotype"/>
              </a:rPr>
              <a:t>meaningful consultation</a:t>
            </a:r>
          </a:p>
        </p:txBody>
      </p:sp>
      <p:cxnSp>
        <p:nvCxnSpPr>
          <p:cNvPr id="45" name="Connector 44"/>
          <p:cNvCxnSpPr/>
          <p:nvPr/>
        </p:nvCxnSpPr>
        <p:spPr>
          <a:xfrm>
            <a:off x="6406896.0" y="520293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406896.0" y="549554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406896.0" y="578815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038844" y="3877056"/>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267444" y="4059936"/>
            <a:ext cx="2238756" cy="365760"/>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Mitigation hierarchy</a:t>
            </a:r>
          </a:p>
        </p:txBody>
      </p:sp>
      <p:sp>
        <p:nvSpPr>
          <p:cNvPr id="50" name="TextBox 49"/>
          <p:cNvSpPr txBox="1"/>
          <p:nvPr/>
        </p:nvSpPr>
        <p:spPr>
          <a:xfrm>
            <a:off x="9267444" y="4562856"/>
            <a:ext cx="2238756" cy="457200"/>
          </a:xfrm>
          <a:prstGeom prst="rect">
            <a:avLst/>
          </a:prstGeom>
          <a:noFill/>
        </p:spPr>
        <p:txBody>
          <a:bodyPr wrap="square" lIns="0" rIns="0" tIns="0" bIns="0">
            <a:spAutoFit/>
          </a:bodyPr>
          <a:lstStyle/>
          <a:p>
            <a:pPr algn="l"/>
            <a:r>
              <a:rPr sz="1050" b="0" i="1">
                <a:solidFill>
                  <a:srgbClr val="757575"/>
                </a:solidFill>
                <a:latin typeface="Palatino Linotype"/>
              </a:rPr>
              <a:t>avoid → minimize → compensate</a:t>
            </a:r>
          </a:p>
        </p:txBody>
      </p:sp>
      <p:cxnSp>
        <p:nvCxnSpPr>
          <p:cNvPr id="51" name="Connector 50"/>
          <p:cNvCxnSpPr/>
          <p:nvPr/>
        </p:nvCxnSpPr>
        <p:spPr>
          <a:xfrm>
            <a:off x="9267444.0" y="520293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267444.0" y="549554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267444.0" y="578815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54" name="Picture 53"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55" name="TextBox 54"/>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128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