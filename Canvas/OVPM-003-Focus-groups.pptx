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03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0D0D0D"/>
                </a:solidFill>
                <a:latin typeface="Palatino Linotype"/>
              </a:rPr>
              <a:t>Focus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peer-validated mapping of local challenges, a clear ranking of site priorities, and a documented understanding of internal community disagreements.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03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Focus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Creating a safe bubble of political intimacy where personal struggles are transformed into recognized, legitimate collective demands.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peer-validated mapping of local challenges, a clear ranking of site priorities, and a documented understanding of internal community disagreements.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half-day to 1 full day per group
Material  ·  Flip-charts, markers, audio recorder, printed maps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During the UN-Habitat Planning Law Assessment Framework, intensive focus groups of 5 to 10 subject matter specialists met to debate, evaluate, and formulate direct proposals to improve local planning legislation. The participants discussed spatial dimensions in detail and provided a consensual, motivated ranking backed by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03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FOCUS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Roundtable discussion → consensus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half-day to 1 full day per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576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The table · 6 to 10 voices</a:t>
            </a:r>
          </a:p>
        </p:txBody>
      </p:sp>
      <p:sp>
        <p:nvSpPr>
          <p:cNvPr id="8" name="Oval 7"/>
          <p:cNvSpPr/>
          <p:nvPr/>
        </p:nvSpPr>
        <p:spPr>
          <a:xfrm>
            <a:off x="1417320" y="3591306"/>
            <a:ext cx="1737360" cy="955548"/>
          </a:xfrm>
          <a:prstGeom prst="ellipse">
            <a:avLst/>
          </a:prstGeom>
          <a:solidFill>
            <a:srgbClr val="FFD200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886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moderator</a:t>
            </a:r>
          </a:p>
        </p:txBody>
      </p:sp>
      <p:sp>
        <p:nvSpPr>
          <p:cNvPr id="10" name="Oval 9"/>
          <p:cNvSpPr/>
          <p:nvPr/>
        </p:nvSpPr>
        <p:spPr>
          <a:xfrm>
            <a:off x="3561588" y="3867912"/>
            <a:ext cx="402336" cy="402336"/>
          </a:xfrm>
          <a:prstGeom prst="ellipse">
            <a:avLst/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1588" y="386791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3129056" y="4482161"/>
            <a:ext cx="402336" cy="402336"/>
          </a:xfrm>
          <a:prstGeom prst="ellipse">
            <a:avLst/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9056" y="4482161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2084832" y="4736592"/>
            <a:ext cx="402336" cy="402336"/>
          </a:xfrm>
          <a:prstGeom prst="ellipse">
            <a:avLst/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2" y="473659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1040607" y="4482161"/>
            <a:ext cx="402336" cy="402336"/>
          </a:xfrm>
          <a:prstGeom prst="ellipse">
            <a:avLst/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0607" y="4482161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P4</a:t>
            </a:r>
          </a:p>
        </p:txBody>
      </p:sp>
      <p:sp>
        <p:nvSpPr>
          <p:cNvPr id="18" name="Oval 17"/>
          <p:cNvSpPr/>
          <p:nvPr/>
        </p:nvSpPr>
        <p:spPr>
          <a:xfrm>
            <a:off x="608076" y="3867912"/>
            <a:ext cx="402336" cy="402336"/>
          </a:xfrm>
          <a:prstGeom prst="ellipse">
            <a:avLst/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" y="386791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P5</a:t>
            </a:r>
          </a:p>
        </p:txBody>
      </p:sp>
      <p:sp>
        <p:nvSpPr>
          <p:cNvPr id="20" name="Oval 19"/>
          <p:cNvSpPr/>
          <p:nvPr/>
        </p:nvSpPr>
        <p:spPr>
          <a:xfrm>
            <a:off x="1040607" y="3253662"/>
            <a:ext cx="402336" cy="402336"/>
          </a:xfrm>
          <a:prstGeom prst="ellipse">
            <a:avLst/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0607" y="325366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P6</a:t>
            </a:r>
          </a:p>
        </p:txBody>
      </p:sp>
      <p:sp>
        <p:nvSpPr>
          <p:cNvPr id="22" name="Oval 21"/>
          <p:cNvSpPr/>
          <p:nvPr/>
        </p:nvSpPr>
        <p:spPr>
          <a:xfrm>
            <a:off x="2084831" y="2999232"/>
            <a:ext cx="402336" cy="402336"/>
          </a:xfrm>
          <a:prstGeom prst="ellipse">
            <a:avLst/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1" y="299923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P7</a:t>
            </a:r>
          </a:p>
        </p:txBody>
      </p:sp>
      <p:sp>
        <p:nvSpPr>
          <p:cNvPr id="24" name="Oval 23"/>
          <p:cNvSpPr/>
          <p:nvPr/>
        </p:nvSpPr>
        <p:spPr>
          <a:xfrm>
            <a:off x="3129056" y="3253662"/>
            <a:ext cx="402336" cy="402336"/>
          </a:xfrm>
          <a:prstGeom prst="ellipse">
            <a:avLst/>
          </a:prstGeom>
          <a:solidFill>
            <a:srgbClr val="FFFF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29056" y="325366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Source Sans Pro"/>
              </a:rPr>
              <a:t>P8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Participant profiles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ource Sans Pro"/>
              </a:rPr>
              <a:t>e.g., local business owners, young residents, subject-matter specialists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1417320"/>
            <a:ext cx="3613404" cy="13807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26280" y="158191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Warm-up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1965960"/>
            <a:ext cx="31562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ource Sans Pro"/>
              </a:rPr>
              <a:t>Open the room with one shared experience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0.0" y="2331720.0"/>
            <a:ext cx="3156204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.0" y="2624328.0"/>
            <a:ext cx="3156204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.0" y="2916936.0"/>
            <a:ext cx="3156204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121396" y="1417320"/>
            <a:ext cx="3613404" cy="13807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04276" y="158191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Dive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9996" y="1965960"/>
            <a:ext cx="31562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ource Sans Pro"/>
              </a:rPr>
              <a:t>Explore the topic · divergent ideas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49996.0" y="2331720.0"/>
            <a:ext cx="3156204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349996.0" y="2624328.0"/>
            <a:ext cx="3156204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349996.0" y="2916936.0"/>
            <a:ext cx="3156204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343400" y="2962656"/>
            <a:ext cx="3613404" cy="13807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26280" y="312724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Debate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3511296"/>
            <a:ext cx="31562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ource Sans Pro"/>
              </a:rPr>
              <a:t>Where do we disagree? Why?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72000.0" y="3877056.0"/>
            <a:ext cx="3156204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72000.0" y="4169664.0"/>
            <a:ext cx="3156204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72000.0" y="4462272.0"/>
            <a:ext cx="3156204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121396" y="2962656"/>
            <a:ext cx="3613404" cy="13807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04276" y="312724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Synthesis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9996" y="3511296"/>
            <a:ext cx="31562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ource Sans Pro"/>
              </a:rPr>
              <a:t>What do we agree on? What stays open?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349996.0" y="3877056.0"/>
            <a:ext cx="3156204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349996.0" y="4169664.0"/>
            <a:ext cx="3156204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49996.0" y="4462272.0"/>
            <a:ext cx="3156204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343400" y="4526280"/>
            <a:ext cx="7391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0D0D0D"/>
                </a:solidFill>
                <a:latin typeface="Palatino Linotype"/>
              </a:rPr>
              <a:t>SWOT synthesis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43400" y="4846320"/>
            <a:ext cx="1724406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434840" y="4937760"/>
            <a:ext cx="54864" cy="274320"/>
          </a:xfrm>
          <a:prstGeom prst="rect">
            <a:avLst/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44568" y="4937760"/>
            <a:ext cx="14500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Strengths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32398" y="4846320"/>
            <a:ext cx="1724406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23838" y="4937760"/>
            <a:ext cx="54864" cy="274320"/>
          </a:xfrm>
          <a:prstGeom prst="rect">
            <a:avLst/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3566" y="4937760"/>
            <a:ext cx="14500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Weaknesses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21396" y="4846320"/>
            <a:ext cx="1724406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2836" y="4937760"/>
            <a:ext cx="54864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2564" y="4937760"/>
            <a:ext cx="14500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Opportunities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10394" y="4846320"/>
            <a:ext cx="1724406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101834" y="4937760"/>
            <a:ext cx="54864" cy="2743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11562" y="4937760"/>
            <a:ext cx="145008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Threats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Let participants debate with each other  ·  not just answer the moderator. Validate the synthesis collectively.</a:t>
            </a:r>
          </a:p>
        </p:txBody>
      </p:sp>
      <p:pic>
        <p:nvPicPr>
          <p:cNvPr id="66" name="Picture 65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03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