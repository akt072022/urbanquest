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27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Heritage Impact Assessment (HIA)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formal evaluation report detailing the potential negative and positive consequences of a proposed urban change on the specific attributes of a cultural heritage site, guiding planning approvals.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Heritage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27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Heritage Impact Assessment (HIA)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Forcing the arrogance of new developments to pause and bow before the legacy of the past, ensuring that modern progress does not erase the footprints of our ancestors.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formal evaluation report detailing the potential negative and positive consequences of a proposed urban change on the specific attributes of a cultural heritage site, guiding planning approvals.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6 months of assessment depending on project scale
Material  ·  Statement of Outstanding Universal Value (SoOUV), architectural plans, impact assessment matrices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ICOMOS developed the HIA methodology specifically to protect World Heritage properties. It requires planners to explicitly cross-reference any new infrastructure or zoning change against the specific attributes of the site's Outstanding Universal Value. This procedural check ensures decision-makers prioritize heritage conservation over raw development needs and mitigate negative impacts.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27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HERITAGE IMPACT ASSESSMENT (HIA)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Heritage values × intervention × impact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6 months of assessment depending on project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Heritage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Aesthetic, historic,
scientific, social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7180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7472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97764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48056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98348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Proposed 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6348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What the project does
to the asset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6348" y="297180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46348" y="347472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46348" y="397764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46348" y="448056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46348" y="498348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Direct impacts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896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positive, negligible, adverse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6" y="297180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79308" y="3090672"/>
            <a:ext cx="146304" cy="146304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3900" y="3090672"/>
            <a:ext cx="146304" cy="146304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8492" y="3090672"/>
            <a:ext cx="146304" cy="146304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6896" y="347472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9308" y="3593592"/>
            <a:ext cx="146304" cy="146304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3900" y="3593592"/>
            <a:ext cx="146304" cy="146304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8492" y="3593592"/>
            <a:ext cx="146304" cy="146304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6896" y="397764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79308" y="4096512"/>
            <a:ext cx="146304" cy="146304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43900" y="4096512"/>
            <a:ext cx="146304" cy="146304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08492" y="4096512"/>
            <a:ext cx="146304" cy="146304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6896" y="448056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9308" y="4599432"/>
            <a:ext cx="146304" cy="146304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43900" y="4599432"/>
            <a:ext cx="146304" cy="146304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08492" y="4599432"/>
            <a:ext cx="146304" cy="146304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6896" y="498348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79308" y="5102352"/>
            <a:ext cx="146304" cy="146304"/>
          </a:xfrm>
          <a:prstGeom prst="ellipse">
            <a:avLst/>
          </a:prstGeom>
          <a:noFill/>
          <a:ln w="7620">
            <a:solidFill>
              <a:srgbClr val="FF6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43900" y="5102352"/>
            <a:ext cx="146304" cy="146304"/>
          </a:xfrm>
          <a:prstGeom prst="ellipse">
            <a:avLst/>
          </a:prstGeom>
          <a:noFill/>
          <a:ln w="762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08492" y="5102352"/>
            <a:ext cx="146304" cy="146304"/>
          </a:xfrm>
          <a:prstGeom prst="ellipse">
            <a:avLst/>
          </a:prstGeom>
          <a:noFill/>
          <a:ln w="7620">
            <a:solidFill>
              <a:srgbClr val="00E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Mitigation measures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7444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How adverse impacts
will be reduced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67444" y="297180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67444" y="347472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67444" y="397764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67444" y="448056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67444" y="4983480"/>
            <a:ext cx="2238756" cy="41148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27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