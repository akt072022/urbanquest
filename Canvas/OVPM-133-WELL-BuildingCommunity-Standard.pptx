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133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WELL Building/Community Standard</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third-party verified health and wellness certification (Silver, Gold, or Platinum) based on compliance with over 100 specific performance features.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1" name="Rounded Rectangle 10"/>
          <p:cNvSpPr/>
          <p:nvPr/>
        </p:nvSpPr>
        <p:spPr>
          <a:xfrm>
            <a:off x="20345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2" name="Rounded Rectangle 11"/>
          <p:cNvSpPr/>
          <p:nvPr/>
        </p:nvSpPr>
        <p:spPr>
          <a:xfrm>
            <a:off x="35204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WELL Building/Community Standard</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Placing human biology and psychology at the exact center of architecture, demanding that the spaces where we live and work actively nourish our lungs, calm our minds, and encourage us to move.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third-party verified health and wellness certification (Silver, Gold, or Platinum) based on compliance with over 100 specific performance features.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18 months spanning design and post-occupancy
Material  ·  WELL Standard guidelines, indoor environmental quality (IEQ) testing equipment, post-occupancy survey tools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WELL Building Standard and the WELL Community Standard are increasingly used by developers to demonstrate health leadership. By modeling the framework closely on environmental rating systems but focusing exclusively on human impacts, projects successfully mandate physical activity spaces, urban heat adaptation, and community sound mapping. Research shows that integrating these rigorous standards enhances asset value and significantly improves occupant health compared to…</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133  ·  ANIMATION CANVAS  ·  </a:t>
            </a:r>
            <a:r>
              <a:rPr sz="1000" b="1" i="0">
                <a:solidFill>
                  <a:srgbClr val="0D0D0D"/>
                </a:solidFill>
                <a:latin typeface="Source Sans Pro"/>
              </a:rPr>
              <a:t>WELL BUILDING/COMMUNITY STANDARD</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WELL · 10 health concepts · scored radar</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18 months spanning design and post-occupancy</a:t>
            </a:r>
          </a:p>
        </p:txBody>
      </p:sp>
      <p:sp>
        <p:nvSpPr>
          <p:cNvPr id="6" name="Oval 5"/>
          <p:cNvSpPr/>
          <p:nvPr/>
        </p:nvSpPr>
        <p:spPr>
          <a:xfrm>
            <a:off x="8229600" y="3429000"/>
            <a:ext cx="731520" cy="73152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863840" y="3063240"/>
            <a:ext cx="1463040" cy="146304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98080" y="2697480"/>
            <a:ext cx="2194560" cy="219456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32320" y="2331720"/>
            <a:ext cx="2926080" cy="292608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0" y="1965960"/>
            <a:ext cx="3657600" cy="3657600"/>
          </a:xfrm>
          <a:prstGeom prst="ellipse">
            <a:avLst/>
          </a:prstGeom>
          <a:no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8595360" y="1965960"/>
            <a:ext cx="0" cy="18288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18120" y="1417320"/>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Air</a:t>
            </a:r>
          </a:p>
        </p:txBody>
      </p:sp>
      <p:cxnSp>
        <p:nvCxnSpPr>
          <p:cNvPr id="13" name="Connector 12"/>
          <p:cNvCxnSpPr/>
          <p:nvPr/>
        </p:nvCxnSpPr>
        <p:spPr>
          <a:xfrm flipV="1">
            <a:off x="8595360" y="2315229"/>
            <a:ext cx="1074941" cy="1479531"/>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34923" y="1845175"/>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Water</a:t>
            </a:r>
          </a:p>
        </p:txBody>
      </p:sp>
      <p:cxnSp>
        <p:nvCxnSpPr>
          <p:cNvPr id="15" name="Connector 14"/>
          <p:cNvCxnSpPr/>
          <p:nvPr/>
        </p:nvCxnSpPr>
        <p:spPr>
          <a:xfrm flipV="1">
            <a:off x="8595360" y="3229629"/>
            <a:ext cx="1739292" cy="565131"/>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48752" y="2965315"/>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Nourishment</a:t>
            </a:r>
          </a:p>
        </p:txBody>
      </p:sp>
      <p:cxnSp>
        <p:nvCxnSpPr>
          <p:cNvPr id="17" name="Connector 16"/>
          <p:cNvCxnSpPr/>
          <p:nvPr/>
        </p:nvCxnSpPr>
        <p:spPr>
          <a:xfrm>
            <a:off x="8595360" y="3794760"/>
            <a:ext cx="1739292" cy="56513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948752" y="4349884"/>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Light</a:t>
            </a:r>
          </a:p>
        </p:txBody>
      </p:sp>
      <p:cxnSp>
        <p:nvCxnSpPr>
          <p:cNvPr id="19" name="Connector 18"/>
          <p:cNvCxnSpPr/>
          <p:nvPr/>
        </p:nvCxnSpPr>
        <p:spPr>
          <a:xfrm>
            <a:off x="8595360" y="3794760"/>
            <a:ext cx="1074941" cy="147953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34923" y="5470024"/>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Movement</a:t>
            </a:r>
          </a:p>
        </p:txBody>
      </p:sp>
      <p:cxnSp>
        <p:nvCxnSpPr>
          <p:cNvPr id="21" name="Connector 20"/>
          <p:cNvCxnSpPr/>
          <p:nvPr/>
        </p:nvCxnSpPr>
        <p:spPr>
          <a:xfrm>
            <a:off x="8595360" y="3794760"/>
            <a:ext cx="0" cy="182880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818120" y="5897880"/>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Thermal Comfort</a:t>
            </a:r>
          </a:p>
        </p:txBody>
      </p:sp>
      <p:cxnSp>
        <p:nvCxnSpPr>
          <p:cNvPr id="23" name="Connector 22"/>
          <p:cNvCxnSpPr/>
          <p:nvPr/>
        </p:nvCxnSpPr>
        <p:spPr>
          <a:xfrm flipH="1">
            <a:off x="7520418" y="3794760"/>
            <a:ext cx="1074942" cy="147953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501316" y="5470024"/>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Sound</a:t>
            </a:r>
          </a:p>
        </p:txBody>
      </p:sp>
      <p:cxnSp>
        <p:nvCxnSpPr>
          <p:cNvPr id="25" name="Connector 24"/>
          <p:cNvCxnSpPr/>
          <p:nvPr/>
        </p:nvCxnSpPr>
        <p:spPr>
          <a:xfrm flipH="1">
            <a:off x="6856067" y="3794760"/>
            <a:ext cx="1739293" cy="565130"/>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87487" y="4349884"/>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Materials</a:t>
            </a:r>
          </a:p>
        </p:txBody>
      </p:sp>
      <p:cxnSp>
        <p:nvCxnSpPr>
          <p:cNvPr id="27" name="Connector 26"/>
          <p:cNvCxnSpPr/>
          <p:nvPr/>
        </p:nvCxnSpPr>
        <p:spPr>
          <a:xfrm flipH="1" flipV="1">
            <a:off x="6856067" y="3229629"/>
            <a:ext cx="1739293" cy="565131"/>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87487" y="2965315"/>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Mind</a:t>
            </a:r>
          </a:p>
        </p:txBody>
      </p:sp>
      <p:cxnSp>
        <p:nvCxnSpPr>
          <p:cNvPr id="29" name="Connector 28"/>
          <p:cNvCxnSpPr/>
          <p:nvPr/>
        </p:nvCxnSpPr>
        <p:spPr>
          <a:xfrm flipH="1" flipV="1">
            <a:off x="7520418" y="2315229"/>
            <a:ext cx="1074942" cy="1479531"/>
          </a:xfrm>
          <a:prstGeom prst="line">
            <a:avLst/>
          </a:prstGeom>
          <a:ln w="6350">
            <a:solidFill>
              <a:srgbClr val="C8C8C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01316" y="1845175"/>
            <a:ext cx="1554480" cy="292608"/>
          </a:xfrm>
          <a:prstGeom prst="rect">
            <a:avLst/>
          </a:prstGeom>
          <a:noFill/>
        </p:spPr>
        <p:txBody>
          <a:bodyPr wrap="square" lIns="0" rIns="0" tIns="0" bIns="0" anchor="ctr">
            <a:spAutoFit/>
          </a:bodyPr>
          <a:lstStyle/>
          <a:p>
            <a:pPr algn="ctr"/>
            <a:r>
              <a:rPr sz="850" b="1" i="0">
                <a:solidFill>
                  <a:srgbClr val="0D0D0D"/>
                </a:solidFill>
                <a:latin typeface="Source Sans Pro"/>
              </a:rPr>
              <a:t>Community</a:t>
            </a:r>
          </a:p>
        </p:txBody>
      </p:sp>
      <p:sp>
        <p:nvSpPr>
          <p:cNvPr id="31" name="Oval 30"/>
          <p:cNvSpPr/>
          <p:nvPr/>
        </p:nvSpPr>
        <p:spPr>
          <a:xfrm>
            <a:off x="8555360" y="3754760"/>
            <a:ext cx="80000" cy="8000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1417320"/>
            <a:ext cx="5120640" cy="274320"/>
          </a:xfrm>
          <a:prstGeom prst="rect">
            <a:avLst/>
          </a:prstGeom>
          <a:noFill/>
        </p:spPr>
        <p:txBody>
          <a:bodyPr wrap="square" lIns="0" rIns="0" tIns="0" bIns="0">
            <a:spAutoFit/>
          </a:bodyPr>
          <a:lstStyle/>
          <a:p>
            <a:pPr algn="l"/>
            <a:r>
              <a:rPr sz="1400" b="0" i="1">
                <a:solidFill>
                  <a:srgbClr val="0D0D0D"/>
                </a:solidFill>
                <a:latin typeface="Palatino Linotype"/>
              </a:rPr>
              <a:t>WELL scoring</a:t>
            </a:r>
          </a:p>
        </p:txBody>
      </p:sp>
      <p:sp>
        <p:nvSpPr>
          <p:cNvPr id="33" name="Rectangle 32"/>
          <p:cNvSpPr/>
          <p:nvPr/>
        </p:nvSpPr>
        <p:spPr>
          <a:xfrm>
            <a:off x="457200" y="1828800"/>
            <a:ext cx="5120640" cy="292608"/>
          </a:xfrm>
          <a:prstGeom prst="rect">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1828800"/>
            <a:ext cx="4846320" cy="292608"/>
          </a:xfrm>
          <a:prstGeom prst="rect">
            <a:avLst/>
          </a:prstGeom>
          <a:noFill/>
        </p:spPr>
        <p:txBody>
          <a:bodyPr wrap="square" lIns="0" rIns="0" tIns="0" bIns="0" anchor="ctr">
            <a:spAutoFit/>
          </a:bodyPr>
          <a:lstStyle/>
          <a:p>
            <a:pPr algn="l"/>
            <a:r>
              <a:rPr sz="950" b="1" i="0">
                <a:solidFill>
                  <a:srgbClr val="FFD200"/>
                </a:solidFill>
                <a:latin typeface="Source Sans Pro"/>
              </a:rPr>
              <a:t>Theme</a:t>
            </a:r>
          </a:p>
        </p:txBody>
      </p:sp>
      <p:sp>
        <p:nvSpPr>
          <p:cNvPr id="35" name="TextBox 34"/>
          <p:cNvSpPr txBox="1"/>
          <p:nvPr/>
        </p:nvSpPr>
        <p:spPr>
          <a:xfrm>
            <a:off x="4023360" y="1828800"/>
            <a:ext cx="292608" cy="292608"/>
          </a:xfrm>
          <a:prstGeom prst="rect">
            <a:avLst/>
          </a:prstGeom>
          <a:noFill/>
        </p:spPr>
        <p:txBody>
          <a:bodyPr wrap="square" lIns="0" rIns="0" tIns="0" bIns="0" anchor="ctr">
            <a:spAutoFit/>
          </a:bodyPr>
          <a:lstStyle/>
          <a:p>
            <a:pPr algn="ctr"/>
            <a:r>
              <a:rPr sz="950" b="1" i="0">
                <a:solidFill>
                  <a:srgbClr val="FFD200"/>
                </a:solidFill>
                <a:latin typeface="Source Sans Pro"/>
              </a:rPr>
              <a:t>1</a:t>
            </a:r>
          </a:p>
        </p:txBody>
      </p:sp>
      <p:sp>
        <p:nvSpPr>
          <p:cNvPr id="36" name="TextBox 35"/>
          <p:cNvSpPr txBox="1"/>
          <p:nvPr/>
        </p:nvSpPr>
        <p:spPr>
          <a:xfrm>
            <a:off x="4315968" y="1828800"/>
            <a:ext cx="292608" cy="292608"/>
          </a:xfrm>
          <a:prstGeom prst="rect">
            <a:avLst/>
          </a:prstGeom>
          <a:noFill/>
        </p:spPr>
        <p:txBody>
          <a:bodyPr wrap="square" lIns="0" rIns="0" tIns="0" bIns="0" anchor="ctr">
            <a:spAutoFit/>
          </a:bodyPr>
          <a:lstStyle/>
          <a:p>
            <a:pPr algn="ctr"/>
            <a:r>
              <a:rPr sz="950" b="1" i="0">
                <a:solidFill>
                  <a:srgbClr val="FFD200"/>
                </a:solidFill>
                <a:latin typeface="Source Sans Pro"/>
              </a:rPr>
              <a:t>2</a:t>
            </a:r>
          </a:p>
        </p:txBody>
      </p:sp>
      <p:sp>
        <p:nvSpPr>
          <p:cNvPr id="37" name="TextBox 36"/>
          <p:cNvSpPr txBox="1"/>
          <p:nvPr/>
        </p:nvSpPr>
        <p:spPr>
          <a:xfrm>
            <a:off x="4608576" y="1828800"/>
            <a:ext cx="292608" cy="292608"/>
          </a:xfrm>
          <a:prstGeom prst="rect">
            <a:avLst/>
          </a:prstGeom>
          <a:noFill/>
        </p:spPr>
        <p:txBody>
          <a:bodyPr wrap="square" lIns="0" rIns="0" tIns="0" bIns="0" anchor="ctr">
            <a:spAutoFit/>
          </a:bodyPr>
          <a:lstStyle/>
          <a:p>
            <a:pPr algn="ctr"/>
            <a:r>
              <a:rPr sz="950" b="1" i="0">
                <a:solidFill>
                  <a:srgbClr val="FFD200"/>
                </a:solidFill>
                <a:latin typeface="Source Sans Pro"/>
              </a:rPr>
              <a:t>3</a:t>
            </a:r>
          </a:p>
        </p:txBody>
      </p:sp>
      <p:sp>
        <p:nvSpPr>
          <p:cNvPr id="38" name="TextBox 37"/>
          <p:cNvSpPr txBox="1"/>
          <p:nvPr/>
        </p:nvSpPr>
        <p:spPr>
          <a:xfrm>
            <a:off x="4901184" y="1828800"/>
            <a:ext cx="292608" cy="292608"/>
          </a:xfrm>
          <a:prstGeom prst="rect">
            <a:avLst/>
          </a:prstGeom>
          <a:noFill/>
        </p:spPr>
        <p:txBody>
          <a:bodyPr wrap="square" lIns="0" rIns="0" tIns="0" bIns="0" anchor="ctr">
            <a:spAutoFit/>
          </a:bodyPr>
          <a:lstStyle/>
          <a:p>
            <a:pPr algn="ctr"/>
            <a:r>
              <a:rPr sz="950" b="1" i="0">
                <a:solidFill>
                  <a:srgbClr val="FFD200"/>
                </a:solidFill>
                <a:latin typeface="Source Sans Pro"/>
              </a:rPr>
              <a:t>4</a:t>
            </a:r>
          </a:p>
        </p:txBody>
      </p:sp>
      <p:sp>
        <p:nvSpPr>
          <p:cNvPr id="39" name="TextBox 38"/>
          <p:cNvSpPr txBox="1"/>
          <p:nvPr/>
        </p:nvSpPr>
        <p:spPr>
          <a:xfrm>
            <a:off x="5193792" y="1828800"/>
            <a:ext cx="292608" cy="292608"/>
          </a:xfrm>
          <a:prstGeom prst="rect">
            <a:avLst/>
          </a:prstGeom>
          <a:noFill/>
        </p:spPr>
        <p:txBody>
          <a:bodyPr wrap="square" lIns="0" rIns="0" tIns="0" bIns="0" anchor="ctr">
            <a:spAutoFit/>
          </a:bodyPr>
          <a:lstStyle/>
          <a:p>
            <a:pPr algn="ctr"/>
            <a:r>
              <a:rPr sz="950" b="1" i="0">
                <a:solidFill>
                  <a:srgbClr val="FFD200"/>
                </a:solidFill>
                <a:latin typeface="Source Sans Pro"/>
              </a:rPr>
              <a:t>5</a:t>
            </a:r>
          </a:p>
        </p:txBody>
      </p:sp>
      <p:sp>
        <p:nvSpPr>
          <p:cNvPr id="40" name="Rectangle 39"/>
          <p:cNvSpPr/>
          <p:nvPr/>
        </p:nvSpPr>
        <p:spPr>
          <a:xfrm>
            <a:off x="457200" y="2121408"/>
            <a:ext cx="512064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2121408"/>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Air</a:t>
            </a:r>
          </a:p>
        </p:txBody>
      </p:sp>
      <p:sp>
        <p:nvSpPr>
          <p:cNvPr id="42" name="Rectangle 41"/>
          <p:cNvSpPr/>
          <p:nvPr/>
        </p:nvSpPr>
        <p:spPr>
          <a:xfrm>
            <a:off x="4059936" y="217627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352544" y="217627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645152" y="217627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937760" y="217627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230368" y="217627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2414016"/>
            <a:ext cx="5120640" cy="292608"/>
          </a:xfrm>
          <a:prstGeom prst="rect">
            <a:avLst/>
          </a:prstGeom>
          <a:solidFill>
            <a:srgbClr val="F8F4ED"/>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2414016"/>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Water</a:t>
            </a:r>
          </a:p>
        </p:txBody>
      </p:sp>
      <p:sp>
        <p:nvSpPr>
          <p:cNvPr id="49" name="Rectangle 48"/>
          <p:cNvSpPr/>
          <p:nvPr/>
        </p:nvSpPr>
        <p:spPr>
          <a:xfrm>
            <a:off x="4059936" y="246888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352544" y="246888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645152" y="246888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937760" y="246888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230368" y="246888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2706624"/>
            <a:ext cx="512064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2706624"/>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Nourishment</a:t>
            </a:r>
          </a:p>
        </p:txBody>
      </p:sp>
      <p:sp>
        <p:nvSpPr>
          <p:cNvPr id="56" name="Rectangle 55"/>
          <p:cNvSpPr/>
          <p:nvPr/>
        </p:nvSpPr>
        <p:spPr>
          <a:xfrm>
            <a:off x="4059936" y="276148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352544" y="276148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645152" y="276148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937760" y="276148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230368" y="276148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57200" y="2999232"/>
            <a:ext cx="5120640" cy="292608"/>
          </a:xfrm>
          <a:prstGeom prst="rect">
            <a:avLst/>
          </a:prstGeom>
          <a:solidFill>
            <a:srgbClr val="F8F4ED"/>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2999232"/>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Light</a:t>
            </a:r>
          </a:p>
        </p:txBody>
      </p:sp>
      <p:sp>
        <p:nvSpPr>
          <p:cNvPr id="63" name="Rectangle 62"/>
          <p:cNvSpPr/>
          <p:nvPr/>
        </p:nvSpPr>
        <p:spPr>
          <a:xfrm>
            <a:off x="4059936" y="305409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352544" y="305409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645152" y="305409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937760" y="305409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230368" y="305409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7200" y="3291840"/>
            <a:ext cx="512064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4360" y="3291840"/>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Movement</a:t>
            </a:r>
          </a:p>
        </p:txBody>
      </p:sp>
      <p:sp>
        <p:nvSpPr>
          <p:cNvPr id="70" name="Rectangle 69"/>
          <p:cNvSpPr/>
          <p:nvPr/>
        </p:nvSpPr>
        <p:spPr>
          <a:xfrm>
            <a:off x="4059936" y="334670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352544" y="334670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645152" y="334670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937760" y="334670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230368" y="334670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57200" y="3584448"/>
            <a:ext cx="5120640" cy="292608"/>
          </a:xfrm>
          <a:prstGeom prst="rect">
            <a:avLst/>
          </a:prstGeom>
          <a:solidFill>
            <a:srgbClr val="F8F4ED"/>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94360" y="3584448"/>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Thermal Comfort</a:t>
            </a:r>
          </a:p>
        </p:txBody>
      </p:sp>
      <p:sp>
        <p:nvSpPr>
          <p:cNvPr id="77" name="Rectangle 76"/>
          <p:cNvSpPr/>
          <p:nvPr/>
        </p:nvSpPr>
        <p:spPr>
          <a:xfrm>
            <a:off x="4059936" y="363931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352544" y="363931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4645152" y="363931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937760" y="363931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230368" y="3639312"/>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57200" y="3877056"/>
            <a:ext cx="512064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4360" y="3877056"/>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Sound</a:t>
            </a:r>
          </a:p>
        </p:txBody>
      </p:sp>
      <p:sp>
        <p:nvSpPr>
          <p:cNvPr id="84" name="Rectangle 83"/>
          <p:cNvSpPr/>
          <p:nvPr/>
        </p:nvSpPr>
        <p:spPr>
          <a:xfrm>
            <a:off x="4059936" y="393192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352544" y="393192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645152" y="393192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937760" y="393192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230368" y="3931920"/>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57200" y="4169664"/>
            <a:ext cx="5120640" cy="292608"/>
          </a:xfrm>
          <a:prstGeom prst="rect">
            <a:avLst/>
          </a:prstGeom>
          <a:solidFill>
            <a:srgbClr val="F8F4ED"/>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94360" y="4169664"/>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Materials</a:t>
            </a:r>
          </a:p>
        </p:txBody>
      </p:sp>
      <p:sp>
        <p:nvSpPr>
          <p:cNvPr id="91" name="Rectangle 90"/>
          <p:cNvSpPr/>
          <p:nvPr/>
        </p:nvSpPr>
        <p:spPr>
          <a:xfrm>
            <a:off x="4059936" y="422452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4352544" y="422452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645152" y="422452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937760" y="422452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230368" y="4224528"/>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57200" y="4462272"/>
            <a:ext cx="5120640" cy="292608"/>
          </a:xfrm>
          <a:prstGeom prst="rect">
            <a:avLst/>
          </a:prstGeom>
          <a:solidFill>
            <a:srgbClr val="FFFFFF"/>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94360" y="4462272"/>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Mind</a:t>
            </a:r>
          </a:p>
        </p:txBody>
      </p:sp>
      <p:sp>
        <p:nvSpPr>
          <p:cNvPr id="98" name="Rectangle 97"/>
          <p:cNvSpPr/>
          <p:nvPr/>
        </p:nvSpPr>
        <p:spPr>
          <a:xfrm>
            <a:off x="4059936" y="451713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4352544" y="451713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645152" y="451713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937760" y="451713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230368" y="4517136"/>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57200" y="4754880"/>
            <a:ext cx="5120640" cy="292608"/>
          </a:xfrm>
          <a:prstGeom prst="rect">
            <a:avLst/>
          </a:prstGeom>
          <a:solidFill>
            <a:srgbClr val="F8F4ED"/>
          </a:solidFill>
          <a:ln w="508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94360" y="4754880"/>
            <a:ext cx="3383280" cy="292608"/>
          </a:xfrm>
          <a:prstGeom prst="rect">
            <a:avLst/>
          </a:prstGeom>
          <a:noFill/>
        </p:spPr>
        <p:txBody>
          <a:bodyPr wrap="square" lIns="0" rIns="0" tIns="0" bIns="0" anchor="ctr">
            <a:spAutoFit/>
          </a:bodyPr>
          <a:lstStyle/>
          <a:p>
            <a:pPr algn="l"/>
            <a:r>
              <a:rPr sz="900" b="0" i="0">
                <a:solidFill>
                  <a:srgbClr val="0D0D0D"/>
                </a:solidFill>
                <a:latin typeface="Source Sans Pro"/>
              </a:rPr>
              <a:t>Community</a:t>
            </a:r>
          </a:p>
        </p:txBody>
      </p:sp>
      <p:sp>
        <p:nvSpPr>
          <p:cNvPr id="105" name="Rectangle 104"/>
          <p:cNvSpPr/>
          <p:nvPr/>
        </p:nvSpPr>
        <p:spPr>
          <a:xfrm>
            <a:off x="4059936" y="480974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352544" y="480974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645152" y="480974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4937760" y="480974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230368" y="4809744"/>
            <a:ext cx="219456" cy="182880"/>
          </a:xfrm>
          <a:prstGeom prst="rect">
            <a:avLst/>
          </a:prstGeom>
          <a:solidFill>
            <a:srgbClr val="FFFFFF"/>
          </a:solidFill>
          <a:ln w="381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0" name="Picture 109"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111" name="TextBox 110"/>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