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96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Business model canvas for urban projects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one-page visual matrix mapping the value proposition, key beneficiaries, ongoing operational costs, and strategies for direct and indirect value capture.</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96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Business model canvas for urban projects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Shifting from the euphoria of the initial ribbon-cutting to the quiet, dignified labor of long-term stewardship, ensuring that the project survives beyond the life of its initial grant.</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one-page visual matrix mapping the value proposition, key beneficiaries, ongoing operational costs, and strategies for direct and indirect value capture.</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1 to 2 days of collaborative workshop
Material  ·  Large printed canvas templates, sticky notes, markers, stakeholder maps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Connecting Nature initiative pilot-tested the Nature-Based Solutions Business Model Canvas in front-runner cities like Genk, Glasgow, and Poznan. By mapping out exactly how to reduce operational costs and create joint programs with partners, cities avoided building "Frankenstein" projects overly reliant on fragile, short-term grants, ensuring long-term financial viability for their green infrastructure.</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96  ·  ANIMATION CANVAS  ·  </a:t>
            </a:r>
            <a:r>
              <a:rPr sz="1000" b="1" i="0">
                <a:solidFill>
                  <a:srgbClr val="0D0D0D"/>
                </a:solidFill>
                <a:latin typeface="Source Sans Pro"/>
              </a:rPr>
              <a:t>BUSINESS MODEL CANVAS FOR URBAN PROJECTS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Business Model Canvas · 9 building blocks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1 to 2 days of collaborative workshop</a:t>
            </a:r>
          </a:p>
        </p:txBody>
      </p:sp>
      <p:sp>
        <p:nvSpPr>
          <p:cNvPr id="6" name="Rounded Rectangle 5"/>
          <p:cNvSpPr/>
          <p:nvPr/>
        </p:nvSpPr>
        <p:spPr>
          <a:xfrm>
            <a:off x="457200" y="1417320"/>
            <a:ext cx="2255520" cy="31394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554480"/>
            <a:ext cx="1828800" cy="29260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Key partners</a:t>
            </a:r>
          </a:p>
        </p:txBody>
      </p:sp>
      <p:sp>
        <p:nvSpPr>
          <p:cNvPr id="8" name="Rounded Rectangle 7"/>
          <p:cNvSpPr/>
          <p:nvPr/>
        </p:nvSpPr>
        <p:spPr>
          <a:xfrm>
            <a:off x="2712720" y="1417320"/>
            <a:ext cx="2255520" cy="156972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49880" y="1554480"/>
            <a:ext cx="1828800" cy="292608"/>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Key activities</a:t>
            </a:r>
          </a:p>
        </p:txBody>
      </p:sp>
      <p:sp>
        <p:nvSpPr>
          <p:cNvPr id="10" name="Rounded Rectangle 9"/>
          <p:cNvSpPr/>
          <p:nvPr/>
        </p:nvSpPr>
        <p:spPr>
          <a:xfrm>
            <a:off x="2712720" y="2987040"/>
            <a:ext cx="2255520" cy="156972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49880" y="3124200"/>
            <a:ext cx="1828800" cy="292608"/>
          </a:xfrm>
          <a:prstGeom prst="roundRect">
            <a:avLst>
              <a:gd name="adj" fmla="val 50000"/>
            </a:avLst>
          </a:prstGeom>
          <a:solidFill>
            <a:srgbClr val="B0DAF1"/>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Key resources</a:t>
            </a:r>
          </a:p>
        </p:txBody>
      </p:sp>
      <p:sp>
        <p:nvSpPr>
          <p:cNvPr id="12" name="Rounded Rectangle 11"/>
          <p:cNvSpPr/>
          <p:nvPr/>
        </p:nvSpPr>
        <p:spPr>
          <a:xfrm>
            <a:off x="4968240" y="1417320"/>
            <a:ext cx="2255520" cy="31394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05400" y="1554480"/>
            <a:ext cx="1828800" cy="292608"/>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Value proposition</a:t>
            </a:r>
          </a:p>
        </p:txBody>
      </p:sp>
      <p:sp>
        <p:nvSpPr>
          <p:cNvPr id="14" name="Rounded Rectangle 13"/>
          <p:cNvSpPr/>
          <p:nvPr/>
        </p:nvSpPr>
        <p:spPr>
          <a:xfrm>
            <a:off x="7223760" y="1417320"/>
            <a:ext cx="2255520" cy="156972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60920" y="1554480"/>
            <a:ext cx="1828800" cy="292608"/>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Customer relationships</a:t>
            </a:r>
          </a:p>
        </p:txBody>
      </p:sp>
      <p:sp>
        <p:nvSpPr>
          <p:cNvPr id="16" name="Rounded Rectangle 15"/>
          <p:cNvSpPr/>
          <p:nvPr/>
        </p:nvSpPr>
        <p:spPr>
          <a:xfrm>
            <a:off x="7223760" y="2987040"/>
            <a:ext cx="2255520" cy="156972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60920" y="3124200"/>
            <a:ext cx="1828800" cy="292608"/>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Channels</a:t>
            </a:r>
          </a:p>
        </p:txBody>
      </p:sp>
      <p:sp>
        <p:nvSpPr>
          <p:cNvPr id="18" name="Rounded Rectangle 17"/>
          <p:cNvSpPr/>
          <p:nvPr/>
        </p:nvSpPr>
        <p:spPr>
          <a:xfrm>
            <a:off x="9479280" y="1417320"/>
            <a:ext cx="2255520" cy="31394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16440" y="1554480"/>
            <a:ext cx="1828800" cy="292608"/>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Customer segments</a:t>
            </a:r>
          </a:p>
        </p:txBody>
      </p:sp>
      <p:sp>
        <p:nvSpPr>
          <p:cNvPr id="20" name="Rounded Rectangle 19"/>
          <p:cNvSpPr/>
          <p:nvPr/>
        </p:nvSpPr>
        <p:spPr>
          <a:xfrm>
            <a:off x="457200" y="4648200"/>
            <a:ext cx="5593080" cy="14782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4360" y="4785360"/>
            <a:ext cx="2286000" cy="292608"/>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Cost structure</a:t>
            </a:r>
          </a:p>
        </p:txBody>
      </p:sp>
      <p:sp>
        <p:nvSpPr>
          <p:cNvPr id="22" name="Rounded Rectangle 21"/>
          <p:cNvSpPr/>
          <p:nvPr/>
        </p:nvSpPr>
        <p:spPr>
          <a:xfrm>
            <a:off x="6141720" y="4648200"/>
            <a:ext cx="5593080" cy="14782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78880" y="4785360"/>
            <a:ext cx="2286000" cy="292608"/>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Revenue streams</a:t>
            </a:r>
          </a:p>
        </p:txBody>
      </p:sp>
      <p:pic>
        <p:nvPicPr>
          <p:cNvPr id="24" name="Picture 23"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5" name="TextBox 24"/>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96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