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7315200" cy="274320"/>
          </a:xfrm>
          <a:prstGeom prst="rect">
            <a:avLst/>
          </a:prstGeom>
          <a:noFill/>
        </p:spPr>
        <p:txBody>
          <a:bodyPr wrap="square" lIns="0" rIns="0" tIns="0" bIns="0">
            <a:spAutoFit/>
          </a:bodyPr>
          <a:lstStyle/>
          <a:p>
            <a:pPr algn="l"/>
            <a:r>
              <a:rPr sz="1100" b="1" i="0">
                <a:solidFill>
                  <a:srgbClr val="0D0D0D"/>
                </a:solidFill>
                <a:latin typeface="Source Sans Pro"/>
              </a:rPr>
              <a:t>OVPM Co-Design Toolkit  ·  Tool 110 of 133</a:t>
            </a:r>
          </a:p>
        </p:txBody>
      </p:sp>
      <p:sp>
        <p:nvSpPr>
          <p:cNvPr id="4" name="TextBox 3"/>
          <p:cNvSpPr txBox="1"/>
          <p:nvPr/>
        </p:nvSpPr>
        <p:spPr>
          <a:xfrm>
            <a:off x="7985760" y="502920"/>
            <a:ext cx="3657600" cy="274320"/>
          </a:xfrm>
          <a:prstGeom prst="rect">
            <a:avLst/>
          </a:prstGeom>
          <a:noFill/>
        </p:spPr>
        <p:txBody>
          <a:bodyPr wrap="square" lIns="0" rIns="0" tIns="0" bIns="0">
            <a:spAutoFit/>
          </a:bodyPr>
          <a:lstStyle/>
          <a:p>
            <a:pPr algn="r"/>
            <a:r>
              <a:rPr sz="1200" b="0" i="1">
                <a:solidFill>
                  <a:srgbClr val="0D0D0D"/>
                </a:solidFill>
                <a:latin typeface="Palatino Linotype"/>
              </a:rPr>
              <a:t>Method canvas for co-design</a:t>
            </a:r>
          </a:p>
        </p:txBody>
      </p:sp>
      <p:sp>
        <p:nvSpPr>
          <p:cNvPr id="5" name="TextBox 4"/>
          <p:cNvSpPr txBox="1"/>
          <p:nvPr/>
        </p:nvSpPr>
        <p:spPr>
          <a:xfrm>
            <a:off x="548640" y="1554480"/>
            <a:ext cx="11094720" cy="2194560"/>
          </a:xfrm>
          <a:prstGeom prst="rect">
            <a:avLst/>
          </a:prstGeom>
          <a:noFill/>
        </p:spPr>
        <p:txBody>
          <a:bodyPr wrap="square" lIns="0" rIns="0" tIns="0" bIns="0">
            <a:spAutoFit/>
          </a:bodyPr>
          <a:lstStyle/>
          <a:p>
            <a:pPr algn="l"/>
            <a:r>
              <a:rPr sz="4200" b="0" i="0">
                <a:solidFill>
                  <a:srgbClr val="0D0D0D"/>
                </a:solidFill>
                <a:latin typeface="Palatino Linotype"/>
              </a:rPr>
              <a:t>Davos Declaration · Baukultur quality system</a:t>
            </a:r>
          </a:p>
        </p:txBody>
      </p:sp>
      <p:sp>
        <p:nvSpPr>
          <p:cNvPr id="6" name="TextBox 5"/>
          <p:cNvSpPr txBox="1"/>
          <p:nvPr/>
        </p:nvSpPr>
        <p:spPr>
          <a:xfrm>
            <a:off x="548640" y="3931920"/>
            <a:ext cx="10058400" cy="1280160"/>
          </a:xfrm>
          <a:prstGeom prst="rect">
            <a:avLst/>
          </a:prstGeom>
          <a:noFill/>
        </p:spPr>
        <p:txBody>
          <a:bodyPr wrap="square" lIns="0" rIns="0" tIns="0" bIns="0">
            <a:spAutoFit/>
          </a:bodyPr>
          <a:lstStyle/>
          <a:p>
            <a:pPr algn="l"/>
            <a:r>
              <a:rPr sz="1100" b="1" i="0">
                <a:solidFill>
                  <a:srgbClr val="0D0D0D"/>
                </a:solidFill>
                <a:latin typeface="Source Sans Pro"/>
              </a:rPr>
              <a:t>What this tool produces  ·  </a:t>
            </a:r>
            <a:r>
              <a:rPr sz="1500" b="0" i="1">
                <a:solidFill>
                  <a:srgbClr val="0D0D0D"/>
                </a:solidFill>
                <a:latin typeface="Palatino Linotype"/>
              </a:rPr>
              <a:t>A qualitative assessment profile of the place or project based on eight specific Baukultur criteria, identifying strengths and weaknesses to guide future design briefs.</a:t>
            </a:r>
          </a:p>
        </p:txBody>
      </p:sp>
      <p:sp>
        <p:nvSpPr>
          <p:cNvPr id="7" name="Rounded Rectangle 6"/>
          <p:cNvSpPr/>
          <p:nvPr/>
        </p:nvSpPr>
        <p:spPr>
          <a:xfrm>
            <a:off x="548640" y="5212080"/>
            <a:ext cx="2194560" cy="384048"/>
          </a:xfrm>
          <a:prstGeom prst="roundRect">
            <a:avLst>
              <a:gd name="adj" fmla="val 50000"/>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FFFFFF"/>
                </a:solidFill>
                <a:latin typeface="Source Sans Pro"/>
              </a:rPr>
              <a:t>G1 · Proof of Impact</a:t>
            </a:r>
          </a:p>
        </p:txBody>
      </p:sp>
      <p:sp>
        <p:nvSpPr>
          <p:cNvPr id="8" name="Rounded Rectangle 7"/>
          <p:cNvSpPr/>
          <p:nvPr/>
        </p:nvSpPr>
        <p:spPr>
          <a:xfrm>
            <a:off x="2880360" y="5212080"/>
            <a:ext cx="2194560" cy="384048"/>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G2 · Proof of Fit</a:t>
            </a:r>
          </a:p>
        </p:txBody>
      </p:sp>
      <p:sp>
        <p:nvSpPr>
          <p:cNvPr id="9" name="TextBox 8"/>
          <p:cNvSpPr txBox="1"/>
          <p:nvPr/>
        </p:nvSpPr>
        <p:spPr>
          <a:xfrm>
            <a:off x="548640" y="5669280"/>
            <a:ext cx="1828800" cy="274320"/>
          </a:xfrm>
          <a:prstGeom prst="rect">
            <a:avLst/>
          </a:prstGeom>
          <a:noFill/>
        </p:spPr>
        <p:txBody>
          <a:bodyPr wrap="square" lIns="0" rIns="0" tIns="0" bIns="0">
            <a:spAutoFit/>
          </a:bodyPr>
          <a:lstStyle/>
          <a:p>
            <a:pPr algn="l"/>
            <a:r>
              <a:rPr sz="900" b="1" i="0">
                <a:solidFill>
                  <a:srgbClr val="0D0D0D"/>
                </a:solidFill>
                <a:latin typeface="Source Sans Pro"/>
              </a:rPr>
              <a:t>Dimensions</a:t>
            </a:r>
          </a:p>
        </p:txBody>
      </p:sp>
      <p:sp>
        <p:nvSpPr>
          <p:cNvPr id="10" name="Rounded Rectangle 9"/>
          <p:cNvSpPr/>
          <p:nvPr/>
        </p:nvSpPr>
        <p:spPr>
          <a:xfrm>
            <a:off x="548640" y="5943600"/>
            <a:ext cx="1188720" cy="329184"/>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Heritage</a:t>
            </a:r>
          </a:p>
        </p:txBody>
      </p:sp>
      <p:sp>
        <p:nvSpPr>
          <p:cNvPr id="11" name="Rounded Rectangle 10"/>
          <p:cNvSpPr/>
          <p:nvPr/>
        </p:nvSpPr>
        <p:spPr>
          <a:xfrm>
            <a:off x="1847088" y="5943600"/>
            <a:ext cx="1188720" cy="329184"/>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Spatial</a:t>
            </a:r>
          </a:p>
        </p:txBody>
      </p:sp>
      <p:sp>
        <p:nvSpPr>
          <p:cNvPr id="12" name="Rounded Rectangle 11"/>
          <p:cNvSpPr/>
          <p:nvPr/>
        </p:nvSpPr>
        <p:spPr>
          <a:xfrm>
            <a:off x="3145536" y="5943600"/>
            <a:ext cx="1376172" cy="329184"/>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Social / User</a:t>
            </a:r>
          </a:p>
        </p:txBody>
      </p:sp>
      <p:pic>
        <p:nvPicPr>
          <p:cNvPr id="13" name="Picture 12" descr="aktan_black_transparent.png"/>
          <p:cNvPicPr>
            <a:picLocks noChangeAspect="1"/>
          </p:cNvPicPr>
          <p:nvPr/>
        </p:nvPicPr>
        <p:blipFill>
          <a:blip r:embed="rId2"/>
          <a:stretch>
            <a:fillRect/>
          </a:stretch>
        </p:blipFill>
        <p:spPr>
          <a:xfrm>
            <a:off x="10271760" y="6024114"/>
            <a:ext cx="1371600" cy="330966"/>
          </a:xfrm>
          <a:prstGeom prst="rect">
            <a:avLst/>
          </a:prstGeom>
        </p:spPr>
      </p:pic>
      <p:sp>
        <p:nvSpPr>
          <p:cNvPr id="14" name="TextBox 13"/>
          <p:cNvSpPr txBox="1"/>
          <p:nvPr/>
        </p:nvSpPr>
        <p:spPr>
          <a:xfrm>
            <a:off x="10271760" y="6395080"/>
            <a:ext cx="1371600" cy="274320"/>
          </a:xfrm>
          <a:prstGeom prst="rect">
            <a:avLst/>
          </a:prstGeom>
          <a:noFill/>
        </p:spPr>
        <p:txBody>
          <a:bodyPr wrap="square" lIns="0" rIns="0" tIns="0" bIns="0">
            <a:spAutoFit/>
          </a:bodyPr>
          <a:lstStyle/>
          <a:p>
            <a:pPr algn="ctr"/>
            <a:r>
              <a:rPr sz="1200" b="0" i="1">
                <a:solidFill>
                  <a:srgbClr val="0D0D0D"/>
                </a:solidFill>
                <a:latin typeface="Palatino Linotype"/>
              </a:rPr>
              <a:t>With simplexity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7315200" cy="274320"/>
          </a:xfrm>
          <a:prstGeom prst="rect">
            <a:avLst/>
          </a:prstGeom>
          <a:noFill/>
        </p:spPr>
        <p:txBody>
          <a:bodyPr wrap="square" lIns="0" rIns="0" tIns="0" bIns="0">
            <a:spAutoFit/>
          </a:bodyPr>
          <a:lstStyle/>
          <a:p>
            <a:pPr algn="l"/>
            <a:r>
              <a:rPr sz="1000" b="1" i="0">
                <a:solidFill>
                  <a:srgbClr val="757575"/>
                </a:solidFill>
                <a:latin typeface="Source Sans Pro"/>
              </a:rPr>
              <a:t>TOOL 110  ·  FACILITATOR PREPARATION</a:t>
            </a:r>
          </a:p>
        </p:txBody>
      </p:sp>
      <p:sp>
        <p:nvSpPr>
          <p:cNvPr id="4" name="TextBox 3"/>
          <p:cNvSpPr txBox="1"/>
          <p:nvPr/>
        </p:nvSpPr>
        <p:spPr>
          <a:xfrm>
            <a:off x="457200" y="594360"/>
            <a:ext cx="10515600" cy="914400"/>
          </a:xfrm>
          <a:prstGeom prst="rect">
            <a:avLst/>
          </a:prstGeom>
          <a:noFill/>
        </p:spPr>
        <p:txBody>
          <a:bodyPr wrap="square" lIns="0" rIns="0" tIns="0" bIns="0">
            <a:spAutoFit/>
          </a:bodyPr>
          <a:lstStyle/>
          <a:p>
            <a:pPr algn="l"/>
            <a:r>
              <a:rPr sz="2800" b="0" i="0">
                <a:solidFill>
                  <a:srgbClr val="0D0D0D"/>
                </a:solidFill>
                <a:latin typeface="Palatino Linotype"/>
              </a:rPr>
              <a:t>Preparing the workshop  ·  </a:t>
            </a:r>
            <a:r>
              <a:rPr sz="2800" b="0" i="1">
                <a:solidFill>
                  <a:srgbClr val="0D0D0D"/>
                </a:solidFill>
                <a:latin typeface="Palatino Linotype"/>
              </a:rPr>
              <a:t>Davos Declaration · Baukultur quality system</a:t>
            </a:r>
          </a:p>
        </p:txBody>
      </p:sp>
      <p:sp>
        <p:nvSpPr>
          <p:cNvPr id="5" name="Rounded Rectangle 4"/>
          <p:cNvSpPr/>
          <p:nvPr/>
        </p:nvSpPr>
        <p:spPr>
          <a:xfrm>
            <a:off x="457200" y="1554480"/>
            <a:ext cx="2468880" cy="384048"/>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G1 · Proof of Impact</a:t>
            </a:r>
          </a:p>
        </p:txBody>
      </p:sp>
      <p:sp>
        <p:nvSpPr>
          <p:cNvPr id="6" name="Rounded Rectangle 5"/>
          <p:cNvSpPr/>
          <p:nvPr/>
        </p:nvSpPr>
        <p:spPr>
          <a:xfrm>
            <a:off x="457200" y="2103120"/>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94360" y="2267712"/>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2240280"/>
            <a:ext cx="4983480" cy="365760"/>
          </a:xfrm>
          <a:prstGeom prst="rect">
            <a:avLst/>
          </a:prstGeom>
          <a:noFill/>
        </p:spPr>
        <p:txBody>
          <a:bodyPr wrap="square" lIns="0" rIns="0" tIns="0" bIns="0">
            <a:spAutoFit/>
          </a:bodyPr>
          <a:lstStyle/>
          <a:p>
            <a:pPr algn="l"/>
            <a:r>
              <a:rPr sz="1200" b="1" i="0">
                <a:solidFill>
                  <a:srgbClr val="0D0D0D"/>
                </a:solidFill>
                <a:latin typeface="Source Sans Pro"/>
              </a:rPr>
              <a:t>Why this tool matters</a:t>
            </a:r>
          </a:p>
        </p:txBody>
      </p:sp>
      <p:sp>
        <p:nvSpPr>
          <p:cNvPr id="9" name="TextBox 8"/>
          <p:cNvSpPr txBox="1"/>
          <p:nvPr/>
        </p:nvSpPr>
        <p:spPr>
          <a:xfrm>
            <a:off x="731520" y="2606040"/>
            <a:ext cx="4983480" cy="1234439"/>
          </a:xfrm>
          <a:prstGeom prst="rect">
            <a:avLst/>
          </a:prstGeom>
          <a:noFill/>
        </p:spPr>
        <p:txBody>
          <a:bodyPr wrap="square" lIns="0" rIns="0" tIns="0" bIns="0">
            <a:spAutoFit/>
          </a:bodyPr>
          <a:lstStyle/>
          <a:p>
            <a:pPr algn="l"/>
            <a:r>
              <a:rPr sz="1000" b="0" i="0">
                <a:solidFill>
                  <a:srgbClr val="0D0D0D"/>
                </a:solidFill>
                <a:latin typeface="Source Sans Pro"/>
              </a:rPr>
              <a:t>Shifting the focus from merely "building things" to cultivating a profound "building culture," where every brick laid is a conscious act of respect toward history, nature, and community identity.</a:t>
            </a:r>
          </a:p>
        </p:txBody>
      </p:sp>
      <p:sp>
        <p:nvSpPr>
          <p:cNvPr id="10" name="Rounded Rectangle 9"/>
          <p:cNvSpPr/>
          <p:nvPr/>
        </p:nvSpPr>
        <p:spPr>
          <a:xfrm>
            <a:off x="6080760" y="2103120"/>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17920" y="2267712"/>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5080" y="2240280"/>
            <a:ext cx="4983480" cy="365760"/>
          </a:xfrm>
          <a:prstGeom prst="rect">
            <a:avLst/>
          </a:prstGeom>
          <a:noFill/>
        </p:spPr>
        <p:txBody>
          <a:bodyPr wrap="square" lIns="0" rIns="0" tIns="0" bIns="0">
            <a:spAutoFit/>
          </a:bodyPr>
          <a:lstStyle/>
          <a:p>
            <a:pPr algn="l"/>
            <a:r>
              <a:rPr sz="1200" b="1" i="0">
                <a:solidFill>
                  <a:srgbClr val="0D0D0D"/>
                </a:solidFill>
                <a:latin typeface="Source Sans Pro"/>
              </a:rPr>
              <a:t>Evidence we produce</a:t>
            </a:r>
          </a:p>
        </p:txBody>
      </p:sp>
      <p:sp>
        <p:nvSpPr>
          <p:cNvPr id="13" name="TextBox 12"/>
          <p:cNvSpPr txBox="1"/>
          <p:nvPr/>
        </p:nvSpPr>
        <p:spPr>
          <a:xfrm>
            <a:off x="6355080" y="2606040"/>
            <a:ext cx="4983480" cy="1234439"/>
          </a:xfrm>
          <a:prstGeom prst="rect">
            <a:avLst/>
          </a:prstGeom>
          <a:noFill/>
        </p:spPr>
        <p:txBody>
          <a:bodyPr wrap="square" lIns="0" rIns="0" tIns="0" bIns="0">
            <a:spAutoFit/>
          </a:bodyPr>
          <a:lstStyle/>
          <a:p>
            <a:pPr algn="l"/>
            <a:r>
              <a:rPr sz="1000" b="0" i="0">
                <a:solidFill>
                  <a:srgbClr val="0D0D0D"/>
                </a:solidFill>
                <a:latin typeface="Source Sans Pro"/>
              </a:rPr>
              <a:t>A qualitative assessment profile of the place or project based on eight specific Baukultur criteria, identifying strengths and weaknesses to guide future design briefs.</a:t>
            </a:r>
          </a:p>
        </p:txBody>
      </p:sp>
      <p:sp>
        <p:nvSpPr>
          <p:cNvPr id="14" name="Rounded Rectangle 13"/>
          <p:cNvSpPr/>
          <p:nvPr/>
        </p:nvSpPr>
        <p:spPr>
          <a:xfrm>
            <a:off x="457200" y="4160519"/>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94360" y="4325111"/>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4297679"/>
            <a:ext cx="4983480" cy="365760"/>
          </a:xfrm>
          <a:prstGeom prst="rect">
            <a:avLst/>
          </a:prstGeom>
          <a:noFill/>
        </p:spPr>
        <p:txBody>
          <a:bodyPr wrap="square" lIns="0" rIns="0" tIns="0" bIns="0">
            <a:spAutoFit/>
          </a:bodyPr>
          <a:lstStyle/>
          <a:p>
            <a:pPr algn="l"/>
            <a:r>
              <a:rPr sz="1200" b="1" i="0">
                <a:solidFill>
                  <a:srgbClr val="0D0D0D"/>
                </a:solidFill>
                <a:latin typeface="Source Sans Pro"/>
              </a:rPr>
              <a:t>Duration &amp; Material</a:t>
            </a:r>
          </a:p>
        </p:txBody>
      </p:sp>
      <p:sp>
        <p:nvSpPr>
          <p:cNvPr id="17" name="TextBox 16"/>
          <p:cNvSpPr txBox="1"/>
          <p:nvPr/>
        </p:nvSpPr>
        <p:spPr>
          <a:xfrm>
            <a:off x="731520" y="4663439"/>
            <a:ext cx="4983480" cy="1234439"/>
          </a:xfrm>
          <a:prstGeom prst="rect">
            <a:avLst/>
          </a:prstGeom>
          <a:noFill/>
        </p:spPr>
        <p:txBody>
          <a:bodyPr wrap="square" lIns="0" rIns="0" tIns="0" bIns="0">
            <a:spAutoFit/>
          </a:bodyPr>
          <a:lstStyle/>
          <a:p>
            <a:pPr algn="l"/>
            <a:r>
              <a:rPr sz="1000" b="0" i="0">
                <a:solidFill>
                  <a:srgbClr val="0D0D0D"/>
                </a:solidFill>
                <a:latin typeface="Source Sans Pro"/>
              </a:rPr>
              <a:t>Duration  ·  2 to 4 weeks for full assessment and stakeholder input
Material  ·  Davos Baukultur Quality System questionnaires, site maps, historical data</a:t>
            </a:r>
          </a:p>
        </p:txBody>
      </p:sp>
      <p:sp>
        <p:nvSpPr>
          <p:cNvPr id="18" name="Rounded Rectangle 17"/>
          <p:cNvSpPr/>
          <p:nvPr/>
        </p:nvSpPr>
        <p:spPr>
          <a:xfrm>
            <a:off x="6080760" y="4160519"/>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17920" y="4325111"/>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55080" y="4297679"/>
            <a:ext cx="4983480" cy="365760"/>
          </a:xfrm>
          <a:prstGeom prst="rect">
            <a:avLst/>
          </a:prstGeom>
          <a:noFill/>
        </p:spPr>
        <p:txBody>
          <a:bodyPr wrap="square" lIns="0" rIns="0" tIns="0" bIns="0">
            <a:spAutoFit/>
          </a:bodyPr>
          <a:lstStyle/>
          <a:p>
            <a:pPr algn="l"/>
            <a:r>
              <a:rPr sz="1200" b="1" i="0">
                <a:solidFill>
                  <a:srgbClr val="0D0D0D"/>
                </a:solidFill>
                <a:latin typeface="Source Sans Pro"/>
              </a:rPr>
              <a:t>Reference case</a:t>
            </a:r>
          </a:p>
        </p:txBody>
      </p:sp>
      <p:sp>
        <p:nvSpPr>
          <p:cNvPr id="21" name="TextBox 20"/>
          <p:cNvSpPr txBox="1"/>
          <p:nvPr/>
        </p:nvSpPr>
        <p:spPr>
          <a:xfrm>
            <a:off x="6355080" y="4663439"/>
            <a:ext cx="4983480" cy="1234439"/>
          </a:xfrm>
          <a:prstGeom prst="rect">
            <a:avLst/>
          </a:prstGeom>
          <a:noFill/>
        </p:spPr>
        <p:txBody>
          <a:bodyPr wrap="square" lIns="0" rIns="0" tIns="0" bIns="0">
            <a:spAutoFit/>
          </a:bodyPr>
          <a:lstStyle/>
          <a:p>
            <a:pPr algn="l"/>
            <a:r>
              <a:rPr sz="1000" b="0" i="0">
                <a:solidFill>
                  <a:srgbClr val="0D0D0D"/>
                </a:solidFill>
                <a:latin typeface="Source Sans Pro"/>
              </a:rPr>
              <a:t>The Swiss Federal Office of Culture initiated the Davos Baukultur Quality System to objectify the assessment of the built environment. This system has been actively used to draft guidelines for citizens' workshops, inform political decision-makers, and provide a multidimensional baseline that treats emotional and cultural criteria as equally important as economic and technical ones in spatial planning,,.</a:t>
            </a:r>
          </a:p>
        </p:txBody>
      </p:sp>
      <p:sp>
        <p:nvSpPr>
          <p:cNvPr id="22" name="TextBox 21"/>
          <p:cNvSpPr txBox="1"/>
          <p:nvPr/>
        </p:nvSpPr>
        <p:spPr>
          <a:xfrm>
            <a:off x="457200" y="6035040"/>
            <a:ext cx="10515600" cy="274320"/>
          </a:xfrm>
          <a:prstGeom prst="rect">
            <a:avLst/>
          </a:prstGeom>
          <a:noFill/>
        </p:spPr>
        <p:txBody>
          <a:bodyPr wrap="square" lIns="0" rIns="0" tIns="0" bIns="0">
            <a:spAutoFit/>
          </a:bodyPr>
          <a:lstStyle/>
          <a:p>
            <a:pPr algn="l"/>
            <a:r>
              <a:rPr sz="1000" b="1" i="0">
                <a:solidFill>
                  <a:srgbClr val="0D0D0D"/>
                </a:solidFill>
                <a:latin typeface="Source Sans Pro"/>
              </a:rPr>
              <a:t>Suggested agenda  ·  </a:t>
            </a:r>
            <a:r>
              <a:rPr sz="1000" b="0" i="0">
                <a:solidFill>
                  <a:srgbClr val="757575"/>
                </a:solidFill>
                <a:latin typeface="Source Sans Pro"/>
              </a:rPr>
              <a:t>Brief (10 min)  ›  Method walk-through (15 min)  ›  Animation canvas (60–90 min)  ›  Harvest (20 min)</a:t>
            </a:r>
          </a:p>
        </p:txBody>
      </p:sp>
      <p:pic>
        <p:nvPicPr>
          <p:cNvPr id="23" name="Picture 22"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24" name="TextBox 23"/>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0058400" cy="274320"/>
          </a:xfrm>
          <a:prstGeom prst="rect">
            <a:avLst/>
          </a:prstGeom>
          <a:noFill/>
        </p:spPr>
        <p:txBody>
          <a:bodyPr wrap="square" lIns="0" rIns="0" tIns="0" bIns="0">
            <a:spAutoFit/>
          </a:bodyPr>
          <a:lstStyle/>
          <a:p>
            <a:pPr algn="l"/>
            <a:r>
              <a:rPr sz="1000" b="1" i="0">
                <a:solidFill>
                  <a:srgbClr val="757575"/>
                </a:solidFill>
                <a:latin typeface="Source Sans Pro"/>
              </a:rPr>
              <a:t>TOOL 110  ·  ANIMATION CANVAS  ·  </a:t>
            </a:r>
            <a:r>
              <a:rPr sz="1000" b="1" i="0">
                <a:solidFill>
                  <a:srgbClr val="0D0D0D"/>
                </a:solidFill>
                <a:latin typeface="Source Sans Pro"/>
              </a:rPr>
              <a:t>DAVOS DECLARATION · BAUKULTUR QUALITY SYSTEM</a:t>
            </a:r>
          </a:p>
        </p:txBody>
      </p:sp>
      <p:sp>
        <p:nvSpPr>
          <p:cNvPr id="4" name="TextBox 3"/>
          <p:cNvSpPr txBox="1"/>
          <p:nvPr/>
        </p:nvSpPr>
        <p:spPr>
          <a:xfrm>
            <a:off x="457200" y="640080"/>
            <a:ext cx="8229600" cy="640080"/>
          </a:xfrm>
          <a:prstGeom prst="rect">
            <a:avLst/>
          </a:prstGeom>
          <a:noFill/>
        </p:spPr>
        <p:txBody>
          <a:bodyPr wrap="square" lIns="0" rIns="0" tIns="0" bIns="0">
            <a:spAutoFit/>
          </a:bodyPr>
          <a:lstStyle/>
          <a:p>
            <a:pPr algn="l"/>
            <a:r>
              <a:rPr sz="2400" b="0" i="0">
                <a:solidFill>
                  <a:srgbClr val="0D0D0D"/>
                </a:solidFill>
                <a:latin typeface="Palatino Linotype"/>
              </a:rPr>
              <a:t>Davos · 8 Baukultur quality criteria</a:t>
            </a:r>
          </a:p>
        </p:txBody>
      </p:sp>
      <p:sp>
        <p:nvSpPr>
          <p:cNvPr id="5" name="TextBox 4"/>
          <p:cNvSpPr txBox="1"/>
          <p:nvPr/>
        </p:nvSpPr>
        <p:spPr>
          <a:xfrm>
            <a:off x="8778240" y="640080"/>
            <a:ext cx="2926080" cy="640080"/>
          </a:xfrm>
          <a:prstGeom prst="rect">
            <a:avLst/>
          </a:prstGeom>
          <a:noFill/>
        </p:spPr>
        <p:txBody>
          <a:bodyPr wrap="square" lIns="0" rIns="0" tIns="0" bIns="0">
            <a:spAutoFit/>
          </a:bodyPr>
          <a:lstStyle/>
          <a:p>
            <a:pPr algn="r"/>
            <a:r>
              <a:rPr sz="850" b="1" i="0">
                <a:solidFill>
                  <a:srgbClr val="757575"/>
                </a:solidFill>
                <a:latin typeface="Source Sans Pro"/>
              </a:rPr>
              <a:t>Duration</a:t>
            </a:r>
          </a:p>
          <a:p>
            <a:pPr algn="r"/>
            <a:r>
              <a:rPr sz="1000" b="0" i="0">
                <a:solidFill>
                  <a:srgbClr val="0D0D0D"/>
                </a:solidFill>
                <a:latin typeface="Source Sans Pro"/>
              </a:rPr>
              <a:t>2 to 4 weeks for full assessment and stakeholder input</a:t>
            </a:r>
          </a:p>
        </p:txBody>
      </p:sp>
      <p:sp>
        <p:nvSpPr>
          <p:cNvPr id="6" name="Rounded Rectangle 5"/>
          <p:cNvSpPr/>
          <p:nvPr/>
        </p:nvSpPr>
        <p:spPr>
          <a:xfrm>
            <a:off x="457200" y="1417320"/>
            <a:ext cx="2695956" cy="2295144"/>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85800" y="1600200"/>
            <a:ext cx="2238756" cy="365760"/>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Governance</a:t>
            </a:r>
          </a:p>
        </p:txBody>
      </p:sp>
      <p:sp>
        <p:nvSpPr>
          <p:cNvPr id="8" name="TextBox 7"/>
          <p:cNvSpPr txBox="1"/>
          <p:nvPr/>
        </p:nvSpPr>
        <p:spPr>
          <a:xfrm>
            <a:off x="685800" y="2103120"/>
            <a:ext cx="2238756" cy="457200"/>
          </a:xfrm>
          <a:prstGeom prst="rect">
            <a:avLst/>
          </a:prstGeom>
          <a:noFill/>
        </p:spPr>
        <p:txBody>
          <a:bodyPr wrap="square" lIns="0" rIns="0" tIns="0" bIns="0">
            <a:spAutoFit/>
          </a:bodyPr>
          <a:lstStyle/>
          <a:p>
            <a:pPr algn="l"/>
            <a:r>
              <a:rPr sz="1050" b="0" i="1">
                <a:solidFill>
                  <a:srgbClr val="757575"/>
                </a:solidFill>
                <a:latin typeface="Palatino Linotype"/>
              </a:rPr>
              <a:t>good governance &amp; participation</a:t>
            </a:r>
          </a:p>
        </p:txBody>
      </p:sp>
      <p:cxnSp>
        <p:nvCxnSpPr>
          <p:cNvPr id="9" name="Connector 8"/>
          <p:cNvCxnSpPr/>
          <p:nvPr/>
        </p:nvCxnSpPr>
        <p:spPr>
          <a:xfrm>
            <a:off x="685800.0" y="2743200.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85800.0" y="3035808.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85800.0" y="3328416.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3317748" y="1417320"/>
            <a:ext cx="2695956" cy="2295144"/>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546348" y="1600200"/>
            <a:ext cx="2238756" cy="365760"/>
          </a:xfrm>
          <a:prstGeom prst="roundRect">
            <a:avLst>
              <a:gd name="adj" fmla="val 50000"/>
            </a:avLst>
          </a:prstGeom>
          <a:solidFill>
            <a:srgbClr val="459ACB"/>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Functionality</a:t>
            </a:r>
          </a:p>
        </p:txBody>
      </p:sp>
      <p:sp>
        <p:nvSpPr>
          <p:cNvPr id="14" name="TextBox 13"/>
          <p:cNvSpPr txBox="1"/>
          <p:nvPr/>
        </p:nvSpPr>
        <p:spPr>
          <a:xfrm>
            <a:off x="3546348" y="2103120"/>
            <a:ext cx="2238756" cy="457200"/>
          </a:xfrm>
          <a:prstGeom prst="rect">
            <a:avLst/>
          </a:prstGeom>
          <a:noFill/>
        </p:spPr>
        <p:txBody>
          <a:bodyPr wrap="square" lIns="0" rIns="0" tIns="0" bIns="0">
            <a:spAutoFit/>
          </a:bodyPr>
          <a:lstStyle/>
          <a:p>
            <a:pPr algn="l"/>
            <a:r>
              <a:rPr sz="1050" b="0" i="1">
                <a:solidFill>
                  <a:srgbClr val="757575"/>
                </a:solidFill>
                <a:latin typeface="Palatino Linotype"/>
              </a:rPr>
              <a:t>fit-for-purpose · adaptable</a:t>
            </a:r>
          </a:p>
        </p:txBody>
      </p:sp>
      <p:cxnSp>
        <p:nvCxnSpPr>
          <p:cNvPr id="15" name="Connector 14"/>
          <p:cNvCxnSpPr/>
          <p:nvPr/>
        </p:nvCxnSpPr>
        <p:spPr>
          <a:xfrm>
            <a:off x="3546348.0" y="2743200.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3546348.0" y="3035808.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3546348.0" y="3328416.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178296" y="1417320"/>
            <a:ext cx="2695956" cy="2295144"/>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406896" y="1600200"/>
            <a:ext cx="2238756" cy="365760"/>
          </a:xfrm>
          <a:prstGeom prst="roundRect">
            <a:avLst>
              <a:gd name="adj" fmla="val 50000"/>
            </a:avLst>
          </a:prstGeom>
          <a:solidFill>
            <a:srgbClr val="00ED93"/>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Environment</a:t>
            </a:r>
          </a:p>
        </p:txBody>
      </p:sp>
      <p:sp>
        <p:nvSpPr>
          <p:cNvPr id="20" name="TextBox 19"/>
          <p:cNvSpPr txBox="1"/>
          <p:nvPr/>
        </p:nvSpPr>
        <p:spPr>
          <a:xfrm>
            <a:off x="6406896" y="2103120"/>
            <a:ext cx="2238756" cy="457200"/>
          </a:xfrm>
          <a:prstGeom prst="rect">
            <a:avLst/>
          </a:prstGeom>
          <a:noFill/>
        </p:spPr>
        <p:txBody>
          <a:bodyPr wrap="square" lIns="0" rIns="0" tIns="0" bIns="0">
            <a:spAutoFit/>
          </a:bodyPr>
          <a:lstStyle/>
          <a:p>
            <a:pPr algn="l"/>
            <a:r>
              <a:rPr sz="1050" b="0" i="1">
                <a:solidFill>
                  <a:srgbClr val="757575"/>
                </a:solidFill>
                <a:latin typeface="Palatino Linotype"/>
              </a:rPr>
              <a:t>climate · ecology · resources</a:t>
            </a:r>
          </a:p>
        </p:txBody>
      </p:sp>
      <p:cxnSp>
        <p:nvCxnSpPr>
          <p:cNvPr id="21" name="Connector 20"/>
          <p:cNvCxnSpPr/>
          <p:nvPr/>
        </p:nvCxnSpPr>
        <p:spPr>
          <a:xfrm>
            <a:off x="6406896.0" y="2743200.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6406896.0" y="3035808.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6406896.0" y="3328416.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9038844" y="1417320"/>
            <a:ext cx="2695956" cy="2295144"/>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267444" y="1600200"/>
            <a:ext cx="2238756" cy="365760"/>
          </a:xfrm>
          <a:prstGeom prst="roundRect">
            <a:avLst>
              <a:gd name="adj" fmla="val 50000"/>
            </a:avLst>
          </a:prstGeom>
          <a:solidFill>
            <a:srgbClr val="FF674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Economy</a:t>
            </a:r>
          </a:p>
        </p:txBody>
      </p:sp>
      <p:sp>
        <p:nvSpPr>
          <p:cNvPr id="26" name="TextBox 25"/>
          <p:cNvSpPr txBox="1"/>
          <p:nvPr/>
        </p:nvSpPr>
        <p:spPr>
          <a:xfrm>
            <a:off x="9267444" y="2103120"/>
            <a:ext cx="2238756" cy="457200"/>
          </a:xfrm>
          <a:prstGeom prst="rect">
            <a:avLst/>
          </a:prstGeom>
          <a:noFill/>
        </p:spPr>
        <p:txBody>
          <a:bodyPr wrap="square" lIns="0" rIns="0" tIns="0" bIns="0">
            <a:spAutoFit/>
          </a:bodyPr>
          <a:lstStyle/>
          <a:p>
            <a:pPr algn="l"/>
            <a:r>
              <a:rPr sz="1050" b="0" i="1">
                <a:solidFill>
                  <a:srgbClr val="757575"/>
                </a:solidFill>
                <a:latin typeface="Palatino Linotype"/>
              </a:rPr>
              <a:t>value for money · long term</a:t>
            </a:r>
          </a:p>
        </p:txBody>
      </p:sp>
      <p:cxnSp>
        <p:nvCxnSpPr>
          <p:cNvPr id="27" name="Connector 26"/>
          <p:cNvCxnSpPr/>
          <p:nvPr/>
        </p:nvCxnSpPr>
        <p:spPr>
          <a:xfrm>
            <a:off x="9267444.0" y="2743200.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9267444.0" y="3035808.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9267444.0" y="3328416.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457200" y="3877056"/>
            <a:ext cx="2695956" cy="2295144"/>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85800" y="4059936"/>
            <a:ext cx="2238756" cy="365760"/>
          </a:xfrm>
          <a:prstGeom prst="roundRect">
            <a:avLst>
              <a:gd name="adj" fmla="val 50000"/>
            </a:avLst>
          </a:prstGeom>
          <a:solidFill>
            <a:srgbClr val="EF98D6"/>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Diversity</a:t>
            </a:r>
          </a:p>
        </p:txBody>
      </p:sp>
      <p:sp>
        <p:nvSpPr>
          <p:cNvPr id="32" name="TextBox 31"/>
          <p:cNvSpPr txBox="1"/>
          <p:nvPr/>
        </p:nvSpPr>
        <p:spPr>
          <a:xfrm>
            <a:off x="685800" y="4562856"/>
            <a:ext cx="2238756" cy="457200"/>
          </a:xfrm>
          <a:prstGeom prst="rect">
            <a:avLst/>
          </a:prstGeom>
          <a:noFill/>
        </p:spPr>
        <p:txBody>
          <a:bodyPr wrap="square" lIns="0" rIns="0" tIns="0" bIns="0">
            <a:spAutoFit/>
          </a:bodyPr>
          <a:lstStyle/>
          <a:p>
            <a:pPr algn="l"/>
            <a:r>
              <a:rPr sz="1050" b="0" i="1">
                <a:solidFill>
                  <a:srgbClr val="757575"/>
                </a:solidFill>
                <a:latin typeface="Palatino Linotype"/>
              </a:rPr>
              <a:t>mixed uses · social mix</a:t>
            </a:r>
          </a:p>
        </p:txBody>
      </p:sp>
      <p:cxnSp>
        <p:nvCxnSpPr>
          <p:cNvPr id="33" name="Connector 32"/>
          <p:cNvCxnSpPr/>
          <p:nvPr/>
        </p:nvCxnSpPr>
        <p:spPr>
          <a:xfrm>
            <a:off x="685800.0" y="5202936.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685800.0" y="5495544.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685800.0" y="5788152.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3317748" y="3877056"/>
            <a:ext cx="2695956" cy="2295144"/>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3546348" y="4059936"/>
            <a:ext cx="2238756" cy="365760"/>
          </a:xfrm>
          <a:prstGeom prst="roundRect">
            <a:avLst>
              <a:gd name="adj" fmla="val 50000"/>
            </a:avLst>
          </a:prstGeom>
          <a:solidFill>
            <a:srgbClr val="C48B4F"/>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Context</a:t>
            </a:r>
          </a:p>
        </p:txBody>
      </p:sp>
      <p:sp>
        <p:nvSpPr>
          <p:cNvPr id="38" name="TextBox 37"/>
          <p:cNvSpPr txBox="1"/>
          <p:nvPr/>
        </p:nvSpPr>
        <p:spPr>
          <a:xfrm>
            <a:off x="3546348" y="4562856"/>
            <a:ext cx="2238756" cy="457200"/>
          </a:xfrm>
          <a:prstGeom prst="rect">
            <a:avLst/>
          </a:prstGeom>
          <a:noFill/>
        </p:spPr>
        <p:txBody>
          <a:bodyPr wrap="square" lIns="0" rIns="0" tIns="0" bIns="0">
            <a:spAutoFit/>
          </a:bodyPr>
          <a:lstStyle/>
          <a:p>
            <a:pPr algn="l"/>
            <a:r>
              <a:rPr sz="1050" b="0" i="1">
                <a:solidFill>
                  <a:srgbClr val="757575"/>
                </a:solidFill>
                <a:latin typeface="Palatino Linotype"/>
              </a:rPr>
              <a:t>place identity · landscape</a:t>
            </a:r>
          </a:p>
        </p:txBody>
      </p:sp>
      <p:cxnSp>
        <p:nvCxnSpPr>
          <p:cNvPr id="39" name="Connector 38"/>
          <p:cNvCxnSpPr/>
          <p:nvPr/>
        </p:nvCxnSpPr>
        <p:spPr>
          <a:xfrm>
            <a:off x="3546348.0" y="5202936.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3546348.0" y="5495544.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3546348.0" y="5788152.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42" name="Rounded Rectangle 41"/>
          <p:cNvSpPr/>
          <p:nvPr/>
        </p:nvSpPr>
        <p:spPr>
          <a:xfrm>
            <a:off x="6178296" y="3877056"/>
            <a:ext cx="2695956" cy="2295144"/>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ounded Rectangle 42"/>
          <p:cNvSpPr/>
          <p:nvPr/>
        </p:nvSpPr>
        <p:spPr>
          <a:xfrm>
            <a:off x="6406896" y="4059936"/>
            <a:ext cx="2238756" cy="365760"/>
          </a:xfrm>
          <a:prstGeom prst="roundRect">
            <a:avLst>
              <a:gd name="adj" fmla="val 50000"/>
            </a:avLst>
          </a:prstGeom>
          <a:solidFill>
            <a:srgbClr val="3360FF"/>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Sense of place</a:t>
            </a:r>
          </a:p>
        </p:txBody>
      </p:sp>
      <p:sp>
        <p:nvSpPr>
          <p:cNvPr id="44" name="TextBox 43"/>
          <p:cNvSpPr txBox="1"/>
          <p:nvPr/>
        </p:nvSpPr>
        <p:spPr>
          <a:xfrm>
            <a:off x="6406896" y="4562856"/>
            <a:ext cx="2238756" cy="457200"/>
          </a:xfrm>
          <a:prstGeom prst="rect">
            <a:avLst/>
          </a:prstGeom>
          <a:noFill/>
        </p:spPr>
        <p:txBody>
          <a:bodyPr wrap="square" lIns="0" rIns="0" tIns="0" bIns="0">
            <a:spAutoFit/>
          </a:bodyPr>
          <a:lstStyle/>
          <a:p>
            <a:pPr algn="l"/>
            <a:r>
              <a:rPr sz="1050" b="0" i="1">
                <a:solidFill>
                  <a:srgbClr val="757575"/>
                </a:solidFill>
                <a:latin typeface="Palatino Linotype"/>
              </a:rPr>
              <a:t>attachment · belonging</a:t>
            </a:r>
          </a:p>
        </p:txBody>
      </p:sp>
      <p:cxnSp>
        <p:nvCxnSpPr>
          <p:cNvPr id="45" name="Connector 44"/>
          <p:cNvCxnSpPr/>
          <p:nvPr/>
        </p:nvCxnSpPr>
        <p:spPr>
          <a:xfrm>
            <a:off x="6406896.0" y="5202936.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6406896.0" y="5495544.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6406896.0" y="5788152.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48" name="Rounded Rectangle 47"/>
          <p:cNvSpPr/>
          <p:nvPr/>
        </p:nvSpPr>
        <p:spPr>
          <a:xfrm>
            <a:off x="9038844" y="3877056"/>
            <a:ext cx="2695956" cy="2295144"/>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ounded Rectangle 48"/>
          <p:cNvSpPr/>
          <p:nvPr/>
        </p:nvSpPr>
        <p:spPr>
          <a:xfrm>
            <a:off x="9267444" y="4059936"/>
            <a:ext cx="2238756" cy="365760"/>
          </a:xfrm>
          <a:prstGeom prst="roundRect">
            <a:avLst>
              <a:gd name="adj" fmla="val 50000"/>
            </a:avLst>
          </a:prstGeom>
          <a:solidFill>
            <a:srgbClr val="FF9933"/>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Beauty</a:t>
            </a:r>
          </a:p>
        </p:txBody>
      </p:sp>
      <p:sp>
        <p:nvSpPr>
          <p:cNvPr id="50" name="TextBox 49"/>
          <p:cNvSpPr txBox="1"/>
          <p:nvPr/>
        </p:nvSpPr>
        <p:spPr>
          <a:xfrm>
            <a:off x="9267444" y="4562856"/>
            <a:ext cx="2238756" cy="457200"/>
          </a:xfrm>
          <a:prstGeom prst="rect">
            <a:avLst/>
          </a:prstGeom>
          <a:noFill/>
        </p:spPr>
        <p:txBody>
          <a:bodyPr wrap="square" lIns="0" rIns="0" tIns="0" bIns="0">
            <a:spAutoFit/>
          </a:bodyPr>
          <a:lstStyle/>
          <a:p>
            <a:pPr algn="l"/>
            <a:r>
              <a:rPr sz="1050" b="0" i="1">
                <a:solidFill>
                  <a:srgbClr val="757575"/>
                </a:solidFill>
                <a:latin typeface="Palatino Linotype"/>
              </a:rPr>
              <a:t>aesthetic · sensory · joyful</a:t>
            </a:r>
          </a:p>
        </p:txBody>
      </p:sp>
      <p:cxnSp>
        <p:nvCxnSpPr>
          <p:cNvPr id="51" name="Connector 50"/>
          <p:cNvCxnSpPr/>
          <p:nvPr/>
        </p:nvCxnSpPr>
        <p:spPr>
          <a:xfrm>
            <a:off x="9267444.0" y="5202936.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9267444.0" y="5495544.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9267444.0" y="5788152.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pic>
        <p:nvPicPr>
          <p:cNvPr id="54" name="Picture 53"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55" name="TextBox 54"/>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7315200" cy="274320"/>
          </a:xfrm>
          <a:prstGeom prst="rect">
            <a:avLst/>
          </a:prstGeom>
          <a:noFill/>
        </p:spPr>
        <p:txBody>
          <a:bodyPr wrap="square" lIns="0" rIns="0" tIns="0" bIns="0">
            <a:spAutoFit/>
          </a:bodyPr>
          <a:lstStyle/>
          <a:p>
            <a:pPr algn="l"/>
            <a:r>
              <a:rPr sz="1000" b="1" i="0">
                <a:solidFill>
                  <a:srgbClr val="757575"/>
                </a:solidFill>
                <a:latin typeface="Source Sans Pro"/>
              </a:rPr>
              <a:t>TOOL 110  ·  HARVEST</a:t>
            </a:r>
          </a:p>
        </p:txBody>
      </p:sp>
      <p:sp>
        <p:nvSpPr>
          <p:cNvPr id="4" name="TextBox 3"/>
          <p:cNvSpPr txBox="1"/>
          <p:nvPr/>
        </p:nvSpPr>
        <p:spPr>
          <a:xfrm>
            <a:off x="457200" y="594360"/>
            <a:ext cx="10515600" cy="640080"/>
          </a:xfrm>
          <a:prstGeom prst="rect">
            <a:avLst/>
          </a:prstGeom>
          <a:noFill/>
        </p:spPr>
        <p:txBody>
          <a:bodyPr wrap="square" lIns="0" rIns="0" tIns="0" bIns="0">
            <a:spAutoFit/>
          </a:bodyPr>
          <a:lstStyle/>
          <a:p>
            <a:pPr algn="l"/>
            <a:r>
              <a:rPr sz="2800" b="0" i="0">
                <a:solidFill>
                  <a:srgbClr val="0D0D0D"/>
                </a:solidFill>
                <a:latin typeface="Palatino Linotype"/>
              </a:rPr>
              <a:t>Harvesting our  </a:t>
            </a:r>
            <a:r>
              <a:rPr sz="2800" b="0" i="1">
                <a:solidFill>
                  <a:srgbClr val="0D0D0D"/>
                </a:solidFill>
                <a:latin typeface="Palatino Linotype"/>
              </a:rPr>
              <a:t>learnings</a:t>
            </a:r>
          </a:p>
        </p:txBody>
      </p:sp>
      <p:sp>
        <p:nvSpPr>
          <p:cNvPr id="5" name="TextBox 4"/>
          <p:cNvSpPr txBox="1"/>
          <p:nvPr/>
        </p:nvSpPr>
        <p:spPr>
          <a:xfrm>
            <a:off x="457200" y="1234440"/>
            <a:ext cx="10515600" cy="365760"/>
          </a:xfrm>
          <a:prstGeom prst="rect">
            <a:avLst/>
          </a:prstGeom>
          <a:noFill/>
        </p:spPr>
        <p:txBody>
          <a:bodyPr wrap="square" lIns="0" rIns="0" tIns="0" bIns="0">
            <a:spAutoFit/>
          </a:bodyPr>
          <a:lstStyle/>
          <a:p>
            <a:pPr algn="l"/>
            <a:r>
              <a:rPr sz="1300" b="0" i="1">
                <a:solidFill>
                  <a:srgbClr val="757575"/>
                </a:solidFill>
                <a:latin typeface="Palatino Linotype"/>
              </a:rPr>
              <a:t>After running the canvas, capture three layers of insight.</a:t>
            </a:r>
          </a:p>
        </p:txBody>
      </p:sp>
      <p:sp>
        <p:nvSpPr>
          <p:cNvPr id="6" name="Rounded Rectangle 5"/>
          <p:cNvSpPr/>
          <p:nvPr/>
        </p:nvSpPr>
        <p:spPr>
          <a:xfrm>
            <a:off x="4572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Stand-out signals, surprising stories, ideas to remember</a:t>
            </a:r>
          </a:p>
        </p:txBody>
      </p:sp>
      <p:cxnSp>
        <p:nvCxnSpPr>
          <p:cNvPr id="8" name="Connector 7"/>
          <p:cNvCxnSpPr/>
          <p:nvPr/>
        </p:nvCxnSpPr>
        <p:spPr>
          <a:xfrm>
            <a:off x="7772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7772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772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772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772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772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772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2926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126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Concrete adaptations to our context, our team, our constraints</a:t>
            </a:r>
          </a:p>
        </p:txBody>
      </p:sp>
      <p:cxnSp>
        <p:nvCxnSpPr>
          <p:cNvPr id="17" name="Connector 16"/>
          <p:cNvCxnSpPr/>
          <p:nvPr/>
        </p:nvCxnSpPr>
        <p:spPr>
          <a:xfrm>
            <a:off x="46126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46126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46126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46126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46126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46126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46126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81280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4480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Skills, allies, resources, decisions still to secure</a:t>
            </a:r>
          </a:p>
        </p:txBody>
      </p:sp>
      <p:cxnSp>
        <p:nvCxnSpPr>
          <p:cNvPr id="26" name="Connector 25"/>
          <p:cNvCxnSpPr/>
          <p:nvPr/>
        </p:nvCxnSpPr>
        <p:spPr>
          <a:xfrm>
            <a:off x="84480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84480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84480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84480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84480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84480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84480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1035304" y="1801368"/>
            <a:ext cx="2450592" cy="420624"/>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What inspires me</a:t>
            </a:r>
          </a:p>
        </p:txBody>
      </p:sp>
      <p:sp>
        <p:nvSpPr>
          <p:cNvPr id="34" name="Rounded Rectangle 33"/>
          <p:cNvSpPr/>
          <p:nvPr/>
        </p:nvSpPr>
        <p:spPr>
          <a:xfrm>
            <a:off x="4632960" y="1801368"/>
            <a:ext cx="2926080" cy="420624"/>
          </a:xfrm>
          <a:prstGeom prst="roundRect">
            <a:avLst>
              <a:gd name="adj" fmla="val 50000"/>
            </a:avLst>
          </a:prstGeom>
          <a:solidFill>
            <a:srgbClr val="FF674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How to apply it here</a:t>
            </a:r>
          </a:p>
        </p:txBody>
      </p:sp>
      <p:sp>
        <p:nvSpPr>
          <p:cNvPr id="35" name="Rounded Rectangle 34"/>
          <p:cNvSpPr/>
          <p:nvPr/>
        </p:nvSpPr>
        <p:spPr>
          <a:xfrm>
            <a:off x="8102600" y="1801368"/>
            <a:ext cx="3657600" cy="420624"/>
          </a:xfrm>
          <a:prstGeom prst="roundRect">
            <a:avLst>
              <a:gd name="adj" fmla="val 50000"/>
            </a:avLst>
          </a:prstGeom>
          <a:solidFill>
            <a:srgbClr val="00ED93"/>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What we need to be autonomous</a:t>
            </a:r>
          </a:p>
        </p:txBody>
      </p:sp>
      <p:sp>
        <p:nvSpPr>
          <p:cNvPr id="36" name="TextBox 35"/>
          <p:cNvSpPr txBox="1"/>
          <p:nvPr/>
        </p:nvSpPr>
        <p:spPr>
          <a:xfrm>
            <a:off x="457200" y="6263640"/>
            <a:ext cx="11277600" cy="274320"/>
          </a:xfrm>
          <a:prstGeom prst="rect">
            <a:avLst/>
          </a:prstGeom>
          <a:noFill/>
        </p:spPr>
        <p:txBody>
          <a:bodyPr wrap="square" lIns="0" rIns="0" tIns="0" bIns="0">
            <a:spAutoFit/>
          </a:bodyPr>
          <a:lstStyle/>
          <a:p>
            <a:pPr algn="ctr"/>
            <a:r>
              <a:rPr sz="1000" b="0" i="1">
                <a:solidFill>
                  <a:srgbClr val="757575"/>
                </a:solidFill>
                <a:latin typeface="Palatino Linotype"/>
              </a:rPr>
              <a:t>Each participant fills a copy. Then debrief together to surface patterns and next steps.</a:t>
            </a:r>
          </a:p>
        </p:txBody>
      </p:sp>
      <p:pic>
        <p:nvPicPr>
          <p:cNvPr id="37" name="Picture 36"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38" name="TextBox 37"/>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