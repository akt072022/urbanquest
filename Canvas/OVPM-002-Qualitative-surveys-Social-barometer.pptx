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02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0" i="0">
                <a:solidFill>
                  <a:srgbClr val="0D0D0D"/>
                </a:solidFill>
                <a:latin typeface="Palatino Linotype"/>
              </a:rPr>
              <a:t>Qualitative surveys (Social barometer)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Geolocated qualitative data ("soft GIS") that visualizes community concerns, emotional attachments, and daily mobility patterns directly on a map.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Social / User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345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Heritage</a:t>
            </a:r>
          </a:p>
        </p:txBody>
      </p:sp>
      <p:pic>
        <p:nvPicPr>
          <p:cNvPr id="11" name="Picture 10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02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Qualitative surveys (Social barometer)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Taking the pulse of the city without interrupting it; listening to the quiet, digital murmurs of residents to uncover the invisible emotional geography of the neighborhood.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Geolocated qualitative data ("soft GIS") that visualizes community concerns, emotional attachments, and daily mobility patterns directly on a map.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1 month of continuous online collection, 2 weeks of spatial analysis
Material  ·  Map-based digital platforms, GIS software, social media accounts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The UrbanSensing project uses User Generated Content (UGC) from social media to map out consumption patterns and citizen perceptions on a neighborhood scale. By allowing residents to share location-based, subjective feedback on a map, planners successfully transition qualitative human experiences into concrete urban planning layers.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02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QUALITATIVE SURVEYS (SOCIAL BAROMETER)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Soft-GIS · geolocated qualitative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1 month of continuous online collection, 2 weeks of spa…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594360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645920.0" y="1691640"/>
            <a:ext cx="0.0" cy="420624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834640.0" y="1691640"/>
            <a:ext cx="0.0" cy="420624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023360.0" y="1691640"/>
            <a:ext cx="0.0" cy="420624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212080.0" y="1691640"/>
            <a:ext cx="0.0" cy="420624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20" y="2606040.0"/>
            <a:ext cx="539496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" y="3794760.0"/>
            <a:ext cx="539496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31520" y="4983480.0"/>
            <a:ext cx="539496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16916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D0D0D"/>
                </a:solidFill>
                <a:latin typeface="Palatino Linotype"/>
              </a:rPr>
              <a:t>Neighbourhood base 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0574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Source Sans Pro"/>
              </a:rPr>
              <a:t>Drop pins for favourite places, daily routes, areas of concern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5257800"/>
            <a:ext cx="164592" cy="164592"/>
          </a:xfrm>
          <a:prstGeom prst="ellipse">
            <a:avLst/>
          </a:prstGeom>
          <a:solidFill>
            <a:srgbClr val="FFD200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23951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Favourite places</a:t>
            </a:r>
          </a:p>
        </p:txBody>
      </p:sp>
      <p:sp>
        <p:nvSpPr>
          <p:cNvPr id="18" name="Oval 17"/>
          <p:cNvSpPr/>
          <p:nvPr/>
        </p:nvSpPr>
        <p:spPr>
          <a:xfrm>
            <a:off x="2125980" y="5257800"/>
            <a:ext cx="164592" cy="164592"/>
          </a:xfrm>
          <a:prstGeom prst="ellipse">
            <a:avLst/>
          </a:prstGeom>
          <a:solidFill>
            <a:srgbClr val="459ACB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54580" y="523951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Daily routes</a:t>
            </a:r>
          </a:p>
        </p:txBody>
      </p:sp>
      <p:sp>
        <p:nvSpPr>
          <p:cNvPr id="20" name="Oval 19"/>
          <p:cNvSpPr/>
          <p:nvPr/>
        </p:nvSpPr>
        <p:spPr>
          <a:xfrm>
            <a:off x="3429000" y="5257800"/>
            <a:ext cx="164592" cy="164592"/>
          </a:xfrm>
          <a:prstGeom prst="ellipse">
            <a:avLst/>
          </a:prstGeom>
          <a:solidFill>
            <a:srgbClr val="FF674D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523951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Areas of concern</a:t>
            </a:r>
          </a:p>
        </p:txBody>
      </p:sp>
      <p:sp>
        <p:nvSpPr>
          <p:cNvPr id="22" name="Oval 21"/>
          <p:cNvSpPr/>
          <p:nvPr/>
        </p:nvSpPr>
        <p:spPr>
          <a:xfrm>
            <a:off x="4732020" y="5257800"/>
            <a:ext cx="164592" cy="164592"/>
          </a:xfrm>
          <a:prstGeom prst="ellipse">
            <a:avLst/>
          </a:prstGeom>
          <a:solidFill>
            <a:srgbClr val="EF98D6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60620" y="523951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Memory anchors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29400" y="1417320"/>
            <a:ext cx="5105400" cy="2697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1600200"/>
            <a:ext cx="4648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D0D0D"/>
                </a:solidFill>
                <a:latin typeface="Palatino Linotype"/>
              </a:rPr>
              <a:t>Open-ended questions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2011680"/>
            <a:ext cx="4556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1.  What place in this neighbourhood matters most to you?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03720" y="2377440"/>
            <a:ext cx="455676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903720" y="2468880"/>
            <a:ext cx="4556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2.  Where do you walk every day? Which detour do you take?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903720" y="2834640"/>
            <a:ext cx="455676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903720" y="2926080"/>
            <a:ext cx="4556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3.  Where would you not go after dark · and why?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903720" y="3291840"/>
            <a:ext cx="455676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903720" y="3383280"/>
            <a:ext cx="4556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4.  Where would you take a friend visiting for the first time?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03720" y="3749040"/>
            <a:ext cx="455676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629400" y="4297680"/>
            <a:ext cx="5105400" cy="1874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4434840"/>
            <a:ext cx="4648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D0D0D"/>
                </a:solidFill>
                <a:latin typeface="Palatino Linotype"/>
              </a:rPr>
              <a:t>Distribution channels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03720" y="4901184"/>
            <a:ext cx="16459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78040" y="4846320"/>
            <a:ext cx="19126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Project website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82100" y="4901184"/>
            <a:ext cx="16459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56420" y="4846320"/>
            <a:ext cx="19126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Local social media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03720" y="5358384"/>
            <a:ext cx="16459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78040" y="5303520"/>
            <a:ext cx="19126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QR codes in public space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82100" y="5358384"/>
            <a:ext cx="16459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56420" y="5303520"/>
            <a:ext cx="19126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Door-to-door printed cards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Layer the spatial pins on top of your technical urban plans to spot correlations between design and sentiment.</a:t>
            </a:r>
          </a:p>
        </p:txBody>
      </p:sp>
      <p:pic>
        <p:nvPicPr>
          <p:cNvPr id="45" name="Picture 44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02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