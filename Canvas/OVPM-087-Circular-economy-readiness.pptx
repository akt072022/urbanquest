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87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Circular economy readiness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maturity index scorecard evaluating the city's strategic vision, policy coherence, material loop infrastructure, and stakeholder awareness.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sp>
        <p:nvSpPr>
          <p:cNvPr id="11" name="Rounded Rectangle 10"/>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2" name="Rounded Rectangle 11"/>
          <p:cNvSpPr/>
          <p:nvPr/>
        </p:nvSpPr>
        <p:spPr>
          <a:xfrm>
            <a:off x="33329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87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Circular economy readiness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Shifting the civic mindset from managing scarcity and waste to recognizing the city as an abundant, regenerative mine of continuous material value.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maturity index scorecard evaluating the city's strategic vision, policy coherence, material loop infrastructure, and stakeholder awareness.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4 to 6 weeks for assessment
Material  ·  Material flow analysis data, waste management statistics, maturity indexes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Urban planners use the Circular Economy Maturity Index and frameworks like CE-MAP to assess a city's transition away from linear models. By tracking indicators such as urban metabolism and circular economy finance, cities can evaluate whether their initiatives are creating unintended side effects and determine if their local policies are mature enough to support true resource efficiency.</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87  ·  ANIMATION CANVAS  ·  </a:t>
            </a:r>
            <a:r>
              <a:rPr sz="1000" b="1" i="0">
                <a:solidFill>
                  <a:srgbClr val="0D0D0D"/>
                </a:solidFill>
                <a:latin typeface="Source Sans Pro"/>
              </a:rPr>
              <a:t>CIRCULAR ECONOMY READINESS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R-strategies · refuse · reduce · reuse · recycle · recover</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4 to 6 weeks for assessment</a:t>
            </a:r>
          </a:p>
        </p:txBody>
      </p:sp>
      <p:sp>
        <p:nvSpPr>
          <p:cNvPr id="6" name="Rounded Rectangle 5"/>
          <p:cNvSpPr/>
          <p:nvPr/>
        </p:nvSpPr>
        <p:spPr>
          <a:xfrm>
            <a:off x="457200" y="1417320"/>
            <a:ext cx="174244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1285240" cy="365760"/>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Refuse</a:t>
            </a:r>
          </a:p>
        </p:txBody>
      </p:sp>
      <p:sp>
        <p:nvSpPr>
          <p:cNvPr id="8" name="TextBox 7"/>
          <p:cNvSpPr txBox="1"/>
          <p:nvPr/>
        </p:nvSpPr>
        <p:spPr>
          <a:xfrm>
            <a:off x="685800" y="2103120"/>
            <a:ext cx="1285240" cy="457200"/>
          </a:xfrm>
          <a:prstGeom prst="rect">
            <a:avLst/>
          </a:prstGeom>
          <a:noFill/>
        </p:spPr>
        <p:txBody>
          <a:bodyPr wrap="square" lIns="0" rIns="0" tIns="0" bIns="0">
            <a:spAutoFit/>
          </a:bodyPr>
          <a:lstStyle/>
          <a:p>
            <a:pPr algn="l"/>
            <a:r>
              <a:rPr sz="1050" b="0" i="1">
                <a:solidFill>
                  <a:srgbClr val="757575"/>
                </a:solidFill>
                <a:latin typeface="Palatino Linotype"/>
              </a:rPr>
              <a:t>avoid the resource</a:t>
            </a:r>
          </a:p>
        </p:txBody>
      </p:sp>
      <p:cxnSp>
        <p:nvCxnSpPr>
          <p:cNvPr id="9" name="Connector 8"/>
          <p:cNvCxnSpPr/>
          <p:nvPr/>
        </p:nvCxnSpPr>
        <p:spPr>
          <a:xfrm>
            <a:off x="685800.0" y="274320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364232" y="1417320"/>
            <a:ext cx="174244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592832" y="1600200"/>
            <a:ext cx="1285240"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Reduce</a:t>
            </a:r>
          </a:p>
        </p:txBody>
      </p:sp>
      <p:sp>
        <p:nvSpPr>
          <p:cNvPr id="22" name="TextBox 21"/>
          <p:cNvSpPr txBox="1"/>
          <p:nvPr/>
        </p:nvSpPr>
        <p:spPr>
          <a:xfrm>
            <a:off x="2592832" y="2103120"/>
            <a:ext cx="1285240" cy="457200"/>
          </a:xfrm>
          <a:prstGeom prst="rect">
            <a:avLst/>
          </a:prstGeom>
          <a:noFill/>
        </p:spPr>
        <p:txBody>
          <a:bodyPr wrap="square" lIns="0" rIns="0" tIns="0" bIns="0">
            <a:spAutoFit/>
          </a:bodyPr>
          <a:lstStyle/>
          <a:p>
            <a:pPr algn="l"/>
            <a:r>
              <a:rPr sz="1050" b="0" i="1">
                <a:solidFill>
                  <a:srgbClr val="757575"/>
                </a:solidFill>
                <a:latin typeface="Palatino Linotype"/>
              </a:rPr>
              <a:t>use less of it</a:t>
            </a:r>
          </a:p>
        </p:txBody>
      </p:sp>
      <p:cxnSp>
        <p:nvCxnSpPr>
          <p:cNvPr id="23" name="Connector 22"/>
          <p:cNvCxnSpPr/>
          <p:nvPr/>
        </p:nvCxnSpPr>
        <p:spPr>
          <a:xfrm>
            <a:off x="2592832.0" y="274320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592832.0" y="3035808.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592832.0" y="3328416.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592832.0" y="3621024.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592832.0" y="3913632.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592832.0" y="420624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592832.0" y="4498848.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592832.0" y="4791456.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592832.0" y="5084064.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92832.0" y="5376672.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592832.0" y="566928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4271264" y="1417320"/>
            <a:ext cx="174244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499864" y="1600200"/>
            <a:ext cx="1285240"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Reuse</a:t>
            </a:r>
          </a:p>
        </p:txBody>
      </p:sp>
      <p:sp>
        <p:nvSpPr>
          <p:cNvPr id="36" name="TextBox 35"/>
          <p:cNvSpPr txBox="1"/>
          <p:nvPr/>
        </p:nvSpPr>
        <p:spPr>
          <a:xfrm>
            <a:off x="4499864" y="2103120"/>
            <a:ext cx="1285240" cy="457200"/>
          </a:xfrm>
          <a:prstGeom prst="rect">
            <a:avLst/>
          </a:prstGeom>
          <a:noFill/>
        </p:spPr>
        <p:txBody>
          <a:bodyPr wrap="square" lIns="0" rIns="0" tIns="0" bIns="0">
            <a:spAutoFit/>
          </a:bodyPr>
          <a:lstStyle/>
          <a:p>
            <a:pPr algn="l"/>
            <a:r>
              <a:rPr sz="1050" b="0" i="1">
                <a:solidFill>
                  <a:srgbClr val="757575"/>
                </a:solidFill>
                <a:latin typeface="Palatino Linotype"/>
              </a:rPr>
              <a:t>use it again</a:t>
            </a:r>
          </a:p>
        </p:txBody>
      </p:sp>
      <p:cxnSp>
        <p:nvCxnSpPr>
          <p:cNvPr id="37" name="Connector 36"/>
          <p:cNvCxnSpPr/>
          <p:nvPr/>
        </p:nvCxnSpPr>
        <p:spPr>
          <a:xfrm>
            <a:off x="4499864.0" y="274320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499864.0" y="3035808.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499864.0" y="3328416.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499864.0" y="3621024.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499864.0" y="3913632.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499864.0" y="420624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499864.0" y="4498848.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499864.0" y="4791456.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499864.0" y="5084064.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499864.0" y="5376672.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499864.0" y="566928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6178296" y="1417320"/>
            <a:ext cx="174244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406896" y="1600200"/>
            <a:ext cx="1285240"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Repair</a:t>
            </a:r>
          </a:p>
        </p:txBody>
      </p:sp>
      <p:sp>
        <p:nvSpPr>
          <p:cNvPr id="50" name="TextBox 49"/>
          <p:cNvSpPr txBox="1"/>
          <p:nvPr/>
        </p:nvSpPr>
        <p:spPr>
          <a:xfrm>
            <a:off x="6406896" y="2103120"/>
            <a:ext cx="1285240" cy="457200"/>
          </a:xfrm>
          <a:prstGeom prst="rect">
            <a:avLst/>
          </a:prstGeom>
          <a:noFill/>
        </p:spPr>
        <p:txBody>
          <a:bodyPr wrap="square" lIns="0" rIns="0" tIns="0" bIns="0">
            <a:spAutoFit/>
          </a:bodyPr>
          <a:lstStyle/>
          <a:p>
            <a:pPr algn="l"/>
            <a:r>
              <a:rPr sz="1050" b="0" i="1">
                <a:solidFill>
                  <a:srgbClr val="757575"/>
                </a:solidFill>
                <a:latin typeface="Palatino Linotype"/>
              </a:rPr>
              <a:t>fix to extend life</a:t>
            </a:r>
          </a:p>
        </p:txBody>
      </p:sp>
      <p:cxnSp>
        <p:nvCxnSpPr>
          <p:cNvPr id="51" name="Connector 50"/>
          <p:cNvCxnSpPr/>
          <p:nvPr/>
        </p:nvCxnSpPr>
        <p:spPr>
          <a:xfrm>
            <a:off x="6406896.0" y="274320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406896.0" y="3035808.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406896.0" y="3328416.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406896.0" y="3621024.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406896.0" y="3913632.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406896.0" y="420624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406896.0" y="4498848.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406896.0" y="4791456.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406896.0" y="5084064.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406896.0" y="5376672.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406896.0" y="566928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8085328" y="1417320"/>
            <a:ext cx="174244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8313928" y="1600200"/>
            <a:ext cx="1285240"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Recycle</a:t>
            </a:r>
          </a:p>
        </p:txBody>
      </p:sp>
      <p:sp>
        <p:nvSpPr>
          <p:cNvPr id="64" name="TextBox 63"/>
          <p:cNvSpPr txBox="1"/>
          <p:nvPr/>
        </p:nvSpPr>
        <p:spPr>
          <a:xfrm>
            <a:off x="8313928" y="2103120"/>
            <a:ext cx="1285240" cy="457200"/>
          </a:xfrm>
          <a:prstGeom prst="rect">
            <a:avLst/>
          </a:prstGeom>
          <a:noFill/>
        </p:spPr>
        <p:txBody>
          <a:bodyPr wrap="square" lIns="0" rIns="0" tIns="0" bIns="0">
            <a:spAutoFit/>
          </a:bodyPr>
          <a:lstStyle/>
          <a:p>
            <a:pPr algn="l"/>
            <a:r>
              <a:rPr sz="1050" b="0" i="1">
                <a:solidFill>
                  <a:srgbClr val="757575"/>
                </a:solidFill>
                <a:latin typeface="Palatino Linotype"/>
              </a:rPr>
              <a:t>reprocess materials</a:t>
            </a:r>
          </a:p>
        </p:txBody>
      </p:sp>
      <p:cxnSp>
        <p:nvCxnSpPr>
          <p:cNvPr id="65" name="Connector 64"/>
          <p:cNvCxnSpPr/>
          <p:nvPr/>
        </p:nvCxnSpPr>
        <p:spPr>
          <a:xfrm>
            <a:off x="8313928.0" y="274320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313928.0" y="3035808.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313928.0" y="3328416.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313928.0" y="3621024.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313928.0" y="3913632.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8313928.0" y="420624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8313928.0" y="4498848.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8313928.0" y="4791456.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8313928.0" y="5084064.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8313928.0" y="5376672.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8313928.0" y="566928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76" name="Rounded Rectangle 75"/>
          <p:cNvSpPr/>
          <p:nvPr/>
        </p:nvSpPr>
        <p:spPr>
          <a:xfrm>
            <a:off x="9992360" y="1417320"/>
            <a:ext cx="174244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10220960" y="1600200"/>
            <a:ext cx="1285240"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Recover</a:t>
            </a:r>
          </a:p>
        </p:txBody>
      </p:sp>
      <p:sp>
        <p:nvSpPr>
          <p:cNvPr id="78" name="TextBox 77"/>
          <p:cNvSpPr txBox="1"/>
          <p:nvPr/>
        </p:nvSpPr>
        <p:spPr>
          <a:xfrm>
            <a:off x="10220960" y="2103120"/>
            <a:ext cx="1285240" cy="457200"/>
          </a:xfrm>
          <a:prstGeom prst="rect">
            <a:avLst/>
          </a:prstGeom>
          <a:noFill/>
        </p:spPr>
        <p:txBody>
          <a:bodyPr wrap="square" lIns="0" rIns="0" tIns="0" bIns="0">
            <a:spAutoFit/>
          </a:bodyPr>
          <a:lstStyle/>
          <a:p>
            <a:pPr algn="l"/>
            <a:r>
              <a:rPr sz="1050" b="0" i="1">
                <a:solidFill>
                  <a:srgbClr val="757575"/>
                </a:solidFill>
                <a:latin typeface="Palatino Linotype"/>
              </a:rPr>
              <a:t>energy from waste</a:t>
            </a:r>
          </a:p>
        </p:txBody>
      </p:sp>
      <p:cxnSp>
        <p:nvCxnSpPr>
          <p:cNvPr id="79" name="Connector 78"/>
          <p:cNvCxnSpPr/>
          <p:nvPr/>
        </p:nvCxnSpPr>
        <p:spPr>
          <a:xfrm>
            <a:off x="10220960.0" y="274320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220960.0" y="3035808.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0220960.0" y="3328416.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0220960.0" y="3621024.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0220960.0" y="3913632.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220960.0" y="420624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220960.0" y="4498848.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220960.0" y="4791456.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220960.0" y="5084064.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0220960.0" y="5376672.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0220960.0" y="5669280.0"/>
            <a:ext cx="1285240.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Higher up the ladder = more value preserved. Climb deliberately.</a:t>
            </a:r>
          </a:p>
        </p:txBody>
      </p:sp>
      <p:pic>
        <p:nvPicPr>
          <p:cNvPr id="91" name="Picture 90"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92" name="TextBox 91"/>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87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