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86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6400" b="0" i="0">
                <a:solidFill>
                  <a:srgbClr val="0D0D0D"/>
                </a:solidFill>
                <a:latin typeface="Palatino Linotype"/>
              </a:rPr>
              <a:t>Tourism &amp; visitor data</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tracking dashboard combining raw visitor numbers, accommodation occupancy, spatial distribution of tourists, and local resident satisfaction levels.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G4 · Proof of Sustainability</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2" name="Rounded Rectangle 11"/>
          <p:cNvSpPr/>
          <p:nvPr/>
        </p:nvSpPr>
        <p:spPr>
          <a:xfrm>
            <a:off x="33329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86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Tourism &amp; visitor data</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Protecting the soul of a place by ensuring the city remains a livable home for its residents first, rather than degrading into a mere consumption backdrop for transient visitors.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tracking dashboard combining raw visitor numbers, accommodation occupancy, spatial distribution of tourists, and local resident satisfaction levels.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Continuous monitoring; 1-month setup for dashboards
Material  ·  Accommodation statistics, exit questionnaires, resident surveys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European Tourism Indicator System (ETIS) provides a comprehensive toolkit for destination management. By deploying core and supplementary indicators, destinations can track essential baseline information·such as the ratio of tourists to residents and environmental stress·enabling continuous improvement and mitigating negative social impacts.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86  ·  ANIMATION CANVAS  ·  </a:t>
            </a:r>
            <a:r>
              <a:rPr sz="1000" b="1" i="0">
                <a:solidFill>
                  <a:srgbClr val="0D0D0D"/>
                </a:solidFill>
                <a:latin typeface="Source Sans Pro"/>
              </a:rPr>
              <a:t>TOURISM &amp; VISITOR DATA</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Visitor flow · origin × season × dwell × spend</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Continuous monitoring; 1-month setup for dashboards</a:t>
            </a:r>
          </a:p>
        </p:txBody>
      </p:sp>
      <p:sp>
        <p:nvSpPr>
          <p:cNvPr id="6" name="Rounded Rectangle 5"/>
          <p:cNvSpPr/>
          <p:nvPr/>
        </p:nvSpPr>
        <p:spPr>
          <a:xfrm>
            <a:off x="457200"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Origin</a:t>
            </a:r>
          </a:p>
        </p:txBody>
      </p:sp>
      <p:sp>
        <p:nvSpPr>
          <p:cNvPr id="8" name="TextBox 7"/>
          <p:cNvSpPr txBox="1"/>
          <p:nvPr/>
        </p:nvSpPr>
        <p:spPr>
          <a:xfrm>
            <a:off x="685800"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domestic · EU · international</a:t>
            </a:r>
          </a:p>
        </p:txBody>
      </p:sp>
      <p:cxnSp>
        <p:nvCxnSpPr>
          <p:cNvPr id="9" name="Connector 8"/>
          <p:cNvCxnSpPr/>
          <p:nvPr/>
        </p:nvCxnSpPr>
        <p:spPr>
          <a:xfrm>
            <a:off x="685800.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17748"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546348"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Season</a:t>
            </a:r>
          </a:p>
        </p:txBody>
      </p:sp>
      <p:sp>
        <p:nvSpPr>
          <p:cNvPr id="22" name="TextBox 21"/>
          <p:cNvSpPr txBox="1"/>
          <p:nvPr/>
        </p:nvSpPr>
        <p:spPr>
          <a:xfrm>
            <a:off x="3546348"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peak · shoulder · low</a:t>
            </a:r>
          </a:p>
        </p:txBody>
      </p:sp>
      <p:cxnSp>
        <p:nvCxnSpPr>
          <p:cNvPr id="23" name="Connector 22"/>
          <p:cNvCxnSpPr/>
          <p:nvPr/>
        </p:nvCxnSpPr>
        <p:spPr>
          <a:xfrm>
            <a:off x="3546348.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546348.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546348.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546348.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546348.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546348.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546348.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546348.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546348.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546348.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546348.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178296"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406896"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Dwell time</a:t>
            </a:r>
          </a:p>
        </p:txBody>
      </p:sp>
      <p:sp>
        <p:nvSpPr>
          <p:cNvPr id="36" name="TextBox 35"/>
          <p:cNvSpPr txBox="1"/>
          <p:nvPr/>
        </p:nvSpPr>
        <p:spPr>
          <a:xfrm>
            <a:off x="6406896"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day-trip · overnight · multi-day</a:t>
            </a:r>
          </a:p>
        </p:txBody>
      </p:sp>
      <p:cxnSp>
        <p:nvCxnSpPr>
          <p:cNvPr id="37" name="Connector 36"/>
          <p:cNvCxnSpPr/>
          <p:nvPr/>
        </p:nvCxnSpPr>
        <p:spPr>
          <a:xfrm>
            <a:off x="6406896.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406896.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406896.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406896.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406896.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406896.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406896.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406896.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406896.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406896.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406896.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038844"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67444" y="1600200"/>
            <a:ext cx="223875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Spend pattern</a:t>
            </a:r>
          </a:p>
        </p:txBody>
      </p:sp>
      <p:sp>
        <p:nvSpPr>
          <p:cNvPr id="50" name="TextBox 49"/>
          <p:cNvSpPr txBox="1"/>
          <p:nvPr/>
        </p:nvSpPr>
        <p:spPr>
          <a:xfrm>
            <a:off x="9267444"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food · accommodation · culture · shopping</a:t>
            </a:r>
          </a:p>
        </p:txBody>
      </p:sp>
      <p:cxnSp>
        <p:nvCxnSpPr>
          <p:cNvPr id="51" name="Connector 50"/>
          <p:cNvCxnSpPr/>
          <p:nvPr/>
        </p:nvCxnSpPr>
        <p:spPr>
          <a:xfrm>
            <a:off x="9267444.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267444.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267444.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267444.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267444.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67444.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267444.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267444.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267444.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267444.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267444.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Disaggregate by origin to surface overtourism risks · plan capacity.</a:t>
            </a:r>
          </a:p>
        </p:txBody>
      </p:sp>
      <p:pic>
        <p:nvPicPr>
          <p:cNvPr id="63" name="Picture 6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4" name="TextBox 6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86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