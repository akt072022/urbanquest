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106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Carbon footprint &amp; GHG accounting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Baseline Emission Inventory (BEI) documenting the tonnes of CO2-equivalent generated across municipal operations, transport, waste, and local industry.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Carbon footprint &amp; GHG accounting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Making the city administratively accountable for the global atmosphere, translating the daily mechanics of turning on lights and driving cars into a shared metric of planetary responsibility.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Baseline Emission Inventory (BEI) documenting the tonnes of CO2-equivalent generated across municipal operations, transport, waste, and local industry.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months for data collection and calculation
Material  ·  Local utility billing data, municipal fleet records, standardized GHG emission factor tables (e.g., Covenant of Mayors guidelines)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Thousands of local authorities participating in the EU Covenant of Mayors rely on compiling a rigorous Baseline Emission Inventory (BEI) as the mandatory first step of their Sustainable Energy and Climate Action Plans (SECAP). By systematically tracking emissions from buildings, transport, and waste, cities like Barcelona establish clear data-driven targets to cut GHG emissions by 2030, ensuring subsequent interventions are measurable and accountable.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106  ·  ANIMATION CANVAS  ·  </a:t>
            </a:r>
            <a:r>
              <a:rPr sz="1000" b="1" i="0">
                <a:solidFill>
                  <a:srgbClr val="0D0D0D"/>
                </a:solidFill>
                <a:latin typeface="Source Sans Pro"/>
              </a:rPr>
              <a:t>CARBON FOOTPRINT &amp; GHG ACCOUNTING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GHG inventory · scopes 1 · 2 · 3</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months for data collection and calculation</a:t>
            </a:r>
          </a:p>
        </p:txBody>
      </p:sp>
      <p:sp>
        <p:nvSpPr>
          <p:cNvPr id="6" name="Rounded Rectangle 5"/>
          <p:cNvSpPr/>
          <p:nvPr/>
        </p:nvSpPr>
        <p:spPr>
          <a:xfrm>
            <a:off x="457200"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Scope 1</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direct emissions
fleet · boilers · processes</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71264"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99864"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Scope 2</a:t>
            </a:r>
          </a:p>
        </p:txBody>
      </p:sp>
      <p:sp>
        <p:nvSpPr>
          <p:cNvPr id="22" name="TextBox 21"/>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electricity &amp; district
heat purchased</a:t>
            </a:r>
          </a:p>
        </p:txBody>
      </p:sp>
      <p:cxnSp>
        <p:nvCxnSpPr>
          <p:cNvPr id="23" name="Connector 22"/>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99864.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99864.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99864.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99864.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99864.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99864.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99864.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99864.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085328" y="1417320"/>
            <a:ext cx="3649472"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13928"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Scope 3</a:t>
            </a:r>
          </a:p>
        </p:txBody>
      </p:sp>
      <p:sp>
        <p:nvSpPr>
          <p:cNvPr id="36" name="TextBox 35"/>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indirect chain · upstream + downstream
goods · travel · waste · investments</a:t>
            </a:r>
          </a:p>
        </p:txBody>
      </p:sp>
      <p:cxnSp>
        <p:nvCxnSpPr>
          <p:cNvPr id="37" name="Connector 36"/>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362102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391363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313928.0" y="420624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313928.0" y="449884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13928.0" y="479145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313928.0" y="508406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313928.0" y="537667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313928.0" y="566928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Scope 3 typically dominates · do not skip it.</a:t>
            </a:r>
          </a:p>
        </p:txBody>
      </p:sp>
      <p:pic>
        <p:nvPicPr>
          <p:cNvPr id="49" name="Picture 48"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0" name="TextBox 49"/>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