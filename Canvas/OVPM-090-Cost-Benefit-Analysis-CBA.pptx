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OVPM Co-Design Toolkit  ·  Tool 90 of 133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760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0D0D0D"/>
                </a:solidFill>
                <a:latin typeface="Palatino Linotype"/>
              </a:rPr>
              <a:t>Method canvas for co-design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7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200" b="0" i="0">
                <a:solidFill>
                  <a:srgbClr val="0D0D0D"/>
                </a:solidFill>
                <a:latin typeface="Palatino Linotype"/>
              </a:rPr>
              <a:t>Cost-Benefit Analysis (CBA)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What this tool produces  ·  </a:t>
            </a:r>
            <a:r>
              <a:rPr sz="1500" b="0" i="1">
                <a:solidFill>
                  <a:srgbClr val="0D0D0D"/>
                </a:solidFill>
                <a:latin typeface="Palatino Linotype"/>
              </a:rPr>
              <a:t>An economic appraisal report featuring the Economic Net Present Value (ENPV) and a Benefit-Cost Ratio, demonstrating the project's financial viability and societal worth.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FFFFFF"/>
                </a:solidFill>
                <a:latin typeface="Source Sans Pro"/>
              </a:rPr>
              <a:t>G2 · Proof of Fit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G1 · Proof of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669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Source Sans Pro"/>
              </a:rPr>
              <a:t>Dimensions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Economic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47088" y="5943600"/>
            <a:ext cx="1376172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Social / User</a:t>
            </a:r>
          </a:p>
        </p:txBody>
      </p:sp>
      <p:pic>
        <p:nvPicPr>
          <p:cNvPr id="12" name="Picture 11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760" y="6024114"/>
            <a:ext cx="1371600" cy="33096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71760" y="6395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90  ·  FACILITATOR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Preparing the workshop  ·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Cost-Benefit Analysis (CBA)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G2 · Proof of Fit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Why this tool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Forcing administrative logic to place a tangible value on human and environmental wellbeing, ensuring that clean air and community health carry the same weight as concrete and steel in the eyes of investors.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Evidence we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An economic appraisal report featuring the Economic Net Present Value (ENPV) and a Benefit-Cost Ratio, demonstrating the project's financial viability and societal worth.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Duration &amp; 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Duration  ·  4 to 8 weeks of financial modeling
Material  ·  Financial spreadsheets, willingness-to-pay databases, standard conversion factors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Reference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The European Investment Bank applies Cost-Benefit Analysis across its transport and urban projects to measure the true value added to society, moving beyond mere financial returns. In the historic oldtown of Lisbon, a CBA justified a complex urban regeneration intervention by monetizing the lower social costs (unemployment reduction) and better living environments against the heavy improvement and relocation costs.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Suggested agenda  ·  </a:t>
            </a:r>
            <a:r>
              <a:rPr sz="1000" b="0" i="0">
                <a:solidFill>
                  <a:srgbClr val="757575"/>
                </a:solidFill>
                <a:latin typeface="Source Sans Pro"/>
              </a:rPr>
              <a:t>Brief (10 min)  ›  Method walk-through (15 min)  ›  Animation canvas (60–90 min)  ›  Harvest (20 min)</a:t>
            </a:r>
          </a:p>
        </p:txBody>
      </p:sp>
      <p:pic>
        <p:nvPicPr>
          <p:cNvPr id="23" name="Picture 2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90  ·  ANIMATION CANVAS  ·  </a:t>
            </a:r>
            <a:r>
              <a:rPr sz="1000" b="1" i="0">
                <a:solidFill>
                  <a:srgbClr val="0D0D0D"/>
                </a:solidFill>
                <a:latin typeface="Source Sans Pro"/>
              </a:rPr>
              <a:t>COST-BENEFIT ANALYSIS (CBA)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0D0D0D"/>
                </a:solidFill>
                <a:latin typeface="Palatino Linotype"/>
              </a:rPr>
              <a:t>Costs vs benefits · monetized × time-discounted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00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757575"/>
                </a:solidFill>
                <a:latin typeface="Source Sans Pro"/>
              </a:rPr>
              <a:t>Duration</a:t>
            </a:r>
          </a:p>
          <a:p>
            <a:pPr algn="r"/>
            <a:r>
              <a:rPr sz="1000" b="0" i="0">
                <a:solidFill>
                  <a:srgbClr val="0D0D0D"/>
                </a:solidFill>
                <a:latin typeface="Source Sans Pro"/>
              </a:rPr>
              <a:t>4 to 8 weeks of financial modeling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554736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Costs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509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D0D0D"/>
                </a:solidFill>
                <a:latin typeface="Source Sans Pro"/>
              </a:rPr>
              <a:t>Capital expenditure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2560320"/>
            <a:ext cx="509016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85800" y="2724912"/>
            <a:ext cx="509016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2971800"/>
            <a:ext cx="509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D0D0D"/>
                </a:solidFill>
                <a:latin typeface="Source Sans Pro"/>
              </a:rPr>
              <a:t>Operating costs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3337560"/>
            <a:ext cx="509016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85800" y="3502152"/>
            <a:ext cx="509016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5800" y="3749040"/>
            <a:ext cx="509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D0D0D"/>
                </a:solidFill>
                <a:latin typeface="Source Sans Pro"/>
              </a:rPr>
              <a:t>Maintenance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5800" y="4114800"/>
            <a:ext cx="509016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85800" y="4279392"/>
            <a:ext cx="509016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85800" y="4526280"/>
            <a:ext cx="509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D0D0D"/>
                </a:solidFill>
                <a:latin typeface="Source Sans Pro"/>
              </a:rPr>
              <a:t>Externalities (negative)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5800" y="4892040"/>
            <a:ext cx="509016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85800" y="5056632"/>
            <a:ext cx="509016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85800" y="5303520"/>
            <a:ext cx="509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D0D0D"/>
                </a:solidFill>
                <a:latin typeface="Source Sans Pro"/>
              </a:rPr>
              <a:t>Risks &amp; contingencies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5800" y="5669280"/>
            <a:ext cx="509016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85800" y="5833872"/>
            <a:ext cx="509016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187440" y="1417320"/>
            <a:ext cx="554736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16040" y="160020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Benefits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6040" y="2194560"/>
            <a:ext cx="509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D0D0D"/>
                </a:solidFill>
                <a:latin typeface="Source Sans Pro"/>
              </a:rPr>
              <a:t>User benefits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16040.0" y="2560320"/>
            <a:ext cx="509016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416040.0" y="2724912"/>
            <a:ext cx="509016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16040" y="2971800"/>
            <a:ext cx="509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D0D0D"/>
                </a:solidFill>
                <a:latin typeface="Source Sans Pro"/>
              </a:rPr>
              <a:t>Avoided costs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416040.0" y="3337560"/>
            <a:ext cx="509016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416040.0" y="3502152"/>
            <a:ext cx="509016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416040" y="3749040"/>
            <a:ext cx="509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D0D0D"/>
                </a:solidFill>
                <a:latin typeface="Source Sans Pro"/>
              </a:rPr>
              <a:t>Tax revenues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416040.0" y="4114800"/>
            <a:ext cx="509016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416040.0" y="4279392"/>
            <a:ext cx="509016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416040" y="4526280"/>
            <a:ext cx="509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D0D0D"/>
                </a:solidFill>
                <a:latin typeface="Source Sans Pro"/>
              </a:rPr>
              <a:t>Externalities (positive)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416040.0" y="4892040"/>
            <a:ext cx="509016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416040.0" y="5056632"/>
            <a:ext cx="509016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416040" y="5303520"/>
            <a:ext cx="509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D0D0D"/>
                </a:solidFill>
                <a:latin typeface="Source Sans Pro"/>
              </a:rPr>
              <a:t>Strategic value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416040.0" y="5669280"/>
            <a:ext cx="509016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416040.0" y="5833872"/>
            <a:ext cx="509016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Discount rate · base year · sensitivity tests · clearly stated.</a:t>
            </a:r>
          </a:p>
        </p:txBody>
      </p:sp>
      <p:pic>
        <p:nvPicPr>
          <p:cNvPr id="41" name="Picture 40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90  ·  HARVEST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Harvesting our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57575"/>
                </a:solidFill>
                <a:latin typeface="Palatino Linotype"/>
              </a:rPr>
              <a:t>After running the canvas, capture three layers of insight.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Stand-out signals, surprising stories, ideas to remember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72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72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72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926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26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Concrete adaptations to our context, our team, our constraints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126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6126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6126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6126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126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126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26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280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80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Skills, allies, resources, decisions still to secure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480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4480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4480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4480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4480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480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4480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35304" y="1801368"/>
            <a:ext cx="2450592" cy="420624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inspires 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32960" y="1801368"/>
            <a:ext cx="2926080" cy="420624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How to apply it here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2600" y="1801368"/>
            <a:ext cx="3657600" cy="420624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we need to be autonomous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Each participant fills a copy. Then debrief together to surface patterns and next steps.</a:t>
            </a:r>
          </a:p>
        </p:txBody>
      </p:sp>
      <p:pic>
        <p:nvPicPr>
          <p:cNvPr id="37" name="Picture 36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