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Memory narratives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curated collection of oral histories, personal stories, and emotional mappings that translate the intangible cultural memory of a community into a tangible planning asset.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Memory narratives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Treating the whispered memories and local legends of everyday people as sacred data, proving that a city's true foundation is built on human stories, not just concrete.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curated collection of oral histories, personal stories, and emotional mappings that translate the intangible cultural memory of a community into a tangible planning asset.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months of community workshops and documentation
Material  ·  Audio recorders, printed maps, digital storytelling platforms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Alexandria, Egypt, the assessment of cultural memory as urban identity demonstrated that treating urban heritage as an active carrier of shared narratives is essential. Planning processes that actively document and integrate these historical narratives succeed in celebrating heritage as a living expression of collective identity rather than an obstacle to development.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29  ·  ANIMATION CANVAS  ·  </a:t>
            </a:r>
            <a:r>
              <a:rPr sz="1000" b="1" i="0">
                <a:solidFill>
                  <a:srgbClr val="0D0D0D"/>
                </a:solidFill>
                <a:latin typeface="Source Sans Pro"/>
              </a:rPr>
              <a:t>MEMORY NARRATIVES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Narrative arc · who tells, what, where, why</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months of community workshops and documentation</a:t>
            </a:r>
          </a:p>
        </p:txBody>
      </p:sp>
      <p:sp>
        <p:nvSpPr>
          <p:cNvPr id="6" name="Rounded Rectangle 5"/>
          <p:cNvSpPr/>
          <p:nvPr/>
        </p:nvSpPr>
        <p:spPr>
          <a:xfrm>
            <a:off x="457200" y="1417320"/>
            <a:ext cx="11277600"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7315200" cy="365760"/>
          </a:xfrm>
          <a:prstGeom prst="rect">
            <a:avLst/>
          </a:prstGeom>
          <a:noFill/>
        </p:spPr>
        <p:txBody>
          <a:bodyPr wrap="square" lIns="0" rIns="0" tIns="0" bIns="0">
            <a:spAutoFit/>
          </a:bodyPr>
          <a:lstStyle/>
          <a:p>
            <a:pPr algn="l"/>
            <a:r>
              <a:rPr sz="1400" b="0" i="1">
                <a:solidFill>
                  <a:srgbClr val="0D0D0D"/>
                </a:solidFill>
                <a:latin typeface="Palatino Linotype"/>
              </a:rPr>
              <a:t>Narrative arc</a:t>
            </a:r>
          </a:p>
        </p:txBody>
      </p:sp>
      <p:sp>
        <p:nvSpPr>
          <p:cNvPr id="8" name="Oval 7"/>
          <p:cNvSpPr/>
          <p:nvPr/>
        </p:nvSpPr>
        <p:spPr>
          <a:xfrm>
            <a:off x="1356360" y="2834640"/>
            <a:ext cx="457200" cy="457200"/>
          </a:xfrm>
          <a:prstGeom prst="ellipse">
            <a:avLst/>
          </a:prstGeom>
          <a:solidFill>
            <a:srgbClr val="FFD200"/>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6360" y="283464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1</a:t>
            </a:r>
          </a:p>
        </p:txBody>
      </p:sp>
      <p:sp>
        <p:nvSpPr>
          <p:cNvPr id="10" name="TextBox 9"/>
          <p:cNvSpPr txBox="1"/>
          <p:nvPr/>
        </p:nvSpPr>
        <p:spPr>
          <a:xfrm>
            <a:off x="548640" y="3383280"/>
            <a:ext cx="2072640" cy="274320"/>
          </a:xfrm>
          <a:prstGeom prst="rect">
            <a:avLst/>
          </a:prstGeom>
          <a:noFill/>
        </p:spPr>
        <p:txBody>
          <a:bodyPr wrap="square" lIns="0" rIns="0" tIns="0" bIns="0">
            <a:spAutoFit/>
          </a:bodyPr>
          <a:lstStyle/>
          <a:p>
            <a:pPr algn="ctr"/>
            <a:r>
              <a:rPr sz="1100" b="1" i="0">
                <a:solidFill>
                  <a:srgbClr val="0D0D0D"/>
                </a:solidFill>
                <a:latin typeface="Source Sans Pro"/>
              </a:rPr>
              <a:t>Setup</a:t>
            </a:r>
          </a:p>
        </p:txBody>
      </p:sp>
      <p:cxnSp>
        <p:nvCxnSpPr>
          <p:cNvPr id="11" name="Connector 10"/>
          <p:cNvCxnSpPr/>
          <p:nvPr/>
        </p:nvCxnSpPr>
        <p:spPr>
          <a:xfrm flipV="1">
            <a:off x="1859280" y="2788920"/>
            <a:ext cx="1706880" cy="274320"/>
          </a:xfrm>
          <a:prstGeom prst="line">
            <a:avLst/>
          </a:prstGeom>
          <a:ln w="762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611880" y="2560320"/>
            <a:ext cx="457200" cy="457200"/>
          </a:xfrm>
          <a:prstGeom prst="ellipse">
            <a:avLst/>
          </a:prstGeom>
          <a:solidFill>
            <a:srgbClr val="459ACB"/>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2</a:t>
            </a:r>
          </a:p>
        </p:txBody>
      </p:sp>
      <p:sp>
        <p:nvSpPr>
          <p:cNvPr id="14" name="TextBox 13"/>
          <p:cNvSpPr txBox="1"/>
          <p:nvPr/>
        </p:nvSpPr>
        <p:spPr>
          <a:xfrm>
            <a:off x="2804160" y="3108960"/>
            <a:ext cx="2072640" cy="274320"/>
          </a:xfrm>
          <a:prstGeom prst="rect">
            <a:avLst/>
          </a:prstGeom>
          <a:noFill/>
        </p:spPr>
        <p:txBody>
          <a:bodyPr wrap="square" lIns="0" rIns="0" tIns="0" bIns="0">
            <a:spAutoFit/>
          </a:bodyPr>
          <a:lstStyle/>
          <a:p>
            <a:pPr algn="ctr"/>
            <a:r>
              <a:rPr sz="1100" b="1" i="0">
                <a:solidFill>
                  <a:srgbClr val="0D0D0D"/>
                </a:solidFill>
                <a:latin typeface="Source Sans Pro"/>
              </a:rPr>
              <a:t>Trigger</a:t>
            </a:r>
          </a:p>
        </p:txBody>
      </p:sp>
      <p:cxnSp>
        <p:nvCxnSpPr>
          <p:cNvPr id="15" name="Connector 14"/>
          <p:cNvCxnSpPr/>
          <p:nvPr/>
        </p:nvCxnSpPr>
        <p:spPr>
          <a:xfrm flipV="1">
            <a:off x="4114800" y="2514600"/>
            <a:ext cx="1706880" cy="274320"/>
          </a:xfrm>
          <a:prstGeom prst="line">
            <a:avLst/>
          </a:prstGeom>
          <a:ln w="762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867400" y="2286000"/>
            <a:ext cx="457200" cy="457200"/>
          </a:xfrm>
          <a:prstGeom prst="ellipse">
            <a:avLst/>
          </a:prstGeom>
          <a:solidFill>
            <a:srgbClr val="EF98D6"/>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67400" y="228600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3</a:t>
            </a:r>
          </a:p>
        </p:txBody>
      </p:sp>
      <p:sp>
        <p:nvSpPr>
          <p:cNvPr id="18" name="TextBox 17"/>
          <p:cNvSpPr txBox="1"/>
          <p:nvPr/>
        </p:nvSpPr>
        <p:spPr>
          <a:xfrm>
            <a:off x="5059680" y="2834640"/>
            <a:ext cx="2072640" cy="274320"/>
          </a:xfrm>
          <a:prstGeom prst="rect">
            <a:avLst/>
          </a:prstGeom>
          <a:noFill/>
        </p:spPr>
        <p:txBody>
          <a:bodyPr wrap="square" lIns="0" rIns="0" tIns="0" bIns="0">
            <a:spAutoFit/>
          </a:bodyPr>
          <a:lstStyle/>
          <a:p>
            <a:pPr algn="ctr"/>
            <a:r>
              <a:rPr sz="1100" b="1" i="0">
                <a:solidFill>
                  <a:srgbClr val="0D0D0D"/>
                </a:solidFill>
                <a:latin typeface="Source Sans Pro"/>
              </a:rPr>
              <a:t>Tension</a:t>
            </a:r>
          </a:p>
        </p:txBody>
      </p:sp>
      <p:cxnSp>
        <p:nvCxnSpPr>
          <p:cNvPr id="19" name="Connector 18"/>
          <p:cNvCxnSpPr/>
          <p:nvPr/>
        </p:nvCxnSpPr>
        <p:spPr>
          <a:xfrm>
            <a:off x="6370320" y="2514600"/>
            <a:ext cx="1706880" cy="274320"/>
          </a:xfrm>
          <a:prstGeom prst="line">
            <a:avLst/>
          </a:prstGeom>
          <a:ln w="762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122920" y="2560320"/>
            <a:ext cx="457200" cy="457200"/>
          </a:xfrm>
          <a:prstGeom prst="ellipse">
            <a:avLst/>
          </a:prstGeom>
          <a:solidFill>
            <a:srgbClr val="FF674D"/>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2920" y="256032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4</a:t>
            </a:r>
          </a:p>
        </p:txBody>
      </p:sp>
      <p:sp>
        <p:nvSpPr>
          <p:cNvPr id="22" name="TextBox 21"/>
          <p:cNvSpPr txBox="1"/>
          <p:nvPr/>
        </p:nvSpPr>
        <p:spPr>
          <a:xfrm>
            <a:off x="7315200" y="3108960"/>
            <a:ext cx="2072640" cy="274320"/>
          </a:xfrm>
          <a:prstGeom prst="rect">
            <a:avLst/>
          </a:prstGeom>
          <a:noFill/>
        </p:spPr>
        <p:txBody>
          <a:bodyPr wrap="square" lIns="0" rIns="0" tIns="0" bIns="0">
            <a:spAutoFit/>
          </a:bodyPr>
          <a:lstStyle/>
          <a:p>
            <a:pPr algn="ctr"/>
            <a:r>
              <a:rPr sz="1100" b="1" i="0">
                <a:solidFill>
                  <a:srgbClr val="0D0D0D"/>
                </a:solidFill>
                <a:latin typeface="Source Sans Pro"/>
              </a:rPr>
              <a:t>Climax</a:t>
            </a:r>
          </a:p>
        </p:txBody>
      </p:sp>
      <p:cxnSp>
        <p:nvCxnSpPr>
          <p:cNvPr id="23" name="Connector 22"/>
          <p:cNvCxnSpPr/>
          <p:nvPr/>
        </p:nvCxnSpPr>
        <p:spPr>
          <a:xfrm>
            <a:off x="8625840" y="2788920"/>
            <a:ext cx="1706880" cy="274320"/>
          </a:xfrm>
          <a:prstGeom prst="line">
            <a:avLst/>
          </a:prstGeom>
          <a:ln w="762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0378440" y="2834640"/>
            <a:ext cx="457200" cy="457200"/>
          </a:xfrm>
          <a:prstGeom prst="ellipse">
            <a:avLst/>
          </a:prstGeom>
          <a:solidFill>
            <a:srgbClr val="00ED93"/>
          </a:solidFill>
          <a:ln w="889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78440" y="2834640"/>
            <a:ext cx="457200" cy="457200"/>
          </a:xfrm>
          <a:prstGeom prst="rect">
            <a:avLst/>
          </a:prstGeom>
          <a:noFill/>
        </p:spPr>
        <p:txBody>
          <a:bodyPr wrap="square" lIns="0" rIns="0" tIns="0" bIns="0" anchor="ctr">
            <a:spAutoFit/>
          </a:bodyPr>
          <a:lstStyle/>
          <a:p>
            <a:pPr algn="ctr"/>
            <a:r>
              <a:rPr sz="1400" b="1" i="0">
                <a:solidFill>
                  <a:srgbClr val="0D0D0D"/>
                </a:solidFill>
                <a:latin typeface="Palatino Linotype"/>
              </a:rPr>
              <a:t>5</a:t>
            </a:r>
          </a:p>
        </p:txBody>
      </p:sp>
      <p:sp>
        <p:nvSpPr>
          <p:cNvPr id="26" name="TextBox 25"/>
          <p:cNvSpPr txBox="1"/>
          <p:nvPr/>
        </p:nvSpPr>
        <p:spPr>
          <a:xfrm>
            <a:off x="9570720" y="3383280"/>
            <a:ext cx="2072640" cy="274320"/>
          </a:xfrm>
          <a:prstGeom prst="rect">
            <a:avLst/>
          </a:prstGeom>
          <a:noFill/>
        </p:spPr>
        <p:txBody>
          <a:bodyPr wrap="square" lIns="0" rIns="0" tIns="0" bIns="0">
            <a:spAutoFit/>
          </a:bodyPr>
          <a:lstStyle/>
          <a:p>
            <a:pPr algn="ctr"/>
            <a:r>
              <a:rPr sz="1100" b="1" i="0">
                <a:solidFill>
                  <a:srgbClr val="0D0D0D"/>
                </a:solidFill>
                <a:latin typeface="Source Sans Pro"/>
              </a:rPr>
              <a:t>Resolution</a:t>
            </a:r>
          </a:p>
        </p:txBody>
      </p:sp>
      <p:sp>
        <p:nvSpPr>
          <p:cNvPr id="27" name="Rounded Rectangle 26"/>
          <p:cNvSpPr/>
          <p:nvPr/>
        </p:nvSpPr>
        <p:spPr>
          <a:xfrm>
            <a:off x="457200" y="3794760"/>
            <a:ext cx="26959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3977640"/>
            <a:ext cx="2330196"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Who tells</a:t>
            </a:r>
          </a:p>
        </p:txBody>
      </p:sp>
      <p:sp>
        <p:nvSpPr>
          <p:cNvPr id="29" name="TextBox 28"/>
          <p:cNvSpPr txBox="1"/>
          <p:nvPr/>
        </p:nvSpPr>
        <p:spPr>
          <a:xfrm>
            <a:off x="640080" y="4434840"/>
            <a:ext cx="2330196" cy="365760"/>
          </a:xfrm>
          <a:prstGeom prst="rect">
            <a:avLst/>
          </a:prstGeom>
          <a:noFill/>
        </p:spPr>
        <p:txBody>
          <a:bodyPr wrap="square" lIns="0" rIns="0" tIns="0" bIns="0">
            <a:spAutoFit/>
          </a:bodyPr>
          <a:lstStyle/>
          <a:p>
            <a:pPr algn="l"/>
            <a:r>
              <a:rPr sz="1000" b="0" i="1">
                <a:solidFill>
                  <a:srgbClr val="757575"/>
                </a:solidFill>
                <a:latin typeface="Palatino Linotype"/>
              </a:rPr>
              <a:t>Voice &amp; legitimacy</a:t>
            </a:r>
          </a:p>
        </p:txBody>
      </p:sp>
      <p:cxnSp>
        <p:nvCxnSpPr>
          <p:cNvPr id="30" name="Connector 29"/>
          <p:cNvCxnSpPr/>
          <p:nvPr/>
        </p:nvCxnSpPr>
        <p:spPr>
          <a:xfrm>
            <a:off x="640080.0" y="498348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40080.0" y="525780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0080.0" y="553212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317748" y="3794760"/>
            <a:ext cx="26959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500628" y="3977640"/>
            <a:ext cx="2330196" cy="329184"/>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What is told</a:t>
            </a:r>
          </a:p>
        </p:txBody>
      </p:sp>
      <p:sp>
        <p:nvSpPr>
          <p:cNvPr id="35" name="TextBox 34"/>
          <p:cNvSpPr txBox="1"/>
          <p:nvPr/>
        </p:nvSpPr>
        <p:spPr>
          <a:xfrm>
            <a:off x="3500628" y="4434840"/>
            <a:ext cx="2330196" cy="365760"/>
          </a:xfrm>
          <a:prstGeom prst="rect">
            <a:avLst/>
          </a:prstGeom>
          <a:noFill/>
        </p:spPr>
        <p:txBody>
          <a:bodyPr wrap="square" lIns="0" rIns="0" tIns="0" bIns="0">
            <a:spAutoFit/>
          </a:bodyPr>
          <a:lstStyle/>
          <a:p>
            <a:pPr algn="l"/>
            <a:r>
              <a:rPr sz="1000" b="0" i="1">
                <a:solidFill>
                  <a:srgbClr val="757575"/>
                </a:solidFill>
                <a:latin typeface="Palatino Linotype"/>
              </a:rPr>
              <a:t>Memory &amp; reframing</a:t>
            </a:r>
          </a:p>
        </p:txBody>
      </p:sp>
      <p:cxnSp>
        <p:nvCxnSpPr>
          <p:cNvPr id="36" name="Connector 35"/>
          <p:cNvCxnSpPr/>
          <p:nvPr/>
        </p:nvCxnSpPr>
        <p:spPr>
          <a:xfrm>
            <a:off x="3500628.0" y="498348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500628.0" y="525780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500628.0" y="553212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178296" y="3794760"/>
            <a:ext cx="26959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361176" y="3977640"/>
            <a:ext cx="2330196" cy="32918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Where it lives</a:t>
            </a:r>
          </a:p>
        </p:txBody>
      </p:sp>
      <p:sp>
        <p:nvSpPr>
          <p:cNvPr id="41" name="TextBox 40"/>
          <p:cNvSpPr txBox="1"/>
          <p:nvPr/>
        </p:nvSpPr>
        <p:spPr>
          <a:xfrm>
            <a:off x="6361176" y="4434840"/>
            <a:ext cx="2330196" cy="365760"/>
          </a:xfrm>
          <a:prstGeom prst="rect">
            <a:avLst/>
          </a:prstGeom>
          <a:noFill/>
        </p:spPr>
        <p:txBody>
          <a:bodyPr wrap="square" lIns="0" rIns="0" tIns="0" bIns="0">
            <a:spAutoFit/>
          </a:bodyPr>
          <a:lstStyle/>
          <a:p>
            <a:pPr algn="l"/>
            <a:r>
              <a:rPr sz="1000" b="0" i="1">
                <a:solidFill>
                  <a:srgbClr val="757575"/>
                </a:solidFill>
                <a:latin typeface="Palatino Linotype"/>
              </a:rPr>
              <a:t>Place &amp; medium</a:t>
            </a:r>
          </a:p>
        </p:txBody>
      </p:sp>
      <p:cxnSp>
        <p:nvCxnSpPr>
          <p:cNvPr id="42" name="Connector 41"/>
          <p:cNvCxnSpPr/>
          <p:nvPr/>
        </p:nvCxnSpPr>
        <p:spPr>
          <a:xfrm>
            <a:off x="6361176.0" y="498348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361176.0" y="525780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361176.0" y="553212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038844" y="3794760"/>
            <a:ext cx="26959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21724" y="3977640"/>
            <a:ext cx="2330196" cy="32918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Why it matters</a:t>
            </a:r>
          </a:p>
        </p:txBody>
      </p:sp>
      <p:sp>
        <p:nvSpPr>
          <p:cNvPr id="47" name="TextBox 46"/>
          <p:cNvSpPr txBox="1"/>
          <p:nvPr/>
        </p:nvSpPr>
        <p:spPr>
          <a:xfrm>
            <a:off x="9221724" y="4434840"/>
            <a:ext cx="2330196" cy="365760"/>
          </a:xfrm>
          <a:prstGeom prst="rect">
            <a:avLst/>
          </a:prstGeom>
          <a:noFill/>
        </p:spPr>
        <p:txBody>
          <a:bodyPr wrap="square" lIns="0" rIns="0" tIns="0" bIns="0">
            <a:spAutoFit/>
          </a:bodyPr>
          <a:lstStyle/>
          <a:p>
            <a:pPr algn="l"/>
            <a:r>
              <a:rPr sz="1000" b="0" i="1">
                <a:solidFill>
                  <a:srgbClr val="757575"/>
                </a:solidFill>
                <a:latin typeface="Palatino Linotype"/>
              </a:rPr>
              <a:t>Stakes &amp; ethics</a:t>
            </a:r>
          </a:p>
        </p:txBody>
      </p:sp>
      <p:cxnSp>
        <p:nvCxnSpPr>
          <p:cNvPr id="48" name="Connector 47"/>
          <p:cNvCxnSpPr/>
          <p:nvPr/>
        </p:nvCxnSpPr>
        <p:spPr>
          <a:xfrm>
            <a:off x="9221724.0" y="498348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221724.0" y="525780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221724.0" y="5532120"/>
            <a:ext cx="23301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1" name="Picture 5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2" name="TextBox 5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