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93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Real estate market analysis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comprehensive valuation report mapping property cycles, analyzing comparable sales, and estimating the marginal price impact of specific urban amenities.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93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Real estate market analysis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Decoding the invisible economic gravity that pulls capital into a neighborhood, giving public actors the leverage to shape market forces rather than just suffering their consequences.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comprehensive valuation report mapping property cycles, analyzing comparable sales, and estimating the marginal price impact of specific urban amenities.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4 to 6 weeks
Material  ·  Land registry data, hedonic pricing algorithms, GIS property maps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Hedonic pricing was utilized in Milan to value the social benefits resulting from the reopening of the Martesana canal, estimating the total economic value based on property price variations. Furthermore, analyzing the impact of rail transit station proximity on commercial property prices relies heavily on real estate market analysis, proving that localized infrastructure development acts as a massive driver for increased real estate valuation.</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93  ·  ANIMATION CANVAS  ·  </a:t>
            </a:r>
            <a:r>
              <a:rPr sz="1000" b="1" i="0">
                <a:solidFill>
                  <a:srgbClr val="0D0D0D"/>
                </a:solidFill>
                <a:latin typeface="Source Sans Pro"/>
              </a:rPr>
              <a:t>REAL ESTATE MARKET ANALYSIS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Supply × demand × prices × yields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4 to 6 weeks</a:t>
            </a:r>
          </a:p>
        </p:txBody>
      </p:sp>
      <p:sp>
        <p:nvSpPr>
          <p:cNvPr id="6" name="Rounded Rectangle 5"/>
          <p:cNvSpPr/>
          <p:nvPr/>
        </p:nvSpPr>
        <p:spPr>
          <a:xfrm>
            <a:off x="457200"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Supply pipeline</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permitted · under construction</a:t>
            </a:r>
          </a:p>
        </p:txBody>
      </p:sp>
      <p:cxnSp>
        <p:nvCxnSpPr>
          <p:cNvPr id="9" name="Connector 8"/>
          <p:cNvCxnSpPr/>
          <p:nvPr/>
        </p:nvCxnSpPr>
        <p:spPr>
          <a:xfrm>
            <a:off x="685800.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17748"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546348"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Demand drivers</a:t>
            </a:r>
          </a:p>
        </p:txBody>
      </p:sp>
      <p:sp>
        <p:nvSpPr>
          <p:cNvPr id="22" name="TextBox 21"/>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population · employment · income</a:t>
            </a:r>
          </a:p>
        </p:txBody>
      </p:sp>
      <p:cxnSp>
        <p:nvCxnSpPr>
          <p:cNvPr id="23" name="Connector 22"/>
          <p:cNvCxnSpPr/>
          <p:nvPr/>
        </p:nvCxnSpPr>
        <p:spPr>
          <a:xfrm>
            <a:off x="3546348.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546348.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546348.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546348.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546348.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546348.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46348.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546348.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46348.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546348.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546348.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178296"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06896"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Price benchmarks</a:t>
            </a:r>
          </a:p>
        </p:txBody>
      </p:sp>
      <p:sp>
        <p:nvSpPr>
          <p:cNvPr id="36" name="TextBox 35"/>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€/m² for sale × rent</a:t>
            </a:r>
          </a:p>
        </p:txBody>
      </p:sp>
      <p:cxnSp>
        <p:nvCxnSpPr>
          <p:cNvPr id="37" name="Connector 36"/>
          <p:cNvCxnSpPr/>
          <p:nvPr/>
        </p:nvCxnSpPr>
        <p:spPr>
          <a:xfrm>
            <a:off x="6406896.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406896.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406896.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406896.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406896.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406896.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406896.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406896.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406896.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406896.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406896.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038844"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67444" y="1600200"/>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Yield curves</a:t>
            </a:r>
          </a:p>
        </p:txBody>
      </p:sp>
      <p:sp>
        <p:nvSpPr>
          <p:cNvPr id="50" name="TextBox 49"/>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gross · net · risk-adjusted</a:t>
            </a:r>
          </a:p>
        </p:txBody>
      </p:sp>
      <p:cxnSp>
        <p:nvCxnSpPr>
          <p:cNvPr id="51" name="Connector 50"/>
          <p:cNvCxnSpPr/>
          <p:nvPr/>
        </p:nvCxnSpPr>
        <p:spPr>
          <a:xfrm>
            <a:off x="9267444.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267444.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267444.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267444.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267444.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67444.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67444.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267444.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267444.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267444.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267444.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62" name="Picture 6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3" name="TextBox 6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93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