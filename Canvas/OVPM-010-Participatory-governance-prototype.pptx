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10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0" i="0">
                <a:solidFill>
                  <a:srgbClr val="0D0D0D"/>
                </a:solidFill>
                <a:latin typeface="Palatino Linotype"/>
              </a:rPr>
              <a:t>Participatory governance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A tested and operational shared-governance arrangement that institutionalizes multi-actor collaboration and defines clear roles and responsibilities for long-term project stewardship.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G4 · Proof of Sustainability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Regulation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47088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Social / User</a:t>
            </a:r>
          </a:p>
        </p:txBody>
      </p:sp>
      <p:pic>
        <p:nvPicPr>
          <p:cNvPr id="11" name="Picture 10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10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Participatory governance prototype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G4 · Proof of Sustainability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Moving beyond metaphorical participation to actually sharing power; it is the concrete transition from administrative authority to community-owned stewardship.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 tested and operational shared-governance arrangement that institutionalizes multi-actor collaboration and defines clear roles and responsibilities for long-term project stewardship.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6 months to 1 year of testing
Material  ·  Governance charters, decision-making matrices, regular evaluation meetings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The CLEVER Cities framework actively tests shared-governance approaches for urban nature-based solutions. Through "Action Labs" in cities like Milan, municipal actors, residents, and researchers co-create management models, testing how collaborative governance operates in practice before scaling these structures city-wide , , 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10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PARTICIPATORY GOVERNANCE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Governance prototype · roles &amp; decision rights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6 months to 1 year of testing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411480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D0D0D"/>
                </a:solidFill>
                <a:latin typeface="Palatino Linotype"/>
              </a:rPr>
              <a:t>Stakeholder constellation</a:t>
            </a:r>
          </a:p>
        </p:txBody>
      </p:sp>
      <p:sp>
        <p:nvSpPr>
          <p:cNvPr id="8" name="Oval 7"/>
          <p:cNvSpPr/>
          <p:nvPr/>
        </p:nvSpPr>
        <p:spPr>
          <a:xfrm>
            <a:off x="1874520" y="3749040"/>
            <a:ext cx="1280160" cy="731520"/>
          </a:xfrm>
          <a:prstGeom prst="ellipse">
            <a:avLst/>
          </a:prstGeom>
          <a:solidFill>
            <a:srgbClr val="FFD200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74520" y="3749040"/>
            <a:ext cx="12801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D0D0D"/>
                </a:solidFill>
                <a:latin typeface="Palatino Linotype"/>
              </a:rPr>
              <a:t>Project</a:t>
            </a:r>
          </a:p>
        </p:txBody>
      </p:sp>
      <p:sp>
        <p:nvSpPr>
          <p:cNvPr id="10" name="Oval 9"/>
          <p:cNvSpPr/>
          <p:nvPr/>
        </p:nvSpPr>
        <p:spPr>
          <a:xfrm>
            <a:off x="2240280" y="2560320"/>
            <a:ext cx="548640" cy="548640"/>
          </a:xfrm>
          <a:prstGeom prst="ellipse">
            <a:avLst/>
          </a:prstGeom>
          <a:solidFill>
            <a:srgbClr val="FF674D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2514600" y="2834640"/>
            <a:ext cx="0.0" cy="1280160"/>
          </a:xfrm>
          <a:prstGeom prst="line">
            <a:avLst/>
          </a:prstGeom>
          <a:ln w="635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737360" y="226771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0D0D0D"/>
                </a:solidFill>
                <a:latin typeface="Source Sans Pro"/>
              </a:rPr>
              <a:t>Citizens</a:t>
            </a:r>
          </a:p>
        </p:txBody>
      </p:sp>
      <p:sp>
        <p:nvSpPr>
          <p:cNvPr id="13" name="Oval 12"/>
          <p:cNvSpPr/>
          <p:nvPr/>
        </p:nvSpPr>
        <p:spPr>
          <a:xfrm>
            <a:off x="3467715" y="3200400"/>
            <a:ext cx="548640" cy="548640"/>
          </a:xfrm>
          <a:prstGeom prst="ellipse">
            <a:avLst/>
          </a:prstGeom>
          <a:solidFill>
            <a:srgbClr val="0D0D0D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H="1">
            <a:off x="2514600.0" y="3474720"/>
            <a:ext cx="1227435.0" cy="640080"/>
          </a:xfrm>
          <a:prstGeom prst="line">
            <a:avLst/>
          </a:prstGeom>
          <a:ln w="635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360741" y="313639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0D0D0D"/>
                </a:solidFill>
                <a:latin typeface="Source Sans Pro"/>
              </a:rPr>
              <a:t>Public officials</a:t>
            </a:r>
          </a:p>
        </p:txBody>
      </p:sp>
      <p:sp>
        <p:nvSpPr>
          <p:cNvPr id="16" name="Oval 15"/>
          <p:cNvSpPr/>
          <p:nvPr/>
        </p:nvSpPr>
        <p:spPr>
          <a:xfrm>
            <a:off x="3467715" y="4480560"/>
            <a:ext cx="548640" cy="548640"/>
          </a:xfrm>
          <a:prstGeom prst="ellipse">
            <a:avLst/>
          </a:prstGeom>
          <a:solidFill>
            <a:srgbClr val="00ED93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H="1" flipV="1">
            <a:off x="2514600.0" y="4114800"/>
            <a:ext cx="1227435.0" cy="640080"/>
          </a:xfrm>
          <a:prstGeom prst="line">
            <a:avLst/>
          </a:prstGeom>
          <a:ln w="635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360741" y="487375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0D0D0D"/>
                </a:solidFill>
                <a:latin typeface="Source Sans Pro"/>
              </a:rPr>
              <a:t>Local businesses</a:t>
            </a:r>
          </a:p>
        </p:txBody>
      </p:sp>
      <p:sp>
        <p:nvSpPr>
          <p:cNvPr id="19" name="Oval 18"/>
          <p:cNvSpPr/>
          <p:nvPr/>
        </p:nvSpPr>
        <p:spPr>
          <a:xfrm>
            <a:off x="2240280" y="5120640"/>
            <a:ext cx="548640" cy="548640"/>
          </a:xfrm>
          <a:prstGeom prst="ellipse">
            <a:avLst/>
          </a:prstGeom>
          <a:solidFill>
            <a:srgbClr val="EF98D6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V="1">
            <a:off x="2514600" y="4114800"/>
            <a:ext cx="0.0" cy="1280160"/>
          </a:xfrm>
          <a:prstGeom prst="line">
            <a:avLst/>
          </a:prstGeom>
          <a:ln w="635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737360" y="574243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0D0D0D"/>
                </a:solidFill>
                <a:latin typeface="Source Sans Pro"/>
              </a:rPr>
              <a:t>NGOs</a:t>
            </a:r>
          </a:p>
        </p:txBody>
      </p:sp>
      <p:sp>
        <p:nvSpPr>
          <p:cNvPr id="22" name="Oval 21"/>
          <p:cNvSpPr/>
          <p:nvPr/>
        </p:nvSpPr>
        <p:spPr>
          <a:xfrm>
            <a:off x="1012844" y="4480560"/>
            <a:ext cx="548640" cy="548640"/>
          </a:xfrm>
          <a:prstGeom prst="ellipse">
            <a:avLst/>
          </a:prstGeom>
          <a:solidFill>
            <a:srgbClr val="459ACB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1287164" y="4114800"/>
            <a:ext cx="1227436.0" cy="640080"/>
          </a:xfrm>
          <a:prstGeom prst="line">
            <a:avLst/>
          </a:prstGeom>
          <a:ln w="635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13978" y="487375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0D0D0D"/>
                </a:solidFill>
                <a:latin typeface="Source Sans Pro"/>
              </a:rPr>
              <a:t>Researchers</a:t>
            </a:r>
          </a:p>
        </p:txBody>
      </p:sp>
      <p:sp>
        <p:nvSpPr>
          <p:cNvPr id="25" name="Oval 24"/>
          <p:cNvSpPr/>
          <p:nvPr/>
        </p:nvSpPr>
        <p:spPr>
          <a:xfrm>
            <a:off x="1012844" y="3200400"/>
            <a:ext cx="548640" cy="548640"/>
          </a:xfrm>
          <a:prstGeom prst="ellipse">
            <a:avLst/>
          </a:prstGeom>
          <a:solidFill>
            <a:srgbClr val="3360FF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1287164" y="3474720"/>
            <a:ext cx="1227436.0" cy="640080"/>
          </a:xfrm>
          <a:prstGeom prst="line">
            <a:avLst/>
          </a:prstGeom>
          <a:ln w="635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13978" y="313639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0D0D0D"/>
                </a:solidFill>
                <a:latin typeface="Source Sans Pro"/>
              </a:rPr>
              <a:t>Investors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00600" y="1417320"/>
            <a:ext cx="693420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0" y="1600200"/>
            <a:ext cx="6477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D0D0D"/>
                </a:solidFill>
                <a:latin typeface="Palatino Linotype"/>
              </a:rPr>
              <a:t>Decision rights matrix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0" y="2011680"/>
            <a:ext cx="1920240" cy="411480"/>
          </a:xfrm>
          <a:prstGeom prst="rect">
            <a:avLst/>
          </a:prstGeom>
          <a:solidFill>
            <a:srgbClr val="0D0D0D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0" y="2011680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D200"/>
                </a:solidFill>
                <a:latin typeface="Source Sans Pro"/>
              </a:rPr>
              <a:t>Decision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9440" y="2011680"/>
            <a:ext cx="911352" cy="411480"/>
          </a:xfrm>
          <a:prstGeom prst="rect">
            <a:avLst/>
          </a:prstGeom>
          <a:solidFill>
            <a:srgbClr val="FFD200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0" y="2011680"/>
            <a:ext cx="911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0D0D0D"/>
                </a:solidFill>
                <a:latin typeface="Source Sans Pro"/>
              </a:rPr>
              <a:t>Citizens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0792" y="2011680"/>
            <a:ext cx="911352" cy="411480"/>
          </a:xfrm>
          <a:prstGeom prst="rect">
            <a:avLst/>
          </a:prstGeom>
          <a:solidFill>
            <a:srgbClr val="FFD200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0792" y="2011680"/>
            <a:ext cx="911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0D0D0D"/>
                </a:solidFill>
                <a:latin typeface="Source Sans Pro"/>
              </a:rPr>
              <a:t>Officials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2144" y="2011680"/>
            <a:ext cx="911352" cy="411480"/>
          </a:xfrm>
          <a:prstGeom prst="rect">
            <a:avLst/>
          </a:prstGeom>
          <a:solidFill>
            <a:srgbClr val="FFD200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2144" y="2011680"/>
            <a:ext cx="911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0D0D0D"/>
                </a:solidFill>
                <a:latin typeface="Source Sans Pro"/>
              </a:rPr>
              <a:t>Business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83496" y="2011680"/>
            <a:ext cx="911352" cy="411480"/>
          </a:xfrm>
          <a:prstGeom prst="rect">
            <a:avLst/>
          </a:prstGeom>
          <a:solidFill>
            <a:srgbClr val="FFD200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83496" y="2011680"/>
            <a:ext cx="911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0D0D0D"/>
                </a:solidFill>
                <a:latin typeface="Source Sans Pro"/>
              </a:rPr>
              <a:t>NGO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594848" y="2011680"/>
            <a:ext cx="911352" cy="411480"/>
          </a:xfrm>
          <a:prstGeom prst="rect">
            <a:avLst/>
          </a:prstGeom>
          <a:solidFill>
            <a:srgbClr val="FFD200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94848" y="2011680"/>
            <a:ext cx="911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0D0D0D"/>
                </a:solidFill>
                <a:latin typeface="Source Sans Pro"/>
              </a:rPr>
              <a:t>Research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0" y="2423160"/>
            <a:ext cx="1920240" cy="411480"/>
          </a:xfrm>
          <a:prstGeom prst="rect">
            <a:avLst/>
          </a:prstGeom>
          <a:solidFill>
            <a:srgbClr val="EEECE6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66360" y="2423160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0D0D0D"/>
                </a:solidFill>
                <a:latin typeface="Source Sans Pro"/>
              </a:rPr>
              <a:t>Set vision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49440" y="2423160"/>
            <a:ext cx="911352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860792" y="2423160"/>
            <a:ext cx="911352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72144" y="2423160"/>
            <a:ext cx="911352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683496" y="2423160"/>
            <a:ext cx="911352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594848" y="2423160"/>
            <a:ext cx="911352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2834640"/>
            <a:ext cx="1920240" cy="411480"/>
          </a:xfrm>
          <a:prstGeom prst="rect">
            <a:avLst/>
          </a:prstGeom>
          <a:solidFill>
            <a:srgbClr val="EEECE6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66360" y="2834640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0D0D0D"/>
                </a:solidFill>
                <a:latin typeface="Source Sans Pro"/>
              </a:rPr>
              <a:t>Allocate budget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49440" y="2834640"/>
            <a:ext cx="911352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860792" y="2834640"/>
            <a:ext cx="911352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772144" y="2834640"/>
            <a:ext cx="911352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83496" y="2834640"/>
            <a:ext cx="911352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594848" y="2834640"/>
            <a:ext cx="911352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029200" y="3246120"/>
            <a:ext cx="1920240" cy="411480"/>
          </a:xfrm>
          <a:prstGeom prst="rect">
            <a:avLst/>
          </a:prstGeom>
          <a:solidFill>
            <a:srgbClr val="EEECE6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66360" y="3246120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0D0D0D"/>
                </a:solidFill>
                <a:latin typeface="Source Sans Pro"/>
              </a:rPr>
              <a:t>Decide priorities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49440" y="3246120"/>
            <a:ext cx="911352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860792" y="3246120"/>
            <a:ext cx="911352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772144" y="3246120"/>
            <a:ext cx="911352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683496" y="3246120"/>
            <a:ext cx="911352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594848" y="3246120"/>
            <a:ext cx="911352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029200" y="3657600"/>
            <a:ext cx="1920240" cy="411480"/>
          </a:xfrm>
          <a:prstGeom prst="rect">
            <a:avLst/>
          </a:prstGeom>
          <a:solidFill>
            <a:srgbClr val="EEECE6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166360" y="3657600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0D0D0D"/>
                </a:solidFill>
                <a:latin typeface="Source Sans Pro"/>
              </a:rPr>
              <a:t>Validate prototypes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949440" y="3657600"/>
            <a:ext cx="911352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860792" y="3657600"/>
            <a:ext cx="911352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772144" y="3657600"/>
            <a:ext cx="911352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683496" y="3657600"/>
            <a:ext cx="911352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594848" y="3657600"/>
            <a:ext cx="911352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029200" y="4069080"/>
            <a:ext cx="1920240" cy="411480"/>
          </a:xfrm>
          <a:prstGeom prst="rect">
            <a:avLst/>
          </a:prstGeom>
          <a:solidFill>
            <a:srgbClr val="EEECE6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166360" y="4069080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0D0D0D"/>
                </a:solidFill>
                <a:latin typeface="Source Sans Pro"/>
              </a:rPr>
              <a:t>Sign-off &amp; launch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949440" y="4069080"/>
            <a:ext cx="911352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860792" y="4069080"/>
            <a:ext cx="911352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772144" y="4069080"/>
            <a:ext cx="911352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683496" y="4069080"/>
            <a:ext cx="911352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594848" y="4069080"/>
            <a:ext cx="911352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029200" y="4617720"/>
            <a:ext cx="237744" cy="237744"/>
          </a:xfrm>
          <a:prstGeom prst="ellipse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029200" y="461772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Source Sans Pro"/>
              </a:rPr>
              <a:t>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321808" y="4617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0D0D0D"/>
                </a:solidFill>
                <a:latin typeface="Source Sans Pro"/>
              </a:rPr>
              <a:t>Responsible</a:t>
            </a:r>
          </a:p>
        </p:txBody>
      </p:sp>
      <p:sp>
        <p:nvSpPr>
          <p:cNvPr id="80" name="Oval 79"/>
          <p:cNvSpPr/>
          <p:nvPr/>
        </p:nvSpPr>
        <p:spPr>
          <a:xfrm>
            <a:off x="6648450" y="4617720"/>
            <a:ext cx="237744" cy="237744"/>
          </a:xfrm>
          <a:prstGeom prst="ellipse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648450" y="461772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D200"/>
                </a:solidFill>
                <a:latin typeface="Source Sans Pro"/>
              </a:rPr>
              <a:t>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941058" y="4617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0D0D0D"/>
                </a:solidFill>
                <a:latin typeface="Source Sans Pro"/>
              </a:rPr>
              <a:t>Accountable</a:t>
            </a:r>
          </a:p>
        </p:txBody>
      </p:sp>
      <p:sp>
        <p:nvSpPr>
          <p:cNvPr id="83" name="Oval 82"/>
          <p:cNvSpPr/>
          <p:nvPr/>
        </p:nvSpPr>
        <p:spPr>
          <a:xfrm>
            <a:off x="8267700" y="4617720"/>
            <a:ext cx="237744" cy="237744"/>
          </a:xfrm>
          <a:prstGeom prst="ellipse">
            <a:avLst/>
          </a:prstGeom>
          <a:solidFill>
            <a:srgbClr val="459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267700" y="461772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Source Sans Pro"/>
              </a:rPr>
              <a:t>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560308" y="4617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0D0D0D"/>
                </a:solidFill>
                <a:latin typeface="Source Sans Pro"/>
              </a:rPr>
              <a:t>Consulted</a:t>
            </a:r>
          </a:p>
        </p:txBody>
      </p:sp>
      <p:sp>
        <p:nvSpPr>
          <p:cNvPr id="86" name="Oval 85"/>
          <p:cNvSpPr/>
          <p:nvPr/>
        </p:nvSpPr>
        <p:spPr>
          <a:xfrm>
            <a:off x="9886950" y="4617720"/>
            <a:ext cx="237744" cy="237744"/>
          </a:xfrm>
          <a:prstGeom prst="ellipse">
            <a:avLst/>
          </a:prstGeom>
          <a:solidFill>
            <a:srgbClr val="EF9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886950" y="461772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Source Sans Pro"/>
              </a:rPr>
              <a:t>I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179558" y="4617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0D0D0D"/>
                </a:solidFill>
                <a:latin typeface="Source Sans Pro"/>
              </a:rPr>
              <a:t>Informed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Test the prototype for 6·12 months. Then formalize the agreement.</a:t>
            </a:r>
          </a:p>
        </p:txBody>
      </p:sp>
      <p:pic>
        <p:nvPicPr>
          <p:cNvPr id="90" name="Picture 89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10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