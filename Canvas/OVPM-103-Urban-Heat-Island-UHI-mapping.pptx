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103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Urban Heat Island (UHI) mapping</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High-resolution spatial heat maps overlapping land surface temperatures with social vulnerability indicators and urban morphology data.</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sp>
        <p:nvSpPr>
          <p:cNvPr id="11" name="Rounded Rectangle 10"/>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2" name="Rounded Rectangle 11"/>
          <p:cNvSpPr/>
          <p:nvPr/>
        </p:nvSpPr>
        <p:spPr>
          <a:xfrm>
            <a:off x="33329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103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Urban Heat Island (UHI) mapping</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Making the suffocating reality of climate injustice visible, transforming invisible temperature spikes into a stark geographic mandate to bring shade, water, and relief to those who need it most.</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High-resolution spatial heat maps overlapping land surface temperatures with social vulnerability indicators and urban morphology data.</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4 to 8 weeks
Material  ·  GIS software, satellite thermal imagery, local demographic census data</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In Croatian cities like Zagreb and Dubrovnik, urban planners combined satellite surface temperature measurements with the Green Infrastructure Registry. By categorizing precise land uses (e.g., industrial units, dense urban fabric) by their contribution to the heat island effect, planners successfully pinpointed anthropogenic hotspots, proving that spatially targeted greening drastically improves thermal comfort.</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103  ·  ANIMATION CANVAS  ·  </a:t>
            </a:r>
            <a:r>
              <a:rPr sz="1000" b="1" i="0">
                <a:solidFill>
                  <a:srgbClr val="0D0D0D"/>
                </a:solidFill>
                <a:latin typeface="Source Sans Pro"/>
              </a:rPr>
              <a:t>URBAN HEAT ISLAND (UHI) MAPPING</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Urban heat island map · hot zones × adaptation</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4 to 8 weeks</a:t>
            </a:r>
          </a:p>
        </p:txBody>
      </p:sp>
      <p:sp>
        <p:nvSpPr>
          <p:cNvPr id="6" name="Rounded Rectangle 5"/>
          <p:cNvSpPr/>
          <p:nvPr/>
        </p:nvSpPr>
        <p:spPr>
          <a:xfrm>
            <a:off x="457200" y="1417320"/>
            <a:ext cx="64008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5943600" cy="365760"/>
          </a:xfrm>
          <a:prstGeom prst="rect">
            <a:avLst/>
          </a:prstGeom>
          <a:noFill/>
        </p:spPr>
        <p:txBody>
          <a:bodyPr wrap="square" lIns="0" rIns="0" tIns="0" bIns="0">
            <a:spAutoFit/>
          </a:bodyPr>
          <a:lstStyle/>
          <a:p>
            <a:pPr algn="l"/>
            <a:r>
              <a:rPr sz="1300" b="0" i="1">
                <a:solidFill>
                  <a:srgbClr val="0D0D0D"/>
                </a:solidFill>
                <a:latin typeface="Palatino Linotype"/>
              </a:rPr>
              <a:t>Surface temperature heatmap</a:t>
            </a:r>
          </a:p>
        </p:txBody>
      </p:sp>
      <p:sp>
        <p:nvSpPr>
          <p:cNvPr id="8" name="Rectangle 7"/>
          <p:cNvSpPr/>
          <p:nvPr/>
        </p:nvSpPr>
        <p:spPr>
          <a:xfrm>
            <a:off x="914400" y="21945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63040" y="21945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0" y="21945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0" y="21945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108960" y="21945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0" y="21945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06240" y="21945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54880" y="21945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0" y="21945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52160" y="21945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2773680"/>
            <a:ext cx="548640" cy="579120"/>
          </a:xfrm>
          <a:prstGeom prst="rect">
            <a:avLst/>
          </a:prstGeom>
          <a:solidFill>
            <a:srgbClr val="0D0D0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463040" y="2773680"/>
            <a:ext cx="548640" cy="579120"/>
          </a:xfrm>
          <a:prstGeom prst="rect">
            <a:avLst/>
          </a:prstGeom>
          <a:solidFill>
            <a:srgbClr val="0D0D0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11680" y="2773680"/>
            <a:ext cx="548640" cy="579120"/>
          </a:xfrm>
          <a:prstGeom prst="rect">
            <a:avLst/>
          </a:prstGeom>
          <a:solidFill>
            <a:srgbClr val="0D0D0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60320" y="2773680"/>
            <a:ext cx="548640" cy="579120"/>
          </a:xfrm>
          <a:prstGeom prst="rect">
            <a:avLst/>
          </a:prstGeom>
          <a:solidFill>
            <a:srgbClr val="0D0D0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108960" y="2773680"/>
            <a:ext cx="548640" cy="579120"/>
          </a:xfrm>
          <a:prstGeom prst="rect">
            <a:avLst/>
          </a:prstGeom>
          <a:solidFill>
            <a:srgbClr val="0D0D0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0" y="2773680"/>
            <a:ext cx="548640" cy="579120"/>
          </a:xfrm>
          <a:prstGeom prst="rect">
            <a:avLst/>
          </a:prstGeom>
          <a:solidFill>
            <a:srgbClr val="0D0D0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06240" y="2773680"/>
            <a:ext cx="548640" cy="579120"/>
          </a:xfrm>
          <a:prstGeom prst="rect">
            <a:avLst/>
          </a:prstGeom>
          <a:solidFill>
            <a:srgbClr val="0D0D0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54880" y="2773680"/>
            <a:ext cx="548640" cy="579120"/>
          </a:xfrm>
          <a:prstGeom prst="rect">
            <a:avLst/>
          </a:prstGeom>
          <a:solidFill>
            <a:srgbClr val="0D0D0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303520" y="2773680"/>
            <a:ext cx="548640" cy="579120"/>
          </a:xfrm>
          <a:prstGeom prst="rect">
            <a:avLst/>
          </a:prstGeom>
          <a:solidFill>
            <a:srgbClr val="0D0D0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852160" y="2773680"/>
            <a:ext cx="548640" cy="579120"/>
          </a:xfrm>
          <a:prstGeom prst="rect">
            <a:avLst/>
          </a:prstGeom>
          <a:solidFill>
            <a:srgbClr val="0D0D0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4400" y="3352800"/>
            <a:ext cx="548640" cy="579120"/>
          </a:xfrm>
          <a:prstGeom prst="rect">
            <a:avLst/>
          </a:prstGeom>
          <a:solidFill>
            <a:srgbClr val="FFD200"/>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463040" y="3352800"/>
            <a:ext cx="548640" cy="579120"/>
          </a:xfrm>
          <a:prstGeom prst="rect">
            <a:avLst/>
          </a:prstGeom>
          <a:solidFill>
            <a:srgbClr val="FFD200"/>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011680" y="3352800"/>
            <a:ext cx="548640" cy="579120"/>
          </a:xfrm>
          <a:prstGeom prst="rect">
            <a:avLst/>
          </a:prstGeom>
          <a:solidFill>
            <a:srgbClr val="FFD200"/>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60320" y="3352800"/>
            <a:ext cx="548640" cy="579120"/>
          </a:xfrm>
          <a:prstGeom prst="rect">
            <a:avLst/>
          </a:prstGeom>
          <a:solidFill>
            <a:srgbClr val="FFD200"/>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08960" y="3352800"/>
            <a:ext cx="548640" cy="579120"/>
          </a:xfrm>
          <a:prstGeom prst="rect">
            <a:avLst/>
          </a:prstGeom>
          <a:solidFill>
            <a:srgbClr val="FFD200"/>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57600" y="3352800"/>
            <a:ext cx="548640" cy="579120"/>
          </a:xfrm>
          <a:prstGeom prst="rect">
            <a:avLst/>
          </a:prstGeom>
          <a:solidFill>
            <a:srgbClr val="FFD200"/>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206240" y="3352800"/>
            <a:ext cx="548640" cy="579120"/>
          </a:xfrm>
          <a:prstGeom prst="rect">
            <a:avLst/>
          </a:prstGeom>
          <a:solidFill>
            <a:srgbClr val="FFD200"/>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54880" y="3352800"/>
            <a:ext cx="548640" cy="579120"/>
          </a:xfrm>
          <a:prstGeom prst="rect">
            <a:avLst/>
          </a:prstGeom>
          <a:solidFill>
            <a:srgbClr val="FFD200"/>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303520" y="3352800"/>
            <a:ext cx="548640" cy="579120"/>
          </a:xfrm>
          <a:prstGeom prst="rect">
            <a:avLst/>
          </a:prstGeom>
          <a:solidFill>
            <a:srgbClr val="FFD200"/>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52160" y="3352800"/>
            <a:ext cx="548640" cy="579120"/>
          </a:xfrm>
          <a:prstGeom prst="rect">
            <a:avLst/>
          </a:prstGeom>
          <a:solidFill>
            <a:srgbClr val="FFD200"/>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 y="3931920"/>
            <a:ext cx="548640" cy="579120"/>
          </a:xfrm>
          <a:prstGeom prst="rect">
            <a:avLst/>
          </a:prstGeom>
          <a:solidFill>
            <a:srgbClr val="B0DAF1"/>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463040" y="3931920"/>
            <a:ext cx="548640" cy="579120"/>
          </a:xfrm>
          <a:prstGeom prst="rect">
            <a:avLst/>
          </a:prstGeom>
          <a:solidFill>
            <a:srgbClr val="B0DAF1"/>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11680" y="3931920"/>
            <a:ext cx="548640" cy="579120"/>
          </a:xfrm>
          <a:prstGeom prst="rect">
            <a:avLst/>
          </a:prstGeom>
          <a:solidFill>
            <a:srgbClr val="B0DAF1"/>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560320" y="3931920"/>
            <a:ext cx="548640" cy="579120"/>
          </a:xfrm>
          <a:prstGeom prst="rect">
            <a:avLst/>
          </a:prstGeom>
          <a:solidFill>
            <a:srgbClr val="B0DAF1"/>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08960" y="3931920"/>
            <a:ext cx="548640" cy="579120"/>
          </a:xfrm>
          <a:prstGeom prst="rect">
            <a:avLst/>
          </a:prstGeom>
          <a:solidFill>
            <a:srgbClr val="B0DAF1"/>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0" y="3931920"/>
            <a:ext cx="548640" cy="579120"/>
          </a:xfrm>
          <a:prstGeom prst="rect">
            <a:avLst/>
          </a:prstGeom>
          <a:solidFill>
            <a:srgbClr val="B0DAF1"/>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206240" y="3931920"/>
            <a:ext cx="548640" cy="579120"/>
          </a:xfrm>
          <a:prstGeom prst="rect">
            <a:avLst/>
          </a:prstGeom>
          <a:solidFill>
            <a:srgbClr val="B0DAF1"/>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754880" y="3931920"/>
            <a:ext cx="548640" cy="579120"/>
          </a:xfrm>
          <a:prstGeom prst="rect">
            <a:avLst/>
          </a:prstGeom>
          <a:solidFill>
            <a:srgbClr val="B0DAF1"/>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03520" y="3931920"/>
            <a:ext cx="548640" cy="579120"/>
          </a:xfrm>
          <a:prstGeom prst="rect">
            <a:avLst/>
          </a:prstGeom>
          <a:solidFill>
            <a:srgbClr val="B0DAF1"/>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852160" y="3931920"/>
            <a:ext cx="548640" cy="579120"/>
          </a:xfrm>
          <a:prstGeom prst="rect">
            <a:avLst/>
          </a:prstGeom>
          <a:solidFill>
            <a:srgbClr val="B0DAF1"/>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14400" y="4511040"/>
            <a:ext cx="548640" cy="579120"/>
          </a:xfrm>
          <a:prstGeom prst="rect">
            <a:avLst/>
          </a:prstGeom>
          <a:solidFill>
            <a:srgbClr val="FF674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463040" y="4511040"/>
            <a:ext cx="548640" cy="579120"/>
          </a:xfrm>
          <a:prstGeom prst="rect">
            <a:avLst/>
          </a:prstGeom>
          <a:solidFill>
            <a:srgbClr val="FF674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011680" y="4511040"/>
            <a:ext cx="548640" cy="579120"/>
          </a:xfrm>
          <a:prstGeom prst="rect">
            <a:avLst/>
          </a:prstGeom>
          <a:solidFill>
            <a:srgbClr val="FF674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60320" y="4511040"/>
            <a:ext cx="548640" cy="579120"/>
          </a:xfrm>
          <a:prstGeom prst="rect">
            <a:avLst/>
          </a:prstGeom>
          <a:solidFill>
            <a:srgbClr val="FF674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08960" y="4511040"/>
            <a:ext cx="548640" cy="579120"/>
          </a:xfrm>
          <a:prstGeom prst="rect">
            <a:avLst/>
          </a:prstGeom>
          <a:solidFill>
            <a:srgbClr val="FF674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657600" y="4511040"/>
            <a:ext cx="548640" cy="579120"/>
          </a:xfrm>
          <a:prstGeom prst="rect">
            <a:avLst/>
          </a:prstGeom>
          <a:solidFill>
            <a:srgbClr val="FF674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206240" y="4511040"/>
            <a:ext cx="548640" cy="579120"/>
          </a:xfrm>
          <a:prstGeom prst="rect">
            <a:avLst/>
          </a:prstGeom>
          <a:solidFill>
            <a:srgbClr val="FF674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754880" y="4511040"/>
            <a:ext cx="548640" cy="579120"/>
          </a:xfrm>
          <a:prstGeom prst="rect">
            <a:avLst/>
          </a:prstGeom>
          <a:solidFill>
            <a:srgbClr val="FF674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303520" y="4511040"/>
            <a:ext cx="548640" cy="579120"/>
          </a:xfrm>
          <a:prstGeom prst="rect">
            <a:avLst/>
          </a:prstGeom>
          <a:solidFill>
            <a:srgbClr val="FF674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852160" y="4511040"/>
            <a:ext cx="548640" cy="579120"/>
          </a:xfrm>
          <a:prstGeom prst="rect">
            <a:avLst/>
          </a:prstGeom>
          <a:solidFill>
            <a:srgbClr val="FF674D"/>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14400" y="50901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463040" y="50901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2011680" y="50901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560320" y="50901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08960" y="50901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657600" y="50901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206240" y="50901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754880" y="50901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303520" y="50901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852160" y="5090160"/>
            <a:ext cx="548640" cy="579120"/>
          </a:xfrm>
          <a:prstGeom prst="rect">
            <a:avLst/>
          </a:prstGeom>
          <a:solidFill>
            <a:srgbClr val="00ED93"/>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7086600" y="1417320"/>
            <a:ext cx="46482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269480" y="1600200"/>
            <a:ext cx="4282440" cy="365760"/>
          </a:xfrm>
          <a:prstGeom prst="rect">
            <a:avLst/>
          </a:prstGeom>
          <a:noFill/>
        </p:spPr>
        <p:txBody>
          <a:bodyPr wrap="square" lIns="0" rIns="0" tIns="0" bIns="0">
            <a:spAutoFit/>
          </a:bodyPr>
          <a:lstStyle/>
          <a:p>
            <a:pPr algn="l"/>
            <a:r>
              <a:rPr sz="1300" b="0" i="1">
                <a:solidFill>
                  <a:srgbClr val="0D0D0D"/>
                </a:solidFill>
                <a:latin typeface="Palatino Linotype"/>
              </a:rPr>
              <a:t>Adaptation toolkit</a:t>
            </a:r>
          </a:p>
        </p:txBody>
      </p:sp>
      <p:sp>
        <p:nvSpPr>
          <p:cNvPr id="70" name="Rectangle 69"/>
          <p:cNvSpPr/>
          <p:nvPr/>
        </p:nvSpPr>
        <p:spPr>
          <a:xfrm>
            <a:off x="7269480" y="2258568"/>
            <a:ext cx="201168" cy="201168"/>
          </a:xfrm>
          <a:prstGeom prst="rect">
            <a:avLst/>
          </a:prstGeom>
          <a:solidFill>
            <a:srgbClr val="00ED93"/>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589520" y="2194560"/>
            <a:ext cx="3962400" cy="329184"/>
          </a:xfrm>
          <a:prstGeom prst="rect">
            <a:avLst/>
          </a:prstGeom>
          <a:noFill/>
        </p:spPr>
        <p:txBody>
          <a:bodyPr wrap="square" lIns="0" rIns="0" tIns="0" bIns="0" anchor="ctr">
            <a:spAutoFit/>
          </a:bodyPr>
          <a:lstStyle/>
          <a:p>
            <a:pPr algn="l"/>
            <a:r>
              <a:rPr sz="1050" b="1" i="0">
                <a:solidFill>
                  <a:srgbClr val="0D0D0D"/>
                </a:solidFill>
                <a:latin typeface="Source Sans Pro"/>
              </a:rPr>
              <a:t>Tree canopy</a:t>
            </a:r>
          </a:p>
        </p:txBody>
      </p:sp>
      <p:sp>
        <p:nvSpPr>
          <p:cNvPr id="72" name="Rectangle 71"/>
          <p:cNvSpPr/>
          <p:nvPr/>
        </p:nvSpPr>
        <p:spPr>
          <a:xfrm>
            <a:off x="7269480" y="2898648"/>
            <a:ext cx="201168" cy="201168"/>
          </a:xfrm>
          <a:prstGeom prst="rect">
            <a:avLst/>
          </a:prstGeom>
          <a:solidFill>
            <a:srgbClr val="459ACB"/>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589520" y="2834640"/>
            <a:ext cx="3962400" cy="329184"/>
          </a:xfrm>
          <a:prstGeom prst="rect">
            <a:avLst/>
          </a:prstGeom>
          <a:noFill/>
        </p:spPr>
        <p:txBody>
          <a:bodyPr wrap="square" lIns="0" rIns="0" tIns="0" bIns="0" anchor="ctr">
            <a:spAutoFit/>
          </a:bodyPr>
          <a:lstStyle/>
          <a:p>
            <a:pPr algn="l"/>
            <a:r>
              <a:rPr sz="1050" b="1" i="0">
                <a:solidFill>
                  <a:srgbClr val="0D0D0D"/>
                </a:solidFill>
                <a:latin typeface="Source Sans Pro"/>
              </a:rPr>
              <a:t>Cool roofs</a:t>
            </a:r>
          </a:p>
        </p:txBody>
      </p:sp>
      <p:sp>
        <p:nvSpPr>
          <p:cNvPr id="74" name="Rectangle 73"/>
          <p:cNvSpPr/>
          <p:nvPr/>
        </p:nvSpPr>
        <p:spPr>
          <a:xfrm>
            <a:off x="7269480" y="3538728"/>
            <a:ext cx="201168" cy="201168"/>
          </a:xfrm>
          <a:prstGeom prst="rect">
            <a:avLst/>
          </a:prstGeom>
          <a:solidFill>
            <a:srgbClr val="FF674D"/>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589520" y="3474720"/>
            <a:ext cx="3962400" cy="329184"/>
          </a:xfrm>
          <a:prstGeom prst="rect">
            <a:avLst/>
          </a:prstGeom>
          <a:noFill/>
        </p:spPr>
        <p:txBody>
          <a:bodyPr wrap="square" lIns="0" rIns="0" tIns="0" bIns="0" anchor="ctr">
            <a:spAutoFit/>
          </a:bodyPr>
          <a:lstStyle/>
          <a:p>
            <a:pPr algn="l"/>
            <a:r>
              <a:rPr sz="1050" b="1" i="0">
                <a:solidFill>
                  <a:srgbClr val="0D0D0D"/>
                </a:solidFill>
                <a:latin typeface="Source Sans Pro"/>
              </a:rPr>
              <a:t>Permeable pavers</a:t>
            </a:r>
          </a:p>
        </p:txBody>
      </p:sp>
      <p:sp>
        <p:nvSpPr>
          <p:cNvPr id="76" name="Rectangle 75"/>
          <p:cNvSpPr/>
          <p:nvPr/>
        </p:nvSpPr>
        <p:spPr>
          <a:xfrm>
            <a:off x="7269480" y="4178808"/>
            <a:ext cx="201168" cy="20116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589520" y="4114800"/>
            <a:ext cx="3962400" cy="329184"/>
          </a:xfrm>
          <a:prstGeom prst="rect">
            <a:avLst/>
          </a:prstGeom>
          <a:noFill/>
        </p:spPr>
        <p:txBody>
          <a:bodyPr wrap="square" lIns="0" rIns="0" tIns="0" bIns="0" anchor="ctr">
            <a:spAutoFit/>
          </a:bodyPr>
          <a:lstStyle/>
          <a:p>
            <a:pPr algn="l"/>
            <a:r>
              <a:rPr sz="1050" b="1" i="0">
                <a:solidFill>
                  <a:srgbClr val="0D0D0D"/>
                </a:solidFill>
                <a:latin typeface="Source Sans Pro"/>
              </a:rPr>
              <a:t>Shade structures</a:t>
            </a:r>
          </a:p>
        </p:txBody>
      </p:sp>
      <p:sp>
        <p:nvSpPr>
          <p:cNvPr id="78" name="Rectangle 77"/>
          <p:cNvSpPr/>
          <p:nvPr/>
        </p:nvSpPr>
        <p:spPr>
          <a:xfrm>
            <a:off x="7269480" y="4818888"/>
            <a:ext cx="201168" cy="201168"/>
          </a:xfrm>
          <a:prstGeom prst="rect">
            <a:avLst/>
          </a:prstGeom>
          <a:solidFill>
            <a:srgbClr val="B0DAF1"/>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589520" y="4754880"/>
            <a:ext cx="3962400" cy="329184"/>
          </a:xfrm>
          <a:prstGeom prst="rect">
            <a:avLst/>
          </a:prstGeom>
          <a:noFill/>
        </p:spPr>
        <p:txBody>
          <a:bodyPr wrap="square" lIns="0" rIns="0" tIns="0" bIns="0" anchor="ctr">
            <a:spAutoFit/>
          </a:bodyPr>
          <a:lstStyle/>
          <a:p>
            <a:pPr algn="l"/>
            <a:r>
              <a:rPr sz="1050" b="1" i="0">
                <a:solidFill>
                  <a:srgbClr val="0D0D0D"/>
                </a:solidFill>
                <a:latin typeface="Source Sans Pro"/>
              </a:rPr>
              <a:t>Water features</a:t>
            </a:r>
          </a:p>
        </p:txBody>
      </p:sp>
      <p:sp>
        <p:nvSpPr>
          <p:cNvPr id="80" name="Rectangle 79"/>
          <p:cNvSpPr/>
          <p:nvPr/>
        </p:nvSpPr>
        <p:spPr>
          <a:xfrm>
            <a:off x="7269480" y="5458968"/>
            <a:ext cx="201168" cy="201168"/>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589520" y="5394960"/>
            <a:ext cx="3962400" cy="329184"/>
          </a:xfrm>
          <a:prstGeom prst="rect">
            <a:avLst/>
          </a:prstGeom>
          <a:noFill/>
        </p:spPr>
        <p:txBody>
          <a:bodyPr wrap="square" lIns="0" rIns="0" tIns="0" bIns="0" anchor="ctr">
            <a:spAutoFit/>
          </a:bodyPr>
          <a:lstStyle/>
          <a:p>
            <a:pPr algn="l"/>
            <a:r>
              <a:rPr sz="1050" b="1" i="0">
                <a:solidFill>
                  <a:srgbClr val="0D0D0D"/>
                </a:solidFill>
                <a:latin typeface="Source Sans Pro"/>
              </a:rPr>
              <a:t>Light surfaces</a:t>
            </a:r>
          </a:p>
        </p:txBody>
      </p:sp>
      <p:pic>
        <p:nvPicPr>
          <p:cNvPr id="82" name="Picture 81"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83" name="TextBox 82"/>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103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