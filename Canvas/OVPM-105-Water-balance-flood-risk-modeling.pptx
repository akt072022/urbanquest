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105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Water balance &amp; flood risk modeling</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hydrological simulation report detailing surface runoff volumes, drainage capacity thresholds, and the mapped efficacy of specific Low-Impact Development (LID) features.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G2 · Proof of Fit</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Environmental</a:t>
            </a:r>
          </a:p>
        </p:txBody>
      </p:sp>
      <p:sp>
        <p:nvSpPr>
          <p:cNvPr id="11" name="Rounded Rectangle 10"/>
          <p:cNvSpPr/>
          <p:nvPr/>
        </p:nvSpPr>
        <p:spPr>
          <a:xfrm>
            <a:off x="20345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105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Water balance &amp; flood risk modeling</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Reconnecting the paved, rigid city with the ancient, fluid logic of water, allowing rain to be absorbed as a life-giving resource rather than expelled as a hazardous nuisance.</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hydrological simulation report detailing surface runoff volumes, drainage capacity thresholds, and the mapped efficacy of specific Low-Impact Development (LID) features.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4 to 8 weeks
Material  ·  Storm Water Management Model (SWMM) software, meteorological rainfall data, GIS elevation models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Urban planners utilize tools like the EPA's Storm Water Management Model (SWMM) coupled with multiple attribute decision-making to optimize the placement of green infrastructure. In dense urban contexts, simulating scenarios with permeable pavements and localized bioswales allows cities to accurately forecast the reduction in peak flood volumes and prevent combined sewer overflows during extreme climate-induced rain events.</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105  ·  ANIMATION CANVAS  ·  </a:t>
            </a:r>
            <a:r>
              <a:rPr sz="1000" b="1" i="0">
                <a:solidFill>
                  <a:srgbClr val="0D0D0D"/>
                </a:solidFill>
                <a:latin typeface="Source Sans Pro"/>
              </a:rPr>
              <a:t>WATER BALANCE &amp; FLOOD RISK MODELING</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Hydrological cycle × flood risk × resilience</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4 to 8 weeks</a:t>
            </a:r>
          </a:p>
        </p:txBody>
      </p:sp>
      <p:sp>
        <p:nvSpPr>
          <p:cNvPr id="6" name="Rounded Rectangle 5"/>
          <p:cNvSpPr/>
          <p:nvPr/>
        </p:nvSpPr>
        <p:spPr>
          <a:xfrm>
            <a:off x="457200" y="1417320"/>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3192272"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Inputs</a:t>
            </a:r>
          </a:p>
        </p:txBody>
      </p:sp>
      <p:sp>
        <p:nvSpPr>
          <p:cNvPr id="8" name="TextBox 7"/>
          <p:cNvSpPr txBox="1"/>
          <p:nvPr/>
        </p:nvSpPr>
        <p:spPr>
          <a:xfrm>
            <a:off x="685800"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rainfall · snowmelt · groundwater</a:t>
            </a:r>
          </a:p>
        </p:txBody>
      </p:sp>
      <p:cxnSp>
        <p:nvCxnSpPr>
          <p:cNvPr id="9" name="Connector 8"/>
          <p:cNvCxnSpPr/>
          <p:nvPr/>
        </p:nvCxnSpPr>
        <p:spPr>
          <a:xfrm>
            <a:off x="685800.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71264" y="1417320"/>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99864" y="1600200"/>
            <a:ext cx="3192272"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Storage</a:t>
            </a:r>
          </a:p>
        </p:txBody>
      </p:sp>
      <p:sp>
        <p:nvSpPr>
          <p:cNvPr id="14" name="TextBox 13"/>
          <p:cNvSpPr txBox="1"/>
          <p:nvPr/>
        </p:nvSpPr>
        <p:spPr>
          <a:xfrm>
            <a:off x="4499864"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soils · aquifers · wetlands</a:t>
            </a:r>
          </a:p>
        </p:txBody>
      </p:sp>
      <p:cxnSp>
        <p:nvCxnSpPr>
          <p:cNvPr id="15" name="Connector 14"/>
          <p:cNvCxnSpPr/>
          <p:nvPr/>
        </p:nvCxnSpPr>
        <p:spPr>
          <a:xfrm>
            <a:off x="4499864.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499864.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499864.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085328" y="1417320"/>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13928" y="1600200"/>
            <a:ext cx="3192272"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Flows</a:t>
            </a:r>
          </a:p>
        </p:txBody>
      </p:sp>
      <p:sp>
        <p:nvSpPr>
          <p:cNvPr id="20" name="TextBox 19"/>
          <p:cNvSpPr txBox="1"/>
          <p:nvPr/>
        </p:nvSpPr>
        <p:spPr>
          <a:xfrm>
            <a:off x="8313928" y="2103120"/>
            <a:ext cx="3192272" cy="457200"/>
          </a:xfrm>
          <a:prstGeom prst="rect">
            <a:avLst/>
          </a:prstGeom>
          <a:noFill/>
        </p:spPr>
        <p:txBody>
          <a:bodyPr wrap="square" lIns="0" rIns="0" tIns="0" bIns="0">
            <a:spAutoFit/>
          </a:bodyPr>
          <a:lstStyle/>
          <a:p>
            <a:pPr algn="l"/>
            <a:r>
              <a:rPr sz="1050" b="0" i="1">
                <a:solidFill>
                  <a:srgbClr val="757575"/>
                </a:solidFill>
                <a:latin typeface="Palatino Linotype"/>
              </a:rPr>
              <a:t>streams · sewers · runoff</a:t>
            </a:r>
          </a:p>
        </p:txBody>
      </p:sp>
      <p:cxnSp>
        <p:nvCxnSpPr>
          <p:cNvPr id="21" name="Connector 20"/>
          <p:cNvCxnSpPr/>
          <p:nvPr/>
        </p:nvCxnSpPr>
        <p:spPr>
          <a:xfrm>
            <a:off x="8313928.0" y="2743200.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313928.0" y="3035808.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313928.0" y="332841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57200" y="3877056"/>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85800" y="4059936"/>
            <a:ext cx="3192272"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Outputs</a:t>
            </a:r>
          </a:p>
        </p:txBody>
      </p:sp>
      <p:sp>
        <p:nvSpPr>
          <p:cNvPr id="26" name="TextBox 25"/>
          <p:cNvSpPr txBox="1"/>
          <p:nvPr/>
        </p:nvSpPr>
        <p:spPr>
          <a:xfrm>
            <a:off x="685800" y="4562856"/>
            <a:ext cx="3192272" cy="457200"/>
          </a:xfrm>
          <a:prstGeom prst="rect">
            <a:avLst/>
          </a:prstGeom>
          <a:noFill/>
        </p:spPr>
        <p:txBody>
          <a:bodyPr wrap="square" lIns="0" rIns="0" tIns="0" bIns="0">
            <a:spAutoFit/>
          </a:bodyPr>
          <a:lstStyle/>
          <a:p>
            <a:pPr algn="l"/>
            <a:r>
              <a:rPr sz="1050" b="0" i="1">
                <a:solidFill>
                  <a:srgbClr val="757575"/>
                </a:solidFill>
                <a:latin typeface="Palatino Linotype"/>
              </a:rPr>
              <a:t>evapotranspiration · discharge</a:t>
            </a:r>
          </a:p>
        </p:txBody>
      </p:sp>
      <p:cxnSp>
        <p:nvCxnSpPr>
          <p:cNvPr id="27" name="Connector 26"/>
          <p:cNvCxnSpPr/>
          <p:nvPr/>
        </p:nvCxnSpPr>
        <p:spPr>
          <a:xfrm>
            <a:off x="685800.0" y="520293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85800.0" y="549554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85800.0" y="578815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271264" y="3877056"/>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499864" y="4059936"/>
            <a:ext cx="3192272"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Flood risk</a:t>
            </a:r>
          </a:p>
        </p:txBody>
      </p:sp>
      <p:sp>
        <p:nvSpPr>
          <p:cNvPr id="32" name="TextBox 31"/>
          <p:cNvSpPr txBox="1"/>
          <p:nvPr/>
        </p:nvSpPr>
        <p:spPr>
          <a:xfrm>
            <a:off x="4499864" y="4562856"/>
            <a:ext cx="3192272" cy="457200"/>
          </a:xfrm>
          <a:prstGeom prst="rect">
            <a:avLst/>
          </a:prstGeom>
          <a:noFill/>
        </p:spPr>
        <p:txBody>
          <a:bodyPr wrap="square" lIns="0" rIns="0" tIns="0" bIns="0">
            <a:spAutoFit/>
          </a:bodyPr>
          <a:lstStyle/>
          <a:p>
            <a:pPr algn="l"/>
            <a:r>
              <a:rPr sz="1050" b="0" i="1">
                <a:solidFill>
                  <a:srgbClr val="757575"/>
                </a:solidFill>
                <a:latin typeface="Palatino Linotype"/>
              </a:rPr>
              <a:t>pluvial · fluvial · coastal</a:t>
            </a:r>
          </a:p>
        </p:txBody>
      </p:sp>
      <p:cxnSp>
        <p:nvCxnSpPr>
          <p:cNvPr id="33" name="Connector 32"/>
          <p:cNvCxnSpPr/>
          <p:nvPr/>
        </p:nvCxnSpPr>
        <p:spPr>
          <a:xfrm>
            <a:off x="4499864.0" y="520293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499864.0" y="549554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499864.0" y="578815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85328" y="3877056"/>
            <a:ext cx="3649472"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313928" y="4059936"/>
            <a:ext cx="3192272" cy="365760"/>
          </a:xfrm>
          <a:prstGeom prst="roundRect">
            <a:avLst>
              <a:gd name="adj" fmla="val 50000"/>
            </a:avLst>
          </a:prstGeom>
          <a:solidFill>
            <a:srgbClr val="C48B4F"/>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Resilience</a:t>
            </a:r>
          </a:p>
        </p:txBody>
      </p:sp>
      <p:sp>
        <p:nvSpPr>
          <p:cNvPr id="38" name="TextBox 37"/>
          <p:cNvSpPr txBox="1"/>
          <p:nvPr/>
        </p:nvSpPr>
        <p:spPr>
          <a:xfrm>
            <a:off x="8313928" y="4562856"/>
            <a:ext cx="3192272" cy="457200"/>
          </a:xfrm>
          <a:prstGeom prst="rect">
            <a:avLst/>
          </a:prstGeom>
          <a:noFill/>
        </p:spPr>
        <p:txBody>
          <a:bodyPr wrap="square" lIns="0" rIns="0" tIns="0" bIns="0">
            <a:spAutoFit/>
          </a:bodyPr>
          <a:lstStyle/>
          <a:p>
            <a:pPr algn="l"/>
            <a:r>
              <a:rPr sz="1050" b="0" i="1">
                <a:solidFill>
                  <a:srgbClr val="757575"/>
                </a:solidFill>
                <a:latin typeface="Palatino Linotype"/>
              </a:rPr>
              <a:t>NbS · grey infra · early warning</a:t>
            </a:r>
          </a:p>
        </p:txBody>
      </p:sp>
      <p:cxnSp>
        <p:nvCxnSpPr>
          <p:cNvPr id="39" name="Connector 38"/>
          <p:cNvCxnSpPr/>
          <p:nvPr/>
        </p:nvCxnSpPr>
        <p:spPr>
          <a:xfrm>
            <a:off x="8313928.0" y="5202936.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313928.0" y="5495544.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313928.0" y="5788152.0"/>
            <a:ext cx="3192272.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42" name="Picture 41"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43" name="TextBox 42"/>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105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