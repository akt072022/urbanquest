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D0D0D"/>
                </a:solidFill>
                <a:latin typeface="Source Sans Pro"/>
              </a:rPr>
              <a:t>OVPM Co-Design Toolkit  ·  Tool 38 of 133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5760" y="5029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1">
                <a:solidFill>
                  <a:srgbClr val="0D0D0D"/>
                </a:solidFill>
                <a:latin typeface="Palatino Linotype"/>
              </a:rPr>
              <a:t>Method canvas for co-design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09472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200" b="0" i="0">
                <a:solidFill>
                  <a:srgbClr val="0D0D0D"/>
                </a:solidFill>
                <a:latin typeface="Palatino Linotype"/>
              </a:rPr>
              <a:t>Co-created design guidelines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93192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D0D0D"/>
                </a:solidFill>
                <a:latin typeface="Source Sans Pro"/>
              </a:rPr>
              <a:t>What this tool produces  ·  </a:t>
            </a:r>
            <a:r>
              <a:rPr sz="1500" b="0" i="1">
                <a:solidFill>
                  <a:srgbClr val="0D0D0D"/>
                </a:solidFill>
                <a:latin typeface="Palatino Linotype"/>
              </a:rPr>
              <a:t>A published manual or set of technical standards, validated by the community, that dictates how future physical interventions must respect local heritage and user needs,.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21208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FFFFFF"/>
                </a:solidFill>
                <a:latin typeface="Source Sans Pro"/>
              </a:rPr>
              <a:t>G3 · Proof of Anchoring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6692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D0D0D"/>
                </a:solidFill>
                <a:latin typeface="Source Sans Pro"/>
              </a:rPr>
              <a:t>Dimensions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94360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0D0D0D"/>
                </a:solidFill>
                <a:latin typeface="Source Sans Pro"/>
              </a:rPr>
              <a:t>Regulation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47088" y="594360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0D0D0D"/>
                </a:solidFill>
                <a:latin typeface="Source Sans Pro"/>
              </a:rPr>
              <a:t>Spatial</a:t>
            </a:r>
          </a:p>
        </p:txBody>
      </p:sp>
      <p:pic>
        <p:nvPicPr>
          <p:cNvPr id="11" name="Picture 10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760" y="6024114"/>
            <a:ext cx="1371600" cy="33096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271760" y="63950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TOOL 38  ·  FACILITATOR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0D0D0D"/>
                </a:solidFill>
                <a:latin typeface="Palatino Linotype"/>
              </a:rPr>
              <a:t>Preparing the workshop  ·  </a:t>
            </a:r>
            <a:r>
              <a:rPr sz="2800" b="0" i="1">
                <a:solidFill>
                  <a:srgbClr val="0D0D0D"/>
                </a:solidFill>
                <a:latin typeface="Palatino Linotype"/>
              </a:rPr>
              <a:t>Co-created design guidelines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G3 · Proof of Anchoring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03120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2267712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4028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Why this tool matters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06040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Turning the subjective desires and lived experiences of the residents into the very legal DNA that dictates how the city will be built.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2103120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2267712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224028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Evidence we produce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606040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A published manual or set of technical standards, validated by the community, that dictates how future physical interventions must respect local heritage and user needs,.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160519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4325111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297679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Duration &amp; Material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663439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Duration  ·  3 to 6 months of drafting and validation
Material  ·  Planning documents, architectural drawings, community feedback reports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0760" y="4160519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4325111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4297679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Reference case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4663439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UN-Habitat public space site-specific assessments involve expert design studios that translate community mapping and "Block by Block" workshops into concrete recommendations. These processes produce feasibility studies and co-created design guidelines that municipalities use to prioritize and anchor future urban interventions.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03504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D0D0D"/>
                </a:solidFill>
                <a:latin typeface="Source Sans Pro"/>
              </a:rPr>
              <a:t>Suggested agenda  ·  </a:t>
            </a:r>
            <a:r>
              <a:rPr sz="1000" b="0" i="0">
                <a:solidFill>
                  <a:srgbClr val="757575"/>
                </a:solidFill>
                <a:latin typeface="Source Sans Pro"/>
              </a:rPr>
              <a:t>Brief (10 min)  ›  Method walk-through (15 min)  ›  Animation canvas (60–90 min)  ›  Harvest (20 min)</a:t>
            </a:r>
          </a:p>
        </p:txBody>
      </p:sp>
      <p:pic>
        <p:nvPicPr>
          <p:cNvPr id="23" name="Picture 22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680" y="6214844"/>
            <a:ext cx="960120" cy="23167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774680" y="64665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TOOL 38  ·  ANIMATION CANVAS  ·  </a:t>
            </a:r>
            <a:r>
              <a:rPr sz="1000" b="1" i="0">
                <a:solidFill>
                  <a:srgbClr val="0D0D0D"/>
                </a:solidFill>
                <a:latin typeface="Source Sans Pro"/>
              </a:rPr>
              <a:t>CO-CREATED DESIGN GUIDELINES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0" i="0">
                <a:solidFill>
                  <a:srgbClr val="0D0D0D"/>
                </a:solidFill>
                <a:latin typeface="Palatino Linotype"/>
              </a:rPr>
              <a:t>Guideline page · principle · rationale · examples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640080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 i="0">
                <a:solidFill>
                  <a:srgbClr val="757575"/>
                </a:solidFill>
                <a:latin typeface="Source Sans Pro"/>
              </a:rPr>
              <a:t>Duration</a:t>
            </a:r>
          </a:p>
          <a:p>
            <a:pPr algn="r"/>
            <a:r>
              <a:rPr sz="1000" b="0" i="0">
                <a:solidFill>
                  <a:srgbClr val="0D0D0D"/>
                </a:solidFill>
                <a:latin typeface="Source Sans Pro"/>
              </a:rPr>
              <a:t>3 to 6 months of drafting and validation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11277600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600200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#01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1581912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 i="1">
                <a:solidFill>
                  <a:srgbClr val="0D0D0D"/>
                </a:solidFill>
                <a:latin typeface="Palatino Linotype"/>
              </a:rPr>
              <a:t>Principle title · short, memorable, action-led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240280"/>
            <a:ext cx="3423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D200"/>
                </a:solidFill>
                <a:latin typeface="Source Sans Pro"/>
              </a:rPr>
              <a:t>Principle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85800" y="2651760"/>
            <a:ext cx="34239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85800" y="2926080"/>
            <a:ext cx="34239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85800" y="3200400"/>
            <a:ext cx="34239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85800" y="3474720"/>
            <a:ext cx="34239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85800" y="3749040"/>
            <a:ext cx="34239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85800" y="4023360"/>
            <a:ext cx="34239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85800" y="4297680"/>
            <a:ext cx="34239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384040" y="2240280"/>
            <a:ext cx="3423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674D"/>
                </a:solidFill>
                <a:latin typeface="Source Sans Pro"/>
              </a:rPr>
              <a:t>Rationale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384040.0" y="2651760"/>
            <a:ext cx="34239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384040.0" y="2926080"/>
            <a:ext cx="34239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384040.0" y="3200400"/>
            <a:ext cx="34239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384040.0" y="3474720"/>
            <a:ext cx="34239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384040.0" y="3749040"/>
            <a:ext cx="34239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384040.0" y="4023360"/>
            <a:ext cx="34239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384040.0" y="4297680"/>
            <a:ext cx="34239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082280" y="2240280"/>
            <a:ext cx="3423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ED93"/>
                </a:solidFill>
                <a:latin typeface="Source Sans Pro"/>
              </a:rPr>
              <a:t>Examples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82280" y="2606040"/>
            <a:ext cx="3423920" cy="1691640"/>
          </a:xfrm>
          <a:prstGeom prst="rect">
            <a:avLst/>
          </a:prstGeom>
          <a:solidFill>
            <a:srgbClr val="EEECE6"/>
          </a:solidFill>
          <a:ln w="508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19440" y="26974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0ED93"/>
                </a:solidFill>
                <a:latin typeface="Source Sans Pro"/>
              </a:rPr>
              <a:t>✓ Do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82280" y="4389120"/>
            <a:ext cx="3423920" cy="1691640"/>
          </a:xfrm>
          <a:prstGeom prst="rect">
            <a:avLst/>
          </a:prstGeom>
          <a:solidFill>
            <a:srgbClr val="EEECE6"/>
          </a:solidFill>
          <a:ln w="508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19440" y="44805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F674D"/>
                </a:solidFill>
                <a:latin typeface="Source Sans Pro"/>
              </a:rPr>
              <a:t>✗ Don't</a:t>
            </a:r>
          </a:p>
        </p:txBody>
      </p:sp>
      <p:pic>
        <p:nvPicPr>
          <p:cNvPr id="30" name="Picture 29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680" y="6214844"/>
            <a:ext cx="960120" cy="231676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0774680" y="64665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TOOL 38  ·  HARVEST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0D0D0D"/>
                </a:solidFill>
                <a:latin typeface="Palatino Linotype"/>
              </a:rPr>
              <a:t>Harvesting our  </a:t>
            </a:r>
            <a:r>
              <a:rPr sz="2800" b="0" i="1">
                <a:solidFill>
                  <a:srgbClr val="0D0D0D"/>
                </a:solidFill>
                <a:latin typeface="Palatino Linotype"/>
              </a:rPr>
              <a:t>learnings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757575"/>
                </a:solidFill>
                <a:latin typeface="Palatino Linotype"/>
              </a:rPr>
              <a:t>After running the canvas, capture three layers of insight.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11680"/>
            <a:ext cx="36068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514600"/>
            <a:ext cx="2966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Stand-out signals, surprising stories, ideas to remember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.0" y="315468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77240.0" y="353872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77240.0" y="3922776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77240.0" y="4306824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77240.0" y="4690872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7240.0" y="507492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7240.0" y="545896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292600" y="2011680"/>
            <a:ext cx="36068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2640" y="2514600"/>
            <a:ext cx="2966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Concrete adaptations to our context, our team, our constraints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612640.0" y="315468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612640.0" y="353872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612640.0" y="3922776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612640.0" y="4306824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612640.0" y="4690872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612640.0" y="507492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612640.0" y="545896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128000" y="2011680"/>
            <a:ext cx="36068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48040" y="2514600"/>
            <a:ext cx="2966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Skills, allies, resources, decisions still to secure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48040.0" y="315468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448040.0" y="353872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448040.0" y="3922776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448040.0" y="4306824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448040.0" y="4690872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448040.0" y="507492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448040.0" y="545896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1035304" y="1801368"/>
            <a:ext cx="2450592" cy="420624"/>
          </a:xfrm>
          <a:prstGeom prst="roundRect">
            <a:avLst>
              <a:gd name="adj" fmla="val 50000"/>
            </a:avLst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What inspires me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32960" y="1801368"/>
            <a:ext cx="2926080" cy="420624"/>
          </a:xfrm>
          <a:prstGeom prst="roundRect">
            <a:avLst>
              <a:gd name="adj" fmla="val 50000"/>
            </a:avLst>
          </a:prstGeom>
          <a:solidFill>
            <a:srgbClr val="FF6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How to apply it here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02600" y="1801368"/>
            <a:ext cx="3657600" cy="420624"/>
          </a:xfrm>
          <a:prstGeom prst="roundRect">
            <a:avLst>
              <a:gd name="adj" fmla="val 50000"/>
            </a:avLst>
          </a:prstGeom>
          <a:solidFill>
            <a:srgbClr val="00E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What we need to be autonomous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263640"/>
            <a:ext cx="1127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757575"/>
                </a:solidFill>
                <a:latin typeface="Palatino Linotype"/>
              </a:rPr>
              <a:t>Each participant fills a copy. Then debrief together to surface patterns and next steps.</a:t>
            </a:r>
          </a:p>
        </p:txBody>
      </p:sp>
      <p:pic>
        <p:nvPicPr>
          <p:cNvPr id="37" name="Picture 36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680" y="6214844"/>
            <a:ext cx="960120" cy="231676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0774680" y="64665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