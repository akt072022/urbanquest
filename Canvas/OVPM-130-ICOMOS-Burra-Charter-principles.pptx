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130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ICOMOS Burra Charter principles</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formal Statement of Cultural Significance detailing the aesthetic, historic, scientific, and social values of the site, accompanied by a binding conservation policy.</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G3 · Proof of Anchoring</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Heritage</a:t>
            </a:r>
          </a:p>
        </p:txBody>
      </p:sp>
      <p:sp>
        <p:nvSpPr>
          <p:cNvPr id="11" name="Rounded Rectangle 10"/>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sp>
        <p:nvSpPr>
          <p:cNvPr id="12" name="Rounded Rectangle 11"/>
          <p:cNvSpPr/>
          <p:nvPr/>
        </p:nvSpPr>
        <p:spPr>
          <a:xfrm>
            <a:off x="33329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pic>
        <p:nvPicPr>
          <p:cNvPr id="13" name="Picture 12"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4" name="TextBox 13"/>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130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ICOMOS Burra Charter principles</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Listening to the whispers of the past embedded in mortar and stone, recognizing that preserving a place is fundamentally about preserving the living soul, identity, and continuity of the community that loves it.</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formal Statement of Cultural Significance detailing the aesthetic, historic, scientific, and social values of the site, accompanied by a binding conservation policy.</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3 to 6 months for research and consultation
Material  ·  The Burra Charter guidelines, historical archives, community engagement protocols. (Note: The mechanics and context of this tool are standard heritage conservation practices derived from the foundational literature referenced in the corpus titles)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Burra Charter (adopted by Australia ICOMOS and influential globally) fundamentally shifted heritage management from a purely monumental approach to a values-based model. By defining cultural significance through the lens of social and spiritual attachments, the charter guides the adaptive reuse of complex sites·such as former industrial landscapes and indigenous lands·ensuring that physical development respects and retains the deep memory of the place.</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130  ·  ANIMATION CANVAS  ·  </a:t>
            </a:r>
            <a:r>
              <a:rPr sz="1000" b="1" i="0">
                <a:solidFill>
                  <a:srgbClr val="0D0D0D"/>
                </a:solidFill>
                <a:latin typeface="Source Sans Pro"/>
              </a:rPr>
              <a:t>ICOMOS BURRA CHARTER PRINCIPLES</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Cultural significance · understand · conserve · interpret</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3 to 6 months for research and consultation</a:t>
            </a:r>
          </a:p>
        </p:txBody>
      </p:sp>
      <p:sp>
        <p:nvSpPr>
          <p:cNvPr id="6" name="Rounded Rectangle 5"/>
          <p:cNvSpPr/>
          <p:nvPr/>
        </p:nvSpPr>
        <p:spPr>
          <a:xfrm>
            <a:off x="457200"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166664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Aesthetic value</a:t>
            </a:r>
          </a:p>
        </p:txBody>
      </p:sp>
      <p:sp>
        <p:nvSpPr>
          <p:cNvPr id="8" name="TextBox 7"/>
          <p:cNvSpPr txBox="1"/>
          <p:nvPr/>
        </p:nvSpPr>
        <p:spPr>
          <a:xfrm>
            <a:off x="685800"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sensory · visual · sound</a:t>
            </a:r>
          </a:p>
        </p:txBody>
      </p:sp>
      <p:cxnSp>
        <p:nvCxnSpPr>
          <p:cNvPr id="9" name="Connector 8"/>
          <p:cNvCxnSpPr/>
          <p:nvPr/>
        </p:nvCxnSpPr>
        <p:spPr>
          <a:xfrm>
            <a:off x="685800.0" y="274320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62102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91363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420624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449884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479145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508406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537667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5800.0" y="566928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45638"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4238" y="1600200"/>
            <a:ext cx="166664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Historic value</a:t>
            </a:r>
          </a:p>
        </p:txBody>
      </p:sp>
      <p:sp>
        <p:nvSpPr>
          <p:cNvPr id="22" name="TextBox 21"/>
          <p:cNvSpPr txBox="1"/>
          <p:nvPr/>
        </p:nvSpPr>
        <p:spPr>
          <a:xfrm>
            <a:off x="2974238"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evidence of past</a:t>
            </a:r>
          </a:p>
        </p:txBody>
      </p:sp>
      <p:cxnSp>
        <p:nvCxnSpPr>
          <p:cNvPr id="23" name="Connector 22"/>
          <p:cNvCxnSpPr/>
          <p:nvPr/>
        </p:nvCxnSpPr>
        <p:spPr>
          <a:xfrm>
            <a:off x="2974238.4" y="274320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974238.4" y="303580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974238.4" y="332841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974238.4" y="362102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974238.4" y="391363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974238.4" y="420624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974238.4" y="449884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974238.4" y="479145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974238.4" y="508406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974238.4" y="537667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974238.4" y="566928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5034076"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262676" y="1600200"/>
            <a:ext cx="166664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Scientific value</a:t>
            </a:r>
          </a:p>
        </p:txBody>
      </p:sp>
      <p:sp>
        <p:nvSpPr>
          <p:cNvPr id="36" name="TextBox 35"/>
          <p:cNvSpPr txBox="1"/>
          <p:nvPr/>
        </p:nvSpPr>
        <p:spPr>
          <a:xfrm>
            <a:off x="5262676"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research potential</a:t>
            </a:r>
          </a:p>
        </p:txBody>
      </p:sp>
      <p:cxnSp>
        <p:nvCxnSpPr>
          <p:cNvPr id="37" name="Connector 36"/>
          <p:cNvCxnSpPr/>
          <p:nvPr/>
        </p:nvCxnSpPr>
        <p:spPr>
          <a:xfrm>
            <a:off x="5262676.8" y="274320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262676.8" y="3035808.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262676.8" y="3328416.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262676.8" y="3621024.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262676.8" y="3913632.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262676.8" y="420624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262676.8" y="4498848.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262676.8" y="4791456.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262676.8" y="5084064.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262676.8" y="5376672.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262676.8" y="566928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7322515"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7551115" y="1600200"/>
            <a:ext cx="1666646"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Social value</a:t>
            </a:r>
          </a:p>
        </p:txBody>
      </p:sp>
      <p:sp>
        <p:nvSpPr>
          <p:cNvPr id="50" name="TextBox 49"/>
          <p:cNvSpPr txBox="1"/>
          <p:nvPr/>
        </p:nvSpPr>
        <p:spPr>
          <a:xfrm>
            <a:off x="7551115"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community attachment</a:t>
            </a:r>
          </a:p>
        </p:txBody>
      </p:sp>
      <p:cxnSp>
        <p:nvCxnSpPr>
          <p:cNvPr id="51" name="Connector 50"/>
          <p:cNvCxnSpPr/>
          <p:nvPr/>
        </p:nvCxnSpPr>
        <p:spPr>
          <a:xfrm>
            <a:off x="7551115.199999999" y="274320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551115.199999999" y="303580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551115.199999999" y="332841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551115.199999999" y="362102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551115.199999999" y="391363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551115.199999999" y="420624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551115.199999999" y="449884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551115.199999999" y="479145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551115.199999999" y="508406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551115.199999999" y="537667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551115.199999999" y="566928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9610953"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9839553" y="1600200"/>
            <a:ext cx="166664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Spiritual value</a:t>
            </a:r>
          </a:p>
        </p:txBody>
      </p:sp>
      <p:sp>
        <p:nvSpPr>
          <p:cNvPr id="64" name="TextBox 63"/>
          <p:cNvSpPr txBox="1"/>
          <p:nvPr/>
        </p:nvSpPr>
        <p:spPr>
          <a:xfrm>
            <a:off x="9839553"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sacred · symbolic</a:t>
            </a:r>
          </a:p>
        </p:txBody>
      </p:sp>
      <p:cxnSp>
        <p:nvCxnSpPr>
          <p:cNvPr id="65" name="Connector 64"/>
          <p:cNvCxnSpPr/>
          <p:nvPr/>
        </p:nvCxnSpPr>
        <p:spPr>
          <a:xfrm>
            <a:off x="9839553.6" y="274320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839553.6" y="303580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839553.6" y="332841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839553.6" y="362102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839553.6" y="391363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839553.6" y="420624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839553.6" y="449884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9839553.6" y="479145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839553.6" y="508406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839553.6" y="537667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839553.6" y="566928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Statement of significance precedes any conservation policy.</a:t>
            </a:r>
          </a:p>
        </p:txBody>
      </p:sp>
      <p:pic>
        <p:nvPicPr>
          <p:cNvPr id="77" name="Picture 7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78" name="TextBox 7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130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