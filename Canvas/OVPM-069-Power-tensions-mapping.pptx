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69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Power &amp; tensions mapping</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critical, visual synthesis mapping the visible, hidden, and invisible forms of power exerted by different actors, revealing whose voices are prioritized and whose are marginalized,.</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0" name="Rounded Rectangle 9"/>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69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Power &amp; tensions mapping</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Refusing the polite illusion of equality; courageously naming the underlying conflicts and financial pressures so that the community can negotiate its future with its eyes wide open.</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critical, visual synthesis mapping the visible, hidden, and invisible forms of power exerted by different actors, revealing whose voices are prioritized and whose are marginalized,.</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3 to 6 weeks of qualitative research and mapping
Material  ·  Power Matrix templates, stakeholder interview guides, network visualization tools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In peri-urban Nigeria, researchers utilized power-mapping synthesis informed by Lukes’ dimensions of power to assess collaborative governance. By identifying the visible, hidden, and invisible mechanisms of power shaping participation, they proved that traditional, "neutral" planning processes routinely marginalized women and informal workers, necessitating power-sensitive governance arrangements to achieve true sustainable development,.</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69  ·  ANIMATION CANVAS  ·  </a:t>
            </a:r>
            <a:r>
              <a:rPr sz="1000" b="1" i="0">
                <a:solidFill>
                  <a:srgbClr val="0D0D0D"/>
                </a:solidFill>
                <a:latin typeface="Source Sans Pro"/>
              </a:rPr>
              <a:t>POWER &amp; TENSIONS MAPPING</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Power × interest matrix · with tension lines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3 to 6 weeks of qualitative research and mapping</a:t>
            </a:r>
          </a:p>
        </p:txBody>
      </p:sp>
      <p:sp>
        <p:nvSpPr>
          <p:cNvPr id="6" name="Rounded Rectangle 5"/>
          <p:cNvSpPr/>
          <p:nvPr/>
        </p:nvSpPr>
        <p:spPr>
          <a:xfrm>
            <a:off x="457200" y="1417320"/>
            <a:ext cx="11277600" cy="47548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600200"/>
            <a:ext cx="7315200" cy="365760"/>
          </a:xfrm>
          <a:prstGeom prst="rect">
            <a:avLst/>
          </a:prstGeom>
          <a:noFill/>
        </p:spPr>
        <p:txBody>
          <a:bodyPr wrap="square" lIns="0" rIns="0" tIns="0" bIns="0">
            <a:spAutoFit/>
          </a:bodyPr>
          <a:lstStyle/>
          <a:p>
            <a:pPr algn="l"/>
            <a:r>
              <a:rPr sz="1400" b="0" i="1">
                <a:solidFill>
                  <a:srgbClr val="0D0D0D"/>
                </a:solidFill>
                <a:latin typeface="Palatino Linotype"/>
              </a:rPr>
              <a:t>Power (low → high) × Interest (low → high)</a:t>
            </a:r>
          </a:p>
        </p:txBody>
      </p:sp>
      <p:cxnSp>
        <p:nvCxnSpPr>
          <p:cNvPr id="8" name="Connector 7"/>
          <p:cNvCxnSpPr/>
          <p:nvPr/>
        </p:nvCxnSpPr>
        <p:spPr>
          <a:xfrm>
            <a:off x="6553200.0" y="2240280"/>
            <a:ext cx="0.0" cy="3657600"/>
          </a:xfrm>
          <a:prstGeom prst="line">
            <a:avLst/>
          </a:prstGeom>
          <a:ln w="8890">
            <a:solidFill>
              <a:srgbClr val="0D0D0D"/>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828800" y="4069080.0"/>
            <a:ext cx="9448800" cy="0.0"/>
          </a:xfrm>
          <a:prstGeom prst="line">
            <a:avLst/>
          </a:prstGeom>
          <a:ln w="8890">
            <a:solidFill>
              <a:srgbClr val="0D0D0D"/>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828800" y="6035040"/>
            <a:ext cx="9448800" cy="274320"/>
          </a:xfrm>
          <a:prstGeom prst="rect">
            <a:avLst/>
          </a:prstGeom>
          <a:noFill/>
        </p:spPr>
        <p:txBody>
          <a:bodyPr wrap="square" lIns="0" rIns="0" tIns="0" bIns="0">
            <a:spAutoFit/>
          </a:bodyPr>
          <a:lstStyle/>
          <a:p>
            <a:pPr algn="ctr"/>
            <a:r>
              <a:rPr sz="1100" b="1" i="0">
                <a:solidFill>
                  <a:srgbClr val="0D0D0D"/>
                </a:solidFill>
                <a:latin typeface="Source Sans Pro"/>
              </a:rPr>
              <a:t>Interest (low → high)</a:t>
            </a:r>
          </a:p>
        </p:txBody>
      </p:sp>
      <p:sp>
        <p:nvSpPr>
          <p:cNvPr id="11" name="TextBox 10"/>
          <p:cNvSpPr txBox="1"/>
          <p:nvPr/>
        </p:nvSpPr>
        <p:spPr>
          <a:xfrm>
            <a:off x="685800" y="3886200"/>
            <a:ext cx="1097280" cy="365760"/>
          </a:xfrm>
          <a:prstGeom prst="rect">
            <a:avLst/>
          </a:prstGeom>
          <a:noFill/>
        </p:spPr>
        <p:txBody>
          <a:bodyPr wrap="square" lIns="0" rIns="0" tIns="0" bIns="0" anchor="ctr">
            <a:spAutoFit/>
          </a:bodyPr>
          <a:lstStyle/>
          <a:p>
            <a:pPr algn="l"/>
            <a:r>
              <a:rPr sz="1100" b="1" i="0">
                <a:solidFill>
                  <a:srgbClr val="0D0D0D"/>
                </a:solidFill>
                <a:latin typeface="Source Sans Pro"/>
              </a:rPr>
              <a:t>Power (low → high)</a:t>
            </a:r>
          </a:p>
        </p:txBody>
      </p:sp>
      <p:sp>
        <p:nvSpPr>
          <p:cNvPr id="12" name="Rounded Rectangle 11"/>
          <p:cNvSpPr/>
          <p:nvPr/>
        </p:nvSpPr>
        <p:spPr>
          <a:xfrm>
            <a:off x="2011680" y="2423160"/>
            <a:ext cx="2011680" cy="329184"/>
          </a:xfrm>
          <a:prstGeom prst="roundRect">
            <a:avLst>
              <a:gd name="adj" fmla="val 50000"/>
            </a:avLst>
          </a:prstGeom>
          <a:solidFill>
            <a:srgbClr val="EEECE6"/>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Latents · informed only</a:t>
            </a:r>
          </a:p>
        </p:txBody>
      </p:sp>
      <p:sp>
        <p:nvSpPr>
          <p:cNvPr id="13" name="Rounded Rectangle 12"/>
          <p:cNvSpPr/>
          <p:nvPr/>
        </p:nvSpPr>
        <p:spPr>
          <a:xfrm>
            <a:off x="6736080" y="2423160"/>
            <a:ext cx="2011680" cy="329184"/>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Defenders · keep informed</a:t>
            </a:r>
          </a:p>
        </p:txBody>
      </p:sp>
      <p:sp>
        <p:nvSpPr>
          <p:cNvPr id="14" name="Rounded Rectangle 13"/>
          <p:cNvSpPr/>
          <p:nvPr/>
        </p:nvSpPr>
        <p:spPr>
          <a:xfrm>
            <a:off x="2011680" y="4251960"/>
            <a:ext cx="201168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Influencers · keep satisfied</a:t>
            </a:r>
          </a:p>
        </p:txBody>
      </p:sp>
      <p:sp>
        <p:nvSpPr>
          <p:cNvPr id="15" name="Rounded Rectangle 14"/>
          <p:cNvSpPr/>
          <p:nvPr/>
        </p:nvSpPr>
        <p:spPr>
          <a:xfrm>
            <a:off x="6736080" y="4251960"/>
            <a:ext cx="2011680" cy="32918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Players · co-create with</a:t>
            </a:r>
          </a:p>
        </p:txBody>
      </p:sp>
      <p:sp>
        <p:nvSpPr>
          <p:cNvPr id="16" name="TextBox 1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Add tension lines between actors to show where conflict simmers.</a:t>
            </a:r>
          </a:p>
        </p:txBody>
      </p:sp>
      <p:pic>
        <p:nvPicPr>
          <p:cNvPr id="17" name="Picture 1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18" name="TextBox 1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69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