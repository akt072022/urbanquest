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11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0" i="0">
                <a:solidFill>
                  <a:srgbClr val="0D0D0D"/>
                </a:solidFill>
                <a:latin typeface="Palatino Linotype"/>
              </a:rPr>
              <a:t>Co-design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Actionable, physical, or service-based prototypes of policies, spaces, or tools that have been directly shaped and validated by community input 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G2 · Proof of 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Spatial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47088" y="5943600"/>
            <a:ext cx="1376172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Social / User</a:t>
            </a:r>
          </a:p>
        </p:txBody>
      </p:sp>
      <p:pic>
        <p:nvPicPr>
          <p:cNvPr id="11" name="Picture 10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11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Co-design labs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G2 · Proof of Fit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Abolishing the expert-layman divide by physically making things together, treating rigid public policy as a living draft open to continuous, collective improvement.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Actionable, physical, or service-based prototypes of policies, spaces, or tools that have been directly shaped and validated by community input 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1 to 3 days of intensive workshops
Material  ·  Large workspaces, prototyping materials (cardboard, 3D models, role-play scripts), whiteboards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The GENDER STI Co-Design Labs demonstrate that labs do not only produce tangible objects like engines or software. They are used to collaboratively prototype policies, strategies, and recommendations, generating a "proof of concept" through continuous improvements emerging from real-life tests with direct stakeholder engagement 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11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CO-DESIGN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Lab session · drafts in, prototypes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1 to 3 days of intensive workshops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363728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308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What we bring into the room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743200"/>
            <a:ext cx="292608" cy="292608"/>
          </a:xfrm>
          <a:prstGeom prst="ellipse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D0D0D"/>
                </a:solidFill>
                <a:latin typeface="Palatino Linotype"/>
              </a:rPr>
              <a:t>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000.0" y="3081528"/>
            <a:ext cx="26771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43000.0" y="3264408"/>
            <a:ext cx="26771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31520" y="3383280"/>
            <a:ext cx="292608" cy="292608"/>
          </a:xfrm>
          <a:prstGeom prst="ellipse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38328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D0D0D"/>
                </a:solidFill>
                <a:latin typeface="Palatino Linotype"/>
              </a:rPr>
              <a:t>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43000.0" y="3721608"/>
            <a:ext cx="26771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43000.0" y="3904488"/>
            <a:ext cx="26771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31520" y="4023360"/>
            <a:ext cx="292608" cy="292608"/>
          </a:xfrm>
          <a:prstGeom prst="ellipse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02336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D0D0D"/>
                </a:solidFill>
                <a:latin typeface="Palatino Linotype"/>
              </a:rPr>
              <a:t>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43000.0" y="4361688"/>
            <a:ext cx="26771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43000.0" y="4544568"/>
            <a:ext cx="26771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31520" y="4663440"/>
            <a:ext cx="292608" cy="292608"/>
          </a:xfrm>
          <a:prstGeom prst="ellipse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66344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D0D0D"/>
                </a:solidFill>
                <a:latin typeface="Palatino Linotype"/>
              </a:rPr>
              <a:t>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43000.0" y="5001768"/>
            <a:ext cx="26771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3000.0" y="5184648"/>
            <a:ext cx="26771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31520" y="5303520"/>
            <a:ext cx="292608" cy="292608"/>
          </a:xfrm>
          <a:prstGeom prst="ellipse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3035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D0D0D"/>
                </a:solidFill>
                <a:latin typeface="Palatino Linotype"/>
              </a:rPr>
              <a:t>5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143000.0" y="5641848"/>
            <a:ext cx="26771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143000.0" y="5824728"/>
            <a:ext cx="26771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277360" y="1417320"/>
            <a:ext cx="363728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51680" y="16002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Iterations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1680" y="2148840"/>
            <a:ext cx="308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How we pull it apart, rebuild, test</a:t>
            </a:r>
          </a:p>
        </p:txBody>
      </p:sp>
      <p:sp>
        <p:nvSpPr>
          <p:cNvPr id="32" name="Oval 31"/>
          <p:cNvSpPr/>
          <p:nvPr/>
        </p:nvSpPr>
        <p:spPr>
          <a:xfrm>
            <a:off x="4551680" y="2743200"/>
            <a:ext cx="292608" cy="292608"/>
          </a:xfrm>
          <a:prstGeom prst="ellipse">
            <a:avLst/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51680" y="2743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D0D0D"/>
                </a:solidFill>
                <a:latin typeface="Palatino Linotype"/>
              </a:rPr>
              <a:t>1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963160.0" y="3081528"/>
            <a:ext cx="26771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963160.0" y="3264408"/>
            <a:ext cx="26771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4551680" y="3383280"/>
            <a:ext cx="292608" cy="292608"/>
          </a:xfrm>
          <a:prstGeom prst="ellipse">
            <a:avLst/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51680" y="338328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D0D0D"/>
                </a:solidFill>
                <a:latin typeface="Palatino Linotype"/>
              </a:rPr>
              <a:t>2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963160.0" y="3721608"/>
            <a:ext cx="26771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963160.0" y="3904488"/>
            <a:ext cx="26771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4551680" y="4023360"/>
            <a:ext cx="292608" cy="292608"/>
          </a:xfrm>
          <a:prstGeom prst="ellipse">
            <a:avLst/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51680" y="402336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D0D0D"/>
                </a:solidFill>
                <a:latin typeface="Palatino Linotype"/>
              </a:rPr>
              <a:t>3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963160.0" y="4361688"/>
            <a:ext cx="26771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963160.0" y="4544568"/>
            <a:ext cx="26771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4551680" y="4663440"/>
            <a:ext cx="292608" cy="292608"/>
          </a:xfrm>
          <a:prstGeom prst="ellipse">
            <a:avLst/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51680" y="466344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D0D0D"/>
                </a:solidFill>
                <a:latin typeface="Palatino Linotype"/>
              </a:rPr>
              <a:t>4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963160.0" y="5001768"/>
            <a:ext cx="26771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963160.0" y="5184648"/>
            <a:ext cx="26771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4551680" y="5303520"/>
            <a:ext cx="292608" cy="292608"/>
          </a:xfrm>
          <a:prstGeom prst="ellipse">
            <a:avLst/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51680" y="53035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D0D0D"/>
                </a:solidFill>
                <a:latin typeface="Palatino Linotype"/>
              </a:rPr>
              <a:t>5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963160.0" y="5641848"/>
            <a:ext cx="26771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963160.0" y="5824728"/>
            <a:ext cx="26771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8097520" y="1417320"/>
            <a:ext cx="363728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371840" y="16002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Outputs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71840" y="2148840"/>
            <a:ext cx="308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What leaves the room as a prototype</a:t>
            </a:r>
          </a:p>
        </p:txBody>
      </p:sp>
      <p:sp>
        <p:nvSpPr>
          <p:cNvPr id="55" name="Oval 54"/>
          <p:cNvSpPr/>
          <p:nvPr/>
        </p:nvSpPr>
        <p:spPr>
          <a:xfrm>
            <a:off x="8371840" y="2743200"/>
            <a:ext cx="292608" cy="292608"/>
          </a:xfrm>
          <a:prstGeom prst="ellipse">
            <a:avLst/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71840" y="2743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D0D0D"/>
                </a:solidFill>
                <a:latin typeface="Palatino Linotype"/>
              </a:rPr>
              <a:t>1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8783320.0" y="3081528"/>
            <a:ext cx="26771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8783320.0" y="3264408"/>
            <a:ext cx="26771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8371840" y="3383280"/>
            <a:ext cx="292608" cy="292608"/>
          </a:xfrm>
          <a:prstGeom prst="ellipse">
            <a:avLst/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71840" y="338328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D0D0D"/>
                </a:solidFill>
                <a:latin typeface="Palatino Linotype"/>
              </a:rPr>
              <a:t>2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8783320.0" y="3721608"/>
            <a:ext cx="26771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783320.0" y="3904488"/>
            <a:ext cx="26771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8371840" y="4023360"/>
            <a:ext cx="292608" cy="292608"/>
          </a:xfrm>
          <a:prstGeom prst="ellipse">
            <a:avLst/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71840" y="402336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D0D0D"/>
                </a:solidFill>
                <a:latin typeface="Palatino Linotype"/>
              </a:rPr>
              <a:t>3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8783320.0" y="4361688"/>
            <a:ext cx="26771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8783320.0" y="4544568"/>
            <a:ext cx="26771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8371840" y="4663440"/>
            <a:ext cx="292608" cy="292608"/>
          </a:xfrm>
          <a:prstGeom prst="ellipse">
            <a:avLst/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71840" y="466344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D0D0D"/>
                </a:solidFill>
                <a:latin typeface="Palatino Linotype"/>
              </a:rPr>
              <a:t>4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8783320.0" y="5001768"/>
            <a:ext cx="26771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783320.0" y="5184648"/>
            <a:ext cx="26771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8371840" y="5303520"/>
            <a:ext cx="292608" cy="292608"/>
          </a:xfrm>
          <a:prstGeom prst="ellipse">
            <a:avLst/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371840" y="53035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D0D0D"/>
                </a:solidFill>
                <a:latin typeface="Palatino Linotype"/>
              </a:rPr>
              <a:t>5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8783320.0" y="5641848"/>
            <a:ext cx="26771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8783320.0" y="5824728"/>
            <a:ext cx="26771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Treat the policy or service as a draft · always open to collective improvement.</a:t>
            </a:r>
          </a:p>
        </p:txBody>
      </p:sp>
      <p:pic>
        <p:nvPicPr>
          <p:cNvPr id="76" name="Picture 75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11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