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76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0D0D0D"/>
                </a:solidFill>
                <a:latin typeface="Palatino Linotype"/>
              </a:rPr>
              <a:t>Legal &amp; contractual due diligence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comprehensive due diligence report identifying title issues, zoning compliance, environmental hazards, and necessary capital expenditures.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G4 · Proof of Sustainability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Regulation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470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Economic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45536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pic>
        <p:nvPicPr>
          <p:cNvPr id="13" name="Picture 1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76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Legal &amp; contractual due diligence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Shining a bright light into administrative and physical shadows to uncover the hidden histories of a site, ensuring that future civic dreams are built on solidly vetted ground.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comprehensive due diligence report identifying title issues, zoning compliance, environmental hazards, and necessary capital expenditures.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3 to 6 weeks
Material  ·  Title commitments, municipal zoning codes, environmental records, structural assessment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In brownfield redevelopment transactions, environmental and legal due diligence is a mandatory step. Consultants use Phase I ESAs to detect historical soil contamination and verify zoning compliance, effectively shielding prospective purchasers from inheriting strict, cost-prohibitive cleanup liabilities and qualifying them for landowner liability protections.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76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LEGAL &amp; CONTRACTUAL DUE DILIGENCE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Due-diligence checklist · 6 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3 to 6 weeks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649472" cy="2295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192272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Title &amp; ownership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3192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titre, propriété, hypothèques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.0" y="2743200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.0" y="3035808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.0" y="332841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71264" y="1417320"/>
            <a:ext cx="3649472" cy="2295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99864" y="1600200"/>
            <a:ext cx="3192272" cy="365760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Permits &amp; approvals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9864" y="2103120"/>
            <a:ext cx="3192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urbanisme, environnement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99864.0" y="2743200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499864.0" y="3035808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99864.0" y="332841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85328" y="1417320"/>
            <a:ext cx="3649472" cy="2295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13928" y="1600200"/>
            <a:ext cx="3192272" cy="365760"/>
          </a:xfrm>
          <a:prstGeom prst="roundRect">
            <a:avLst>
              <a:gd name="adj" fmla="val 50000"/>
            </a:avLst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Contracts in force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3928" y="2103120"/>
            <a:ext cx="3192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baux, services, fournisseurs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13928.0" y="2743200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313928.0" y="3035808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313928.0" y="332841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57200" y="3877056"/>
            <a:ext cx="3649472" cy="2295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4059936"/>
            <a:ext cx="3192272" cy="365760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Litigation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562856"/>
            <a:ext cx="3192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contentieux ouverts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.0" y="520293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.0" y="5495544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.0" y="5788152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271264" y="3877056"/>
            <a:ext cx="3649472" cy="2295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99864" y="4059936"/>
            <a:ext cx="3192272" cy="365760"/>
          </a:xfrm>
          <a:prstGeom prst="roundRect">
            <a:avLst>
              <a:gd name="adj" fmla="val 50000"/>
            </a:avLst>
          </a:prstGeom>
          <a:solidFill>
            <a:srgbClr val="EF9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Regulatory exposure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9864" y="4562856"/>
            <a:ext cx="3192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normes, certifications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499864.0" y="520293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499864.0" y="5495544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499864.0" y="5788152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085328" y="3877056"/>
            <a:ext cx="3649472" cy="229514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313928" y="4059936"/>
            <a:ext cx="3192272" cy="365760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Tax &amp; finance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13928" y="4562856"/>
            <a:ext cx="31922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fiscalité, dettes, garanties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313928.0" y="5202936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313928.0" y="5495544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313928.0" y="5788152.0"/>
            <a:ext cx="3192272.0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76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