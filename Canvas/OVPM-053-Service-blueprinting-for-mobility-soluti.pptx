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53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4200" b="0" i="0">
                <a:solidFill>
                  <a:srgbClr val="0D0D0D"/>
                </a:solidFill>
                <a:latin typeface="Palatino Linotype"/>
              </a:rPr>
              <a:t>Service blueprinting for mobility solutions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comprehensive operational map detailing the chronological actions of the user (front-stage) directly linked to the tasks performed by staff and digital infrastructure (back-stage).</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G2 · Proof of Fit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sp>
        <p:nvSpPr>
          <p:cNvPr id="10" name="Rounded Rectangle 9"/>
          <p:cNvSpPr/>
          <p:nvPr/>
        </p:nvSpPr>
        <p:spPr>
          <a:xfrm>
            <a:off x="1847088"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Economic</a:t>
            </a:r>
          </a:p>
        </p:txBody>
      </p:sp>
      <p:sp>
        <p:nvSpPr>
          <p:cNvPr id="11" name="Rounded Rectangle 10"/>
          <p:cNvSpPr/>
          <p:nvPr/>
        </p:nvSpPr>
        <p:spPr>
          <a:xfrm>
            <a:off x="3145536"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pic>
        <p:nvPicPr>
          <p:cNvPr id="12" name="Picture 11"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3" name="TextBox 12"/>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53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Service blueprinting for mobility solutions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G2 · Proof of Fit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Dismantling the illusion of seamless technology; recognizing that every smooth digital interaction relies on the coordinated, hidden labor of real people and complex administrative structures.</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comprehensive operational map detailing the chronological actions of the user (front-stage) directly linked to the tasks performed by staff and digital infrastructure (back-stage).</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1 to 2 days of collaborative workshop mapping
Material  ·  Large paper rolls, post-its, Service Design Toolkit templates, stakeholder process data</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The UNaLAB framework incorporates Service Design Toolkits, including Service Blueprints and Customer Journey Maps. These tools guide pilot sites through the precise detailing of new systems in complex environments, ensuring that both the front-end user experience and the back-end operational mechanics are aligned before deploying smart city or mobility solutions.</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53  ·  ANIMATION CANVAS  ·  </a:t>
            </a:r>
            <a:r>
              <a:rPr sz="1000" b="1" i="0">
                <a:solidFill>
                  <a:srgbClr val="0D0D0D"/>
                </a:solidFill>
                <a:latin typeface="Source Sans Pro"/>
              </a:rPr>
              <a:t>SERVICE BLUEPRINTING FOR MOBILITY SOLUTIONS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Service blueprint · swimlanes × phases</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1 to 2 days of collaborative workshop mapping</a:t>
            </a:r>
          </a:p>
        </p:txBody>
      </p:sp>
      <p:sp>
        <p:nvSpPr>
          <p:cNvPr id="6" name="Rectangle 5"/>
          <p:cNvSpPr/>
          <p:nvPr/>
        </p:nvSpPr>
        <p:spPr>
          <a:xfrm>
            <a:off x="457200" y="1463040"/>
            <a:ext cx="1463040" cy="412693"/>
          </a:xfrm>
          <a:prstGeom prst="rect">
            <a:avLst/>
          </a:prstGeom>
          <a:solidFill>
            <a:srgbClr val="0D0D0D"/>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463040"/>
            <a:ext cx="1188720" cy="412693"/>
          </a:xfrm>
          <a:prstGeom prst="rect">
            <a:avLst/>
          </a:prstGeom>
          <a:noFill/>
        </p:spPr>
        <p:txBody>
          <a:bodyPr wrap="square" lIns="0" rIns="0" tIns="0" bIns="0" anchor="ctr">
            <a:spAutoFit/>
          </a:bodyPr>
          <a:lstStyle/>
          <a:p>
            <a:pPr algn="l"/>
            <a:r>
              <a:rPr sz="1100" b="1" i="0">
                <a:solidFill>
                  <a:srgbClr val="FFD200"/>
                </a:solidFill>
                <a:latin typeface="Source Sans Pro"/>
              </a:rPr>
              <a:t>Phase</a:t>
            </a:r>
          </a:p>
        </p:txBody>
      </p:sp>
      <p:sp>
        <p:nvSpPr>
          <p:cNvPr id="8" name="Rectangle 7"/>
          <p:cNvSpPr/>
          <p:nvPr/>
        </p:nvSpPr>
        <p:spPr>
          <a:xfrm>
            <a:off x="1920240" y="1463040"/>
            <a:ext cx="1962912" cy="412693"/>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1463040"/>
            <a:ext cx="1962912" cy="412693"/>
          </a:xfrm>
          <a:prstGeom prst="rect">
            <a:avLst/>
          </a:prstGeom>
          <a:noFill/>
        </p:spPr>
        <p:txBody>
          <a:bodyPr wrap="square" lIns="0" rIns="0" tIns="0" bIns="0" anchor="ctr">
            <a:spAutoFit/>
          </a:bodyPr>
          <a:lstStyle/>
          <a:p>
            <a:pPr algn="ctr"/>
            <a:r>
              <a:rPr sz="1100" b="1" i="0">
                <a:solidFill>
                  <a:srgbClr val="0D0D0D"/>
                </a:solidFill>
                <a:latin typeface="Source Sans Pro"/>
              </a:rPr>
              <a:t>Phase 1</a:t>
            </a:r>
          </a:p>
        </p:txBody>
      </p:sp>
      <p:sp>
        <p:nvSpPr>
          <p:cNvPr id="10" name="Rectangle 9"/>
          <p:cNvSpPr/>
          <p:nvPr/>
        </p:nvSpPr>
        <p:spPr>
          <a:xfrm>
            <a:off x="3883152" y="1463040"/>
            <a:ext cx="1962912" cy="412693"/>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83152" y="1463040"/>
            <a:ext cx="1962912" cy="412693"/>
          </a:xfrm>
          <a:prstGeom prst="rect">
            <a:avLst/>
          </a:prstGeom>
          <a:noFill/>
        </p:spPr>
        <p:txBody>
          <a:bodyPr wrap="square" lIns="0" rIns="0" tIns="0" bIns="0" anchor="ctr">
            <a:spAutoFit/>
          </a:bodyPr>
          <a:lstStyle/>
          <a:p>
            <a:pPr algn="ctr"/>
            <a:r>
              <a:rPr sz="1100" b="1" i="0">
                <a:solidFill>
                  <a:srgbClr val="0D0D0D"/>
                </a:solidFill>
                <a:latin typeface="Source Sans Pro"/>
              </a:rPr>
              <a:t>Phase 2</a:t>
            </a:r>
          </a:p>
        </p:txBody>
      </p:sp>
      <p:sp>
        <p:nvSpPr>
          <p:cNvPr id="12" name="Rectangle 11"/>
          <p:cNvSpPr/>
          <p:nvPr/>
        </p:nvSpPr>
        <p:spPr>
          <a:xfrm>
            <a:off x="5846064" y="1463040"/>
            <a:ext cx="1962912" cy="412693"/>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846064" y="1463040"/>
            <a:ext cx="1962912" cy="412693"/>
          </a:xfrm>
          <a:prstGeom prst="rect">
            <a:avLst/>
          </a:prstGeom>
          <a:noFill/>
        </p:spPr>
        <p:txBody>
          <a:bodyPr wrap="square" lIns="0" rIns="0" tIns="0" bIns="0" anchor="ctr">
            <a:spAutoFit/>
          </a:bodyPr>
          <a:lstStyle/>
          <a:p>
            <a:pPr algn="ctr"/>
            <a:r>
              <a:rPr sz="1100" b="1" i="0">
                <a:solidFill>
                  <a:srgbClr val="0D0D0D"/>
                </a:solidFill>
                <a:latin typeface="Source Sans Pro"/>
              </a:rPr>
              <a:t>Phase 3</a:t>
            </a:r>
          </a:p>
        </p:txBody>
      </p:sp>
      <p:sp>
        <p:nvSpPr>
          <p:cNvPr id="14" name="Rectangle 13"/>
          <p:cNvSpPr/>
          <p:nvPr/>
        </p:nvSpPr>
        <p:spPr>
          <a:xfrm>
            <a:off x="7808976" y="1463040"/>
            <a:ext cx="1962912" cy="412693"/>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808976" y="1463040"/>
            <a:ext cx="1962912" cy="412693"/>
          </a:xfrm>
          <a:prstGeom prst="rect">
            <a:avLst/>
          </a:prstGeom>
          <a:noFill/>
        </p:spPr>
        <p:txBody>
          <a:bodyPr wrap="square" lIns="0" rIns="0" tIns="0" bIns="0" anchor="ctr">
            <a:spAutoFit/>
          </a:bodyPr>
          <a:lstStyle/>
          <a:p>
            <a:pPr algn="ctr"/>
            <a:r>
              <a:rPr sz="1100" b="1" i="0">
                <a:solidFill>
                  <a:srgbClr val="0D0D0D"/>
                </a:solidFill>
                <a:latin typeface="Source Sans Pro"/>
              </a:rPr>
              <a:t>Phase 4</a:t>
            </a:r>
          </a:p>
        </p:txBody>
      </p:sp>
      <p:sp>
        <p:nvSpPr>
          <p:cNvPr id="16" name="Rectangle 15"/>
          <p:cNvSpPr/>
          <p:nvPr/>
        </p:nvSpPr>
        <p:spPr>
          <a:xfrm>
            <a:off x="9771888" y="1463040"/>
            <a:ext cx="1962912" cy="412693"/>
          </a:xfrm>
          <a:prstGeom prst="rect">
            <a:avLst/>
          </a:prstGeom>
          <a:solidFill>
            <a:srgbClr val="FFD200"/>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71888" y="1463040"/>
            <a:ext cx="1962912" cy="412693"/>
          </a:xfrm>
          <a:prstGeom prst="rect">
            <a:avLst/>
          </a:prstGeom>
          <a:noFill/>
        </p:spPr>
        <p:txBody>
          <a:bodyPr wrap="square" lIns="0" rIns="0" tIns="0" bIns="0" anchor="ctr">
            <a:spAutoFit/>
          </a:bodyPr>
          <a:lstStyle/>
          <a:p>
            <a:pPr algn="ctr"/>
            <a:r>
              <a:rPr sz="1100" b="1" i="0">
                <a:solidFill>
                  <a:srgbClr val="0D0D0D"/>
                </a:solidFill>
                <a:latin typeface="Source Sans Pro"/>
              </a:rPr>
              <a:t>Phase 5</a:t>
            </a:r>
          </a:p>
        </p:txBody>
      </p:sp>
      <p:sp>
        <p:nvSpPr>
          <p:cNvPr id="18" name="Rectangle 17"/>
          <p:cNvSpPr/>
          <p:nvPr/>
        </p:nvSpPr>
        <p:spPr>
          <a:xfrm>
            <a:off x="457200" y="1875733"/>
            <a:ext cx="1463040" cy="701579"/>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1875733"/>
            <a:ext cx="1188720" cy="701579"/>
          </a:xfrm>
          <a:prstGeom prst="rect">
            <a:avLst/>
          </a:prstGeom>
          <a:noFill/>
        </p:spPr>
        <p:txBody>
          <a:bodyPr wrap="square" lIns="0" rIns="0" tIns="0" bIns="0" anchor="ctr">
            <a:spAutoFit/>
          </a:bodyPr>
          <a:lstStyle/>
          <a:p>
            <a:pPr algn="l"/>
            <a:r>
              <a:rPr sz="1000" b="1" i="0">
                <a:solidFill>
                  <a:srgbClr val="0D0D0D"/>
                </a:solidFill>
                <a:latin typeface="Source Sans Pro"/>
              </a:rPr>
              <a:t>User actions</a:t>
            </a:r>
          </a:p>
        </p:txBody>
      </p:sp>
      <p:sp>
        <p:nvSpPr>
          <p:cNvPr id="20" name="Rectangle 19"/>
          <p:cNvSpPr/>
          <p:nvPr/>
        </p:nvSpPr>
        <p:spPr>
          <a:xfrm>
            <a:off x="1920240" y="187573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883152" y="187573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846064" y="187573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808976" y="187573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71888" y="187573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577312"/>
            <a:ext cx="1463040" cy="577771"/>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2577312"/>
            <a:ext cx="1188720" cy="577771"/>
          </a:xfrm>
          <a:prstGeom prst="rect">
            <a:avLst/>
          </a:prstGeom>
          <a:noFill/>
        </p:spPr>
        <p:txBody>
          <a:bodyPr wrap="square" lIns="0" rIns="0" tIns="0" bIns="0" anchor="ctr">
            <a:spAutoFit/>
          </a:bodyPr>
          <a:lstStyle/>
          <a:p>
            <a:pPr algn="l"/>
            <a:r>
              <a:rPr sz="1000" b="1" i="0">
                <a:solidFill>
                  <a:srgbClr val="0D0D0D"/>
                </a:solidFill>
                <a:latin typeface="Source Sans Pro"/>
              </a:rPr>
              <a:t>Touchpoints</a:t>
            </a:r>
          </a:p>
        </p:txBody>
      </p:sp>
      <p:sp>
        <p:nvSpPr>
          <p:cNvPr id="27" name="Rectangle 26"/>
          <p:cNvSpPr/>
          <p:nvPr/>
        </p:nvSpPr>
        <p:spPr>
          <a:xfrm>
            <a:off x="1920240" y="2577312"/>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3883152" y="2577312"/>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846064" y="2577312"/>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808976" y="2577312"/>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771888" y="2577312"/>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3155083"/>
            <a:ext cx="1463040" cy="701579"/>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4360" y="3155083"/>
            <a:ext cx="1188720" cy="701579"/>
          </a:xfrm>
          <a:prstGeom prst="rect">
            <a:avLst/>
          </a:prstGeom>
          <a:noFill/>
        </p:spPr>
        <p:txBody>
          <a:bodyPr wrap="square" lIns="0" rIns="0" tIns="0" bIns="0" anchor="ctr">
            <a:spAutoFit/>
          </a:bodyPr>
          <a:lstStyle/>
          <a:p>
            <a:pPr algn="l"/>
            <a:r>
              <a:rPr sz="1000" b="1" i="0">
                <a:solidFill>
                  <a:srgbClr val="0D0D0D"/>
                </a:solidFill>
                <a:latin typeface="Source Sans Pro"/>
              </a:rPr>
              <a:t>Frontstage</a:t>
            </a:r>
          </a:p>
        </p:txBody>
      </p:sp>
      <p:sp>
        <p:nvSpPr>
          <p:cNvPr id="34" name="Rectangle 33"/>
          <p:cNvSpPr/>
          <p:nvPr/>
        </p:nvSpPr>
        <p:spPr>
          <a:xfrm>
            <a:off x="1920240" y="315508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3883152" y="315508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846064" y="315508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808976" y="315508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71888" y="3155083"/>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57200" y="3856662"/>
            <a:ext cx="1463040" cy="701579"/>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94360" y="3856662"/>
            <a:ext cx="1188720" cy="701579"/>
          </a:xfrm>
          <a:prstGeom prst="rect">
            <a:avLst/>
          </a:prstGeom>
          <a:noFill/>
        </p:spPr>
        <p:txBody>
          <a:bodyPr wrap="square" lIns="0" rIns="0" tIns="0" bIns="0" anchor="ctr">
            <a:spAutoFit/>
          </a:bodyPr>
          <a:lstStyle/>
          <a:p>
            <a:pPr algn="l"/>
            <a:r>
              <a:rPr sz="1000" b="1" i="0">
                <a:solidFill>
                  <a:srgbClr val="0D0D0D"/>
                </a:solidFill>
                <a:latin typeface="Source Sans Pro"/>
              </a:rPr>
              <a:t>Backstage</a:t>
            </a:r>
          </a:p>
        </p:txBody>
      </p:sp>
      <p:sp>
        <p:nvSpPr>
          <p:cNvPr id="41" name="Rectangle 40"/>
          <p:cNvSpPr/>
          <p:nvPr/>
        </p:nvSpPr>
        <p:spPr>
          <a:xfrm>
            <a:off x="1920240" y="3856662"/>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3883152" y="3856662"/>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846064" y="3856662"/>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808976" y="3856662"/>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771888" y="3856662"/>
            <a:ext cx="1962912" cy="701579"/>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57200" y="4558241"/>
            <a:ext cx="1463040" cy="577771"/>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94360" y="4558241"/>
            <a:ext cx="1188720" cy="577771"/>
          </a:xfrm>
          <a:prstGeom prst="rect">
            <a:avLst/>
          </a:prstGeom>
          <a:noFill/>
        </p:spPr>
        <p:txBody>
          <a:bodyPr wrap="square" lIns="0" rIns="0" tIns="0" bIns="0" anchor="ctr">
            <a:spAutoFit/>
          </a:bodyPr>
          <a:lstStyle/>
          <a:p>
            <a:pPr algn="l"/>
            <a:r>
              <a:rPr sz="1000" b="1" i="0">
                <a:solidFill>
                  <a:srgbClr val="0D0D0D"/>
                </a:solidFill>
                <a:latin typeface="Source Sans Pro"/>
              </a:rPr>
              <a:t>Support processes</a:t>
            </a:r>
          </a:p>
        </p:txBody>
      </p:sp>
      <p:sp>
        <p:nvSpPr>
          <p:cNvPr id="48" name="Rectangle 47"/>
          <p:cNvSpPr/>
          <p:nvPr/>
        </p:nvSpPr>
        <p:spPr>
          <a:xfrm>
            <a:off x="1920240" y="4558241"/>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3883152" y="4558241"/>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5846064" y="4558241"/>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808976" y="4558241"/>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771888" y="4558241"/>
            <a:ext cx="1962912" cy="577771"/>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457200" y="5136012"/>
            <a:ext cx="1463040" cy="495232"/>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4360" y="5136012"/>
            <a:ext cx="1188720" cy="495232"/>
          </a:xfrm>
          <a:prstGeom prst="rect">
            <a:avLst/>
          </a:prstGeom>
          <a:noFill/>
        </p:spPr>
        <p:txBody>
          <a:bodyPr wrap="square" lIns="0" rIns="0" tIns="0" bIns="0" anchor="ctr">
            <a:spAutoFit/>
          </a:bodyPr>
          <a:lstStyle/>
          <a:p>
            <a:pPr algn="l"/>
            <a:r>
              <a:rPr sz="1000" b="1" i="0">
                <a:solidFill>
                  <a:srgbClr val="0D0D0D"/>
                </a:solidFill>
                <a:latin typeface="Source Sans Pro"/>
              </a:rPr>
              <a:t>Pain points</a:t>
            </a:r>
          </a:p>
        </p:txBody>
      </p:sp>
      <p:sp>
        <p:nvSpPr>
          <p:cNvPr id="55" name="Rectangle 54"/>
          <p:cNvSpPr/>
          <p:nvPr/>
        </p:nvSpPr>
        <p:spPr>
          <a:xfrm>
            <a:off x="1920240" y="5136012"/>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3883152" y="5136012"/>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5846064" y="5136012"/>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7808976" y="5136012"/>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771888" y="5136012"/>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502920" y="5181732"/>
            <a:ext cx="54864" cy="403792"/>
          </a:xfrm>
          <a:prstGeom prst="rect">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57200" y="5631244"/>
            <a:ext cx="1463040" cy="495232"/>
          </a:xfrm>
          <a:prstGeom prst="rect">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4360" y="5631244"/>
            <a:ext cx="1188720" cy="495232"/>
          </a:xfrm>
          <a:prstGeom prst="rect">
            <a:avLst/>
          </a:prstGeom>
          <a:noFill/>
        </p:spPr>
        <p:txBody>
          <a:bodyPr wrap="square" lIns="0" rIns="0" tIns="0" bIns="0" anchor="ctr">
            <a:spAutoFit/>
          </a:bodyPr>
          <a:lstStyle/>
          <a:p>
            <a:pPr algn="l"/>
            <a:r>
              <a:rPr sz="1000" b="1" i="0">
                <a:solidFill>
                  <a:srgbClr val="0D0D0D"/>
                </a:solidFill>
                <a:latin typeface="Source Sans Pro"/>
              </a:rPr>
              <a:t>Opportunities</a:t>
            </a:r>
          </a:p>
        </p:txBody>
      </p:sp>
      <p:sp>
        <p:nvSpPr>
          <p:cNvPr id="63" name="Rectangle 62"/>
          <p:cNvSpPr/>
          <p:nvPr/>
        </p:nvSpPr>
        <p:spPr>
          <a:xfrm>
            <a:off x="1920240" y="5631244"/>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3883152" y="5631244"/>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5846064" y="5631244"/>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7808976" y="5631244"/>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9771888" y="5631244"/>
            <a:ext cx="1962912" cy="495232"/>
          </a:xfrm>
          <a:prstGeom prst="rect">
            <a:avLst/>
          </a:prstGeom>
          <a:solidFill>
            <a:srgbClr val="FFFFFF"/>
          </a:solidFill>
          <a:ln w="6350">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ectangle 67"/>
          <p:cNvSpPr/>
          <p:nvPr/>
        </p:nvSpPr>
        <p:spPr>
          <a:xfrm>
            <a:off x="502920" y="5676964"/>
            <a:ext cx="54864" cy="403792"/>
          </a:xfrm>
          <a:prstGeom prst="rect">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Pin pain points and opportunities directly in their phase column. Connect lines of visibility.</a:t>
            </a:r>
          </a:p>
        </p:txBody>
      </p:sp>
      <p:pic>
        <p:nvPicPr>
          <p:cNvPr id="70" name="Picture 69"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71" name="TextBox 70"/>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53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