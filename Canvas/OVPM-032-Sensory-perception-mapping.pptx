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Sensory &amp; perception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Multisensory maps and datasets detailing the acoustic quality (soundscapes), olfactory environment (smellscapes), and emotional responses attached to specific urban zones.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Sensory &amp; perception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Validating the intimate, bodily experience of the city; recognizing that the smell of a local market or the sound of a public square is just as critical to urban identity as its architecture.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Multisensory maps and datasets detailing the acoustic quality (soundscapes), olfactory environment (smellscapes), and emotional responses attached to specific urban zones.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month of field walks and technical data collection, 1 month of mapping
Material  ·  Printed base maps, mobile survey apps, sound level meters (SPL), field audio recorders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"Multimodal Hong Kong" project systematically documents the soundscapes and smellscapes of culturally significant sites (like wet markets and temples). By capturing 'smellprints' (via air sampling) and ambisonic audio alongside citizen evaluations, the project proves that intangible sensory elements are fundamental to understanding and preserving the perceived quality of an urban place.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32  ·  ANIMATION CANVAS  ·  </a:t>
            </a:r>
            <a:r>
              <a:rPr sz="1000" b="1" i="0">
                <a:solidFill>
                  <a:srgbClr val="0D0D0D"/>
                </a:solidFill>
                <a:latin typeface="Source Sans Pro"/>
              </a:rPr>
              <a:t>SENSORY &amp; PERCEPTION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Sensory grid · sight · sound · smell · touch · taste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month of field walks and technical data collection, 1…</a:t>
            </a:r>
          </a:p>
        </p:txBody>
      </p:sp>
      <p:sp>
        <p:nvSpPr>
          <p:cNvPr id="6" name="Rounded Rectangle 5"/>
          <p:cNvSpPr/>
          <p:nvPr/>
        </p:nvSpPr>
        <p:spPr>
          <a:xfrm>
            <a:off x="457200" y="1417320"/>
            <a:ext cx="213847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600200"/>
            <a:ext cx="177271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Sight</a:t>
            </a:r>
          </a:p>
        </p:txBody>
      </p:sp>
      <p:sp>
        <p:nvSpPr>
          <p:cNvPr id="8" name="TextBox 7"/>
          <p:cNvSpPr txBox="1"/>
          <p:nvPr/>
        </p:nvSpPr>
        <p:spPr>
          <a:xfrm>
            <a:off x="640080" y="2148840"/>
            <a:ext cx="1772716" cy="457200"/>
          </a:xfrm>
          <a:prstGeom prst="rect">
            <a:avLst/>
          </a:prstGeom>
          <a:noFill/>
        </p:spPr>
        <p:txBody>
          <a:bodyPr wrap="square" lIns="0" rIns="0" tIns="0" bIns="0">
            <a:spAutoFit/>
          </a:bodyPr>
          <a:lstStyle/>
          <a:p>
            <a:pPr algn="l"/>
            <a:r>
              <a:rPr sz="950" b="0" i="1">
                <a:solidFill>
                  <a:srgbClr val="757575"/>
                </a:solidFill>
                <a:latin typeface="Palatino Linotype"/>
              </a:rPr>
              <a:t>colours, light, sky, vistas</a:t>
            </a:r>
          </a:p>
        </p:txBody>
      </p:sp>
      <p:sp>
        <p:nvSpPr>
          <p:cNvPr id="9" name="Oval 8"/>
          <p:cNvSpPr/>
          <p:nvPr/>
        </p:nvSpPr>
        <p:spPr>
          <a:xfrm>
            <a:off x="731520" y="2697480"/>
            <a:ext cx="329184" cy="329184"/>
          </a:xfrm>
          <a:prstGeom prst="ellipse">
            <a:avLst/>
          </a:prstGeom>
          <a:noFill/>
          <a:ln w="889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11" name="Oval 10"/>
          <p:cNvSpPr/>
          <p:nvPr/>
        </p:nvSpPr>
        <p:spPr>
          <a:xfrm>
            <a:off x="1234440" y="2697480"/>
            <a:ext cx="329184" cy="329184"/>
          </a:xfrm>
          <a:prstGeom prst="ellipse">
            <a:avLst/>
          </a:prstGeom>
          <a:noFill/>
          <a:ln w="8890">
            <a:solidFill>
              <a:srgbClr val="EEE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13" name="Oval 12"/>
          <p:cNvSpPr/>
          <p:nvPr/>
        </p:nvSpPr>
        <p:spPr>
          <a:xfrm>
            <a:off x="1737360" y="2697480"/>
            <a:ext cx="329184" cy="329184"/>
          </a:xfrm>
          <a:prstGeom prst="ellipse">
            <a:avLst/>
          </a:prstGeom>
          <a:noFill/>
          <a:ln w="889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15" name="TextBox 14"/>
          <p:cNvSpPr txBox="1"/>
          <p:nvPr/>
        </p:nvSpPr>
        <p:spPr>
          <a:xfrm>
            <a:off x="640080" y="3246120"/>
            <a:ext cx="1772716" cy="182880"/>
          </a:xfrm>
          <a:prstGeom prst="rect">
            <a:avLst/>
          </a:prstGeom>
          <a:noFill/>
        </p:spPr>
        <p:txBody>
          <a:bodyPr wrap="square" lIns="0" rIns="0" tIns="0" bIns="0">
            <a:spAutoFit/>
          </a:bodyPr>
          <a:lstStyle/>
          <a:p>
            <a:pPr algn="l"/>
            <a:r>
              <a:rPr sz="800" b="0" i="0">
                <a:solidFill>
                  <a:srgbClr val="757575"/>
                </a:solidFill>
                <a:latin typeface="Source Sans Pro"/>
              </a:rPr>
              <a:t>#1</a:t>
            </a:r>
          </a:p>
        </p:txBody>
      </p:sp>
      <p:cxnSp>
        <p:nvCxnSpPr>
          <p:cNvPr id="16" name="Connector 15"/>
          <p:cNvCxnSpPr/>
          <p:nvPr/>
        </p:nvCxnSpPr>
        <p:spPr>
          <a:xfrm>
            <a:off x="640080.0" y="35387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3657600"/>
            <a:ext cx="1772716" cy="182880"/>
          </a:xfrm>
          <a:prstGeom prst="rect">
            <a:avLst/>
          </a:prstGeom>
          <a:noFill/>
        </p:spPr>
        <p:txBody>
          <a:bodyPr wrap="square" lIns="0" rIns="0" tIns="0" bIns="0">
            <a:spAutoFit/>
          </a:bodyPr>
          <a:lstStyle/>
          <a:p>
            <a:pPr algn="l"/>
            <a:r>
              <a:rPr sz="800" b="0" i="0">
                <a:solidFill>
                  <a:srgbClr val="757575"/>
                </a:solidFill>
                <a:latin typeface="Source Sans Pro"/>
              </a:rPr>
              <a:t>#2</a:t>
            </a:r>
          </a:p>
        </p:txBody>
      </p:sp>
      <p:cxnSp>
        <p:nvCxnSpPr>
          <p:cNvPr id="18" name="Connector 17"/>
          <p:cNvCxnSpPr/>
          <p:nvPr/>
        </p:nvCxnSpPr>
        <p:spPr>
          <a:xfrm>
            <a:off x="640080.0" y="395020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4069080"/>
            <a:ext cx="1772716" cy="182880"/>
          </a:xfrm>
          <a:prstGeom prst="rect">
            <a:avLst/>
          </a:prstGeom>
          <a:noFill/>
        </p:spPr>
        <p:txBody>
          <a:bodyPr wrap="square" lIns="0" rIns="0" tIns="0" bIns="0">
            <a:spAutoFit/>
          </a:bodyPr>
          <a:lstStyle/>
          <a:p>
            <a:pPr algn="l"/>
            <a:r>
              <a:rPr sz="800" b="0" i="0">
                <a:solidFill>
                  <a:srgbClr val="757575"/>
                </a:solidFill>
                <a:latin typeface="Source Sans Pro"/>
              </a:rPr>
              <a:t>#3</a:t>
            </a:r>
          </a:p>
        </p:txBody>
      </p:sp>
      <p:cxnSp>
        <p:nvCxnSpPr>
          <p:cNvPr id="20" name="Connector 19"/>
          <p:cNvCxnSpPr/>
          <p:nvPr/>
        </p:nvCxnSpPr>
        <p:spPr>
          <a:xfrm>
            <a:off x="640080.0" y="436168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4480560"/>
            <a:ext cx="1772716" cy="182880"/>
          </a:xfrm>
          <a:prstGeom prst="rect">
            <a:avLst/>
          </a:prstGeom>
          <a:noFill/>
        </p:spPr>
        <p:txBody>
          <a:bodyPr wrap="square" lIns="0" rIns="0" tIns="0" bIns="0">
            <a:spAutoFit/>
          </a:bodyPr>
          <a:lstStyle/>
          <a:p>
            <a:pPr algn="l"/>
            <a:r>
              <a:rPr sz="800" b="0" i="0">
                <a:solidFill>
                  <a:srgbClr val="757575"/>
                </a:solidFill>
                <a:latin typeface="Source Sans Pro"/>
              </a:rPr>
              <a:t>#4</a:t>
            </a:r>
          </a:p>
        </p:txBody>
      </p:sp>
      <p:cxnSp>
        <p:nvCxnSpPr>
          <p:cNvPr id="22" name="Connector 21"/>
          <p:cNvCxnSpPr/>
          <p:nvPr/>
        </p:nvCxnSpPr>
        <p:spPr>
          <a:xfrm>
            <a:off x="640080.0" y="477316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4892040"/>
            <a:ext cx="1772716" cy="182880"/>
          </a:xfrm>
          <a:prstGeom prst="rect">
            <a:avLst/>
          </a:prstGeom>
          <a:noFill/>
        </p:spPr>
        <p:txBody>
          <a:bodyPr wrap="square" lIns="0" rIns="0" tIns="0" bIns="0">
            <a:spAutoFit/>
          </a:bodyPr>
          <a:lstStyle/>
          <a:p>
            <a:pPr algn="l"/>
            <a:r>
              <a:rPr sz="800" b="0" i="0">
                <a:solidFill>
                  <a:srgbClr val="757575"/>
                </a:solidFill>
                <a:latin typeface="Source Sans Pro"/>
              </a:rPr>
              <a:t>#5</a:t>
            </a:r>
          </a:p>
        </p:txBody>
      </p:sp>
      <p:cxnSp>
        <p:nvCxnSpPr>
          <p:cNvPr id="24" name="Connector 23"/>
          <p:cNvCxnSpPr/>
          <p:nvPr/>
        </p:nvCxnSpPr>
        <p:spPr>
          <a:xfrm>
            <a:off x="640080.0" y="518464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5303520"/>
            <a:ext cx="1772716" cy="182880"/>
          </a:xfrm>
          <a:prstGeom prst="rect">
            <a:avLst/>
          </a:prstGeom>
          <a:noFill/>
        </p:spPr>
        <p:txBody>
          <a:bodyPr wrap="square" lIns="0" rIns="0" tIns="0" bIns="0">
            <a:spAutoFit/>
          </a:bodyPr>
          <a:lstStyle/>
          <a:p>
            <a:pPr algn="l"/>
            <a:r>
              <a:rPr sz="800" b="0" i="0">
                <a:solidFill>
                  <a:srgbClr val="757575"/>
                </a:solidFill>
                <a:latin typeface="Source Sans Pro"/>
              </a:rPr>
              <a:t>#6</a:t>
            </a:r>
          </a:p>
        </p:txBody>
      </p:sp>
      <p:cxnSp>
        <p:nvCxnSpPr>
          <p:cNvPr id="26" name="Connector 25"/>
          <p:cNvCxnSpPr/>
          <p:nvPr/>
        </p:nvCxnSpPr>
        <p:spPr>
          <a:xfrm>
            <a:off x="640080.0" y="55961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741980" y="1417320"/>
            <a:ext cx="213847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24860" y="1600200"/>
            <a:ext cx="177271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Sound</a:t>
            </a:r>
          </a:p>
        </p:txBody>
      </p:sp>
      <p:sp>
        <p:nvSpPr>
          <p:cNvPr id="29" name="TextBox 28"/>
          <p:cNvSpPr txBox="1"/>
          <p:nvPr/>
        </p:nvSpPr>
        <p:spPr>
          <a:xfrm>
            <a:off x="2924860" y="2148840"/>
            <a:ext cx="1772716" cy="457200"/>
          </a:xfrm>
          <a:prstGeom prst="rect">
            <a:avLst/>
          </a:prstGeom>
          <a:noFill/>
        </p:spPr>
        <p:txBody>
          <a:bodyPr wrap="square" lIns="0" rIns="0" tIns="0" bIns="0">
            <a:spAutoFit/>
          </a:bodyPr>
          <a:lstStyle/>
          <a:p>
            <a:pPr algn="l"/>
            <a:r>
              <a:rPr sz="950" b="0" i="1">
                <a:solidFill>
                  <a:srgbClr val="757575"/>
                </a:solidFill>
                <a:latin typeface="Palatino Linotype"/>
              </a:rPr>
              <a:t>voices, bells, traffic, silence</a:t>
            </a:r>
          </a:p>
        </p:txBody>
      </p:sp>
      <p:sp>
        <p:nvSpPr>
          <p:cNvPr id="30" name="Oval 29"/>
          <p:cNvSpPr/>
          <p:nvPr/>
        </p:nvSpPr>
        <p:spPr>
          <a:xfrm>
            <a:off x="3016300" y="2697480"/>
            <a:ext cx="329184" cy="329184"/>
          </a:xfrm>
          <a:prstGeom prst="ellipse">
            <a:avLst/>
          </a:prstGeom>
          <a:noFill/>
          <a:ln w="889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1630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32" name="Oval 31"/>
          <p:cNvSpPr/>
          <p:nvPr/>
        </p:nvSpPr>
        <p:spPr>
          <a:xfrm>
            <a:off x="3519220" y="2697480"/>
            <a:ext cx="329184" cy="329184"/>
          </a:xfrm>
          <a:prstGeom prst="ellipse">
            <a:avLst/>
          </a:prstGeom>
          <a:noFill/>
          <a:ln w="8890">
            <a:solidFill>
              <a:srgbClr val="EEE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1922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34" name="Oval 33"/>
          <p:cNvSpPr/>
          <p:nvPr/>
        </p:nvSpPr>
        <p:spPr>
          <a:xfrm>
            <a:off x="4022140" y="2697480"/>
            <a:ext cx="329184" cy="329184"/>
          </a:xfrm>
          <a:prstGeom prst="ellipse">
            <a:avLst/>
          </a:prstGeom>
          <a:noFill/>
          <a:ln w="889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2140"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36" name="TextBox 35"/>
          <p:cNvSpPr txBox="1"/>
          <p:nvPr/>
        </p:nvSpPr>
        <p:spPr>
          <a:xfrm>
            <a:off x="2924860" y="3246120"/>
            <a:ext cx="1772716" cy="182880"/>
          </a:xfrm>
          <a:prstGeom prst="rect">
            <a:avLst/>
          </a:prstGeom>
          <a:noFill/>
        </p:spPr>
        <p:txBody>
          <a:bodyPr wrap="square" lIns="0" rIns="0" tIns="0" bIns="0">
            <a:spAutoFit/>
          </a:bodyPr>
          <a:lstStyle/>
          <a:p>
            <a:pPr algn="l"/>
            <a:r>
              <a:rPr sz="800" b="0" i="0">
                <a:solidFill>
                  <a:srgbClr val="757575"/>
                </a:solidFill>
                <a:latin typeface="Source Sans Pro"/>
              </a:rPr>
              <a:t>#1</a:t>
            </a:r>
          </a:p>
        </p:txBody>
      </p:sp>
      <p:cxnSp>
        <p:nvCxnSpPr>
          <p:cNvPr id="37" name="Connector 36"/>
          <p:cNvCxnSpPr/>
          <p:nvPr/>
        </p:nvCxnSpPr>
        <p:spPr>
          <a:xfrm>
            <a:off x="2924860.8" y="35387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24860" y="3657600"/>
            <a:ext cx="1772716" cy="182880"/>
          </a:xfrm>
          <a:prstGeom prst="rect">
            <a:avLst/>
          </a:prstGeom>
          <a:noFill/>
        </p:spPr>
        <p:txBody>
          <a:bodyPr wrap="square" lIns="0" rIns="0" tIns="0" bIns="0">
            <a:spAutoFit/>
          </a:bodyPr>
          <a:lstStyle/>
          <a:p>
            <a:pPr algn="l"/>
            <a:r>
              <a:rPr sz="800" b="0" i="0">
                <a:solidFill>
                  <a:srgbClr val="757575"/>
                </a:solidFill>
                <a:latin typeface="Source Sans Pro"/>
              </a:rPr>
              <a:t>#2</a:t>
            </a:r>
          </a:p>
        </p:txBody>
      </p:sp>
      <p:cxnSp>
        <p:nvCxnSpPr>
          <p:cNvPr id="39" name="Connector 38"/>
          <p:cNvCxnSpPr/>
          <p:nvPr/>
        </p:nvCxnSpPr>
        <p:spPr>
          <a:xfrm>
            <a:off x="2924860.8" y="395020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924860" y="4069080"/>
            <a:ext cx="1772716" cy="182880"/>
          </a:xfrm>
          <a:prstGeom prst="rect">
            <a:avLst/>
          </a:prstGeom>
          <a:noFill/>
        </p:spPr>
        <p:txBody>
          <a:bodyPr wrap="square" lIns="0" rIns="0" tIns="0" bIns="0">
            <a:spAutoFit/>
          </a:bodyPr>
          <a:lstStyle/>
          <a:p>
            <a:pPr algn="l"/>
            <a:r>
              <a:rPr sz="800" b="0" i="0">
                <a:solidFill>
                  <a:srgbClr val="757575"/>
                </a:solidFill>
                <a:latin typeface="Source Sans Pro"/>
              </a:rPr>
              <a:t>#3</a:t>
            </a:r>
          </a:p>
        </p:txBody>
      </p:sp>
      <p:cxnSp>
        <p:nvCxnSpPr>
          <p:cNvPr id="41" name="Connector 40"/>
          <p:cNvCxnSpPr/>
          <p:nvPr/>
        </p:nvCxnSpPr>
        <p:spPr>
          <a:xfrm>
            <a:off x="2924860.8" y="436168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924860" y="4480560"/>
            <a:ext cx="1772716" cy="182880"/>
          </a:xfrm>
          <a:prstGeom prst="rect">
            <a:avLst/>
          </a:prstGeom>
          <a:noFill/>
        </p:spPr>
        <p:txBody>
          <a:bodyPr wrap="square" lIns="0" rIns="0" tIns="0" bIns="0">
            <a:spAutoFit/>
          </a:bodyPr>
          <a:lstStyle/>
          <a:p>
            <a:pPr algn="l"/>
            <a:r>
              <a:rPr sz="800" b="0" i="0">
                <a:solidFill>
                  <a:srgbClr val="757575"/>
                </a:solidFill>
                <a:latin typeface="Source Sans Pro"/>
              </a:rPr>
              <a:t>#4</a:t>
            </a:r>
          </a:p>
        </p:txBody>
      </p:sp>
      <p:cxnSp>
        <p:nvCxnSpPr>
          <p:cNvPr id="43" name="Connector 42"/>
          <p:cNvCxnSpPr/>
          <p:nvPr/>
        </p:nvCxnSpPr>
        <p:spPr>
          <a:xfrm>
            <a:off x="2924860.8" y="477316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924860" y="4892040"/>
            <a:ext cx="1772716" cy="182880"/>
          </a:xfrm>
          <a:prstGeom prst="rect">
            <a:avLst/>
          </a:prstGeom>
          <a:noFill/>
        </p:spPr>
        <p:txBody>
          <a:bodyPr wrap="square" lIns="0" rIns="0" tIns="0" bIns="0">
            <a:spAutoFit/>
          </a:bodyPr>
          <a:lstStyle/>
          <a:p>
            <a:pPr algn="l"/>
            <a:r>
              <a:rPr sz="800" b="0" i="0">
                <a:solidFill>
                  <a:srgbClr val="757575"/>
                </a:solidFill>
                <a:latin typeface="Source Sans Pro"/>
              </a:rPr>
              <a:t>#5</a:t>
            </a:r>
          </a:p>
        </p:txBody>
      </p:sp>
      <p:cxnSp>
        <p:nvCxnSpPr>
          <p:cNvPr id="45" name="Connector 44"/>
          <p:cNvCxnSpPr/>
          <p:nvPr/>
        </p:nvCxnSpPr>
        <p:spPr>
          <a:xfrm>
            <a:off x="2924860.8" y="518464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924860" y="5303520"/>
            <a:ext cx="1772716" cy="182880"/>
          </a:xfrm>
          <a:prstGeom prst="rect">
            <a:avLst/>
          </a:prstGeom>
          <a:noFill/>
        </p:spPr>
        <p:txBody>
          <a:bodyPr wrap="square" lIns="0" rIns="0" tIns="0" bIns="0">
            <a:spAutoFit/>
          </a:bodyPr>
          <a:lstStyle/>
          <a:p>
            <a:pPr algn="l"/>
            <a:r>
              <a:rPr sz="800" b="0" i="0">
                <a:solidFill>
                  <a:srgbClr val="757575"/>
                </a:solidFill>
                <a:latin typeface="Source Sans Pro"/>
              </a:rPr>
              <a:t>#6</a:t>
            </a:r>
          </a:p>
        </p:txBody>
      </p:sp>
      <p:cxnSp>
        <p:nvCxnSpPr>
          <p:cNvPr id="47" name="Connector 46"/>
          <p:cNvCxnSpPr/>
          <p:nvPr/>
        </p:nvCxnSpPr>
        <p:spPr>
          <a:xfrm>
            <a:off x="2924860.8" y="55961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026761" y="1417320"/>
            <a:ext cx="213847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209641" y="1600200"/>
            <a:ext cx="177271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Smell</a:t>
            </a:r>
          </a:p>
        </p:txBody>
      </p:sp>
      <p:sp>
        <p:nvSpPr>
          <p:cNvPr id="50" name="TextBox 49"/>
          <p:cNvSpPr txBox="1"/>
          <p:nvPr/>
        </p:nvSpPr>
        <p:spPr>
          <a:xfrm>
            <a:off x="5209641" y="2148840"/>
            <a:ext cx="1772716" cy="457200"/>
          </a:xfrm>
          <a:prstGeom prst="rect">
            <a:avLst/>
          </a:prstGeom>
          <a:noFill/>
        </p:spPr>
        <p:txBody>
          <a:bodyPr wrap="square" lIns="0" rIns="0" tIns="0" bIns="0">
            <a:spAutoFit/>
          </a:bodyPr>
          <a:lstStyle/>
          <a:p>
            <a:pPr algn="l"/>
            <a:r>
              <a:rPr sz="950" b="0" i="1">
                <a:solidFill>
                  <a:srgbClr val="757575"/>
                </a:solidFill>
                <a:latin typeface="Palatino Linotype"/>
              </a:rPr>
              <a:t>food, smoke, plants, drains</a:t>
            </a:r>
          </a:p>
        </p:txBody>
      </p:sp>
      <p:sp>
        <p:nvSpPr>
          <p:cNvPr id="51" name="Oval 50"/>
          <p:cNvSpPr/>
          <p:nvPr/>
        </p:nvSpPr>
        <p:spPr>
          <a:xfrm>
            <a:off x="5301081" y="2697480"/>
            <a:ext cx="329184" cy="329184"/>
          </a:xfrm>
          <a:prstGeom prst="ellipse">
            <a:avLst/>
          </a:prstGeom>
          <a:noFill/>
          <a:ln w="889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1081"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53" name="Oval 52"/>
          <p:cNvSpPr/>
          <p:nvPr/>
        </p:nvSpPr>
        <p:spPr>
          <a:xfrm>
            <a:off x="5804001" y="2697480"/>
            <a:ext cx="329184" cy="329184"/>
          </a:xfrm>
          <a:prstGeom prst="ellipse">
            <a:avLst/>
          </a:prstGeom>
          <a:noFill/>
          <a:ln w="8890">
            <a:solidFill>
              <a:srgbClr val="EEE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04001"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55" name="Oval 54"/>
          <p:cNvSpPr/>
          <p:nvPr/>
        </p:nvSpPr>
        <p:spPr>
          <a:xfrm>
            <a:off x="6306921" y="2697480"/>
            <a:ext cx="329184" cy="329184"/>
          </a:xfrm>
          <a:prstGeom prst="ellipse">
            <a:avLst/>
          </a:prstGeom>
          <a:noFill/>
          <a:ln w="889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6921"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57" name="TextBox 56"/>
          <p:cNvSpPr txBox="1"/>
          <p:nvPr/>
        </p:nvSpPr>
        <p:spPr>
          <a:xfrm>
            <a:off x="5209641" y="3246120"/>
            <a:ext cx="1772716" cy="182880"/>
          </a:xfrm>
          <a:prstGeom prst="rect">
            <a:avLst/>
          </a:prstGeom>
          <a:noFill/>
        </p:spPr>
        <p:txBody>
          <a:bodyPr wrap="square" lIns="0" rIns="0" tIns="0" bIns="0">
            <a:spAutoFit/>
          </a:bodyPr>
          <a:lstStyle/>
          <a:p>
            <a:pPr algn="l"/>
            <a:r>
              <a:rPr sz="800" b="0" i="0">
                <a:solidFill>
                  <a:srgbClr val="757575"/>
                </a:solidFill>
                <a:latin typeface="Source Sans Pro"/>
              </a:rPr>
              <a:t>#1</a:t>
            </a:r>
          </a:p>
        </p:txBody>
      </p:sp>
      <p:cxnSp>
        <p:nvCxnSpPr>
          <p:cNvPr id="58" name="Connector 57"/>
          <p:cNvCxnSpPr/>
          <p:nvPr/>
        </p:nvCxnSpPr>
        <p:spPr>
          <a:xfrm>
            <a:off x="5209641.6" y="35387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209641" y="3657600"/>
            <a:ext cx="1772716" cy="182880"/>
          </a:xfrm>
          <a:prstGeom prst="rect">
            <a:avLst/>
          </a:prstGeom>
          <a:noFill/>
        </p:spPr>
        <p:txBody>
          <a:bodyPr wrap="square" lIns="0" rIns="0" tIns="0" bIns="0">
            <a:spAutoFit/>
          </a:bodyPr>
          <a:lstStyle/>
          <a:p>
            <a:pPr algn="l"/>
            <a:r>
              <a:rPr sz="800" b="0" i="0">
                <a:solidFill>
                  <a:srgbClr val="757575"/>
                </a:solidFill>
                <a:latin typeface="Source Sans Pro"/>
              </a:rPr>
              <a:t>#2</a:t>
            </a:r>
          </a:p>
        </p:txBody>
      </p:sp>
      <p:cxnSp>
        <p:nvCxnSpPr>
          <p:cNvPr id="60" name="Connector 59"/>
          <p:cNvCxnSpPr/>
          <p:nvPr/>
        </p:nvCxnSpPr>
        <p:spPr>
          <a:xfrm>
            <a:off x="5209641.6" y="395020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209641" y="4069080"/>
            <a:ext cx="1772716" cy="182880"/>
          </a:xfrm>
          <a:prstGeom prst="rect">
            <a:avLst/>
          </a:prstGeom>
          <a:noFill/>
        </p:spPr>
        <p:txBody>
          <a:bodyPr wrap="square" lIns="0" rIns="0" tIns="0" bIns="0">
            <a:spAutoFit/>
          </a:bodyPr>
          <a:lstStyle/>
          <a:p>
            <a:pPr algn="l"/>
            <a:r>
              <a:rPr sz="800" b="0" i="0">
                <a:solidFill>
                  <a:srgbClr val="757575"/>
                </a:solidFill>
                <a:latin typeface="Source Sans Pro"/>
              </a:rPr>
              <a:t>#3</a:t>
            </a:r>
          </a:p>
        </p:txBody>
      </p:sp>
      <p:cxnSp>
        <p:nvCxnSpPr>
          <p:cNvPr id="62" name="Connector 61"/>
          <p:cNvCxnSpPr/>
          <p:nvPr/>
        </p:nvCxnSpPr>
        <p:spPr>
          <a:xfrm>
            <a:off x="5209641.6" y="436168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209641" y="4480560"/>
            <a:ext cx="1772716" cy="182880"/>
          </a:xfrm>
          <a:prstGeom prst="rect">
            <a:avLst/>
          </a:prstGeom>
          <a:noFill/>
        </p:spPr>
        <p:txBody>
          <a:bodyPr wrap="square" lIns="0" rIns="0" tIns="0" bIns="0">
            <a:spAutoFit/>
          </a:bodyPr>
          <a:lstStyle/>
          <a:p>
            <a:pPr algn="l"/>
            <a:r>
              <a:rPr sz="800" b="0" i="0">
                <a:solidFill>
                  <a:srgbClr val="757575"/>
                </a:solidFill>
                <a:latin typeface="Source Sans Pro"/>
              </a:rPr>
              <a:t>#4</a:t>
            </a:r>
          </a:p>
        </p:txBody>
      </p:sp>
      <p:cxnSp>
        <p:nvCxnSpPr>
          <p:cNvPr id="64" name="Connector 63"/>
          <p:cNvCxnSpPr/>
          <p:nvPr/>
        </p:nvCxnSpPr>
        <p:spPr>
          <a:xfrm>
            <a:off x="5209641.6" y="477316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209641" y="4892040"/>
            <a:ext cx="1772716" cy="182880"/>
          </a:xfrm>
          <a:prstGeom prst="rect">
            <a:avLst/>
          </a:prstGeom>
          <a:noFill/>
        </p:spPr>
        <p:txBody>
          <a:bodyPr wrap="square" lIns="0" rIns="0" tIns="0" bIns="0">
            <a:spAutoFit/>
          </a:bodyPr>
          <a:lstStyle/>
          <a:p>
            <a:pPr algn="l"/>
            <a:r>
              <a:rPr sz="800" b="0" i="0">
                <a:solidFill>
                  <a:srgbClr val="757575"/>
                </a:solidFill>
                <a:latin typeface="Source Sans Pro"/>
              </a:rPr>
              <a:t>#5</a:t>
            </a:r>
          </a:p>
        </p:txBody>
      </p:sp>
      <p:cxnSp>
        <p:nvCxnSpPr>
          <p:cNvPr id="66" name="Connector 65"/>
          <p:cNvCxnSpPr/>
          <p:nvPr/>
        </p:nvCxnSpPr>
        <p:spPr>
          <a:xfrm>
            <a:off x="5209641.6" y="518464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209641" y="5303520"/>
            <a:ext cx="1772716" cy="182880"/>
          </a:xfrm>
          <a:prstGeom prst="rect">
            <a:avLst/>
          </a:prstGeom>
          <a:noFill/>
        </p:spPr>
        <p:txBody>
          <a:bodyPr wrap="square" lIns="0" rIns="0" tIns="0" bIns="0">
            <a:spAutoFit/>
          </a:bodyPr>
          <a:lstStyle/>
          <a:p>
            <a:pPr algn="l"/>
            <a:r>
              <a:rPr sz="800" b="0" i="0">
                <a:solidFill>
                  <a:srgbClr val="757575"/>
                </a:solidFill>
                <a:latin typeface="Source Sans Pro"/>
              </a:rPr>
              <a:t>#6</a:t>
            </a:r>
          </a:p>
        </p:txBody>
      </p:sp>
      <p:cxnSp>
        <p:nvCxnSpPr>
          <p:cNvPr id="68" name="Connector 67"/>
          <p:cNvCxnSpPr/>
          <p:nvPr/>
        </p:nvCxnSpPr>
        <p:spPr>
          <a:xfrm>
            <a:off x="5209641.6" y="55961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7311542" y="1417320"/>
            <a:ext cx="213847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494422" y="1600200"/>
            <a:ext cx="177271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Touch</a:t>
            </a:r>
          </a:p>
        </p:txBody>
      </p:sp>
      <p:sp>
        <p:nvSpPr>
          <p:cNvPr id="71" name="TextBox 70"/>
          <p:cNvSpPr txBox="1"/>
          <p:nvPr/>
        </p:nvSpPr>
        <p:spPr>
          <a:xfrm>
            <a:off x="7494422" y="2148840"/>
            <a:ext cx="1772716" cy="457200"/>
          </a:xfrm>
          <a:prstGeom prst="rect">
            <a:avLst/>
          </a:prstGeom>
          <a:noFill/>
        </p:spPr>
        <p:txBody>
          <a:bodyPr wrap="square" lIns="0" rIns="0" tIns="0" bIns="0">
            <a:spAutoFit/>
          </a:bodyPr>
          <a:lstStyle/>
          <a:p>
            <a:pPr algn="l"/>
            <a:r>
              <a:rPr sz="950" b="0" i="1">
                <a:solidFill>
                  <a:srgbClr val="757575"/>
                </a:solidFill>
                <a:latin typeface="Palatino Linotype"/>
              </a:rPr>
              <a:t>textures, wind, temperature</a:t>
            </a:r>
          </a:p>
        </p:txBody>
      </p:sp>
      <p:sp>
        <p:nvSpPr>
          <p:cNvPr id="72" name="Oval 71"/>
          <p:cNvSpPr/>
          <p:nvPr/>
        </p:nvSpPr>
        <p:spPr>
          <a:xfrm>
            <a:off x="7585862" y="2697480"/>
            <a:ext cx="329184" cy="329184"/>
          </a:xfrm>
          <a:prstGeom prst="ellipse">
            <a:avLst/>
          </a:prstGeom>
          <a:noFill/>
          <a:ln w="889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85862"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74" name="Oval 73"/>
          <p:cNvSpPr/>
          <p:nvPr/>
        </p:nvSpPr>
        <p:spPr>
          <a:xfrm>
            <a:off x="8088782" y="2697480"/>
            <a:ext cx="329184" cy="329184"/>
          </a:xfrm>
          <a:prstGeom prst="ellipse">
            <a:avLst/>
          </a:prstGeom>
          <a:noFill/>
          <a:ln w="8890">
            <a:solidFill>
              <a:srgbClr val="EEE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88782"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76" name="Oval 75"/>
          <p:cNvSpPr/>
          <p:nvPr/>
        </p:nvSpPr>
        <p:spPr>
          <a:xfrm>
            <a:off x="8591702" y="2697480"/>
            <a:ext cx="329184" cy="329184"/>
          </a:xfrm>
          <a:prstGeom prst="ellipse">
            <a:avLst/>
          </a:prstGeom>
          <a:noFill/>
          <a:ln w="889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91702"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78" name="TextBox 77"/>
          <p:cNvSpPr txBox="1"/>
          <p:nvPr/>
        </p:nvSpPr>
        <p:spPr>
          <a:xfrm>
            <a:off x="7494422" y="3246120"/>
            <a:ext cx="1772716" cy="182880"/>
          </a:xfrm>
          <a:prstGeom prst="rect">
            <a:avLst/>
          </a:prstGeom>
          <a:noFill/>
        </p:spPr>
        <p:txBody>
          <a:bodyPr wrap="square" lIns="0" rIns="0" tIns="0" bIns="0">
            <a:spAutoFit/>
          </a:bodyPr>
          <a:lstStyle/>
          <a:p>
            <a:pPr algn="l"/>
            <a:r>
              <a:rPr sz="800" b="0" i="0">
                <a:solidFill>
                  <a:srgbClr val="757575"/>
                </a:solidFill>
                <a:latin typeface="Source Sans Pro"/>
              </a:rPr>
              <a:t>#1</a:t>
            </a:r>
          </a:p>
        </p:txBody>
      </p:sp>
      <p:cxnSp>
        <p:nvCxnSpPr>
          <p:cNvPr id="79" name="Connector 78"/>
          <p:cNvCxnSpPr/>
          <p:nvPr/>
        </p:nvCxnSpPr>
        <p:spPr>
          <a:xfrm>
            <a:off x="7494422.399999999" y="35387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7494422" y="3657600"/>
            <a:ext cx="1772716" cy="182880"/>
          </a:xfrm>
          <a:prstGeom prst="rect">
            <a:avLst/>
          </a:prstGeom>
          <a:noFill/>
        </p:spPr>
        <p:txBody>
          <a:bodyPr wrap="square" lIns="0" rIns="0" tIns="0" bIns="0">
            <a:spAutoFit/>
          </a:bodyPr>
          <a:lstStyle/>
          <a:p>
            <a:pPr algn="l"/>
            <a:r>
              <a:rPr sz="800" b="0" i="0">
                <a:solidFill>
                  <a:srgbClr val="757575"/>
                </a:solidFill>
                <a:latin typeface="Source Sans Pro"/>
              </a:rPr>
              <a:t>#2</a:t>
            </a:r>
          </a:p>
        </p:txBody>
      </p:sp>
      <p:cxnSp>
        <p:nvCxnSpPr>
          <p:cNvPr id="81" name="Connector 80"/>
          <p:cNvCxnSpPr/>
          <p:nvPr/>
        </p:nvCxnSpPr>
        <p:spPr>
          <a:xfrm>
            <a:off x="7494422.399999999" y="395020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7494422" y="4069080"/>
            <a:ext cx="1772716" cy="182880"/>
          </a:xfrm>
          <a:prstGeom prst="rect">
            <a:avLst/>
          </a:prstGeom>
          <a:noFill/>
        </p:spPr>
        <p:txBody>
          <a:bodyPr wrap="square" lIns="0" rIns="0" tIns="0" bIns="0">
            <a:spAutoFit/>
          </a:bodyPr>
          <a:lstStyle/>
          <a:p>
            <a:pPr algn="l"/>
            <a:r>
              <a:rPr sz="800" b="0" i="0">
                <a:solidFill>
                  <a:srgbClr val="757575"/>
                </a:solidFill>
                <a:latin typeface="Source Sans Pro"/>
              </a:rPr>
              <a:t>#3</a:t>
            </a:r>
          </a:p>
        </p:txBody>
      </p:sp>
      <p:cxnSp>
        <p:nvCxnSpPr>
          <p:cNvPr id="83" name="Connector 82"/>
          <p:cNvCxnSpPr/>
          <p:nvPr/>
        </p:nvCxnSpPr>
        <p:spPr>
          <a:xfrm>
            <a:off x="7494422.399999999" y="436168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7494422" y="4480560"/>
            <a:ext cx="1772716" cy="182880"/>
          </a:xfrm>
          <a:prstGeom prst="rect">
            <a:avLst/>
          </a:prstGeom>
          <a:noFill/>
        </p:spPr>
        <p:txBody>
          <a:bodyPr wrap="square" lIns="0" rIns="0" tIns="0" bIns="0">
            <a:spAutoFit/>
          </a:bodyPr>
          <a:lstStyle/>
          <a:p>
            <a:pPr algn="l"/>
            <a:r>
              <a:rPr sz="800" b="0" i="0">
                <a:solidFill>
                  <a:srgbClr val="757575"/>
                </a:solidFill>
                <a:latin typeface="Source Sans Pro"/>
              </a:rPr>
              <a:t>#4</a:t>
            </a:r>
          </a:p>
        </p:txBody>
      </p:sp>
      <p:cxnSp>
        <p:nvCxnSpPr>
          <p:cNvPr id="85" name="Connector 84"/>
          <p:cNvCxnSpPr/>
          <p:nvPr/>
        </p:nvCxnSpPr>
        <p:spPr>
          <a:xfrm>
            <a:off x="7494422.399999999" y="477316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7494422" y="4892040"/>
            <a:ext cx="1772716" cy="182880"/>
          </a:xfrm>
          <a:prstGeom prst="rect">
            <a:avLst/>
          </a:prstGeom>
          <a:noFill/>
        </p:spPr>
        <p:txBody>
          <a:bodyPr wrap="square" lIns="0" rIns="0" tIns="0" bIns="0">
            <a:spAutoFit/>
          </a:bodyPr>
          <a:lstStyle/>
          <a:p>
            <a:pPr algn="l"/>
            <a:r>
              <a:rPr sz="800" b="0" i="0">
                <a:solidFill>
                  <a:srgbClr val="757575"/>
                </a:solidFill>
                <a:latin typeface="Source Sans Pro"/>
              </a:rPr>
              <a:t>#5</a:t>
            </a:r>
          </a:p>
        </p:txBody>
      </p:sp>
      <p:cxnSp>
        <p:nvCxnSpPr>
          <p:cNvPr id="87" name="Connector 86"/>
          <p:cNvCxnSpPr/>
          <p:nvPr/>
        </p:nvCxnSpPr>
        <p:spPr>
          <a:xfrm>
            <a:off x="7494422.399999999" y="518464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94422" y="5303520"/>
            <a:ext cx="1772716" cy="182880"/>
          </a:xfrm>
          <a:prstGeom prst="rect">
            <a:avLst/>
          </a:prstGeom>
          <a:noFill/>
        </p:spPr>
        <p:txBody>
          <a:bodyPr wrap="square" lIns="0" rIns="0" tIns="0" bIns="0">
            <a:spAutoFit/>
          </a:bodyPr>
          <a:lstStyle/>
          <a:p>
            <a:pPr algn="l"/>
            <a:r>
              <a:rPr sz="800" b="0" i="0">
                <a:solidFill>
                  <a:srgbClr val="757575"/>
                </a:solidFill>
                <a:latin typeface="Source Sans Pro"/>
              </a:rPr>
              <a:t>#6</a:t>
            </a:r>
          </a:p>
        </p:txBody>
      </p:sp>
      <p:cxnSp>
        <p:nvCxnSpPr>
          <p:cNvPr id="89" name="Connector 88"/>
          <p:cNvCxnSpPr/>
          <p:nvPr/>
        </p:nvCxnSpPr>
        <p:spPr>
          <a:xfrm>
            <a:off x="7494422.399999999" y="5596128"/>
            <a:ext cx="1772716.7999999998"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9596323" y="1417320"/>
            <a:ext cx="213847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9779203" y="1600200"/>
            <a:ext cx="177271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Taste</a:t>
            </a:r>
          </a:p>
        </p:txBody>
      </p:sp>
      <p:sp>
        <p:nvSpPr>
          <p:cNvPr id="92" name="TextBox 91"/>
          <p:cNvSpPr txBox="1"/>
          <p:nvPr/>
        </p:nvSpPr>
        <p:spPr>
          <a:xfrm>
            <a:off x="9779203" y="2148840"/>
            <a:ext cx="1772716" cy="457200"/>
          </a:xfrm>
          <a:prstGeom prst="rect">
            <a:avLst/>
          </a:prstGeom>
          <a:noFill/>
        </p:spPr>
        <p:txBody>
          <a:bodyPr wrap="square" lIns="0" rIns="0" tIns="0" bIns="0">
            <a:spAutoFit/>
          </a:bodyPr>
          <a:lstStyle/>
          <a:p>
            <a:pPr algn="l"/>
            <a:r>
              <a:rPr sz="950" b="0" i="1">
                <a:solidFill>
                  <a:srgbClr val="757575"/>
                </a:solidFill>
                <a:latin typeface="Palatino Linotype"/>
              </a:rPr>
              <a:t>street food, water, air</a:t>
            </a:r>
          </a:p>
        </p:txBody>
      </p:sp>
      <p:sp>
        <p:nvSpPr>
          <p:cNvPr id="93" name="Oval 92"/>
          <p:cNvSpPr/>
          <p:nvPr/>
        </p:nvSpPr>
        <p:spPr>
          <a:xfrm>
            <a:off x="9870643" y="2697480"/>
            <a:ext cx="329184" cy="329184"/>
          </a:xfrm>
          <a:prstGeom prst="ellipse">
            <a:avLst/>
          </a:prstGeom>
          <a:noFill/>
          <a:ln w="8890">
            <a:solidFill>
              <a:srgbClr val="00ED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870643"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95" name="Oval 94"/>
          <p:cNvSpPr/>
          <p:nvPr/>
        </p:nvSpPr>
        <p:spPr>
          <a:xfrm>
            <a:off x="10373563" y="2697480"/>
            <a:ext cx="329184" cy="329184"/>
          </a:xfrm>
          <a:prstGeom prst="ellipse">
            <a:avLst/>
          </a:prstGeom>
          <a:noFill/>
          <a:ln w="8890">
            <a:solidFill>
              <a:srgbClr val="EEE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373563"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97" name="Oval 96"/>
          <p:cNvSpPr/>
          <p:nvPr/>
        </p:nvSpPr>
        <p:spPr>
          <a:xfrm>
            <a:off x="10876483" y="2697480"/>
            <a:ext cx="329184" cy="329184"/>
          </a:xfrm>
          <a:prstGeom prst="ellipse">
            <a:avLst/>
          </a:prstGeom>
          <a:noFill/>
          <a:ln w="8890">
            <a:solidFill>
              <a:srgbClr val="FF6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876483" y="2697480"/>
            <a:ext cx="329184" cy="329184"/>
          </a:xfrm>
          <a:prstGeom prst="rect">
            <a:avLst/>
          </a:prstGeom>
          <a:noFill/>
        </p:spPr>
        <p:txBody>
          <a:bodyPr wrap="square" lIns="0" rIns="0" tIns="0" bIns="0" anchor="ctr">
            <a:spAutoFit/>
          </a:bodyPr>
          <a:lstStyle/>
          <a:p>
            <a:pPr algn="ctr"/>
            <a:r>
              <a:rPr sz="1100" b="1" i="0">
                <a:solidFill>
                  <a:srgbClr val="0D0D0D"/>
                </a:solidFill>
                <a:latin typeface="Source Sans Pro"/>
              </a:rPr>
              <a:t>-</a:t>
            </a:r>
          </a:p>
        </p:txBody>
      </p:sp>
      <p:sp>
        <p:nvSpPr>
          <p:cNvPr id="99" name="TextBox 98"/>
          <p:cNvSpPr txBox="1"/>
          <p:nvPr/>
        </p:nvSpPr>
        <p:spPr>
          <a:xfrm>
            <a:off x="9779203" y="3246120"/>
            <a:ext cx="1772716" cy="182880"/>
          </a:xfrm>
          <a:prstGeom prst="rect">
            <a:avLst/>
          </a:prstGeom>
          <a:noFill/>
        </p:spPr>
        <p:txBody>
          <a:bodyPr wrap="square" lIns="0" rIns="0" tIns="0" bIns="0">
            <a:spAutoFit/>
          </a:bodyPr>
          <a:lstStyle/>
          <a:p>
            <a:pPr algn="l"/>
            <a:r>
              <a:rPr sz="800" b="0" i="0">
                <a:solidFill>
                  <a:srgbClr val="757575"/>
                </a:solidFill>
                <a:latin typeface="Source Sans Pro"/>
              </a:rPr>
              <a:t>#1</a:t>
            </a:r>
          </a:p>
        </p:txBody>
      </p:sp>
      <p:cxnSp>
        <p:nvCxnSpPr>
          <p:cNvPr id="100" name="Connector 99"/>
          <p:cNvCxnSpPr/>
          <p:nvPr/>
        </p:nvCxnSpPr>
        <p:spPr>
          <a:xfrm>
            <a:off x="9779203.2" y="353872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779203" y="3657600"/>
            <a:ext cx="1772716" cy="182880"/>
          </a:xfrm>
          <a:prstGeom prst="rect">
            <a:avLst/>
          </a:prstGeom>
          <a:noFill/>
        </p:spPr>
        <p:txBody>
          <a:bodyPr wrap="square" lIns="0" rIns="0" tIns="0" bIns="0">
            <a:spAutoFit/>
          </a:bodyPr>
          <a:lstStyle/>
          <a:p>
            <a:pPr algn="l"/>
            <a:r>
              <a:rPr sz="800" b="0" i="0">
                <a:solidFill>
                  <a:srgbClr val="757575"/>
                </a:solidFill>
                <a:latin typeface="Source Sans Pro"/>
              </a:rPr>
              <a:t>#2</a:t>
            </a:r>
          </a:p>
        </p:txBody>
      </p:sp>
      <p:cxnSp>
        <p:nvCxnSpPr>
          <p:cNvPr id="102" name="Connector 101"/>
          <p:cNvCxnSpPr/>
          <p:nvPr/>
        </p:nvCxnSpPr>
        <p:spPr>
          <a:xfrm>
            <a:off x="9779203.2" y="395020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9779203" y="4069080"/>
            <a:ext cx="1772716" cy="182880"/>
          </a:xfrm>
          <a:prstGeom prst="rect">
            <a:avLst/>
          </a:prstGeom>
          <a:noFill/>
        </p:spPr>
        <p:txBody>
          <a:bodyPr wrap="square" lIns="0" rIns="0" tIns="0" bIns="0">
            <a:spAutoFit/>
          </a:bodyPr>
          <a:lstStyle/>
          <a:p>
            <a:pPr algn="l"/>
            <a:r>
              <a:rPr sz="800" b="0" i="0">
                <a:solidFill>
                  <a:srgbClr val="757575"/>
                </a:solidFill>
                <a:latin typeface="Source Sans Pro"/>
              </a:rPr>
              <a:t>#3</a:t>
            </a:r>
          </a:p>
        </p:txBody>
      </p:sp>
      <p:cxnSp>
        <p:nvCxnSpPr>
          <p:cNvPr id="104" name="Connector 103"/>
          <p:cNvCxnSpPr/>
          <p:nvPr/>
        </p:nvCxnSpPr>
        <p:spPr>
          <a:xfrm>
            <a:off x="9779203.2" y="436168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9779203" y="4480560"/>
            <a:ext cx="1772716" cy="182880"/>
          </a:xfrm>
          <a:prstGeom prst="rect">
            <a:avLst/>
          </a:prstGeom>
          <a:noFill/>
        </p:spPr>
        <p:txBody>
          <a:bodyPr wrap="square" lIns="0" rIns="0" tIns="0" bIns="0">
            <a:spAutoFit/>
          </a:bodyPr>
          <a:lstStyle/>
          <a:p>
            <a:pPr algn="l"/>
            <a:r>
              <a:rPr sz="800" b="0" i="0">
                <a:solidFill>
                  <a:srgbClr val="757575"/>
                </a:solidFill>
                <a:latin typeface="Source Sans Pro"/>
              </a:rPr>
              <a:t>#4</a:t>
            </a:r>
          </a:p>
        </p:txBody>
      </p:sp>
      <p:cxnSp>
        <p:nvCxnSpPr>
          <p:cNvPr id="106" name="Connector 105"/>
          <p:cNvCxnSpPr/>
          <p:nvPr/>
        </p:nvCxnSpPr>
        <p:spPr>
          <a:xfrm>
            <a:off x="9779203.2" y="477316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779203" y="4892040"/>
            <a:ext cx="1772716" cy="182880"/>
          </a:xfrm>
          <a:prstGeom prst="rect">
            <a:avLst/>
          </a:prstGeom>
          <a:noFill/>
        </p:spPr>
        <p:txBody>
          <a:bodyPr wrap="square" lIns="0" rIns="0" tIns="0" bIns="0">
            <a:spAutoFit/>
          </a:bodyPr>
          <a:lstStyle/>
          <a:p>
            <a:pPr algn="l"/>
            <a:r>
              <a:rPr sz="800" b="0" i="0">
                <a:solidFill>
                  <a:srgbClr val="757575"/>
                </a:solidFill>
                <a:latin typeface="Source Sans Pro"/>
              </a:rPr>
              <a:t>#5</a:t>
            </a:r>
          </a:p>
        </p:txBody>
      </p:sp>
      <p:cxnSp>
        <p:nvCxnSpPr>
          <p:cNvPr id="108" name="Connector 107"/>
          <p:cNvCxnSpPr/>
          <p:nvPr/>
        </p:nvCxnSpPr>
        <p:spPr>
          <a:xfrm>
            <a:off x="9779203.2" y="518464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779203" y="5303520"/>
            <a:ext cx="1772716" cy="182880"/>
          </a:xfrm>
          <a:prstGeom prst="rect">
            <a:avLst/>
          </a:prstGeom>
          <a:noFill/>
        </p:spPr>
        <p:txBody>
          <a:bodyPr wrap="square" lIns="0" rIns="0" tIns="0" bIns="0">
            <a:spAutoFit/>
          </a:bodyPr>
          <a:lstStyle/>
          <a:p>
            <a:pPr algn="l"/>
            <a:r>
              <a:rPr sz="800" b="0" i="0">
                <a:solidFill>
                  <a:srgbClr val="757575"/>
                </a:solidFill>
                <a:latin typeface="Source Sans Pro"/>
              </a:rPr>
              <a:t>#6</a:t>
            </a:r>
          </a:p>
        </p:txBody>
      </p:sp>
      <p:cxnSp>
        <p:nvCxnSpPr>
          <p:cNvPr id="110" name="Connector 109"/>
          <p:cNvCxnSpPr/>
          <p:nvPr/>
        </p:nvCxnSpPr>
        <p:spPr>
          <a:xfrm>
            <a:off x="9779203.2" y="5596128"/>
            <a:ext cx="1772716.8000000007"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111" name="Picture 11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12" name="TextBox 11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