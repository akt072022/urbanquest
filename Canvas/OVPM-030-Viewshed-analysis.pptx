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30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6400" b="0" i="0">
                <a:solidFill>
                  <a:srgbClr val="0D0D0D"/>
                </a:solidFill>
                <a:latin typeface="Palatino Linotype"/>
              </a:rPr>
              <a:t>Viewshed analysis</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Computational 3D maps and cumulative visual profiles demonstrating exactly which parts of a historic landscape will remain visible, or become blocked, by a new development.</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G2 · Proof of Fit</a:t>
            </a:r>
          </a:p>
        </p:txBody>
      </p:sp>
      <p:sp>
        <p:nvSpPr>
          <p:cNvPr id="8" name="TextBox 7"/>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9" name="Rounded Rectangle 8"/>
          <p:cNvSpPr/>
          <p:nvPr/>
        </p:nvSpPr>
        <p:spPr>
          <a:xfrm>
            <a:off x="5486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Spatial</a:t>
            </a:r>
          </a:p>
        </p:txBody>
      </p:sp>
      <p:sp>
        <p:nvSpPr>
          <p:cNvPr id="10" name="Rounded Rectangle 9"/>
          <p:cNvSpPr/>
          <p:nvPr/>
        </p:nvSpPr>
        <p:spPr>
          <a:xfrm>
            <a:off x="1847088"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Heritage</a:t>
            </a:r>
          </a:p>
        </p:txBody>
      </p:sp>
      <p:pic>
        <p:nvPicPr>
          <p:cNvPr id="11" name="Picture 10"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2" name="TextBox 11"/>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30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Viewshed analysis</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G2 · Proof of Fit</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Defending the right to look at the sky and the history of the city; ensuring that the visual poetry of a historic skyline is not stolen by thoughtless real estate speculation.</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Computational 3D maps and cumulative visual profiles demonstrating exactly which parts of a historic landscape will remain visible, or become blocked, by a new development.</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2 to 4 weeks of digital modeling and spatial analysis
Material  ·  GIS software (CityEngine, QGIS), 3D city models, architectural massing proposals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The Visual Impact Size (VIS) method utilizes cumulative viewsheds to simulate the impact of tall buildings on historical dominants. By comparing the viewshed analyses of protected historical buildings against planned modern facilities, planners can identify exactly which exposure locations are threatened, showing the actual visual impact on the cityscape before planning permission is granted.</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30  ·  ANIMATION CANVAS  ·  </a:t>
            </a:r>
            <a:r>
              <a:rPr sz="1000" b="1" i="0">
                <a:solidFill>
                  <a:srgbClr val="0D0D0D"/>
                </a:solidFill>
                <a:latin typeface="Source Sans Pro"/>
              </a:rPr>
              <a:t>VIEWSHED ANALYSIS</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Sight cones · what is seen from where</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2 to 4 weeks of digital modeling and spatial analysis</a:t>
            </a:r>
          </a:p>
        </p:txBody>
      </p:sp>
      <p:sp>
        <p:nvSpPr>
          <p:cNvPr id="6" name="Rounded Rectangle 5"/>
          <p:cNvSpPr/>
          <p:nvPr/>
        </p:nvSpPr>
        <p:spPr>
          <a:xfrm>
            <a:off x="457200" y="1417320"/>
            <a:ext cx="6400800"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600200"/>
            <a:ext cx="5943600" cy="365760"/>
          </a:xfrm>
          <a:prstGeom prst="rect">
            <a:avLst/>
          </a:prstGeom>
          <a:noFill/>
        </p:spPr>
        <p:txBody>
          <a:bodyPr wrap="square" lIns="0" rIns="0" tIns="0" bIns="0">
            <a:spAutoFit/>
          </a:bodyPr>
          <a:lstStyle/>
          <a:p>
            <a:pPr algn="l"/>
            <a:r>
              <a:rPr sz="1400" b="0" i="1">
                <a:solidFill>
                  <a:srgbClr val="0D0D0D"/>
                </a:solidFill>
                <a:latin typeface="Palatino Linotype"/>
              </a:rPr>
              <a:t>Viewpoint × landmark visibility</a:t>
            </a:r>
          </a:p>
        </p:txBody>
      </p:sp>
      <p:sp>
        <p:nvSpPr>
          <p:cNvPr id="8" name="Oval 7"/>
          <p:cNvSpPr/>
          <p:nvPr/>
        </p:nvSpPr>
        <p:spPr>
          <a:xfrm>
            <a:off x="3886200" y="2560320"/>
            <a:ext cx="457200" cy="457200"/>
          </a:xfrm>
          <a:prstGeom prst="ellipse">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0" y="3017520"/>
            <a:ext cx="914400" cy="274320"/>
          </a:xfrm>
          <a:prstGeom prst="rect">
            <a:avLst/>
          </a:prstGeom>
          <a:noFill/>
        </p:spPr>
        <p:txBody>
          <a:bodyPr wrap="square" lIns="0" rIns="0" tIns="0" bIns="0">
            <a:spAutoFit/>
          </a:bodyPr>
          <a:lstStyle/>
          <a:p>
            <a:pPr algn="ctr"/>
            <a:r>
              <a:rPr sz="900" b="1" i="0">
                <a:solidFill>
                  <a:srgbClr val="0D0D0D"/>
                </a:solidFill>
                <a:latin typeface="Source Sans Pro"/>
              </a:rPr>
              <a:t>Landmark</a:t>
            </a:r>
          </a:p>
        </p:txBody>
      </p:sp>
      <p:cxnSp>
        <p:nvCxnSpPr>
          <p:cNvPr id="10" name="Connector 9"/>
          <p:cNvCxnSpPr/>
          <p:nvPr/>
        </p:nvCxnSpPr>
        <p:spPr>
          <a:xfrm flipV="1">
            <a:off x="1828800" y="1381447"/>
            <a:ext cx="1827040" cy="2321873"/>
          </a:xfrm>
          <a:prstGeom prst="line">
            <a:avLst/>
          </a:prstGeom>
          <a:ln w="12700">
            <a:solidFill>
              <a:srgbClr val="FFD200"/>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655840" y="1381447"/>
            <a:ext cx="1097280" cy="2743200"/>
          </a:xfrm>
          <a:prstGeom prst="line">
            <a:avLst/>
          </a:prstGeom>
          <a:ln w="12700">
            <a:solidFill>
              <a:srgbClr val="FFD200"/>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1828800" y="3703320"/>
            <a:ext cx="2924320" cy="421327"/>
          </a:xfrm>
          <a:prstGeom prst="line">
            <a:avLst/>
          </a:prstGeom>
          <a:ln w="12700">
            <a:solidFill>
              <a:srgbClr val="FFD200"/>
            </a:solidFill>
            <a:prstDash val="dash"/>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554480" y="3429000"/>
            <a:ext cx="548640" cy="548640"/>
          </a:xfrm>
          <a:prstGeom prst="ellipse">
            <a:avLst/>
          </a:prstGeom>
          <a:solidFill>
            <a:srgbClr val="FFD200"/>
          </a:solidFill>
          <a:ln w="889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54480" y="3429000"/>
            <a:ext cx="548640" cy="548640"/>
          </a:xfrm>
          <a:prstGeom prst="rect">
            <a:avLst/>
          </a:prstGeom>
          <a:noFill/>
        </p:spPr>
        <p:txBody>
          <a:bodyPr wrap="square" lIns="0" rIns="0" tIns="0" bIns="0" anchor="ctr">
            <a:spAutoFit/>
          </a:bodyPr>
          <a:lstStyle/>
          <a:p>
            <a:pPr algn="ctr"/>
            <a:r>
              <a:rPr sz="1000" b="1" i="0">
                <a:solidFill>
                  <a:srgbClr val="0D0D0D"/>
                </a:solidFill>
                <a:latin typeface="Source Sans Pro"/>
              </a:rPr>
              <a:t>V1</a:t>
            </a:r>
          </a:p>
        </p:txBody>
      </p:sp>
      <p:cxnSp>
        <p:nvCxnSpPr>
          <p:cNvPr id="15" name="Connector 14"/>
          <p:cNvCxnSpPr/>
          <p:nvPr/>
        </p:nvCxnSpPr>
        <p:spPr>
          <a:xfrm flipH="1" flipV="1">
            <a:off x="2761136" y="2424919"/>
            <a:ext cx="896464" cy="2650001"/>
          </a:xfrm>
          <a:prstGeom prst="line">
            <a:avLst/>
          </a:prstGeom>
          <a:ln w="12700">
            <a:solidFill>
              <a:srgbClr val="FF674D"/>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761136" y="2424919"/>
            <a:ext cx="2743200" cy="548640"/>
          </a:xfrm>
          <a:prstGeom prst="line">
            <a:avLst/>
          </a:prstGeom>
          <a:ln w="12700">
            <a:solidFill>
              <a:srgbClr val="FF674D"/>
            </a:solidFill>
            <a:prstDash val="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3657600" y="2973559"/>
            <a:ext cx="1846736" cy="2101361"/>
          </a:xfrm>
          <a:prstGeom prst="line">
            <a:avLst/>
          </a:prstGeom>
          <a:ln w="12700">
            <a:solidFill>
              <a:srgbClr val="FF674D"/>
            </a:solidFill>
            <a:prstDash val="dash"/>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3474720" y="4892040"/>
            <a:ext cx="365760" cy="365760"/>
          </a:xfrm>
          <a:prstGeom prst="ellipse">
            <a:avLst/>
          </a:prstGeom>
          <a:solidFill>
            <a:srgbClr val="FF674D"/>
          </a:solidFill>
          <a:ln w="889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74720" y="4892040"/>
            <a:ext cx="365760" cy="365760"/>
          </a:xfrm>
          <a:prstGeom prst="rect">
            <a:avLst/>
          </a:prstGeom>
          <a:noFill/>
        </p:spPr>
        <p:txBody>
          <a:bodyPr wrap="square" lIns="0" rIns="0" tIns="0" bIns="0" anchor="ctr">
            <a:spAutoFit/>
          </a:bodyPr>
          <a:lstStyle/>
          <a:p>
            <a:pPr algn="ctr"/>
            <a:r>
              <a:rPr sz="1000" b="1" i="0">
                <a:solidFill>
                  <a:srgbClr val="0D0D0D"/>
                </a:solidFill>
                <a:latin typeface="Source Sans Pro"/>
              </a:rPr>
              <a:t>V2</a:t>
            </a:r>
          </a:p>
        </p:txBody>
      </p:sp>
      <p:cxnSp>
        <p:nvCxnSpPr>
          <p:cNvPr id="20" name="Connector 19"/>
          <p:cNvCxnSpPr/>
          <p:nvPr/>
        </p:nvCxnSpPr>
        <p:spPr>
          <a:xfrm flipH="1">
            <a:off x="3676943" y="3429000"/>
            <a:ext cx="1809457" cy="157769"/>
          </a:xfrm>
          <a:prstGeom prst="line">
            <a:avLst/>
          </a:prstGeom>
          <a:ln w="12700">
            <a:solidFill>
              <a:srgbClr val="00ED93"/>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3676943" y="1940849"/>
            <a:ext cx="768096" cy="1645920"/>
          </a:xfrm>
          <a:prstGeom prst="line">
            <a:avLst/>
          </a:prstGeom>
          <a:ln w="12700">
            <a:solidFill>
              <a:srgbClr val="00ED93"/>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445039" y="1940849"/>
            <a:ext cx="1041361" cy="1488151"/>
          </a:xfrm>
          <a:prstGeom prst="line">
            <a:avLst/>
          </a:prstGeom>
          <a:ln w="12700">
            <a:solidFill>
              <a:srgbClr val="00ED93"/>
            </a:solidFill>
            <a:prstDash val="dash"/>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5120640" y="3063240"/>
            <a:ext cx="731520" cy="731520"/>
          </a:xfrm>
          <a:prstGeom prst="ellipse">
            <a:avLst/>
          </a:prstGeom>
          <a:solidFill>
            <a:srgbClr val="00ED93"/>
          </a:solidFill>
          <a:ln w="889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20640" y="3063240"/>
            <a:ext cx="731520" cy="731520"/>
          </a:xfrm>
          <a:prstGeom prst="rect">
            <a:avLst/>
          </a:prstGeom>
          <a:noFill/>
        </p:spPr>
        <p:txBody>
          <a:bodyPr wrap="square" lIns="0" rIns="0" tIns="0" bIns="0" anchor="ctr">
            <a:spAutoFit/>
          </a:bodyPr>
          <a:lstStyle/>
          <a:p>
            <a:pPr algn="ctr"/>
            <a:r>
              <a:rPr sz="1000" b="1" i="0">
                <a:solidFill>
                  <a:srgbClr val="0D0D0D"/>
                </a:solidFill>
                <a:latin typeface="Source Sans Pro"/>
              </a:rPr>
              <a:t>V3</a:t>
            </a:r>
          </a:p>
        </p:txBody>
      </p:sp>
      <p:sp>
        <p:nvSpPr>
          <p:cNvPr id="25" name="Rounded Rectangle 24"/>
          <p:cNvSpPr/>
          <p:nvPr/>
        </p:nvSpPr>
        <p:spPr>
          <a:xfrm>
            <a:off x="7086600" y="1417320"/>
            <a:ext cx="4648200"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69480" y="1600200"/>
            <a:ext cx="4282440" cy="365760"/>
          </a:xfrm>
          <a:prstGeom prst="rect">
            <a:avLst/>
          </a:prstGeom>
          <a:noFill/>
        </p:spPr>
        <p:txBody>
          <a:bodyPr wrap="square" lIns="0" rIns="0" tIns="0" bIns="0">
            <a:spAutoFit/>
          </a:bodyPr>
          <a:lstStyle/>
          <a:p>
            <a:pPr algn="l"/>
            <a:r>
              <a:rPr sz="1300" b="0" i="1">
                <a:solidFill>
                  <a:srgbClr val="0D0D0D"/>
                </a:solidFill>
                <a:latin typeface="Palatino Linotype"/>
              </a:rPr>
              <a:t>Viewpoint inventory</a:t>
            </a:r>
          </a:p>
        </p:txBody>
      </p:sp>
      <p:sp>
        <p:nvSpPr>
          <p:cNvPr id="27" name="Rectangle 26"/>
          <p:cNvSpPr/>
          <p:nvPr/>
        </p:nvSpPr>
        <p:spPr>
          <a:xfrm>
            <a:off x="7269480" y="2057400"/>
            <a:ext cx="1427480" cy="292608"/>
          </a:xfrm>
          <a:prstGeom prst="rect">
            <a:avLst/>
          </a:prstGeom>
          <a:solidFill>
            <a:srgbClr val="0D0D0D"/>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69480" y="2057400"/>
            <a:ext cx="1427480" cy="292608"/>
          </a:xfrm>
          <a:prstGeom prst="rect">
            <a:avLst/>
          </a:prstGeom>
          <a:noFill/>
        </p:spPr>
        <p:txBody>
          <a:bodyPr wrap="square" lIns="0" rIns="0" tIns="0" bIns="0" anchor="ctr">
            <a:spAutoFit/>
          </a:bodyPr>
          <a:lstStyle/>
          <a:p>
            <a:pPr algn="ctr"/>
            <a:r>
              <a:rPr sz="950" b="1" i="0">
                <a:solidFill>
                  <a:srgbClr val="FFD200"/>
                </a:solidFill>
                <a:latin typeface="Source Sans Pro"/>
              </a:rPr>
              <a:t>Viewpoint</a:t>
            </a:r>
          </a:p>
        </p:txBody>
      </p:sp>
      <p:sp>
        <p:nvSpPr>
          <p:cNvPr id="29" name="Rectangle 28"/>
          <p:cNvSpPr/>
          <p:nvPr/>
        </p:nvSpPr>
        <p:spPr>
          <a:xfrm>
            <a:off x="8696960" y="2057400"/>
            <a:ext cx="1427480" cy="292608"/>
          </a:xfrm>
          <a:prstGeom prst="rect">
            <a:avLst/>
          </a:prstGeom>
          <a:solidFill>
            <a:srgbClr val="FFD200"/>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96960" y="2057400"/>
            <a:ext cx="1427480" cy="292608"/>
          </a:xfrm>
          <a:prstGeom prst="rect">
            <a:avLst/>
          </a:prstGeom>
          <a:noFill/>
        </p:spPr>
        <p:txBody>
          <a:bodyPr wrap="square" lIns="0" rIns="0" tIns="0" bIns="0" anchor="ctr">
            <a:spAutoFit/>
          </a:bodyPr>
          <a:lstStyle/>
          <a:p>
            <a:pPr algn="ctr"/>
            <a:r>
              <a:rPr sz="950" b="1" i="0">
                <a:solidFill>
                  <a:srgbClr val="0D0D0D"/>
                </a:solidFill>
                <a:latin typeface="Source Sans Pro"/>
              </a:rPr>
              <a:t>Visible?</a:t>
            </a:r>
          </a:p>
        </p:txBody>
      </p:sp>
      <p:sp>
        <p:nvSpPr>
          <p:cNvPr id="31" name="Rectangle 30"/>
          <p:cNvSpPr/>
          <p:nvPr/>
        </p:nvSpPr>
        <p:spPr>
          <a:xfrm>
            <a:off x="10124440" y="2057400"/>
            <a:ext cx="1427480" cy="292608"/>
          </a:xfrm>
          <a:prstGeom prst="rect">
            <a:avLst/>
          </a:prstGeom>
          <a:solidFill>
            <a:srgbClr val="FFD200"/>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124440" y="2057400"/>
            <a:ext cx="1427480" cy="292608"/>
          </a:xfrm>
          <a:prstGeom prst="rect">
            <a:avLst/>
          </a:prstGeom>
          <a:noFill/>
        </p:spPr>
        <p:txBody>
          <a:bodyPr wrap="square" lIns="0" rIns="0" tIns="0" bIns="0" anchor="ctr">
            <a:spAutoFit/>
          </a:bodyPr>
          <a:lstStyle/>
          <a:p>
            <a:pPr algn="ctr"/>
            <a:r>
              <a:rPr sz="950" b="1" i="0">
                <a:solidFill>
                  <a:srgbClr val="0D0D0D"/>
                </a:solidFill>
                <a:latin typeface="Source Sans Pro"/>
              </a:rPr>
              <a:t>Quality</a:t>
            </a:r>
          </a:p>
        </p:txBody>
      </p:sp>
      <p:sp>
        <p:nvSpPr>
          <p:cNvPr id="33" name="Rectangle 32"/>
          <p:cNvSpPr/>
          <p:nvPr/>
        </p:nvSpPr>
        <p:spPr>
          <a:xfrm>
            <a:off x="7269480" y="2350008"/>
            <a:ext cx="1427480" cy="292608"/>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696960" y="2350008"/>
            <a:ext cx="1427480" cy="292608"/>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124440" y="2350008"/>
            <a:ext cx="1427480" cy="292608"/>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269480" y="2642616"/>
            <a:ext cx="1427480" cy="292608"/>
          </a:xfrm>
          <a:prstGeom prst="rect">
            <a:avLst/>
          </a:prstGeom>
          <a:solidFill>
            <a:srgbClr val="EEECE6"/>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696960" y="2642616"/>
            <a:ext cx="1427480" cy="292608"/>
          </a:xfrm>
          <a:prstGeom prst="rect">
            <a:avLst/>
          </a:prstGeom>
          <a:solidFill>
            <a:srgbClr val="EEECE6"/>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24440" y="2642616"/>
            <a:ext cx="1427480" cy="292608"/>
          </a:xfrm>
          <a:prstGeom prst="rect">
            <a:avLst/>
          </a:prstGeom>
          <a:solidFill>
            <a:srgbClr val="EEECE6"/>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269480" y="2935224"/>
            <a:ext cx="1427480" cy="292608"/>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696960" y="2935224"/>
            <a:ext cx="1427480" cy="292608"/>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0124440" y="2935224"/>
            <a:ext cx="1427480" cy="292608"/>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269480" y="3227832"/>
            <a:ext cx="1427480" cy="292608"/>
          </a:xfrm>
          <a:prstGeom prst="rect">
            <a:avLst/>
          </a:prstGeom>
          <a:solidFill>
            <a:srgbClr val="EEECE6"/>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696960" y="3227832"/>
            <a:ext cx="1427480" cy="292608"/>
          </a:xfrm>
          <a:prstGeom prst="rect">
            <a:avLst/>
          </a:prstGeom>
          <a:solidFill>
            <a:srgbClr val="EEECE6"/>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124440" y="3227832"/>
            <a:ext cx="1427480" cy="292608"/>
          </a:xfrm>
          <a:prstGeom prst="rect">
            <a:avLst/>
          </a:prstGeom>
          <a:solidFill>
            <a:srgbClr val="EEECE6"/>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269480" y="3520440"/>
            <a:ext cx="1427480" cy="292608"/>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696960" y="3520440"/>
            <a:ext cx="1427480" cy="292608"/>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124440" y="3520440"/>
            <a:ext cx="1427480" cy="292608"/>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269480" y="3813048"/>
            <a:ext cx="1427480" cy="292608"/>
          </a:xfrm>
          <a:prstGeom prst="rect">
            <a:avLst/>
          </a:prstGeom>
          <a:solidFill>
            <a:srgbClr val="EEECE6"/>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696960" y="3813048"/>
            <a:ext cx="1427480" cy="292608"/>
          </a:xfrm>
          <a:prstGeom prst="rect">
            <a:avLst/>
          </a:prstGeom>
          <a:solidFill>
            <a:srgbClr val="EEECE6"/>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0124440" y="3813048"/>
            <a:ext cx="1427480" cy="292608"/>
          </a:xfrm>
          <a:prstGeom prst="rect">
            <a:avLst/>
          </a:prstGeom>
          <a:solidFill>
            <a:srgbClr val="EEECE6"/>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7269480" y="4105656"/>
            <a:ext cx="1427480" cy="292608"/>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8696960" y="4105656"/>
            <a:ext cx="1427480" cy="292608"/>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10124440" y="4105656"/>
            <a:ext cx="1427480" cy="292608"/>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7269480" y="4398264"/>
            <a:ext cx="1427480" cy="292608"/>
          </a:xfrm>
          <a:prstGeom prst="rect">
            <a:avLst/>
          </a:prstGeom>
          <a:solidFill>
            <a:srgbClr val="EEECE6"/>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696960" y="4398264"/>
            <a:ext cx="1427480" cy="292608"/>
          </a:xfrm>
          <a:prstGeom prst="rect">
            <a:avLst/>
          </a:prstGeom>
          <a:solidFill>
            <a:srgbClr val="EEECE6"/>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10124440" y="4398264"/>
            <a:ext cx="1427480" cy="292608"/>
          </a:xfrm>
          <a:prstGeom prst="rect">
            <a:avLst/>
          </a:prstGeom>
          <a:solidFill>
            <a:srgbClr val="EEECE6"/>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7" name="Picture 5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58" name="TextBox 5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30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