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Lst>
  <p:sldSz cx="12192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548640" y="502920"/>
            <a:ext cx="7315200" cy="274320"/>
          </a:xfrm>
          <a:prstGeom prst="rect">
            <a:avLst/>
          </a:prstGeom>
          <a:noFill/>
        </p:spPr>
        <p:txBody>
          <a:bodyPr wrap="square" lIns="0" rIns="0" tIns="0" bIns="0">
            <a:spAutoFit/>
          </a:bodyPr>
          <a:lstStyle/>
          <a:p>
            <a:pPr algn="l"/>
            <a:r>
              <a:rPr sz="1100" b="1" i="0">
                <a:solidFill>
                  <a:srgbClr val="0D0D0D"/>
                </a:solidFill>
                <a:latin typeface="Source Sans Pro"/>
              </a:rPr>
              <a:t>OVPM Co-Design Toolkit  ·  Tool 18 of 133</a:t>
            </a:r>
          </a:p>
        </p:txBody>
      </p:sp>
      <p:sp>
        <p:nvSpPr>
          <p:cNvPr id="4" name="TextBox 3"/>
          <p:cNvSpPr txBox="1"/>
          <p:nvPr/>
        </p:nvSpPr>
        <p:spPr>
          <a:xfrm>
            <a:off x="7985760" y="502920"/>
            <a:ext cx="3657600" cy="274320"/>
          </a:xfrm>
          <a:prstGeom prst="rect">
            <a:avLst/>
          </a:prstGeom>
          <a:noFill/>
        </p:spPr>
        <p:txBody>
          <a:bodyPr wrap="square" lIns="0" rIns="0" tIns="0" bIns="0">
            <a:spAutoFit/>
          </a:bodyPr>
          <a:lstStyle/>
          <a:p>
            <a:pPr algn="r"/>
            <a:r>
              <a:rPr sz="1200" b="0" i="1">
                <a:solidFill>
                  <a:srgbClr val="0D0D0D"/>
                </a:solidFill>
                <a:latin typeface="Palatino Linotype"/>
              </a:rPr>
              <a:t>Method canvas for co-design</a:t>
            </a:r>
          </a:p>
        </p:txBody>
      </p:sp>
      <p:sp>
        <p:nvSpPr>
          <p:cNvPr id="5" name="TextBox 4"/>
          <p:cNvSpPr txBox="1"/>
          <p:nvPr/>
        </p:nvSpPr>
        <p:spPr>
          <a:xfrm>
            <a:off x="548640" y="1554480"/>
            <a:ext cx="11094720" cy="2194560"/>
          </a:xfrm>
          <a:prstGeom prst="rect">
            <a:avLst/>
          </a:prstGeom>
          <a:noFill/>
        </p:spPr>
        <p:txBody>
          <a:bodyPr wrap="square" lIns="0" rIns="0" tIns="0" bIns="0">
            <a:spAutoFit/>
          </a:bodyPr>
          <a:lstStyle/>
          <a:p>
            <a:pPr algn="l"/>
            <a:r>
              <a:rPr sz="5200" b="0" i="0">
                <a:solidFill>
                  <a:srgbClr val="0D0D0D"/>
                </a:solidFill>
                <a:latin typeface="Palatino Linotype"/>
              </a:rPr>
              <a:t>Voice of Citizen programs &amp; apps</a:t>
            </a:r>
          </a:p>
        </p:txBody>
      </p:sp>
      <p:sp>
        <p:nvSpPr>
          <p:cNvPr id="6" name="TextBox 5"/>
          <p:cNvSpPr txBox="1"/>
          <p:nvPr/>
        </p:nvSpPr>
        <p:spPr>
          <a:xfrm>
            <a:off x="548640" y="3931920"/>
            <a:ext cx="10058400" cy="1280160"/>
          </a:xfrm>
          <a:prstGeom prst="rect">
            <a:avLst/>
          </a:prstGeom>
          <a:noFill/>
        </p:spPr>
        <p:txBody>
          <a:bodyPr wrap="square" lIns="0" rIns="0" tIns="0" bIns="0">
            <a:spAutoFit/>
          </a:bodyPr>
          <a:lstStyle/>
          <a:p>
            <a:pPr algn="l"/>
            <a:r>
              <a:rPr sz="1100" b="1" i="0">
                <a:solidFill>
                  <a:srgbClr val="0D0D0D"/>
                </a:solidFill>
                <a:latin typeface="Source Sans Pro"/>
              </a:rPr>
              <a:t>What this tool produces  ·  </a:t>
            </a:r>
            <a:r>
              <a:rPr sz="1500" b="0" i="1">
                <a:solidFill>
                  <a:srgbClr val="0D0D0D"/>
                </a:solidFill>
                <a:latin typeface="Palatino Linotype"/>
              </a:rPr>
              <a:t>A geolocated, real-time dashboard of citizen complaints, proposals, and feedback used to directly prioritize municipal maintenance and planning tasks,.</a:t>
            </a:r>
          </a:p>
        </p:txBody>
      </p:sp>
      <p:sp>
        <p:nvSpPr>
          <p:cNvPr id="7" name="Rounded Rectangle 6"/>
          <p:cNvSpPr/>
          <p:nvPr/>
        </p:nvSpPr>
        <p:spPr>
          <a:xfrm>
            <a:off x="548640" y="5212080"/>
            <a:ext cx="2194560" cy="384048"/>
          </a:xfrm>
          <a:prstGeom prst="roundRect">
            <a:avLst>
              <a:gd name="adj" fmla="val 50000"/>
            </a:avLst>
          </a:prstGeom>
          <a:solidFill>
            <a:srgbClr val="0D0D0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FFFFFF"/>
                </a:solidFill>
                <a:latin typeface="Source Sans Pro"/>
              </a:rPr>
              <a:t>G1 · Proof of Impact</a:t>
            </a:r>
          </a:p>
        </p:txBody>
      </p:sp>
      <p:sp>
        <p:nvSpPr>
          <p:cNvPr id="8" name="TextBox 7"/>
          <p:cNvSpPr txBox="1"/>
          <p:nvPr/>
        </p:nvSpPr>
        <p:spPr>
          <a:xfrm>
            <a:off x="548640" y="5669280"/>
            <a:ext cx="1828800" cy="274320"/>
          </a:xfrm>
          <a:prstGeom prst="rect">
            <a:avLst/>
          </a:prstGeom>
          <a:noFill/>
        </p:spPr>
        <p:txBody>
          <a:bodyPr wrap="square" lIns="0" rIns="0" tIns="0" bIns="0">
            <a:spAutoFit/>
          </a:bodyPr>
          <a:lstStyle/>
          <a:p>
            <a:pPr algn="l"/>
            <a:r>
              <a:rPr sz="900" b="1" i="0">
                <a:solidFill>
                  <a:srgbClr val="0D0D0D"/>
                </a:solidFill>
                <a:latin typeface="Source Sans Pro"/>
              </a:rPr>
              <a:t>Dimensions</a:t>
            </a:r>
          </a:p>
        </p:txBody>
      </p:sp>
      <p:sp>
        <p:nvSpPr>
          <p:cNvPr id="9" name="Rounded Rectangle 8"/>
          <p:cNvSpPr/>
          <p:nvPr/>
        </p:nvSpPr>
        <p:spPr>
          <a:xfrm>
            <a:off x="548640" y="5943600"/>
            <a:ext cx="1376172"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Social / User</a:t>
            </a:r>
          </a:p>
        </p:txBody>
      </p:sp>
      <p:sp>
        <p:nvSpPr>
          <p:cNvPr id="10" name="Rounded Rectangle 9"/>
          <p:cNvSpPr/>
          <p:nvPr/>
        </p:nvSpPr>
        <p:spPr>
          <a:xfrm>
            <a:off x="2034540" y="5943600"/>
            <a:ext cx="1188720" cy="329184"/>
          </a:xfrm>
          <a:prstGeom prst="roundRect">
            <a:avLst>
              <a:gd name="adj" fmla="val 50000"/>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000">
                <a:solidFill>
                  <a:srgbClr val="0D0D0D"/>
                </a:solidFill>
                <a:latin typeface="Source Sans Pro"/>
              </a:rPr>
              <a:t>Regulation</a:t>
            </a:r>
          </a:p>
        </p:txBody>
      </p:sp>
      <p:pic>
        <p:nvPicPr>
          <p:cNvPr id="11" name="Picture 10" descr="aktan_black_transparent.png"/>
          <p:cNvPicPr>
            <a:picLocks noChangeAspect="1"/>
          </p:cNvPicPr>
          <p:nvPr/>
        </p:nvPicPr>
        <p:blipFill>
          <a:blip r:embed="rId2"/>
          <a:stretch>
            <a:fillRect/>
          </a:stretch>
        </p:blipFill>
        <p:spPr>
          <a:xfrm>
            <a:off x="10271760" y="6024114"/>
            <a:ext cx="1371600" cy="330966"/>
          </a:xfrm>
          <a:prstGeom prst="rect">
            <a:avLst/>
          </a:prstGeom>
        </p:spPr>
      </p:pic>
      <p:sp>
        <p:nvSpPr>
          <p:cNvPr id="12" name="TextBox 11"/>
          <p:cNvSpPr txBox="1"/>
          <p:nvPr/>
        </p:nvSpPr>
        <p:spPr>
          <a:xfrm>
            <a:off x="10271760" y="6395080"/>
            <a:ext cx="1371600" cy="274320"/>
          </a:xfrm>
          <a:prstGeom prst="rect">
            <a:avLst/>
          </a:prstGeom>
          <a:noFill/>
        </p:spPr>
        <p:txBody>
          <a:bodyPr wrap="square" lIns="0" rIns="0" tIns="0" bIns="0">
            <a:spAutoFit/>
          </a:bodyPr>
          <a:lstStyle/>
          <a:p>
            <a:pPr algn="ctr"/>
            <a:r>
              <a:rPr sz="1200" b="0" i="1">
                <a:solidFill>
                  <a:srgbClr val="0D0D0D"/>
                </a:solidFill>
                <a:latin typeface="Palatino Linotype"/>
              </a:rPr>
              <a:t>With simplexity</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18  ·  FACILITATOR PREPARATION</a:t>
            </a:r>
          </a:p>
        </p:txBody>
      </p:sp>
      <p:sp>
        <p:nvSpPr>
          <p:cNvPr id="4" name="TextBox 3"/>
          <p:cNvSpPr txBox="1"/>
          <p:nvPr/>
        </p:nvSpPr>
        <p:spPr>
          <a:xfrm>
            <a:off x="457200" y="594360"/>
            <a:ext cx="10515600" cy="914400"/>
          </a:xfrm>
          <a:prstGeom prst="rect">
            <a:avLst/>
          </a:prstGeom>
          <a:noFill/>
        </p:spPr>
        <p:txBody>
          <a:bodyPr wrap="square" lIns="0" rIns="0" tIns="0" bIns="0">
            <a:spAutoFit/>
          </a:bodyPr>
          <a:lstStyle/>
          <a:p>
            <a:pPr algn="l"/>
            <a:r>
              <a:rPr sz="2800" b="0" i="0">
                <a:solidFill>
                  <a:srgbClr val="0D0D0D"/>
                </a:solidFill>
                <a:latin typeface="Palatino Linotype"/>
              </a:rPr>
              <a:t>Preparing the workshop  ·  </a:t>
            </a:r>
            <a:r>
              <a:rPr sz="2800" b="0" i="1">
                <a:solidFill>
                  <a:srgbClr val="0D0D0D"/>
                </a:solidFill>
                <a:latin typeface="Palatino Linotype"/>
              </a:rPr>
              <a:t>Voice of Citizen programs &amp; apps</a:t>
            </a:r>
          </a:p>
        </p:txBody>
      </p:sp>
      <p:sp>
        <p:nvSpPr>
          <p:cNvPr id="5" name="Rounded Rectangle 4"/>
          <p:cNvSpPr/>
          <p:nvPr/>
        </p:nvSpPr>
        <p:spPr>
          <a:xfrm>
            <a:off x="457200" y="1554480"/>
            <a:ext cx="2468880" cy="384048"/>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G1 · Proof of Impact</a:t>
            </a:r>
          </a:p>
        </p:txBody>
      </p:sp>
      <p:sp>
        <p:nvSpPr>
          <p:cNvPr id="6" name="Rounded Rectangle 5"/>
          <p:cNvSpPr/>
          <p:nvPr/>
        </p:nvSpPr>
        <p:spPr>
          <a:xfrm>
            <a:off x="45720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9436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3152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Why this tool matters</a:t>
            </a:r>
          </a:p>
        </p:txBody>
      </p:sp>
      <p:sp>
        <p:nvSpPr>
          <p:cNvPr id="9" name="TextBox 8"/>
          <p:cNvSpPr txBox="1"/>
          <p:nvPr/>
        </p:nvSpPr>
        <p:spPr>
          <a:xfrm>
            <a:off x="73152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Putting the power to flag neglect and demand care directly into the pockets of the residents, making the administration instantly accountable to the street.</a:t>
            </a:r>
          </a:p>
        </p:txBody>
      </p:sp>
      <p:sp>
        <p:nvSpPr>
          <p:cNvPr id="10" name="Rounded Rectangle 9"/>
          <p:cNvSpPr/>
          <p:nvPr/>
        </p:nvSpPr>
        <p:spPr>
          <a:xfrm>
            <a:off x="6080760" y="2103120"/>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217920" y="2267712"/>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55080" y="2240280"/>
            <a:ext cx="4983480" cy="365760"/>
          </a:xfrm>
          <a:prstGeom prst="rect">
            <a:avLst/>
          </a:prstGeom>
          <a:noFill/>
        </p:spPr>
        <p:txBody>
          <a:bodyPr wrap="square" lIns="0" rIns="0" tIns="0" bIns="0">
            <a:spAutoFit/>
          </a:bodyPr>
          <a:lstStyle/>
          <a:p>
            <a:pPr algn="l"/>
            <a:r>
              <a:rPr sz="1200" b="1" i="0">
                <a:solidFill>
                  <a:srgbClr val="0D0D0D"/>
                </a:solidFill>
                <a:latin typeface="Source Sans Pro"/>
              </a:rPr>
              <a:t>Evidence we produce</a:t>
            </a:r>
          </a:p>
        </p:txBody>
      </p:sp>
      <p:sp>
        <p:nvSpPr>
          <p:cNvPr id="13" name="TextBox 12"/>
          <p:cNvSpPr txBox="1"/>
          <p:nvPr/>
        </p:nvSpPr>
        <p:spPr>
          <a:xfrm>
            <a:off x="6355080" y="2606040"/>
            <a:ext cx="4983480" cy="1234439"/>
          </a:xfrm>
          <a:prstGeom prst="rect">
            <a:avLst/>
          </a:prstGeom>
          <a:noFill/>
        </p:spPr>
        <p:txBody>
          <a:bodyPr wrap="square" lIns="0" rIns="0" tIns="0" bIns="0">
            <a:spAutoFit/>
          </a:bodyPr>
          <a:lstStyle/>
          <a:p>
            <a:pPr algn="l"/>
            <a:r>
              <a:rPr sz="1000" b="0" i="0">
                <a:solidFill>
                  <a:srgbClr val="0D0D0D"/>
                </a:solidFill>
                <a:latin typeface="Source Sans Pro"/>
              </a:rPr>
              <a:t>A geolocated, real-time dashboard of citizen complaints, proposals, and feedback used to directly prioritize municipal maintenance and planning tasks,.</a:t>
            </a:r>
          </a:p>
        </p:txBody>
      </p:sp>
      <p:sp>
        <p:nvSpPr>
          <p:cNvPr id="14" name="Rounded Rectangle 13"/>
          <p:cNvSpPr/>
          <p:nvPr/>
        </p:nvSpPr>
        <p:spPr>
          <a:xfrm>
            <a:off x="45720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9436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3152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Duration &amp; Material</a:t>
            </a:r>
          </a:p>
        </p:txBody>
      </p:sp>
      <p:sp>
        <p:nvSpPr>
          <p:cNvPr id="17" name="TextBox 16"/>
          <p:cNvSpPr txBox="1"/>
          <p:nvPr/>
        </p:nvSpPr>
        <p:spPr>
          <a:xfrm>
            <a:off x="73152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Duration  ·  Continuous deployment
Material  ·  Civic tech platforms, mobile applications, GIS software, open data portals</a:t>
            </a:r>
          </a:p>
        </p:txBody>
      </p:sp>
      <p:sp>
        <p:nvSpPr>
          <p:cNvPr id="18" name="Rounded Rectangle 17"/>
          <p:cNvSpPr/>
          <p:nvPr/>
        </p:nvSpPr>
        <p:spPr>
          <a:xfrm>
            <a:off x="6080760" y="4160519"/>
            <a:ext cx="5440680" cy="1874519"/>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217920" y="4325111"/>
            <a:ext cx="45720" cy="274320"/>
          </a:xfrm>
          <a:prstGeom prst="rect">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55080" y="4297679"/>
            <a:ext cx="4983480" cy="365760"/>
          </a:xfrm>
          <a:prstGeom prst="rect">
            <a:avLst/>
          </a:prstGeom>
          <a:noFill/>
        </p:spPr>
        <p:txBody>
          <a:bodyPr wrap="square" lIns="0" rIns="0" tIns="0" bIns="0">
            <a:spAutoFit/>
          </a:bodyPr>
          <a:lstStyle/>
          <a:p>
            <a:pPr algn="l"/>
            <a:r>
              <a:rPr sz="1200" b="1" i="0">
                <a:solidFill>
                  <a:srgbClr val="0D0D0D"/>
                </a:solidFill>
                <a:latin typeface="Source Sans Pro"/>
              </a:rPr>
              <a:t>Reference case</a:t>
            </a:r>
          </a:p>
        </p:txBody>
      </p:sp>
      <p:sp>
        <p:nvSpPr>
          <p:cNvPr id="21" name="TextBox 20"/>
          <p:cNvSpPr txBox="1"/>
          <p:nvPr/>
        </p:nvSpPr>
        <p:spPr>
          <a:xfrm>
            <a:off x="6355080" y="4663439"/>
            <a:ext cx="4983480" cy="1234439"/>
          </a:xfrm>
          <a:prstGeom prst="rect">
            <a:avLst/>
          </a:prstGeom>
          <a:noFill/>
        </p:spPr>
        <p:txBody>
          <a:bodyPr wrap="square" lIns="0" rIns="0" tIns="0" bIns="0">
            <a:spAutoFit/>
          </a:bodyPr>
          <a:lstStyle/>
          <a:p>
            <a:pPr algn="l"/>
            <a:r>
              <a:rPr sz="1000" b="0" i="0">
                <a:solidFill>
                  <a:srgbClr val="0D0D0D"/>
                </a:solidFill>
                <a:latin typeface="Source Sans Pro"/>
              </a:rPr>
              <a:t>Cities globally use mobile platforms like SeeClickFix and CitySourced to enable individuals to report localized issues directly to municipal services, significantly enhancing civic engagement. Similarly, the WeGovNow platform in Southwark (UK) and Turin (Italy) successfully registered over 10,000 users to solve local policy challenges, track infrastructure issues, and improve the quality of public discourse,.</a:t>
            </a:r>
          </a:p>
        </p:txBody>
      </p:sp>
      <p:sp>
        <p:nvSpPr>
          <p:cNvPr id="22" name="TextBox 21"/>
          <p:cNvSpPr txBox="1"/>
          <p:nvPr/>
        </p:nvSpPr>
        <p:spPr>
          <a:xfrm>
            <a:off x="457200" y="6035040"/>
            <a:ext cx="10515600" cy="274320"/>
          </a:xfrm>
          <a:prstGeom prst="rect">
            <a:avLst/>
          </a:prstGeom>
          <a:noFill/>
        </p:spPr>
        <p:txBody>
          <a:bodyPr wrap="square" lIns="0" rIns="0" tIns="0" bIns="0">
            <a:spAutoFit/>
          </a:bodyPr>
          <a:lstStyle/>
          <a:p>
            <a:pPr algn="l"/>
            <a:r>
              <a:rPr sz="1000" b="1" i="0">
                <a:solidFill>
                  <a:srgbClr val="0D0D0D"/>
                </a:solidFill>
                <a:latin typeface="Source Sans Pro"/>
              </a:rPr>
              <a:t>Suggested agenda  ·  </a:t>
            </a:r>
            <a:r>
              <a:rPr sz="1000" b="0" i="0">
                <a:solidFill>
                  <a:srgbClr val="757575"/>
                </a:solidFill>
                <a:latin typeface="Source Sans Pro"/>
              </a:rPr>
              <a:t>Brief (10 min)  ›  Method walk-through (15 min)  ›  Animation canvas (60–90 min)  ›  Harvest (20 min)</a:t>
            </a:r>
          </a:p>
        </p:txBody>
      </p:sp>
      <p:pic>
        <p:nvPicPr>
          <p:cNvPr id="23" name="Picture 22"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24" name="TextBox 23"/>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10058400" cy="274320"/>
          </a:xfrm>
          <a:prstGeom prst="rect">
            <a:avLst/>
          </a:prstGeom>
          <a:noFill/>
        </p:spPr>
        <p:txBody>
          <a:bodyPr wrap="square" lIns="0" rIns="0" tIns="0" bIns="0">
            <a:spAutoFit/>
          </a:bodyPr>
          <a:lstStyle/>
          <a:p>
            <a:pPr algn="l"/>
            <a:r>
              <a:rPr sz="1000" b="1" i="0">
                <a:solidFill>
                  <a:srgbClr val="757575"/>
                </a:solidFill>
                <a:latin typeface="Source Sans Pro"/>
              </a:rPr>
              <a:t>TOOL 18  ·  ANIMATION CANVAS  ·  </a:t>
            </a:r>
            <a:r>
              <a:rPr sz="1000" b="1" i="0">
                <a:solidFill>
                  <a:srgbClr val="0D0D0D"/>
                </a:solidFill>
                <a:latin typeface="Source Sans Pro"/>
              </a:rPr>
              <a:t>VOICE OF CITIZEN PROGRAMS &amp; APPS</a:t>
            </a:r>
          </a:p>
        </p:txBody>
      </p:sp>
      <p:sp>
        <p:nvSpPr>
          <p:cNvPr id="4" name="TextBox 3"/>
          <p:cNvSpPr txBox="1"/>
          <p:nvPr/>
        </p:nvSpPr>
        <p:spPr>
          <a:xfrm>
            <a:off x="457200" y="640080"/>
            <a:ext cx="8229600" cy="640080"/>
          </a:xfrm>
          <a:prstGeom prst="rect">
            <a:avLst/>
          </a:prstGeom>
          <a:noFill/>
        </p:spPr>
        <p:txBody>
          <a:bodyPr wrap="square" lIns="0" rIns="0" tIns="0" bIns="0">
            <a:spAutoFit/>
          </a:bodyPr>
          <a:lstStyle/>
          <a:p>
            <a:pPr algn="l"/>
            <a:r>
              <a:rPr sz="2400" b="0" i="0">
                <a:solidFill>
                  <a:srgbClr val="0D0D0D"/>
                </a:solidFill>
                <a:latin typeface="Palatino Linotype"/>
              </a:rPr>
              <a:t>Channel mix · listen · triage · respond</a:t>
            </a:r>
          </a:p>
        </p:txBody>
      </p:sp>
      <p:sp>
        <p:nvSpPr>
          <p:cNvPr id="5" name="TextBox 4"/>
          <p:cNvSpPr txBox="1"/>
          <p:nvPr/>
        </p:nvSpPr>
        <p:spPr>
          <a:xfrm>
            <a:off x="8778240" y="640080"/>
            <a:ext cx="2926080" cy="640080"/>
          </a:xfrm>
          <a:prstGeom prst="rect">
            <a:avLst/>
          </a:prstGeom>
          <a:noFill/>
        </p:spPr>
        <p:txBody>
          <a:bodyPr wrap="square" lIns="0" rIns="0" tIns="0" bIns="0">
            <a:spAutoFit/>
          </a:bodyPr>
          <a:lstStyle/>
          <a:p>
            <a:pPr algn="r"/>
            <a:r>
              <a:rPr sz="850" b="1" i="0">
                <a:solidFill>
                  <a:srgbClr val="757575"/>
                </a:solidFill>
                <a:latin typeface="Source Sans Pro"/>
              </a:rPr>
              <a:t>Duration</a:t>
            </a:r>
          </a:p>
          <a:p>
            <a:pPr algn="r"/>
            <a:r>
              <a:rPr sz="1000" b="0" i="0">
                <a:solidFill>
                  <a:srgbClr val="0D0D0D"/>
                </a:solidFill>
                <a:latin typeface="Source Sans Pro"/>
              </a:rPr>
              <a:t>Continuous deployment</a:t>
            </a:r>
          </a:p>
        </p:txBody>
      </p:sp>
      <p:sp>
        <p:nvSpPr>
          <p:cNvPr id="6" name="Rounded Rectangle 5"/>
          <p:cNvSpPr/>
          <p:nvPr/>
        </p:nvSpPr>
        <p:spPr>
          <a:xfrm>
            <a:off x="457200" y="1417320"/>
            <a:ext cx="2695956" cy="20116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ounded Rectangle 6"/>
          <p:cNvSpPr/>
          <p:nvPr/>
        </p:nvSpPr>
        <p:spPr>
          <a:xfrm>
            <a:off x="685800" y="1600200"/>
            <a:ext cx="1828800" cy="32918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Mobile app</a:t>
            </a:r>
          </a:p>
        </p:txBody>
      </p:sp>
      <p:sp>
        <p:nvSpPr>
          <p:cNvPr id="8" name="TextBox 7"/>
          <p:cNvSpPr txBox="1"/>
          <p:nvPr/>
        </p:nvSpPr>
        <p:spPr>
          <a:xfrm>
            <a:off x="685800" y="2057400"/>
            <a:ext cx="2238756" cy="640080"/>
          </a:xfrm>
          <a:prstGeom prst="rect">
            <a:avLst/>
          </a:prstGeom>
          <a:noFill/>
        </p:spPr>
        <p:txBody>
          <a:bodyPr wrap="square" lIns="0" rIns="0" tIns="0" bIns="0">
            <a:spAutoFit/>
          </a:bodyPr>
          <a:lstStyle/>
          <a:p>
            <a:pPr algn="l"/>
            <a:r>
              <a:rPr sz="1050" b="0" i="1">
                <a:solidFill>
                  <a:srgbClr val="757575"/>
                </a:solidFill>
                <a:latin typeface="Palatino Linotype"/>
              </a:rPr>
              <a:t>Geolocated reports
push notifications</a:t>
            </a:r>
          </a:p>
        </p:txBody>
      </p:sp>
      <p:sp>
        <p:nvSpPr>
          <p:cNvPr id="9" name="TextBox 8"/>
          <p:cNvSpPr txBox="1"/>
          <p:nvPr/>
        </p:nvSpPr>
        <p:spPr>
          <a:xfrm>
            <a:off x="685800" y="2788920"/>
            <a:ext cx="2238756" cy="274320"/>
          </a:xfrm>
          <a:prstGeom prst="rect">
            <a:avLst/>
          </a:prstGeom>
          <a:noFill/>
        </p:spPr>
        <p:txBody>
          <a:bodyPr wrap="square" lIns="0" rIns="0" tIns="0" bIns="0">
            <a:spAutoFit/>
          </a:bodyPr>
          <a:lstStyle/>
          <a:p>
            <a:pPr algn="l"/>
            <a:r>
              <a:rPr sz="950" b="1" i="0">
                <a:solidFill>
                  <a:srgbClr val="757575"/>
                </a:solidFill>
                <a:latin typeface="Source Sans Pro"/>
              </a:rPr>
              <a:t>Accessibility ✓</a:t>
            </a:r>
          </a:p>
        </p:txBody>
      </p:sp>
      <p:cxnSp>
        <p:nvCxnSpPr>
          <p:cNvPr id="10" name="Connector 9"/>
          <p:cNvCxnSpPr/>
          <p:nvPr/>
        </p:nvCxnSpPr>
        <p:spPr>
          <a:xfrm>
            <a:off x="685800.0" y="304495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685800.0" y="32095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2" name="Rounded Rectangle 11"/>
          <p:cNvSpPr/>
          <p:nvPr/>
        </p:nvSpPr>
        <p:spPr>
          <a:xfrm>
            <a:off x="3317748" y="1417320"/>
            <a:ext cx="2695956" cy="20116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Rounded Rectangle 12"/>
          <p:cNvSpPr/>
          <p:nvPr/>
        </p:nvSpPr>
        <p:spPr>
          <a:xfrm>
            <a:off x="3546348" y="1600200"/>
            <a:ext cx="1828800" cy="329184"/>
          </a:xfrm>
          <a:prstGeom prst="roundRect">
            <a:avLst>
              <a:gd name="adj" fmla="val 50000"/>
            </a:avLst>
          </a:prstGeom>
          <a:solidFill>
            <a:srgbClr val="459ACB"/>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Web portal</a:t>
            </a:r>
          </a:p>
        </p:txBody>
      </p:sp>
      <p:sp>
        <p:nvSpPr>
          <p:cNvPr id="14" name="TextBox 13"/>
          <p:cNvSpPr txBox="1"/>
          <p:nvPr/>
        </p:nvSpPr>
        <p:spPr>
          <a:xfrm>
            <a:off x="3546348" y="2057400"/>
            <a:ext cx="2238756" cy="640080"/>
          </a:xfrm>
          <a:prstGeom prst="rect">
            <a:avLst/>
          </a:prstGeom>
          <a:noFill/>
        </p:spPr>
        <p:txBody>
          <a:bodyPr wrap="square" lIns="0" rIns="0" tIns="0" bIns="0">
            <a:spAutoFit/>
          </a:bodyPr>
          <a:lstStyle/>
          <a:p>
            <a:pPr algn="l"/>
            <a:r>
              <a:rPr sz="1050" b="0" i="1">
                <a:solidFill>
                  <a:srgbClr val="757575"/>
                </a:solidFill>
                <a:latin typeface="Palatino Linotype"/>
              </a:rPr>
              <a:t>Long-form requests
status tracking</a:t>
            </a:r>
          </a:p>
        </p:txBody>
      </p:sp>
      <p:sp>
        <p:nvSpPr>
          <p:cNvPr id="15" name="TextBox 14"/>
          <p:cNvSpPr txBox="1"/>
          <p:nvPr/>
        </p:nvSpPr>
        <p:spPr>
          <a:xfrm>
            <a:off x="3546348" y="2788920"/>
            <a:ext cx="2238756" cy="274320"/>
          </a:xfrm>
          <a:prstGeom prst="rect">
            <a:avLst/>
          </a:prstGeom>
          <a:noFill/>
        </p:spPr>
        <p:txBody>
          <a:bodyPr wrap="square" lIns="0" rIns="0" tIns="0" bIns="0">
            <a:spAutoFit/>
          </a:bodyPr>
          <a:lstStyle/>
          <a:p>
            <a:pPr algn="l"/>
            <a:r>
              <a:rPr sz="950" b="1" i="0">
                <a:solidFill>
                  <a:srgbClr val="757575"/>
                </a:solidFill>
                <a:latin typeface="Source Sans Pro"/>
              </a:rPr>
              <a:t>Accessibility ✓</a:t>
            </a:r>
          </a:p>
        </p:txBody>
      </p:sp>
      <p:cxnSp>
        <p:nvCxnSpPr>
          <p:cNvPr id="16" name="Connector 15"/>
          <p:cNvCxnSpPr/>
          <p:nvPr/>
        </p:nvCxnSpPr>
        <p:spPr>
          <a:xfrm>
            <a:off x="3546348.0" y="304495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7" name="Connector 16"/>
          <p:cNvCxnSpPr/>
          <p:nvPr/>
        </p:nvCxnSpPr>
        <p:spPr>
          <a:xfrm>
            <a:off x="3546348.0" y="32095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8" name="Rounded Rectangle 17"/>
          <p:cNvSpPr/>
          <p:nvPr/>
        </p:nvSpPr>
        <p:spPr>
          <a:xfrm>
            <a:off x="6178296" y="1417320"/>
            <a:ext cx="2695956" cy="20116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ounded Rectangle 18"/>
          <p:cNvSpPr/>
          <p:nvPr/>
        </p:nvSpPr>
        <p:spPr>
          <a:xfrm>
            <a:off x="6406896" y="1600200"/>
            <a:ext cx="1828800" cy="32918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Hotline</a:t>
            </a:r>
          </a:p>
        </p:txBody>
      </p:sp>
      <p:sp>
        <p:nvSpPr>
          <p:cNvPr id="20" name="TextBox 19"/>
          <p:cNvSpPr txBox="1"/>
          <p:nvPr/>
        </p:nvSpPr>
        <p:spPr>
          <a:xfrm>
            <a:off x="6406896" y="2057400"/>
            <a:ext cx="2238756" cy="640080"/>
          </a:xfrm>
          <a:prstGeom prst="rect">
            <a:avLst/>
          </a:prstGeom>
          <a:noFill/>
        </p:spPr>
        <p:txBody>
          <a:bodyPr wrap="square" lIns="0" rIns="0" tIns="0" bIns="0">
            <a:spAutoFit/>
          </a:bodyPr>
          <a:lstStyle/>
          <a:p>
            <a:pPr algn="l"/>
            <a:r>
              <a:rPr sz="1050" b="0" i="1">
                <a:solidFill>
                  <a:srgbClr val="757575"/>
                </a:solidFill>
                <a:latin typeface="Palatino Linotype"/>
              </a:rPr>
              <a:t>Voice for low-tech users
24/7 access</a:t>
            </a:r>
          </a:p>
        </p:txBody>
      </p:sp>
      <p:sp>
        <p:nvSpPr>
          <p:cNvPr id="21" name="TextBox 20"/>
          <p:cNvSpPr txBox="1"/>
          <p:nvPr/>
        </p:nvSpPr>
        <p:spPr>
          <a:xfrm>
            <a:off x="6406896" y="2788920"/>
            <a:ext cx="2238756" cy="274320"/>
          </a:xfrm>
          <a:prstGeom prst="rect">
            <a:avLst/>
          </a:prstGeom>
          <a:noFill/>
        </p:spPr>
        <p:txBody>
          <a:bodyPr wrap="square" lIns="0" rIns="0" tIns="0" bIns="0">
            <a:spAutoFit/>
          </a:bodyPr>
          <a:lstStyle/>
          <a:p>
            <a:pPr algn="l"/>
            <a:r>
              <a:rPr sz="950" b="1" i="0">
                <a:solidFill>
                  <a:srgbClr val="757575"/>
                </a:solidFill>
                <a:latin typeface="Source Sans Pro"/>
              </a:rPr>
              <a:t>Accessibility ✓</a:t>
            </a:r>
          </a:p>
        </p:txBody>
      </p:sp>
      <p:cxnSp>
        <p:nvCxnSpPr>
          <p:cNvPr id="22" name="Connector 21"/>
          <p:cNvCxnSpPr/>
          <p:nvPr/>
        </p:nvCxnSpPr>
        <p:spPr>
          <a:xfrm>
            <a:off x="6406896.0" y="304495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6406896.0" y="32095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9038844" y="1417320"/>
            <a:ext cx="2695956" cy="201168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Rounded Rectangle 24"/>
          <p:cNvSpPr/>
          <p:nvPr/>
        </p:nvSpPr>
        <p:spPr>
          <a:xfrm>
            <a:off x="9267444" y="1600200"/>
            <a:ext cx="1828800" cy="32918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100">
                <a:solidFill>
                  <a:srgbClr val="0D0D0D"/>
                </a:solidFill>
                <a:latin typeface="Source Sans Pro"/>
              </a:rPr>
              <a:t>In-person desk</a:t>
            </a:r>
          </a:p>
        </p:txBody>
      </p:sp>
      <p:sp>
        <p:nvSpPr>
          <p:cNvPr id="26" name="TextBox 25"/>
          <p:cNvSpPr txBox="1"/>
          <p:nvPr/>
        </p:nvSpPr>
        <p:spPr>
          <a:xfrm>
            <a:off x="9267444" y="2057400"/>
            <a:ext cx="2238756" cy="640080"/>
          </a:xfrm>
          <a:prstGeom prst="rect">
            <a:avLst/>
          </a:prstGeom>
          <a:noFill/>
        </p:spPr>
        <p:txBody>
          <a:bodyPr wrap="square" lIns="0" rIns="0" tIns="0" bIns="0">
            <a:spAutoFit/>
          </a:bodyPr>
          <a:lstStyle/>
          <a:p>
            <a:pPr algn="l"/>
            <a:r>
              <a:rPr sz="1050" b="0" i="1">
                <a:solidFill>
                  <a:srgbClr val="757575"/>
                </a:solidFill>
                <a:latin typeface="Palatino Linotype"/>
              </a:rPr>
              <a:t>Face-to-face contact
trust building</a:t>
            </a:r>
          </a:p>
        </p:txBody>
      </p:sp>
      <p:sp>
        <p:nvSpPr>
          <p:cNvPr id="27" name="TextBox 26"/>
          <p:cNvSpPr txBox="1"/>
          <p:nvPr/>
        </p:nvSpPr>
        <p:spPr>
          <a:xfrm>
            <a:off x="9267444" y="2788920"/>
            <a:ext cx="2238756" cy="274320"/>
          </a:xfrm>
          <a:prstGeom prst="rect">
            <a:avLst/>
          </a:prstGeom>
          <a:noFill/>
        </p:spPr>
        <p:txBody>
          <a:bodyPr wrap="square" lIns="0" rIns="0" tIns="0" bIns="0">
            <a:spAutoFit/>
          </a:bodyPr>
          <a:lstStyle/>
          <a:p>
            <a:pPr algn="l"/>
            <a:r>
              <a:rPr sz="950" b="1" i="0">
                <a:solidFill>
                  <a:srgbClr val="757575"/>
                </a:solidFill>
                <a:latin typeface="Source Sans Pro"/>
              </a:rPr>
              <a:t>Accessibility ✓</a:t>
            </a:r>
          </a:p>
        </p:txBody>
      </p:sp>
      <p:cxnSp>
        <p:nvCxnSpPr>
          <p:cNvPr id="28" name="Connector 27"/>
          <p:cNvCxnSpPr/>
          <p:nvPr/>
        </p:nvCxnSpPr>
        <p:spPr>
          <a:xfrm>
            <a:off x="9267444.0" y="3044952"/>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9267444.0" y="3209544"/>
            <a:ext cx="2238756.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0" name="TextBox 29"/>
          <p:cNvSpPr txBox="1"/>
          <p:nvPr/>
        </p:nvSpPr>
        <p:spPr>
          <a:xfrm>
            <a:off x="457200" y="3657600"/>
            <a:ext cx="7315200" cy="274320"/>
          </a:xfrm>
          <a:prstGeom prst="rect">
            <a:avLst/>
          </a:prstGeom>
          <a:noFill/>
        </p:spPr>
        <p:txBody>
          <a:bodyPr wrap="square" lIns="0" rIns="0" tIns="0" bIns="0">
            <a:spAutoFit/>
          </a:bodyPr>
          <a:lstStyle/>
          <a:p>
            <a:pPr algn="l"/>
            <a:r>
              <a:rPr sz="1300" b="0" i="1">
                <a:solidFill>
                  <a:srgbClr val="0D0D0D"/>
                </a:solidFill>
                <a:latin typeface="Palatino Linotype"/>
              </a:rPr>
              <a:t>Triage workflow</a:t>
            </a:r>
          </a:p>
        </p:txBody>
      </p:sp>
      <p:sp>
        <p:nvSpPr>
          <p:cNvPr id="31" name="Rounded Rectangle 30"/>
          <p:cNvSpPr/>
          <p:nvPr/>
        </p:nvSpPr>
        <p:spPr>
          <a:xfrm>
            <a:off x="548640" y="4023360"/>
            <a:ext cx="2636520" cy="19202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Oval 31"/>
          <p:cNvSpPr/>
          <p:nvPr/>
        </p:nvSpPr>
        <p:spPr>
          <a:xfrm>
            <a:off x="1665732" y="4187952"/>
            <a:ext cx="402336" cy="402336"/>
          </a:xfrm>
          <a:prstGeom prst="ellipse">
            <a:avLst/>
          </a:prstGeom>
          <a:solidFill>
            <a:srgbClr val="FFD200"/>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extBox 32"/>
          <p:cNvSpPr txBox="1"/>
          <p:nvPr/>
        </p:nvSpPr>
        <p:spPr>
          <a:xfrm>
            <a:off x="1665732" y="4187952"/>
            <a:ext cx="402336" cy="402336"/>
          </a:xfrm>
          <a:prstGeom prst="rect">
            <a:avLst/>
          </a:prstGeom>
          <a:noFill/>
        </p:spPr>
        <p:txBody>
          <a:bodyPr wrap="square" lIns="0" rIns="0" tIns="0" bIns="0" anchor="ctr">
            <a:spAutoFit/>
          </a:bodyPr>
          <a:lstStyle/>
          <a:p>
            <a:pPr algn="ctr"/>
            <a:r>
              <a:rPr sz="1400" b="1" i="0">
                <a:solidFill>
                  <a:srgbClr val="0D0D0D"/>
                </a:solidFill>
                <a:latin typeface="Palatino Linotype"/>
              </a:rPr>
              <a:t>1</a:t>
            </a:r>
          </a:p>
        </p:txBody>
      </p:sp>
      <p:sp>
        <p:nvSpPr>
          <p:cNvPr id="34" name="TextBox 33"/>
          <p:cNvSpPr txBox="1"/>
          <p:nvPr/>
        </p:nvSpPr>
        <p:spPr>
          <a:xfrm>
            <a:off x="548640" y="4709160"/>
            <a:ext cx="2636520" cy="365760"/>
          </a:xfrm>
          <a:prstGeom prst="rect">
            <a:avLst/>
          </a:prstGeom>
          <a:noFill/>
        </p:spPr>
        <p:txBody>
          <a:bodyPr wrap="square" lIns="0" rIns="0" tIns="0" bIns="0">
            <a:spAutoFit/>
          </a:bodyPr>
          <a:lstStyle/>
          <a:p>
            <a:pPr algn="ctr"/>
            <a:r>
              <a:rPr sz="1100" b="1" i="0">
                <a:solidFill>
                  <a:srgbClr val="0D0D0D"/>
                </a:solidFill>
                <a:latin typeface="Source Sans Pro"/>
              </a:rPr>
              <a:t>Receive</a:t>
            </a:r>
          </a:p>
        </p:txBody>
      </p:sp>
      <p:sp>
        <p:nvSpPr>
          <p:cNvPr id="35" name="TextBox 34"/>
          <p:cNvSpPr txBox="1"/>
          <p:nvPr/>
        </p:nvSpPr>
        <p:spPr>
          <a:xfrm>
            <a:off x="3230880" y="4389120"/>
            <a:ext cx="182880" cy="274320"/>
          </a:xfrm>
          <a:prstGeom prst="rect">
            <a:avLst/>
          </a:prstGeom>
          <a:noFill/>
        </p:spPr>
        <p:txBody>
          <a:bodyPr wrap="square" lIns="0" rIns="0" tIns="0" bIns="0">
            <a:spAutoFit/>
          </a:bodyPr>
          <a:lstStyle/>
          <a:p>
            <a:pPr algn="ctr"/>
            <a:r>
              <a:rPr sz="1600" b="1" i="0">
                <a:solidFill>
                  <a:srgbClr val="0D0D0D"/>
                </a:solidFill>
                <a:latin typeface="Source Sans Pro"/>
              </a:rPr>
              <a:t>→</a:t>
            </a:r>
          </a:p>
        </p:txBody>
      </p:sp>
      <p:sp>
        <p:nvSpPr>
          <p:cNvPr id="36" name="Rounded Rectangle 35"/>
          <p:cNvSpPr/>
          <p:nvPr/>
        </p:nvSpPr>
        <p:spPr>
          <a:xfrm>
            <a:off x="3368040" y="4023360"/>
            <a:ext cx="2636520" cy="19202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7" name="Oval 36"/>
          <p:cNvSpPr/>
          <p:nvPr/>
        </p:nvSpPr>
        <p:spPr>
          <a:xfrm>
            <a:off x="4485132" y="4187952"/>
            <a:ext cx="402336" cy="402336"/>
          </a:xfrm>
          <a:prstGeom prst="ellipse">
            <a:avLst/>
          </a:prstGeom>
          <a:solidFill>
            <a:srgbClr val="FFD200"/>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8" name="TextBox 37"/>
          <p:cNvSpPr txBox="1"/>
          <p:nvPr/>
        </p:nvSpPr>
        <p:spPr>
          <a:xfrm>
            <a:off x="4485132" y="4187952"/>
            <a:ext cx="402336" cy="402336"/>
          </a:xfrm>
          <a:prstGeom prst="rect">
            <a:avLst/>
          </a:prstGeom>
          <a:noFill/>
        </p:spPr>
        <p:txBody>
          <a:bodyPr wrap="square" lIns="0" rIns="0" tIns="0" bIns="0" anchor="ctr">
            <a:spAutoFit/>
          </a:bodyPr>
          <a:lstStyle/>
          <a:p>
            <a:pPr algn="ctr"/>
            <a:r>
              <a:rPr sz="1400" b="1" i="0">
                <a:solidFill>
                  <a:srgbClr val="0D0D0D"/>
                </a:solidFill>
                <a:latin typeface="Palatino Linotype"/>
              </a:rPr>
              <a:t>2</a:t>
            </a:r>
          </a:p>
        </p:txBody>
      </p:sp>
      <p:sp>
        <p:nvSpPr>
          <p:cNvPr id="39" name="TextBox 38"/>
          <p:cNvSpPr txBox="1"/>
          <p:nvPr/>
        </p:nvSpPr>
        <p:spPr>
          <a:xfrm>
            <a:off x="3368040" y="4709160"/>
            <a:ext cx="2636520" cy="365760"/>
          </a:xfrm>
          <a:prstGeom prst="rect">
            <a:avLst/>
          </a:prstGeom>
          <a:noFill/>
        </p:spPr>
        <p:txBody>
          <a:bodyPr wrap="square" lIns="0" rIns="0" tIns="0" bIns="0">
            <a:spAutoFit/>
          </a:bodyPr>
          <a:lstStyle/>
          <a:p>
            <a:pPr algn="ctr"/>
            <a:r>
              <a:rPr sz="1100" b="1" i="0">
                <a:solidFill>
                  <a:srgbClr val="0D0D0D"/>
                </a:solidFill>
                <a:latin typeface="Source Sans Pro"/>
              </a:rPr>
              <a:t>Categorize</a:t>
            </a:r>
          </a:p>
        </p:txBody>
      </p:sp>
      <p:sp>
        <p:nvSpPr>
          <p:cNvPr id="40" name="TextBox 39"/>
          <p:cNvSpPr txBox="1"/>
          <p:nvPr/>
        </p:nvSpPr>
        <p:spPr>
          <a:xfrm>
            <a:off x="6050280" y="4389120"/>
            <a:ext cx="182880" cy="274320"/>
          </a:xfrm>
          <a:prstGeom prst="rect">
            <a:avLst/>
          </a:prstGeom>
          <a:noFill/>
        </p:spPr>
        <p:txBody>
          <a:bodyPr wrap="square" lIns="0" rIns="0" tIns="0" bIns="0">
            <a:spAutoFit/>
          </a:bodyPr>
          <a:lstStyle/>
          <a:p>
            <a:pPr algn="ctr"/>
            <a:r>
              <a:rPr sz="1600" b="1" i="0">
                <a:solidFill>
                  <a:srgbClr val="0D0D0D"/>
                </a:solidFill>
                <a:latin typeface="Source Sans Pro"/>
              </a:rPr>
              <a:t>→</a:t>
            </a:r>
          </a:p>
        </p:txBody>
      </p:sp>
      <p:sp>
        <p:nvSpPr>
          <p:cNvPr id="41" name="Rounded Rectangle 40"/>
          <p:cNvSpPr/>
          <p:nvPr/>
        </p:nvSpPr>
        <p:spPr>
          <a:xfrm>
            <a:off x="6187440" y="4023360"/>
            <a:ext cx="2636520" cy="19202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2" name="Oval 41"/>
          <p:cNvSpPr/>
          <p:nvPr/>
        </p:nvSpPr>
        <p:spPr>
          <a:xfrm>
            <a:off x="7304532" y="4187952"/>
            <a:ext cx="402336" cy="402336"/>
          </a:xfrm>
          <a:prstGeom prst="ellipse">
            <a:avLst/>
          </a:prstGeom>
          <a:solidFill>
            <a:srgbClr val="FFD200"/>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3" name="TextBox 42"/>
          <p:cNvSpPr txBox="1"/>
          <p:nvPr/>
        </p:nvSpPr>
        <p:spPr>
          <a:xfrm>
            <a:off x="7304532" y="4187952"/>
            <a:ext cx="402336" cy="402336"/>
          </a:xfrm>
          <a:prstGeom prst="rect">
            <a:avLst/>
          </a:prstGeom>
          <a:noFill/>
        </p:spPr>
        <p:txBody>
          <a:bodyPr wrap="square" lIns="0" rIns="0" tIns="0" bIns="0" anchor="ctr">
            <a:spAutoFit/>
          </a:bodyPr>
          <a:lstStyle/>
          <a:p>
            <a:pPr algn="ctr"/>
            <a:r>
              <a:rPr sz="1400" b="1" i="0">
                <a:solidFill>
                  <a:srgbClr val="0D0D0D"/>
                </a:solidFill>
                <a:latin typeface="Palatino Linotype"/>
              </a:rPr>
              <a:t>3</a:t>
            </a:r>
          </a:p>
        </p:txBody>
      </p:sp>
      <p:sp>
        <p:nvSpPr>
          <p:cNvPr id="44" name="TextBox 43"/>
          <p:cNvSpPr txBox="1"/>
          <p:nvPr/>
        </p:nvSpPr>
        <p:spPr>
          <a:xfrm>
            <a:off x="6187440" y="4709160"/>
            <a:ext cx="2636520" cy="365760"/>
          </a:xfrm>
          <a:prstGeom prst="rect">
            <a:avLst/>
          </a:prstGeom>
          <a:noFill/>
        </p:spPr>
        <p:txBody>
          <a:bodyPr wrap="square" lIns="0" rIns="0" tIns="0" bIns="0">
            <a:spAutoFit/>
          </a:bodyPr>
          <a:lstStyle/>
          <a:p>
            <a:pPr algn="ctr"/>
            <a:r>
              <a:rPr sz="1100" b="1" i="0">
                <a:solidFill>
                  <a:srgbClr val="0D0D0D"/>
                </a:solidFill>
                <a:latin typeface="Source Sans Pro"/>
              </a:rPr>
              <a:t>Route</a:t>
            </a:r>
          </a:p>
        </p:txBody>
      </p:sp>
      <p:sp>
        <p:nvSpPr>
          <p:cNvPr id="45" name="TextBox 44"/>
          <p:cNvSpPr txBox="1"/>
          <p:nvPr/>
        </p:nvSpPr>
        <p:spPr>
          <a:xfrm>
            <a:off x="8869680" y="4389120"/>
            <a:ext cx="182880" cy="274320"/>
          </a:xfrm>
          <a:prstGeom prst="rect">
            <a:avLst/>
          </a:prstGeom>
          <a:noFill/>
        </p:spPr>
        <p:txBody>
          <a:bodyPr wrap="square" lIns="0" rIns="0" tIns="0" bIns="0">
            <a:spAutoFit/>
          </a:bodyPr>
          <a:lstStyle/>
          <a:p>
            <a:pPr algn="ctr"/>
            <a:r>
              <a:rPr sz="1600" b="1" i="0">
                <a:solidFill>
                  <a:srgbClr val="0D0D0D"/>
                </a:solidFill>
                <a:latin typeface="Source Sans Pro"/>
              </a:rPr>
              <a:t>→</a:t>
            </a:r>
          </a:p>
        </p:txBody>
      </p:sp>
      <p:sp>
        <p:nvSpPr>
          <p:cNvPr id="46" name="Rounded Rectangle 45"/>
          <p:cNvSpPr/>
          <p:nvPr/>
        </p:nvSpPr>
        <p:spPr>
          <a:xfrm>
            <a:off x="9006840" y="4023360"/>
            <a:ext cx="2636520" cy="1920240"/>
          </a:xfrm>
          <a:prstGeom prst="roundRect">
            <a:avLst>
              <a:gd name="adj" fmla="val 40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7" name="Oval 46"/>
          <p:cNvSpPr/>
          <p:nvPr/>
        </p:nvSpPr>
        <p:spPr>
          <a:xfrm>
            <a:off x="10123932" y="4187952"/>
            <a:ext cx="402336" cy="402336"/>
          </a:xfrm>
          <a:prstGeom prst="ellipse">
            <a:avLst/>
          </a:prstGeom>
          <a:solidFill>
            <a:srgbClr val="FFD200"/>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8" name="TextBox 47"/>
          <p:cNvSpPr txBox="1"/>
          <p:nvPr/>
        </p:nvSpPr>
        <p:spPr>
          <a:xfrm>
            <a:off x="10123932" y="4187952"/>
            <a:ext cx="402336" cy="402336"/>
          </a:xfrm>
          <a:prstGeom prst="rect">
            <a:avLst/>
          </a:prstGeom>
          <a:noFill/>
        </p:spPr>
        <p:txBody>
          <a:bodyPr wrap="square" lIns="0" rIns="0" tIns="0" bIns="0" anchor="ctr">
            <a:spAutoFit/>
          </a:bodyPr>
          <a:lstStyle/>
          <a:p>
            <a:pPr algn="ctr"/>
            <a:r>
              <a:rPr sz="1400" b="1" i="0">
                <a:solidFill>
                  <a:srgbClr val="0D0D0D"/>
                </a:solidFill>
                <a:latin typeface="Palatino Linotype"/>
              </a:rPr>
              <a:t>4</a:t>
            </a:r>
          </a:p>
        </p:txBody>
      </p:sp>
      <p:sp>
        <p:nvSpPr>
          <p:cNvPr id="49" name="TextBox 48"/>
          <p:cNvSpPr txBox="1"/>
          <p:nvPr/>
        </p:nvSpPr>
        <p:spPr>
          <a:xfrm>
            <a:off x="9006840" y="4709160"/>
            <a:ext cx="2636520" cy="365760"/>
          </a:xfrm>
          <a:prstGeom prst="rect">
            <a:avLst/>
          </a:prstGeom>
          <a:noFill/>
        </p:spPr>
        <p:txBody>
          <a:bodyPr wrap="square" lIns="0" rIns="0" tIns="0" bIns="0">
            <a:spAutoFit/>
          </a:bodyPr>
          <a:lstStyle/>
          <a:p>
            <a:pPr algn="ctr"/>
            <a:r>
              <a:rPr sz="1100" b="1" i="0">
                <a:solidFill>
                  <a:srgbClr val="0D0D0D"/>
                </a:solidFill>
                <a:latin typeface="Source Sans Pro"/>
              </a:rPr>
              <a:t>Respond &amp; log</a:t>
            </a:r>
          </a:p>
        </p:txBody>
      </p:sp>
      <p:pic>
        <p:nvPicPr>
          <p:cNvPr id="50" name="Picture 49"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51" name="TextBox 50"/>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2000" cy="6858000"/>
          </a:xfrm>
          <a:prstGeom prst="rect">
            <a:avLst/>
          </a:prstGeom>
          <a:solidFill>
            <a:srgbClr val="F8F4ED"/>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57200" y="320040"/>
            <a:ext cx="7315200" cy="274320"/>
          </a:xfrm>
          <a:prstGeom prst="rect">
            <a:avLst/>
          </a:prstGeom>
          <a:noFill/>
        </p:spPr>
        <p:txBody>
          <a:bodyPr wrap="square" lIns="0" rIns="0" tIns="0" bIns="0">
            <a:spAutoFit/>
          </a:bodyPr>
          <a:lstStyle/>
          <a:p>
            <a:pPr algn="l"/>
            <a:r>
              <a:rPr sz="1000" b="1" i="0">
                <a:solidFill>
                  <a:srgbClr val="757575"/>
                </a:solidFill>
                <a:latin typeface="Source Sans Pro"/>
              </a:rPr>
              <a:t>TOOL 18  ·  HARVEST</a:t>
            </a:r>
          </a:p>
        </p:txBody>
      </p:sp>
      <p:sp>
        <p:nvSpPr>
          <p:cNvPr id="4" name="TextBox 3"/>
          <p:cNvSpPr txBox="1"/>
          <p:nvPr/>
        </p:nvSpPr>
        <p:spPr>
          <a:xfrm>
            <a:off x="457200" y="594360"/>
            <a:ext cx="10515600" cy="640080"/>
          </a:xfrm>
          <a:prstGeom prst="rect">
            <a:avLst/>
          </a:prstGeom>
          <a:noFill/>
        </p:spPr>
        <p:txBody>
          <a:bodyPr wrap="square" lIns="0" rIns="0" tIns="0" bIns="0">
            <a:spAutoFit/>
          </a:bodyPr>
          <a:lstStyle/>
          <a:p>
            <a:pPr algn="l"/>
            <a:r>
              <a:rPr sz="2800" b="0" i="0">
                <a:solidFill>
                  <a:srgbClr val="0D0D0D"/>
                </a:solidFill>
                <a:latin typeface="Palatino Linotype"/>
              </a:rPr>
              <a:t>Harvesting our  </a:t>
            </a:r>
            <a:r>
              <a:rPr sz="2800" b="0" i="1">
                <a:solidFill>
                  <a:srgbClr val="0D0D0D"/>
                </a:solidFill>
                <a:latin typeface="Palatino Linotype"/>
              </a:rPr>
              <a:t>learnings</a:t>
            </a:r>
          </a:p>
        </p:txBody>
      </p:sp>
      <p:sp>
        <p:nvSpPr>
          <p:cNvPr id="5" name="TextBox 4"/>
          <p:cNvSpPr txBox="1"/>
          <p:nvPr/>
        </p:nvSpPr>
        <p:spPr>
          <a:xfrm>
            <a:off x="457200" y="1234440"/>
            <a:ext cx="10515600" cy="365760"/>
          </a:xfrm>
          <a:prstGeom prst="rect">
            <a:avLst/>
          </a:prstGeom>
          <a:noFill/>
        </p:spPr>
        <p:txBody>
          <a:bodyPr wrap="square" lIns="0" rIns="0" tIns="0" bIns="0">
            <a:spAutoFit/>
          </a:bodyPr>
          <a:lstStyle/>
          <a:p>
            <a:pPr algn="l"/>
            <a:r>
              <a:rPr sz="1300" b="0" i="1">
                <a:solidFill>
                  <a:srgbClr val="757575"/>
                </a:solidFill>
                <a:latin typeface="Palatino Linotype"/>
              </a:rPr>
              <a:t>After running the canvas, capture three layers of insight.</a:t>
            </a:r>
          </a:p>
        </p:txBody>
      </p:sp>
      <p:sp>
        <p:nvSpPr>
          <p:cNvPr id="6" name="Rounded Rectangle 5"/>
          <p:cNvSpPr/>
          <p:nvPr/>
        </p:nvSpPr>
        <p:spPr>
          <a:xfrm>
            <a:off x="4572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Stand-out signals, surprising stories, ideas to remember</a:t>
            </a:r>
          </a:p>
        </p:txBody>
      </p:sp>
      <p:cxnSp>
        <p:nvCxnSpPr>
          <p:cNvPr id="8" name="Connector 7"/>
          <p:cNvCxnSpPr/>
          <p:nvPr/>
        </p:nvCxnSpPr>
        <p:spPr>
          <a:xfrm>
            <a:off x="7772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9" name="Connector 8"/>
          <p:cNvCxnSpPr/>
          <p:nvPr/>
        </p:nvCxnSpPr>
        <p:spPr>
          <a:xfrm>
            <a:off x="7772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0" name="Connector 9"/>
          <p:cNvCxnSpPr/>
          <p:nvPr/>
        </p:nvCxnSpPr>
        <p:spPr>
          <a:xfrm>
            <a:off x="7772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1" name="Connector 10"/>
          <p:cNvCxnSpPr/>
          <p:nvPr/>
        </p:nvCxnSpPr>
        <p:spPr>
          <a:xfrm>
            <a:off x="7772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2" name="Connector 11"/>
          <p:cNvCxnSpPr/>
          <p:nvPr/>
        </p:nvCxnSpPr>
        <p:spPr>
          <a:xfrm>
            <a:off x="7772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3" name="Connector 12"/>
          <p:cNvCxnSpPr/>
          <p:nvPr/>
        </p:nvCxnSpPr>
        <p:spPr>
          <a:xfrm>
            <a:off x="7772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4" name="Connector 13"/>
          <p:cNvCxnSpPr/>
          <p:nvPr/>
        </p:nvCxnSpPr>
        <p:spPr>
          <a:xfrm>
            <a:off x="7772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15" name="Rounded Rectangle 14"/>
          <p:cNvSpPr/>
          <p:nvPr/>
        </p:nvSpPr>
        <p:spPr>
          <a:xfrm>
            <a:off x="42926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46126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Concrete adaptations to our context, our team, our constraints</a:t>
            </a:r>
          </a:p>
        </p:txBody>
      </p:sp>
      <p:cxnSp>
        <p:nvCxnSpPr>
          <p:cNvPr id="17" name="Connector 16"/>
          <p:cNvCxnSpPr/>
          <p:nvPr/>
        </p:nvCxnSpPr>
        <p:spPr>
          <a:xfrm>
            <a:off x="46126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8" name="Connector 17"/>
          <p:cNvCxnSpPr/>
          <p:nvPr/>
        </p:nvCxnSpPr>
        <p:spPr>
          <a:xfrm>
            <a:off x="46126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19" name="Connector 18"/>
          <p:cNvCxnSpPr/>
          <p:nvPr/>
        </p:nvCxnSpPr>
        <p:spPr>
          <a:xfrm>
            <a:off x="46126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0" name="Connector 19"/>
          <p:cNvCxnSpPr/>
          <p:nvPr/>
        </p:nvCxnSpPr>
        <p:spPr>
          <a:xfrm>
            <a:off x="46126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1" name="Connector 20"/>
          <p:cNvCxnSpPr/>
          <p:nvPr/>
        </p:nvCxnSpPr>
        <p:spPr>
          <a:xfrm>
            <a:off x="46126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2" name="Connector 21"/>
          <p:cNvCxnSpPr/>
          <p:nvPr/>
        </p:nvCxnSpPr>
        <p:spPr>
          <a:xfrm>
            <a:off x="46126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3" name="Connector 22"/>
          <p:cNvCxnSpPr/>
          <p:nvPr/>
        </p:nvCxnSpPr>
        <p:spPr>
          <a:xfrm>
            <a:off x="46126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24" name="Rounded Rectangle 23"/>
          <p:cNvSpPr/>
          <p:nvPr/>
        </p:nvSpPr>
        <p:spPr>
          <a:xfrm>
            <a:off x="8128000" y="2011680"/>
            <a:ext cx="3606800" cy="4023360"/>
          </a:xfrm>
          <a:prstGeom prst="roundRect">
            <a:avLst>
              <a:gd name="adj" fmla="val 2500"/>
            </a:avLst>
          </a:prstGeom>
          <a:solidFill>
            <a:srgbClr val="FFFFFF"/>
          </a:solidFill>
          <a:ln w="9525">
            <a:solidFill>
              <a:srgbClr val="0D0D0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8448040" y="2514600"/>
            <a:ext cx="2966720" cy="457200"/>
          </a:xfrm>
          <a:prstGeom prst="rect">
            <a:avLst/>
          </a:prstGeom>
          <a:noFill/>
        </p:spPr>
        <p:txBody>
          <a:bodyPr wrap="square" lIns="0" rIns="0" tIns="0" bIns="0">
            <a:spAutoFit/>
          </a:bodyPr>
          <a:lstStyle/>
          <a:p>
            <a:pPr algn="l"/>
            <a:r>
              <a:rPr sz="1100" b="0" i="1">
                <a:solidFill>
                  <a:srgbClr val="757575"/>
                </a:solidFill>
                <a:latin typeface="Palatino Linotype"/>
              </a:rPr>
              <a:t>Skills, allies, resources, decisions still to secure</a:t>
            </a:r>
          </a:p>
        </p:txBody>
      </p:sp>
      <p:cxnSp>
        <p:nvCxnSpPr>
          <p:cNvPr id="26" name="Connector 25"/>
          <p:cNvCxnSpPr/>
          <p:nvPr/>
        </p:nvCxnSpPr>
        <p:spPr>
          <a:xfrm>
            <a:off x="8448040.0" y="315468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7" name="Connector 26"/>
          <p:cNvCxnSpPr/>
          <p:nvPr/>
        </p:nvCxnSpPr>
        <p:spPr>
          <a:xfrm>
            <a:off x="8448040.0" y="353872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8" name="Connector 27"/>
          <p:cNvCxnSpPr/>
          <p:nvPr/>
        </p:nvCxnSpPr>
        <p:spPr>
          <a:xfrm>
            <a:off x="8448040.0" y="3922776"/>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29" name="Connector 28"/>
          <p:cNvCxnSpPr/>
          <p:nvPr/>
        </p:nvCxnSpPr>
        <p:spPr>
          <a:xfrm>
            <a:off x="8448040.0" y="4306824"/>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0" name="Connector 29"/>
          <p:cNvCxnSpPr/>
          <p:nvPr/>
        </p:nvCxnSpPr>
        <p:spPr>
          <a:xfrm>
            <a:off x="8448040.0" y="4690872"/>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1" name="Connector 30"/>
          <p:cNvCxnSpPr/>
          <p:nvPr/>
        </p:nvCxnSpPr>
        <p:spPr>
          <a:xfrm>
            <a:off x="8448040.0" y="5074920"/>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cxnSp>
        <p:nvCxnSpPr>
          <p:cNvPr id="32" name="Connector 31"/>
          <p:cNvCxnSpPr/>
          <p:nvPr/>
        </p:nvCxnSpPr>
        <p:spPr>
          <a:xfrm>
            <a:off x="8448040.0" y="5458968"/>
            <a:ext cx="2966720.0" cy="0"/>
          </a:xfrm>
          <a:prstGeom prst="line">
            <a:avLst/>
          </a:prstGeom>
          <a:ln w="5080">
            <a:solidFill>
              <a:srgbClr val="C8C8C8"/>
            </a:solidFill>
            <a:prstDash val="dash"/>
          </a:ln>
        </p:spPr>
        <p:style>
          <a:lnRef idx="2">
            <a:schemeClr val="accent1"/>
          </a:lnRef>
          <a:fillRef idx="0">
            <a:schemeClr val="accent1"/>
          </a:fillRef>
          <a:effectRef idx="1">
            <a:schemeClr val="accent1"/>
          </a:effectRef>
          <a:fontRef idx="minor">
            <a:schemeClr val="tx1"/>
          </a:fontRef>
        </p:style>
      </p:cxnSp>
      <p:sp>
        <p:nvSpPr>
          <p:cNvPr id="33" name="Rounded Rectangle 32"/>
          <p:cNvSpPr/>
          <p:nvPr/>
        </p:nvSpPr>
        <p:spPr>
          <a:xfrm>
            <a:off x="1035304" y="1801368"/>
            <a:ext cx="2450592" cy="420624"/>
          </a:xfrm>
          <a:prstGeom prst="roundRect">
            <a:avLst>
              <a:gd name="adj" fmla="val 50000"/>
            </a:avLst>
          </a:prstGeom>
          <a:solidFill>
            <a:srgbClr val="FFD200"/>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inspires me</a:t>
            </a:r>
          </a:p>
        </p:txBody>
      </p:sp>
      <p:sp>
        <p:nvSpPr>
          <p:cNvPr id="34" name="Rounded Rectangle 33"/>
          <p:cNvSpPr/>
          <p:nvPr/>
        </p:nvSpPr>
        <p:spPr>
          <a:xfrm>
            <a:off x="4632960" y="1801368"/>
            <a:ext cx="2926080" cy="420624"/>
          </a:xfrm>
          <a:prstGeom prst="roundRect">
            <a:avLst>
              <a:gd name="adj" fmla="val 50000"/>
            </a:avLst>
          </a:prstGeom>
          <a:solidFill>
            <a:srgbClr val="FF674D"/>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How to apply it here</a:t>
            </a:r>
          </a:p>
        </p:txBody>
      </p:sp>
      <p:sp>
        <p:nvSpPr>
          <p:cNvPr id="35" name="Rounded Rectangle 34"/>
          <p:cNvSpPr/>
          <p:nvPr/>
        </p:nvSpPr>
        <p:spPr>
          <a:xfrm>
            <a:off x="8102600" y="1801368"/>
            <a:ext cx="3657600" cy="420624"/>
          </a:xfrm>
          <a:prstGeom prst="roundRect">
            <a:avLst>
              <a:gd name="adj" fmla="val 50000"/>
            </a:avLst>
          </a:prstGeom>
          <a:solidFill>
            <a:srgbClr val="00ED93"/>
          </a:solidFill>
          <a:ln>
            <a:noFill/>
          </a:ln>
        </p:spPr>
        <p:style>
          <a:lnRef idx="1">
            <a:schemeClr val="accent1"/>
          </a:lnRef>
          <a:fillRef idx="3">
            <a:schemeClr val="accent1"/>
          </a:fillRef>
          <a:effectRef idx="2">
            <a:schemeClr val="accent1"/>
          </a:effectRef>
          <a:fontRef idx="minor">
            <a:schemeClr val="lt1"/>
          </a:fontRef>
        </p:style>
        <p:txBody>
          <a:bodyPr rtlCol="0" anchor="ctr" tIns="20000" bIns="20000" lIns="80000" rIns="80000" wrap="none"/>
          <a:lstStyle/>
          <a:p>
            <a:pPr algn="ctr"/>
            <a:r>
              <a:rPr b="1" i="0" sz="1200">
                <a:solidFill>
                  <a:srgbClr val="0D0D0D"/>
                </a:solidFill>
                <a:latin typeface="Source Sans Pro"/>
              </a:rPr>
              <a:t>What we need to be autonomous</a:t>
            </a:r>
          </a:p>
        </p:txBody>
      </p:sp>
      <p:sp>
        <p:nvSpPr>
          <p:cNvPr id="36" name="TextBox 35"/>
          <p:cNvSpPr txBox="1"/>
          <p:nvPr/>
        </p:nvSpPr>
        <p:spPr>
          <a:xfrm>
            <a:off x="457200" y="6263640"/>
            <a:ext cx="11277600" cy="274320"/>
          </a:xfrm>
          <a:prstGeom prst="rect">
            <a:avLst/>
          </a:prstGeom>
          <a:noFill/>
        </p:spPr>
        <p:txBody>
          <a:bodyPr wrap="square" lIns="0" rIns="0" tIns="0" bIns="0">
            <a:spAutoFit/>
          </a:bodyPr>
          <a:lstStyle/>
          <a:p>
            <a:pPr algn="ctr"/>
            <a:r>
              <a:rPr sz="1000" b="0" i="1">
                <a:solidFill>
                  <a:srgbClr val="757575"/>
                </a:solidFill>
                <a:latin typeface="Palatino Linotype"/>
              </a:rPr>
              <a:t>Each participant fills a copy. Then debrief together to surface patterns and next steps.</a:t>
            </a:r>
          </a:p>
        </p:txBody>
      </p:sp>
      <p:pic>
        <p:nvPicPr>
          <p:cNvPr id="37" name="Picture 36" descr="aktan_black_transparent.png"/>
          <p:cNvPicPr>
            <a:picLocks noChangeAspect="1"/>
          </p:cNvPicPr>
          <p:nvPr/>
        </p:nvPicPr>
        <p:blipFill>
          <a:blip r:embed="rId2"/>
          <a:stretch>
            <a:fillRect/>
          </a:stretch>
        </p:blipFill>
        <p:spPr>
          <a:xfrm>
            <a:off x="10774680" y="6214844"/>
            <a:ext cx="960120" cy="231676"/>
          </a:xfrm>
          <a:prstGeom prst="rect">
            <a:avLst/>
          </a:prstGeom>
        </p:spPr>
      </p:pic>
      <p:sp>
        <p:nvSpPr>
          <p:cNvPr id="38" name="TextBox 37"/>
          <p:cNvSpPr txBox="1"/>
          <p:nvPr/>
        </p:nvSpPr>
        <p:spPr>
          <a:xfrm>
            <a:off x="10774680" y="6466520"/>
            <a:ext cx="960120" cy="201168"/>
          </a:xfrm>
          <a:prstGeom prst="rect">
            <a:avLst/>
          </a:prstGeom>
          <a:noFill/>
        </p:spPr>
        <p:txBody>
          <a:bodyPr wrap="square" lIns="0" rIns="0" tIns="0" bIns="0">
            <a:spAutoFit/>
          </a:bodyPr>
          <a:lstStyle/>
          <a:p>
            <a:pPr algn="ctr"/>
            <a:r>
              <a:rPr sz="900" b="0" i="1">
                <a:solidFill>
                  <a:srgbClr val="0D0D0D"/>
                </a:solidFill>
                <a:latin typeface="Palatino Linotype"/>
              </a:rPr>
              <a:t>With simplexity</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