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User research</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documented mapping of citizen needs, limitations, and actual interactions with public services, synthesized into clear action points for the design phase.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User research</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Forcing the administration to step out of the office and look the resident in the eye, ensuring that services are molded around real human lives rather than forcing humans to fit bureaucratic boxes.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documented mapping of citizen needs, limitations, and actual interactions with public services, synthesized into clear action points for the design phase.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4 weeks of field study and synthesis
Material  ·  Interview guides, observation matrices, recording equipment</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UN Global Pulse lab in Jakarta applied human-centred design principles directly to data governance and public service design. By prioritizing rigorous user research, they ensured that new services were driven by the actual experiences and needs of the citizens, rather than relying solely on quantitative data .</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12  ·  ANIMATION CANVAS  ·  </a:t>
            </a:r>
            <a:r>
              <a:rPr sz="1000" b="1" i="0">
                <a:solidFill>
                  <a:srgbClr val="0D0D0D"/>
                </a:solidFill>
                <a:latin typeface="Source Sans Pro"/>
              </a:rPr>
              <a:t>USER RESEARCH</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Interview guide · persona × scenario × insights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4 weeks of field study and synthesis</a:t>
            </a:r>
          </a:p>
        </p:txBody>
      </p:sp>
      <p:sp>
        <p:nvSpPr>
          <p:cNvPr id="6" name="Rounded Rectangle 5"/>
          <p:cNvSpPr/>
          <p:nvPr/>
        </p:nvSpPr>
        <p:spPr>
          <a:xfrm>
            <a:off x="457200" y="1417320"/>
            <a:ext cx="5547360" cy="10972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581912"/>
            <a:ext cx="1463040" cy="310896"/>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Persona</a:t>
            </a:r>
          </a:p>
        </p:txBody>
      </p:sp>
      <p:sp>
        <p:nvSpPr>
          <p:cNvPr id="8" name="TextBox 7"/>
          <p:cNvSpPr txBox="1"/>
          <p:nvPr/>
        </p:nvSpPr>
        <p:spPr>
          <a:xfrm>
            <a:off x="685800" y="1965960"/>
            <a:ext cx="5090160" cy="457200"/>
          </a:xfrm>
          <a:prstGeom prst="rect">
            <a:avLst/>
          </a:prstGeom>
          <a:noFill/>
        </p:spPr>
        <p:txBody>
          <a:bodyPr wrap="square" lIns="0" rIns="0" tIns="0" bIns="0">
            <a:spAutoFit/>
          </a:bodyPr>
          <a:lstStyle/>
          <a:p>
            <a:pPr algn="l"/>
            <a:r>
              <a:rPr sz="1100" b="0" i="1">
                <a:solidFill>
                  <a:srgbClr val="757575"/>
                </a:solidFill>
                <a:latin typeface="Palatino Linotype"/>
              </a:rPr>
              <a:t>Name · age · context · job-to-be-done</a:t>
            </a:r>
          </a:p>
        </p:txBody>
      </p:sp>
      <p:sp>
        <p:nvSpPr>
          <p:cNvPr id="9" name="Rounded Rectangle 8"/>
          <p:cNvSpPr/>
          <p:nvPr/>
        </p:nvSpPr>
        <p:spPr>
          <a:xfrm>
            <a:off x="6187440" y="1417320"/>
            <a:ext cx="5547360" cy="10972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70320" y="1581912"/>
            <a:ext cx="1463040" cy="310896"/>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Scenario</a:t>
            </a:r>
          </a:p>
        </p:txBody>
      </p:sp>
      <p:sp>
        <p:nvSpPr>
          <p:cNvPr id="11" name="TextBox 10"/>
          <p:cNvSpPr txBox="1"/>
          <p:nvPr/>
        </p:nvSpPr>
        <p:spPr>
          <a:xfrm>
            <a:off x="6416040" y="1965960"/>
            <a:ext cx="5090160" cy="457200"/>
          </a:xfrm>
          <a:prstGeom prst="rect">
            <a:avLst/>
          </a:prstGeom>
          <a:noFill/>
        </p:spPr>
        <p:txBody>
          <a:bodyPr wrap="square" lIns="0" rIns="0" tIns="0" bIns="0">
            <a:spAutoFit/>
          </a:bodyPr>
          <a:lstStyle/>
          <a:p>
            <a:pPr algn="l"/>
            <a:r>
              <a:rPr sz="1100" b="0" i="1">
                <a:solidFill>
                  <a:srgbClr val="757575"/>
                </a:solidFill>
                <a:latin typeface="Palatino Linotype"/>
              </a:rPr>
              <a:t>A specific moment we want to study (a vulnerable resident accessing a public service)</a:t>
            </a:r>
          </a:p>
        </p:txBody>
      </p:sp>
      <p:sp>
        <p:nvSpPr>
          <p:cNvPr id="12" name="Rounded Rectangle 11"/>
          <p:cNvSpPr/>
          <p:nvPr/>
        </p:nvSpPr>
        <p:spPr>
          <a:xfrm>
            <a:off x="457200" y="2697480"/>
            <a:ext cx="3637280" cy="23774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880360"/>
            <a:ext cx="1463040" cy="310896"/>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Warm-up</a:t>
            </a:r>
          </a:p>
        </p:txBody>
      </p:sp>
      <p:sp>
        <p:nvSpPr>
          <p:cNvPr id="14" name="TextBox 13"/>
          <p:cNvSpPr txBox="1"/>
          <p:nvPr/>
        </p:nvSpPr>
        <p:spPr>
          <a:xfrm>
            <a:off x="685800" y="3291840"/>
            <a:ext cx="3180080" cy="594360"/>
          </a:xfrm>
          <a:prstGeom prst="rect">
            <a:avLst/>
          </a:prstGeom>
          <a:noFill/>
        </p:spPr>
        <p:txBody>
          <a:bodyPr wrap="square" lIns="0" rIns="0" tIns="0" bIns="0">
            <a:spAutoFit/>
          </a:bodyPr>
          <a:lstStyle/>
          <a:p>
            <a:pPr algn="l"/>
            <a:r>
              <a:rPr sz="1050" b="0" i="1">
                <a:solidFill>
                  <a:srgbClr val="757575"/>
                </a:solidFill>
                <a:latin typeface="Palatino Linotype"/>
              </a:rPr>
              <a:t>Open with a recent experience
Get the user talking</a:t>
            </a:r>
          </a:p>
        </p:txBody>
      </p:sp>
      <p:sp>
        <p:nvSpPr>
          <p:cNvPr id="15" name="TextBox 14"/>
          <p:cNvSpPr txBox="1"/>
          <p:nvPr/>
        </p:nvSpPr>
        <p:spPr>
          <a:xfrm>
            <a:off x="685800" y="4023360"/>
            <a:ext cx="3180080" cy="274320"/>
          </a:xfrm>
          <a:prstGeom prst="rect">
            <a:avLst/>
          </a:prstGeom>
          <a:noFill/>
        </p:spPr>
        <p:txBody>
          <a:bodyPr wrap="square" lIns="0" rIns="0" tIns="0" bIns="0">
            <a:spAutoFit/>
          </a:bodyPr>
          <a:lstStyle/>
          <a:p>
            <a:pPr algn="l"/>
            <a:r>
              <a:rPr sz="900" b="1" i="0">
                <a:solidFill>
                  <a:srgbClr val="757575"/>
                </a:solidFill>
                <a:latin typeface="Source Sans Pro"/>
              </a:rPr>
              <a:t>Q1.</a:t>
            </a:r>
          </a:p>
        </p:txBody>
      </p:sp>
      <p:cxnSp>
        <p:nvCxnSpPr>
          <p:cNvPr id="16" name="Connector 15"/>
          <p:cNvCxnSpPr/>
          <p:nvPr/>
        </p:nvCxnSpPr>
        <p:spPr>
          <a:xfrm>
            <a:off x="1005840.0" y="4224528"/>
            <a:ext cx="28143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4315968"/>
            <a:ext cx="3180080" cy="274320"/>
          </a:xfrm>
          <a:prstGeom prst="rect">
            <a:avLst/>
          </a:prstGeom>
          <a:noFill/>
        </p:spPr>
        <p:txBody>
          <a:bodyPr wrap="square" lIns="0" rIns="0" tIns="0" bIns="0">
            <a:spAutoFit/>
          </a:bodyPr>
          <a:lstStyle/>
          <a:p>
            <a:pPr algn="l"/>
            <a:r>
              <a:rPr sz="900" b="1" i="0">
                <a:solidFill>
                  <a:srgbClr val="757575"/>
                </a:solidFill>
                <a:latin typeface="Source Sans Pro"/>
              </a:rPr>
              <a:t>Q2.</a:t>
            </a:r>
          </a:p>
        </p:txBody>
      </p:sp>
      <p:cxnSp>
        <p:nvCxnSpPr>
          <p:cNvPr id="18" name="Connector 17"/>
          <p:cNvCxnSpPr/>
          <p:nvPr/>
        </p:nvCxnSpPr>
        <p:spPr>
          <a:xfrm>
            <a:off x="1005840.0" y="4517136"/>
            <a:ext cx="28143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4608576"/>
            <a:ext cx="3180080" cy="274320"/>
          </a:xfrm>
          <a:prstGeom prst="rect">
            <a:avLst/>
          </a:prstGeom>
          <a:noFill/>
        </p:spPr>
        <p:txBody>
          <a:bodyPr wrap="square" lIns="0" rIns="0" tIns="0" bIns="0">
            <a:spAutoFit/>
          </a:bodyPr>
          <a:lstStyle/>
          <a:p>
            <a:pPr algn="l"/>
            <a:r>
              <a:rPr sz="900" b="1" i="0">
                <a:solidFill>
                  <a:srgbClr val="757575"/>
                </a:solidFill>
                <a:latin typeface="Source Sans Pro"/>
              </a:rPr>
              <a:t>Q3.</a:t>
            </a:r>
          </a:p>
        </p:txBody>
      </p:sp>
      <p:cxnSp>
        <p:nvCxnSpPr>
          <p:cNvPr id="20" name="Connector 19"/>
          <p:cNvCxnSpPr/>
          <p:nvPr/>
        </p:nvCxnSpPr>
        <p:spPr>
          <a:xfrm>
            <a:off x="1005840.0" y="4809744"/>
            <a:ext cx="28143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277360" y="2697480"/>
            <a:ext cx="3637280" cy="23774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505960" y="2880360"/>
            <a:ext cx="1463040" cy="310896"/>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Dive</a:t>
            </a:r>
          </a:p>
        </p:txBody>
      </p:sp>
      <p:sp>
        <p:nvSpPr>
          <p:cNvPr id="23" name="TextBox 22"/>
          <p:cNvSpPr txBox="1"/>
          <p:nvPr/>
        </p:nvSpPr>
        <p:spPr>
          <a:xfrm>
            <a:off x="4505960" y="3291840"/>
            <a:ext cx="3180080" cy="594360"/>
          </a:xfrm>
          <a:prstGeom prst="rect">
            <a:avLst/>
          </a:prstGeom>
          <a:noFill/>
        </p:spPr>
        <p:txBody>
          <a:bodyPr wrap="square" lIns="0" rIns="0" tIns="0" bIns="0">
            <a:spAutoFit/>
          </a:bodyPr>
          <a:lstStyle/>
          <a:p>
            <a:pPr algn="l"/>
            <a:r>
              <a:rPr sz="1050" b="0" i="1">
                <a:solidFill>
                  <a:srgbClr val="757575"/>
                </a:solidFill>
                <a:latin typeface="Palatino Linotype"/>
              </a:rPr>
              <a:t>Map the actions step by step
Observe frictions in real time</a:t>
            </a:r>
          </a:p>
        </p:txBody>
      </p:sp>
      <p:sp>
        <p:nvSpPr>
          <p:cNvPr id="24" name="TextBox 23"/>
          <p:cNvSpPr txBox="1"/>
          <p:nvPr/>
        </p:nvSpPr>
        <p:spPr>
          <a:xfrm>
            <a:off x="4505960" y="4023360"/>
            <a:ext cx="3180080" cy="274320"/>
          </a:xfrm>
          <a:prstGeom prst="rect">
            <a:avLst/>
          </a:prstGeom>
          <a:noFill/>
        </p:spPr>
        <p:txBody>
          <a:bodyPr wrap="square" lIns="0" rIns="0" tIns="0" bIns="0">
            <a:spAutoFit/>
          </a:bodyPr>
          <a:lstStyle/>
          <a:p>
            <a:pPr algn="l"/>
            <a:r>
              <a:rPr sz="900" b="1" i="0">
                <a:solidFill>
                  <a:srgbClr val="757575"/>
                </a:solidFill>
                <a:latin typeface="Source Sans Pro"/>
              </a:rPr>
              <a:t>Q1.</a:t>
            </a:r>
          </a:p>
        </p:txBody>
      </p:sp>
      <p:cxnSp>
        <p:nvCxnSpPr>
          <p:cNvPr id="25" name="Connector 24"/>
          <p:cNvCxnSpPr/>
          <p:nvPr/>
        </p:nvCxnSpPr>
        <p:spPr>
          <a:xfrm>
            <a:off x="4826000.0" y="4224528"/>
            <a:ext cx="28143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05960" y="4315968"/>
            <a:ext cx="3180080" cy="274320"/>
          </a:xfrm>
          <a:prstGeom prst="rect">
            <a:avLst/>
          </a:prstGeom>
          <a:noFill/>
        </p:spPr>
        <p:txBody>
          <a:bodyPr wrap="square" lIns="0" rIns="0" tIns="0" bIns="0">
            <a:spAutoFit/>
          </a:bodyPr>
          <a:lstStyle/>
          <a:p>
            <a:pPr algn="l"/>
            <a:r>
              <a:rPr sz="900" b="1" i="0">
                <a:solidFill>
                  <a:srgbClr val="757575"/>
                </a:solidFill>
                <a:latin typeface="Source Sans Pro"/>
              </a:rPr>
              <a:t>Q2.</a:t>
            </a:r>
          </a:p>
        </p:txBody>
      </p:sp>
      <p:cxnSp>
        <p:nvCxnSpPr>
          <p:cNvPr id="27" name="Connector 26"/>
          <p:cNvCxnSpPr/>
          <p:nvPr/>
        </p:nvCxnSpPr>
        <p:spPr>
          <a:xfrm>
            <a:off x="4826000.0" y="4517136"/>
            <a:ext cx="28143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05960" y="4608576"/>
            <a:ext cx="3180080" cy="274320"/>
          </a:xfrm>
          <a:prstGeom prst="rect">
            <a:avLst/>
          </a:prstGeom>
          <a:noFill/>
        </p:spPr>
        <p:txBody>
          <a:bodyPr wrap="square" lIns="0" rIns="0" tIns="0" bIns="0">
            <a:spAutoFit/>
          </a:bodyPr>
          <a:lstStyle/>
          <a:p>
            <a:pPr algn="l"/>
            <a:r>
              <a:rPr sz="900" b="1" i="0">
                <a:solidFill>
                  <a:srgbClr val="757575"/>
                </a:solidFill>
                <a:latin typeface="Source Sans Pro"/>
              </a:rPr>
              <a:t>Q3.</a:t>
            </a:r>
          </a:p>
        </p:txBody>
      </p:sp>
      <p:cxnSp>
        <p:nvCxnSpPr>
          <p:cNvPr id="29" name="Connector 28"/>
          <p:cNvCxnSpPr/>
          <p:nvPr/>
        </p:nvCxnSpPr>
        <p:spPr>
          <a:xfrm>
            <a:off x="4826000.0" y="4809744"/>
            <a:ext cx="28143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097520" y="2697480"/>
            <a:ext cx="3637280" cy="23774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326120" y="2880360"/>
            <a:ext cx="1463040" cy="310896"/>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Wrap-up</a:t>
            </a:r>
          </a:p>
        </p:txBody>
      </p:sp>
      <p:sp>
        <p:nvSpPr>
          <p:cNvPr id="32" name="TextBox 31"/>
          <p:cNvSpPr txBox="1"/>
          <p:nvPr/>
        </p:nvSpPr>
        <p:spPr>
          <a:xfrm>
            <a:off x="8326120" y="3291840"/>
            <a:ext cx="3180080" cy="594360"/>
          </a:xfrm>
          <a:prstGeom prst="rect">
            <a:avLst/>
          </a:prstGeom>
          <a:noFill/>
        </p:spPr>
        <p:txBody>
          <a:bodyPr wrap="square" lIns="0" rIns="0" tIns="0" bIns="0">
            <a:spAutoFit/>
          </a:bodyPr>
          <a:lstStyle/>
          <a:p>
            <a:pPr algn="l"/>
            <a:r>
              <a:rPr sz="1050" b="0" i="1">
                <a:solidFill>
                  <a:srgbClr val="757575"/>
                </a:solidFill>
                <a:latin typeface="Palatino Linotype"/>
              </a:rPr>
              <a:t>Surface what they would change
If magic was possible</a:t>
            </a:r>
          </a:p>
        </p:txBody>
      </p:sp>
      <p:sp>
        <p:nvSpPr>
          <p:cNvPr id="33" name="TextBox 32"/>
          <p:cNvSpPr txBox="1"/>
          <p:nvPr/>
        </p:nvSpPr>
        <p:spPr>
          <a:xfrm>
            <a:off x="8326120" y="4023360"/>
            <a:ext cx="3180080" cy="274320"/>
          </a:xfrm>
          <a:prstGeom prst="rect">
            <a:avLst/>
          </a:prstGeom>
          <a:noFill/>
        </p:spPr>
        <p:txBody>
          <a:bodyPr wrap="square" lIns="0" rIns="0" tIns="0" bIns="0">
            <a:spAutoFit/>
          </a:bodyPr>
          <a:lstStyle/>
          <a:p>
            <a:pPr algn="l"/>
            <a:r>
              <a:rPr sz="900" b="1" i="0">
                <a:solidFill>
                  <a:srgbClr val="757575"/>
                </a:solidFill>
                <a:latin typeface="Source Sans Pro"/>
              </a:rPr>
              <a:t>Q1.</a:t>
            </a:r>
          </a:p>
        </p:txBody>
      </p:sp>
      <p:cxnSp>
        <p:nvCxnSpPr>
          <p:cNvPr id="34" name="Connector 33"/>
          <p:cNvCxnSpPr/>
          <p:nvPr/>
        </p:nvCxnSpPr>
        <p:spPr>
          <a:xfrm>
            <a:off x="8646160.0" y="4224528"/>
            <a:ext cx="28143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326120" y="4315968"/>
            <a:ext cx="3180080" cy="274320"/>
          </a:xfrm>
          <a:prstGeom prst="rect">
            <a:avLst/>
          </a:prstGeom>
          <a:noFill/>
        </p:spPr>
        <p:txBody>
          <a:bodyPr wrap="square" lIns="0" rIns="0" tIns="0" bIns="0">
            <a:spAutoFit/>
          </a:bodyPr>
          <a:lstStyle/>
          <a:p>
            <a:pPr algn="l"/>
            <a:r>
              <a:rPr sz="900" b="1" i="0">
                <a:solidFill>
                  <a:srgbClr val="757575"/>
                </a:solidFill>
                <a:latin typeface="Source Sans Pro"/>
              </a:rPr>
              <a:t>Q2.</a:t>
            </a:r>
          </a:p>
        </p:txBody>
      </p:sp>
      <p:cxnSp>
        <p:nvCxnSpPr>
          <p:cNvPr id="36" name="Connector 35"/>
          <p:cNvCxnSpPr/>
          <p:nvPr/>
        </p:nvCxnSpPr>
        <p:spPr>
          <a:xfrm>
            <a:off x="8646160.0" y="4517136"/>
            <a:ext cx="28143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326120" y="4608576"/>
            <a:ext cx="3180080" cy="274320"/>
          </a:xfrm>
          <a:prstGeom prst="rect">
            <a:avLst/>
          </a:prstGeom>
          <a:noFill/>
        </p:spPr>
        <p:txBody>
          <a:bodyPr wrap="square" lIns="0" rIns="0" tIns="0" bIns="0">
            <a:spAutoFit/>
          </a:bodyPr>
          <a:lstStyle/>
          <a:p>
            <a:pPr algn="l"/>
            <a:r>
              <a:rPr sz="900" b="1" i="0">
                <a:solidFill>
                  <a:srgbClr val="757575"/>
                </a:solidFill>
                <a:latin typeface="Source Sans Pro"/>
              </a:rPr>
              <a:t>Q3.</a:t>
            </a:r>
          </a:p>
        </p:txBody>
      </p:sp>
      <p:cxnSp>
        <p:nvCxnSpPr>
          <p:cNvPr id="38" name="Connector 37"/>
          <p:cNvCxnSpPr/>
          <p:nvPr/>
        </p:nvCxnSpPr>
        <p:spPr>
          <a:xfrm>
            <a:off x="8646160.0" y="4809744"/>
            <a:ext cx="28143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457200" y="5257800"/>
            <a:ext cx="11277600" cy="9144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5349240"/>
            <a:ext cx="7315200" cy="274320"/>
          </a:xfrm>
          <a:prstGeom prst="rect">
            <a:avLst/>
          </a:prstGeom>
          <a:noFill/>
        </p:spPr>
        <p:txBody>
          <a:bodyPr wrap="square" lIns="0" rIns="0" tIns="0" bIns="0">
            <a:spAutoFit/>
          </a:bodyPr>
          <a:lstStyle/>
          <a:p>
            <a:pPr algn="l"/>
            <a:r>
              <a:rPr sz="1200" b="0" i="1">
                <a:solidFill>
                  <a:srgbClr val="0D0D0D"/>
                </a:solidFill>
                <a:latin typeface="Palatino Linotype"/>
              </a:rPr>
              <a:t>Insights captured · barriers to remove · design requirements</a:t>
            </a:r>
          </a:p>
        </p:txBody>
      </p:sp>
      <p:cxnSp>
        <p:nvCxnSpPr>
          <p:cNvPr id="41" name="Connector 40"/>
          <p:cNvCxnSpPr/>
          <p:nvPr/>
        </p:nvCxnSpPr>
        <p:spPr>
          <a:xfrm>
            <a:off x="731520" y="5669280"/>
            <a:ext cx="10728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31520" y="5925312"/>
            <a:ext cx="10728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3" name="Picture 4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4" name="TextBox 4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