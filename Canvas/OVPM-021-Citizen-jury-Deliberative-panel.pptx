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21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0" i="0">
                <a:solidFill>
                  <a:srgbClr val="0D0D0D"/>
                </a:solidFill>
                <a:latin typeface="Palatino Linotype"/>
              </a:rPr>
              <a:t>Citizen jury / Deliberative 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 formal set of policy recommendations or verdicts, backed by intense deliberation and expert testimonies, ready for direct adoption by city councils,.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G4 · Proof of Sustainability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Regulation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47088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Social / User</a:t>
            </a:r>
          </a:p>
        </p:txBody>
      </p:sp>
      <p:pic>
        <p:nvPicPr>
          <p:cNvPr id="11" name="Picture 10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21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Citizen jury / Deliberative panel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G4 · Proof of Sustainability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Elevating the ordinary resident to the status of a judge on the future of their city, demonstrating that everyday people, when given time and facts, can resolve the most complex political deadlocks.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 formal set of policy recommendations or verdicts, backed by intense deliberation and expert testimonies, ready for direct adoption by city councils,.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Several days or weekends spread over weeks/months
Material  ·  Facilitation experts, informational dossiers, expert witnesses, dedicated deliberation space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The Student Citizens' Assembly (SCA) utilized deliberative panels augmented with digital tools like Decidim and Pol.is. The assembly demonstrated how combining face-to-face deliberation with online consensus-building platforms allows randomly selected groups to form highly structured, collective judgments on critical policy issues,.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21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CITIZEN JURY / DELIBERATIVE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Demographic mirror · evidence · deliberation · verdict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Several days or weekends spread over weeks/months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269595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2238756" cy="365760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1. 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22387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Stratified random sortition
20–30 jurors mirroring the population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962656"/>
            <a:ext cx="219456" cy="219456"/>
          </a:xfrm>
          <a:prstGeom prst="ellipse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6265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05840.0" y="3090672"/>
            <a:ext cx="191871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85800" y="3374136"/>
            <a:ext cx="219456" cy="219456"/>
          </a:xfrm>
          <a:prstGeom prst="ellipse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37413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05840.0" y="3502152"/>
            <a:ext cx="191871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85800" y="3785616"/>
            <a:ext cx="219456" cy="219456"/>
          </a:xfrm>
          <a:prstGeom prst="ellipse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78561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05840.0" y="3913632"/>
            <a:ext cx="191871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85800" y="4197096"/>
            <a:ext cx="219456" cy="219456"/>
          </a:xfrm>
          <a:prstGeom prst="ellipse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709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05840.0" y="4325112"/>
            <a:ext cx="191871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85800" y="4608576"/>
            <a:ext cx="219456" cy="219456"/>
          </a:xfrm>
          <a:prstGeom prst="ellipse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60857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05840.0" y="4736592"/>
            <a:ext cx="191871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317748" y="1417320"/>
            <a:ext cx="269595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546348" y="1600200"/>
            <a:ext cx="2238756" cy="365760"/>
          </a:xfrm>
          <a:prstGeom prst="roundRect">
            <a:avLst>
              <a:gd name="adj" fmla="val 50000"/>
            </a:avLst>
          </a:prstGeom>
          <a:solidFill>
            <a:srgbClr val="459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2. Learning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46348" y="2103120"/>
            <a:ext cx="22387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Briefings from experts and stakeholders
balanced across viewpoints</a:t>
            </a:r>
          </a:p>
        </p:txBody>
      </p:sp>
      <p:sp>
        <p:nvSpPr>
          <p:cNvPr id="27" name="Oval 26"/>
          <p:cNvSpPr/>
          <p:nvPr/>
        </p:nvSpPr>
        <p:spPr>
          <a:xfrm>
            <a:off x="3546348" y="2962656"/>
            <a:ext cx="219456" cy="219456"/>
          </a:xfrm>
          <a:prstGeom prst="ellipse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46348" y="296265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866388.0" y="3090672"/>
            <a:ext cx="191871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3546348" y="3374136"/>
            <a:ext cx="219456" cy="219456"/>
          </a:xfrm>
          <a:prstGeom prst="ellipse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46348" y="337413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866388.0" y="3502152"/>
            <a:ext cx="191871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3546348" y="3785616"/>
            <a:ext cx="219456" cy="219456"/>
          </a:xfrm>
          <a:prstGeom prst="ellipse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46348" y="378561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3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866388.0" y="3913632"/>
            <a:ext cx="191871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3546348" y="4197096"/>
            <a:ext cx="219456" cy="219456"/>
          </a:xfrm>
          <a:prstGeom prst="ellipse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46348" y="419709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4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866388.0" y="4325112"/>
            <a:ext cx="191871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3546348" y="4608576"/>
            <a:ext cx="219456" cy="219456"/>
          </a:xfrm>
          <a:prstGeom prst="ellipse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46348" y="460857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5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866388.0" y="4736592"/>
            <a:ext cx="191871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178296" y="1417320"/>
            <a:ext cx="269595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406896" y="1600200"/>
            <a:ext cx="2238756" cy="365760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3. Deliberation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6896" y="2103120"/>
            <a:ext cx="22387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Facilitated debate
tracing trade-offs and dissent</a:t>
            </a:r>
          </a:p>
        </p:txBody>
      </p:sp>
      <p:sp>
        <p:nvSpPr>
          <p:cNvPr id="45" name="Oval 44"/>
          <p:cNvSpPr/>
          <p:nvPr/>
        </p:nvSpPr>
        <p:spPr>
          <a:xfrm>
            <a:off x="6406896" y="2962656"/>
            <a:ext cx="219456" cy="219456"/>
          </a:xfrm>
          <a:prstGeom prst="ellipse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6896" y="296265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1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726936.0" y="3090672"/>
            <a:ext cx="191871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6406896" y="3374136"/>
            <a:ext cx="219456" cy="219456"/>
          </a:xfrm>
          <a:prstGeom prst="ellipse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6896" y="337413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2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726936.0" y="3502152"/>
            <a:ext cx="191871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6406896" y="3785616"/>
            <a:ext cx="219456" cy="219456"/>
          </a:xfrm>
          <a:prstGeom prst="ellipse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6896" y="378561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3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726936.0" y="3913632"/>
            <a:ext cx="191871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6406896" y="4197096"/>
            <a:ext cx="219456" cy="219456"/>
          </a:xfrm>
          <a:prstGeom prst="ellipse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6896" y="419709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4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726936.0" y="4325112"/>
            <a:ext cx="191871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6406896" y="4608576"/>
            <a:ext cx="219456" cy="219456"/>
          </a:xfrm>
          <a:prstGeom prst="ellipse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6896" y="460857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5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726936.0" y="4736592"/>
            <a:ext cx="191871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9038844" y="1417320"/>
            <a:ext cx="269595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9267444" y="1600200"/>
            <a:ext cx="2238756" cy="365760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4. Verdict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67444" y="2103120"/>
            <a:ext cx="22387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Written recommendations
public-facing report</a:t>
            </a:r>
          </a:p>
        </p:txBody>
      </p:sp>
      <p:sp>
        <p:nvSpPr>
          <p:cNvPr id="63" name="Oval 62"/>
          <p:cNvSpPr/>
          <p:nvPr/>
        </p:nvSpPr>
        <p:spPr>
          <a:xfrm>
            <a:off x="9267444" y="2962656"/>
            <a:ext cx="219456" cy="219456"/>
          </a:xfrm>
          <a:prstGeom prst="ellipse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267444" y="296265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1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9587484.0" y="3090672"/>
            <a:ext cx="191871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9267444" y="3374136"/>
            <a:ext cx="219456" cy="219456"/>
          </a:xfrm>
          <a:prstGeom prst="ellipse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67444" y="337413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2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9587484.0" y="3502152"/>
            <a:ext cx="191871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9267444" y="3785616"/>
            <a:ext cx="219456" cy="219456"/>
          </a:xfrm>
          <a:prstGeom prst="ellipse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267444" y="378561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3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9587484.0" y="3913632"/>
            <a:ext cx="191871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9267444" y="4197096"/>
            <a:ext cx="219456" cy="219456"/>
          </a:xfrm>
          <a:prstGeom prst="ellipse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267444" y="419709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4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9587484.0" y="4325112"/>
            <a:ext cx="191871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9267444" y="4608576"/>
            <a:ext cx="219456" cy="219456"/>
          </a:xfrm>
          <a:prstGeom prst="ellipse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267444" y="4608576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5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9587484.0" y="4736592"/>
            <a:ext cx="191871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Random selection + balanced evidence + protected deliberation = legitimate citizen verdict.</a:t>
            </a:r>
          </a:p>
        </p:txBody>
      </p:sp>
      <p:pic>
        <p:nvPicPr>
          <p:cNvPr id="79" name="Picture 78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21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