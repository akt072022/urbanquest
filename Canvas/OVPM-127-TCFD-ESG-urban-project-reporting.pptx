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127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TCFD / ESG urban project reporting</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standardized climate disclosure report mapping municipal climate-related financial risks, resilience actions, and greenhouse gas emission trajectories.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G4 · Proof of Sustainability</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2" name="Rounded Rectangle 11"/>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127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TCFD / ESG urban project reporting</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Speaking the ruthless, objective language of finance to defend the fragile biosphere, proving that extreme heat and rising tides are not just environmental tragedies, but severe economic liabilities demanding immediate action.</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standardized climate disclosure report mapping municipal climate-related financial risks, resilience actions, and greenhouse gas emission trajectories.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6 months for data gathering and disclosure
Material  ·  CDP-ICLEI Track questionnaire, TCFD reporting guidelines, municipal climate risk models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In 2023, over 1,100 cities utilized the CDP-ICLEI Track to report more than 8,000 urban sustainability actions. By disclosing this data, local governments provide the empirical accountability necessary for UN-backed campaigns like Race to Zero and Race to Resilience, bridging the gap between local public works and international green capital markets.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127  ·  ANIMATION CANVAS  ·  </a:t>
            </a:r>
            <a:r>
              <a:rPr sz="1000" b="1" i="0">
                <a:solidFill>
                  <a:srgbClr val="0D0D0D"/>
                </a:solidFill>
                <a:latin typeface="Source Sans Pro"/>
              </a:rPr>
              <a:t>TCFD / ESG URBAN PROJECT REPORTING</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TCFD · 4 pillars × climate disclosures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6 months for data gathering and disclosure</a:t>
            </a:r>
          </a:p>
        </p:txBody>
      </p:sp>
      <p:sp>
        <p:nvSpPr>
          <p:cNvPr id="6" name="Rounded Rectangle 5"/>
          <p:cNvSpPr/>
          <p:nvPr/>
        </p:nvSpPr>
        <p:spPr>
          <a:xfrm>
            <a:off x="457200"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Governance</a:t>
            </a:r>
          </a:p>
        </p:txBody>
      </p:sp>
      <p:sp>
        <p:nvSpPr>
          <p:cNvPr id="8" name="TextBox 7"/>
          <p:cNvSpPr txBox="1"/>
          <p:nvPr/>
        </p:nvSpPr>
        <p:spPr>
          <a:xfrm>
            <a:off x="685800"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who oversees climate risk</a:t>
            </a:r>
          </a:p>
        </p:txBody>
      </p:sp>
      <p:cxnSp>
        <p:nvCxnSpPr>
          <p:cNvPr id="9" name="Connector 8"/>
          <p:cNvCxnSpPr/>
          <p:nvPr/>
        </p:nvCxnSpPr>
        <p:spPr>
          <a:xfrm>
            <a:off x="685800.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317748"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546348"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Strategy</a:t>
            </a:r>
          </a:p>
        </p:txBody>
      </p:sp>
      <p:sp>
        <p:nvSpPr>
          <p:cNvPr id="22" name="TextBox 21"/>
          <p:cNvSpPr txBox="1"/>
          <p:nvPr/>
        </p:nvSpPr>
        <p:spPr>
          <a:xfrm>
            <a:off x="3546348"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impact on business · resilience</a:t>
            </a:r>
          </a:p>
        </p:txBody>
      </p:sp>
      <p:cxnSp>
        <p:nvCxnSpPr>
          <p:cNvPr id="23" name="Connector 22"/>
          <p:cNvCxnSpPr/>
          <p:nvPr/>
        </p:nvCxnSpPr>
        <p:spPr>
          <a:xfrm>
            <a:off x="3546348.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546348.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546348.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546348.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546348.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546348.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546348.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546348.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546348.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546348.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546348.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178296"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406896"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Risk management</a:t>
            </a:r>
          </a:p>
        </p:txBody>
      </p:sp>
      <p:sp>
        <p:nvSpPr>
          <p:cNvPr id="36" name="TextBox 35"/>
          <p:cNvSpPr txBox="1"/>
          <p:nvPr/>
        </p:nvSpPr>
        <p:spPr>
          <a:xfrm>
            <a:off x="6406896"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identify · assess · manage</a:t>
            </a:r>
          </a:p>
        </p:txBody>
      </p:sp>
      <p:cxnSp>
        <p:nvCxnSpPr>
          <p:cNvPr id="37" name="Connector 36"/>
          <p:cNvCxnSpPr/>
          <p:nvPr/>
        </p:nvCxnSpPr>
        <p:spPr>
          <a:xfrm>
            <a:off x="6406896.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406896.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406896.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406896.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406896.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406896.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406896.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406896.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406896.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406896.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406896.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038844" y="1417320"/>
            <a:ext cx="269595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267444" y="1600200"/>
            <a:ext cx="223875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Metrics &amp; targets</a:t>
            </a:r>
          </a:p>
        </p:txBody>
      </p:sp>
      <p:sp>
        <p:nvSpPr>
          <p:cNvPr id="50" name="TextBox 49"/>
          <p:cNvSpPr txBox="1"/>
          <p:nvPr/>
        </p:nvSpPr>
        <p:spPr>
          <a:xfrm>
            <a:off x="9267444"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GHG · KPIs · scenarios</a:t>
            </a:r>
          </a:p>
        </p:txBody>
      </p:sp>
      <p:cxnSp>
        <p:nvCxnSpPr>
          <p:cNvPr id="51" name="Connector 50"/>
          <p:cNvCxnSpPr/>
          <p:nvPr/>
        </p:nvCxnSpPr>
        <p:spPr>
          <a:xfrm>
            <a:off x="9267444.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267444.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267444.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267444.0" y="362102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267444.0" y="391363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67444.0" y="420624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267444.0" y="449884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267444.0" y="479145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267444.0" y="508406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267444.0" y="537667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267444.0" y="566928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62" name="Picture 61"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63" name="TextBox 62"/>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127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