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7315200" cy="274320"/>
          </a:xfrm>
          <a:prstGeom prst="rect">
            <a:avLst/>
          </a:prstGeom>
          <a:noFill/>
        </p:spPr>
        <p:txBody>
          <a:bodyPr wrap="square" lIns="0" rIns="0" tIns="0" bIns="0">
            <a:spAutoFit/>
          </a:bodyPr>
          <a:lstStyle/>
          <a:p>
            <a:pPr algn="l"/>
            <a:r>
              <a:rPr sz="1100" b="1" i="0">
                <a:solidFill>
                  <a:srgbClr val="0D0D0D"/>
                </a:solidFill>
                <a:latin typeface="Source Sans Pro"/>
              </a:rPr>
              <a:t>OVPM Co-Design Toolkit  ·  Tool 65 of 133</a:t>
            </a:r>
          </a:p>
        </p:txBody>
      </p:sp>
      <p:sp>
        <p:nvSpPr>
          <p:cNvPr id="4" name="TextBox 3"/>
          <p:cNvSpPr txBox="1"/>
          <p:nvPr/>
        </p:nvSpPr>
        <p:spPr>
          <a:xfrm>
            <a:off x="7985760" y="502920"/>
            <a:ext cx="3657600" cy="274320"/>
          </a:xfrm>
          <a:prstGeom prst="rect">
            <a:avLst/>
          </a:prstGeom>
          <a:noFill/>
        </p:spPr>
        <p:txBody>
          <a:bodyPr wrap="square" lIns="0" rIns="0" tIns="0" bIns="0">
            <a:spAutoFit/>
          </a:bodyPr>
          <a:lstStyle/>
          <a:p>
            <a:pPr algn="r"/>
            <a:r>
              <a:rPr sz="1200" b="0" i="1">
                <a:solidFill>
                  <a:srgbClr val="0D0D0D"/>
                </a:solidFill>
                <a:latin typeface="Palatino Linotype"/>
              </a:rPr>
              <a:t>Method canvas for co-design</a:t>
            </a:r>
          </a:p>
        </p:txBody>
      </p:sp>
      <p:sp>
        <p:nvSpPr>
          <p:cNvPr id="5" name="TextBox 4"/>
          <p:cNvSpPr txBox="1"/>
          <p:nvPr/>
        </p:nvSpPr>
        <p:spPr>
          <a:xfrm>
            <a:off x="548640" y="1554480"/>
            <a:ext cx="11094720" cy="2194560"/>
          </a:xfrm>
          <a:prstGeom prst="rect">
            <a:avLst/>
          </a:prstGeom>
          <a:noFill/>
        </p:spPr>
        <p:txBody>
          <a:bodyPr wrap="square" lIns="0" rIns="0" tIns="0" bIns="0">
            <a:spAutoFit/>
          </a:bodyPr>
          <a:lstStyle/>
          <a:p>
            <a:pPr algn="l"/>
            <a:r>
              <a:rPr sz="4200" b="0" i="0">
                <a:solidFill>
                  <a:srgbClr val="0D0D0D"/>
                </a:solidFill>
                <a:latin typeface="Palatino Linotype"/>
              </a:rPr>
              <a:t>Sky View Factor &amp; urban comfort analysis</a:t>
            </a:r>
          </a:p>
        </p:txBody>
      </p:sp>
      <p:sp>
        <p:nvSpPr>
          <p:cNvPr id="6" name="TextBox 5"/>
          <p:cNvSpPr txBox="1"/>
          <p:nvPr/>
        </p:nvSpPr>
        <p:spPr>
          <a:xfrm>
            <a:off x="548640" y="3931920"/>
            <a:ext cx="10058400" cy="1280160"/>
          </a:xfrm>
          <a:prstGeom prst="rect">
            <a:avLst/>
          </a:prstGeom>
          <a:noFill/>
        </p:spPr>
        <p:txBody>
          <a:bodyPr wrap="square" lIns="0" rIns="0" tIns="0" bIns="0">
            <a:spAutoFit/>
          </a:bodyPr>
          <a:lstStyle/>
          <a:p>
            <a:pPr algn="l"/>
            <a:r>
              <a:rPr sz="1100" b="1" i="0">
                <a:solidFill>
                  <a:srgbClr val="0D0D0D"/>
                </a:solidFill>
                <a:latin typeface="Source Sans Pro"/>
              </a:rPr>
              <a:t>What this tool produces  ·  </a:t>
            </a:r>
            <a:r>
              <a:rPr sz="1500" b="0" i="1">
                <a:solidFill>
                  <a:srgbClr val="0D0D0D"/>
                </a:solidFill>
                <a:latin typeface="Palatino Linotype"/>
              </a:rPr>
              <a:t>Calculations and thermal mappings quantifying the proportion of sky visible from a specific point, proving how street canyons trap heat and dictating where to plant trees or install shade structures,.</a:t>
            </a:r>
          </a:p>
        </p:txBody>
      </p:sp>
      <p:sp>
        <p:nvSpPr>
          <p:cNvPr id="7" name="Rounded Rectangle 6"/>
          <p:cNvSpPr/>
          <p:nvPr/>
        </p:nvSpPr>
        <p:spPr>
          <a:xfrm>
            <a:off x="548640" y="5212080"/>
            <a:ext cx="2194560" cy="384048"/>
          </a:xfrm>
          <a:prstGeom prst="roundRect">
            <a:avLst>
              <a:gd name="adj" fmla="val 50000"/>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FFFFFF"/>
                </a:solidFill>
                <a:latin typeface="Source Sans Pro"/>
              </a:rPr>
              <a:t>G1 · Proof of Impact</a:t>
            </a:r>
          </a:p>
        </p:txBody>
      </p:sp>
      <p:sp>
        <p:nvSpPr>
          <p:cNvPr id="8" name="TextBox 7"/>
          <p:cNvSpPr txBox="1"/>
          <p:nvPr/>
        </p:nvSpPr>
        <p:spPr>
          <a:xfrm>
            <a:off x="548640" y="5669280"/>
            <a:ext cx="1828800" cy="274320"/>
          </a:xfrm>
          <a:prstGeom prst="rect">
            <a:avLst/>
          </a:prstGeom>
          <a:noFill/>
        </p:spPr>
        <p:txBody>
          <a:bodyPr wrap="square" lIns="0" rIns="0" tIns="0" bIns="0">
            <a:spAutoFit/>
          </a:bodyPr>
          <a:lstStyle/>
          <a:p>
            <a:pPr algn="l"/>
            <a:r>
              <a:rPr sz="900" b="1" i="0">
                <a:solidFill>
                  <a:srgbClr val="0D0D0D"/>
                </a:solidFill>
                <a:latin typeface="Source Sans Pro"/>
              </a:rPr>
              <a:t>Dimensions</a:t>
            </a:r>
          </a:p>
        </p:txBody>
      </p:sp>
      <p:sp>
        <p:nvSpPr>
          <p:cNvPr id="9" name="Rounded Rectangle 8"/>
          <p:cNvSpPr/>
          <p:nvPr/>
        </p:nvSpPr>
        <p:spPr>
          <a:xfrm>
            <a:off x="548640" y="5943600"/>
            <a:ext cx="1376172"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Environmental</a:t>
            </a:r>
          </a:p>
        </p:txBody>
      </p:sp>
      <p:sp>
        <p:nvSpPr>
          <p:cNvPr id="10" name="Rounded Rectangle 9"/>
          <p:cNvSpPr/>
          <p:nvPr/>
        </p:nvSpPr>
        <p:spPr>
          <a:xfrm>
            <a:off x="2034540" y="5943600"/>
            <a:ext cx="1188720"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Spatial</a:t>
            </a:r>
          </a:p>
        </p:txBody>
      </p:sp>
      <p:pic>
        <p:nvPicPr>
          <p:cNvPr id="11" name="Picture 10" descr="aktan_black_transparent.png"/>
          <p:cNvPicPr>
            <a:picLocks noChangeAspect="1"/>
          </p:cNvPicPr>
          <p:nvPr/>
        </p:nvPicPr>
        <p:blipFill>
          <a:blip r:embed="rId2"/>
          <a:stretch>
            <a:fillRect/>
          </a:stretch>
        </p:blipFill>
        <p:spPr>
          <a:xfrm>
            <a:off x="10271760" y="6024114"/>
            <a:ext cx="1371600" cy="330966"/>
          </a:xfrm>
          <a:prstGeom prst="rect">
            <a:avLst/>
          </a:prstGeom>
        </p:spPr>
      </p:pic>
      <p:sp>
        <p:nvSpPr>
          <p:cNvPr id="12" name="TextBox 11"/>
          <p:cNvSpPr txBox="1"/>
          <p:nvPr/>
        </p:nvSpPr>
        <p:spPr>
          <a:xfrm>
            <a:off x="10271760" y="6395080"/>
            <a:ext cx="1371600" cy="274320"/>
          </a:xfrm>
          <a:prstGeom prst="rect">
            <a:avLst/>
          </a:prstGeom>
          <a:noFill/>
        </p:spPr>
        <p:txBody>
          <a:bodyPr wrap="square" lIns="0" rIns="0" tIns="0" bIns="0">
            <a:spAutoFit/>
          </a:bodyPr>
          <a:lstStyle/>
          <a:p>
            <a:pPr algn="ctr"/>
            <a:r>
              <a:rPr sz="1200" b="0" i="1">
                <a:solidFill>
                  <a:srgbClr val="0D0D0D"/>
                </a:solidFill>
                <a:latin typeface="Palatino Linotype"/>
              </a:rPr>
              <a:t>With simplexity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0" rIns="0" tIns="0" bIns="0">
            <a:spAutoFit/>
          </a:bodyPr>
          <a:lstStyle/>
          <a:p>
            <a:pPr algn="l"/>
            <a:r>
              <a:rPr sz="1000" b="1" i="0">
                <a:solidFill>
                  <a:srgbClr val="757575"/>
                </a:solidFill>
                <a:latin typeface="Source Sans Pro"/>
              </a:rPr>
              <a:t>TOOL 65  ·  FACILITATOR PREPARATION</a:t>
            </a:r>
          </a:p>
        </p:txBody>
      </p:sp>
      <p:sp>
        <p:nvSpPr>
          <p:cNvPr id="4" name="TextBox 3"/>
          <p:cNvSpPr txBox="1"/>
          <p:nvPr/>
        </p:nvSpPr>
        <p:spPr>
          <a:xfrm>
            <a:off x="457200" y="594360"/>
            <a:ext cx="10515600" cy="914400"/>
          </a:xfrm>
          <a:prstGeom prst="rect">
            <a:avLst/>
          </a:prstGeom>
          <a:noFill/>
        </p:spPr>
        <p:txBody>
          <a:bodyPr wrap="square" lIns="0" rIns="0" tIns="0" bIns="0">
            <a:spAutoFit/>
          </a:bodyPr>
          <a:lstStyle/>
          <a:p>
            <a:pPr algn="l"/>
            <a:r>
              <a:rPr sz="2800" b="0" i="0">
                <a:solidFill>
                  <a:srgbClr val="0D0D0D"/>
                </a:solidFill>
                <a:latin typeface="Palatino Linotype"/>
              </a:rPr>
              <a:t>Preparing the workshop  ·  </a:t>
            </a:r>
            <a:r>
              <a:rPr sz="2800" b="0" i="1">
                <a:solidFill>
                  <a:srgbClr val="0D0D0D"/>
                </a:solidFill>
                <a:latin typeface="Palatino Linotype"/>
              </a:rPr>
              <a:t>Sky View Factor &amp; urban comfort analysis</a:t>
            </a:r>
          </a:p>
        </p:txBody>
      </p:sp>
      <p:sp>
        <p:nvSpPr>
          <p:cNvPr id="5" name="Rounded Rectangle 4"/>
          <p:cNvSpPr/>
          <p:nvPr/>
        </p:nvSpPr>
        <p:spPr>
          <a:xfrm>
            <a:off x="457200" y="1554480"/>
            <a:ext cx="2468880" cy="384048"/>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G1 · Proof of Impact</a:t>
            </a:r>
          </a:p>
        </p:txBody>
      </p:sp>
      <p:sp>
        <p:nvSpPr>
          <p:cNvPr id="6" name="Rounded Rectangle 5"/>
          <p:cNvSpPr/>
          <p:nvPr/>
        </p:nvSpPr>
        <p:spPr>
          <a:xfrm>
            <a:off x="457200" y="2103120"/>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2267712"/>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240280"/>
            <a:ext cx="4983480" cy="365760"/>
          </a:xfrm>
          <a:prstGeom prst="rect">
            <a:avLst/>
          </a:prstGeom>
          <a:noFill/>
        </p:spPr>
        <p:txBody>
          <a:bodyPr wrap="square" lIns="0" rIns="0" tIns="0" bIns="0">
            <a:spAutoFit/>
          </a:bodyPr>
          <a:lstStyle/>
          <a:p>
            <a:pPr algn="l"/>
            <a:r>
              <a:rPr sz="1200" b="1" i="0">
                <a:solidFill>
                  <a:srgbClr val="0D0D0D"/>
                </a:solidFill>
                <a:latin typeface="Source Sans Pro"/>
              </a:rPr>
              <a:t>Why this tool matters</a:t>
            </a:r>
          </a:p>
        </p:txBody>
      </p:sp>
      <p:sp>
        <p:nvSpPr>
          <p:cNvPr id="9" name="TextBox 8"/>
          <p:cNvSpPr txBox="1"/>
          <p:nvPr/>
        </p:nvSpPr>
        <p:spPr>
          <a:xfrm>
            <a:off x="731520" y="2606040"/>
            <a:ext cx="4983480" cy="1234439"/>
          </a:xfrm>
          <a:prstGeom prst="rect">
            <a:avLst/>
          </a:prstGeom>
          <a:noFill/>
        </p:spPr>
        <p:txBody>
          <a:bodyPr wrap="square" lIns="0" rIns="0" tIns="0" bIns="0">
            <a:spAutoFit/>
          </a:bodyPr>
          <a:lstStyle/>
          <a:p>
            <a:pPr algn="l"/>
            <a:r>
              <a:rPr sz="1000" b="0" i="0">
                <a:solidFill>
                  <a:srgbClr val="0D0D0D"/>
                </a:solidFill>
                <a:latin typeface="Source Sans Pro"/>
              </a:rPr>
              <a:t>Translating the harsh, bodily reality of a summer heatwave into objective geometry; proving mathematically that shade is not a mere aesthetic choice, but a vital necessity for human survival in the street.</a:t>
            </a:r>
          </a:p>
        </p:txBody>
      </p:sp>
      <p:sp>
        <p:nvSpPr>
          <p:cNvPr id="10" name="Rounded Rectangle 9"/>
          <p:cNvSpPr/>
          <p:nvPr/>
        </p:nvSpPr>
        <p:spPr>
          <a:xfrm>
            <a:off x="6080760" y="2103120"/>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0" y="2267712"/>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2240280"/>
            <a:ext cx="4983480" cy="365760"/>
          </a:xfrm>
          <a:prstGeom prst="rect">
            <a:avLst/>
          </a:prstGeom>
          <a:noFill/>
        </p:spPr>
        <p:txBody>
          <a:bodyPr wrap="square" lIns="0" rIns="0" tIns="0" bIns="0">
            <a:spAutoFit/>
          </a:bodyPr>
          <a:lstStyle/>
          <a:p>
            <a:pPr algn="l"/>
            <a:r>
              <a:rPr sz="1200" b="1" i="0">
                <a:solidFill>
                  <a:srgbClr val="0D0D0D"/>
                </a:solidFill>
                <a:latin typeface="Source Sans Pro"/>
              </a:rPr>
              <a:t>Evidence we produce</a:t>
            </a:r>
          </a:p>
        </p:txBody>
      </p:sp>
      <p:sp>
        <p:nvSpPr>
          <p:cNvPr id="13" name="TextBox 12"/>
          <p:cNvSpPr txBox="1"/>
          <p:nvPr/>
        </p:nvSpPr>
        <p:spPr>
          <a:xfrm>
            <a:off x="6355080" y="2606040"/>
            <a:ext cx="4983480" cy="1234439"/>
          </a:xfrm>
          <a:prstGeom prst="rect">
            <a:avLst/>
          </a:prstGeom>
          <a:noFill/>
        </p:spPr>
        <p:txBody>
          <a:bodyPr wrap="square" lIns="0" rIns="0" tIns="0" bIns="0">
            <a:spAutoFit/>
          </a:bodyPr>
          <a:lstStyle/>
          <a:p>
            <a:pPr algn="l"/>
            <a:r>
              <a:rPr sz="1000" b="0" i="0">
                <a:solidFill>
                  <a:srgbClr val="0D0D0D"/>
                </a:solidFill>
                <a:latin typeface="Source Sans Pro"/>
              </a:rPr>
              <a:t>Calculations and thermal mappings quantifying the proportion of sky visible from a specific point, proving how street canyons trap heat and dictating where to plant trees or install shade structures,.</a:t>
            </a:r>
          </a:p>
        </p:txBody>
      </p:sp>
      <p:sp>
        <p:nvSpPr>
          <p:cNvPr id="14" name="Rounded Rectangle 13"/>
          <p:cNvSpPr/>
          <p:nvPr/>
        </p:nvSpPr>
        <p:spPr>
          <a:xfrm>
            <a:off x="457200" y="4160519"/>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94360" y="4325111"/>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4297679"/>
            <a:ext cx="4983480" cy="365760"/>
          </a:xfrm>
          <a:prstGeom prst="rect">
            <a:avLst/>
          </a:prstGeom>
          <a:noFill/>
        </p:spPr>
        <p:txBody>
          <a:bodyPr wrap="square" lIns="0" rIns="0" tIns="0" bIns="0">
            <a:spAutoFit/>
          </a:bodyPr>
          <a:lstStyle/>
          <a:p>
            <a:pPr algn="l"/>
            <a:r>
              <a:rPr sz="1200" b="1" i="0">
                <a:solidFill>
                  <a:srgbClr val="0D0D0D"/>
                </a:solidFill>
                <a:latin typeface="Source Sans Pro"/>
              </a:rPr>
              <a:t>Duration &amp; Material</a:t>
            </a:r>
          </a:p>
        </p:txBody>
      </p:sp>
      <p:sp>
        <p:nvSpPr>
          <p:cNvPr id="17" name="TextBox 16"/>
          <p:cNvSpPr txBox="1"/>
          <p:nvPr/>
        </p:nvSpPr>
        <p:spPr>
          <a:xfrm>
            <a:off x="731520" y="4663439"/>
            <a:ext cx="4983480" cy="1234439"/>
          </a:xfrm>
          <a:prstGeom prst="rect">
            <a:avLst/>
          </a:prstGeom>
          <a:noFill/>
        </p:spPr>
        <p:txBody>
          <a:bodyPr wrap="square" lIns="0" rIns="0" tIns="0" bIns="0">
            <a:spAutoFit/>
          </a:bodyPr>
          <a:lstStyle/>
          <a:p>
            <a:pPr algn="l"/>
            <a:r>
              <a:rPr sz="1000" b="0" i="0">
                <a:solidFill>
                  <a:srgbClr val="0D0D0D"/>
                </a:solidFill>
                <a:latin typeface="Source Sans Pro"/>
              </a:rPr>
              <a:t>Duration  ·  2 to 4 days of field photography, 1 week of digital processing
Material  ·  Fisheye lens cameras, SVF calculation software (RayMan), meteorological data</a:t>
            </a:r>
          </a:p>
        </p:txBody>
      </p:sp>
      <p:sp>
        <p:nvSpPr>
          <p:cNvPr id="18" name="Rounded Rectangle 17"/>
          <p:cNvSpPr/>
          <p:nvPr/>
        </p:nvSpPr>
        <p:spPr>
          <a:xfrm>
            <a:off x="6080760" y="4160519"/>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17920" y="4325111"/>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55080" y="4297679"/>
            <a:ext cx="4983480" cy="365760"/>
          </a:xfrm>
          <a:prstGeom prst="rect">
            <a:avLst/>
          </a:prstGeom>
          <a:noFill/>
        </p:spPr>
        <p:txBody>
          <a:bodyPr wrap="square" lIns="0" rIns="0" tIns="0" bIns="0">
            <a:spAutoFit/>
          </a:bodyPr>
          <a:lstStyle/>
          <a:p>
            <a:pPr algn="l"/>
            <a:r>
              <a:rPr sz="1200" b="1" i="0">
                <a:solidFill>
                  <a:srgbClr val="0D0D0D"/>
                </a:solidFill>
                <a:latin typeface="Source Sans Pro"/>
              </a:rPr>
              <a:t>Reference case</a:t>
            </a:r>
          </a:p>
        </p:txBody>
      </p:sp>
      <p:sp>
        <p:nvSpPr>
          <p:cNvPr id="21" name="TextBox 20"/>
          <p:cNvSpPr txBox="1"/>
          <p:nvPr/>
        </p:nvSpPr>
        <p:spPr>
          <a:xfrm>
            <a:off x="6355080" y="4663439"/>
            <a:ext cx="4983480" cy="1234439"/>
          </a:xfrm>
          <a:prstGeom prst="rect">
            <a:avLst/>
          </a:prstGeom>
          <a:noFill/>
        </p:spPr>
        <p:txBody>
          <a:bodyPr wrap="square" lIns="0" rIns="0" tIns="0" bIns="0">
            <a:spAutoFit/>
          </a:bodyPr>
          <a:lstStyle/>
          <a:p>
            <a:pPr algn="l"/>
            <a:r>
              <a:rPr sz="1000" b="0" i="0">
                <a:solidFill>
                  <a:srgbClr val="0D0D0D"/>
                </a:solidFill>
                <a:latin typeface="Source Sans Pro"/>
              </a:rPr>
              <a:t>In a hot arid university campus plaza, researchers calculated the Sky View Factor using fisheye imagery and the RayMan model. By correlating the geometric openness of the plaza with microclimatic variables, they proved exactly how the lack of shading exacerbated pedestrian thermal discomfort, directly informing the architectural redesign of the campus to protect students from severe heat stress.</a:t>
            </a:r>
          </a:p>
        </p:txBody>
      </p:sp>
      <p:sp>
        <p:nvSpPr>
          <p:cNvPr id="22" name="TextBox 21"/>
          <p:cNvSpPr txBox="1"/>
          <p:nvPr/>
        </p:nvSpPr>
        <p:spPr>
          <a:xfrm>
            <a:off x="457200" y="6035040"/>
            <a:ext cx="10515600" cy="274320"/>
          </a:xfrm>
          <a:prstGeom prst="rect">
            <a:avLst/>
          </a:prstGeom>
          <a:noFill/>
        </p:spPr>
        <p:txBody>
          <a:bodyPr wrap="square" lIns="0" rIns="0" tIns="0" bIns="0">
            <a:spAutoFit/>
          </a:bodyPr>
          <a:lstStyle/>
          <a:p>
            <a:pPr algn="l"/>
            <a:r>
              <a:rPr sz="1000" b="1" i="0">
                <a:solidFill>
                  <a:srgbClr val="0D0D0D"/>
                </a:solidFill>
                <a:latin typeface="Source Sans Pro"/>
              </a:rPr>
              <a:t>Suggested agenda  ·  </a:t>
            </a:r>
            <a:r>
              <a:rPr sz="1000" b="0" i="0">
                <a:solidFill>
                  <a:srgbClr val="757575"/>
                </a:solidFill>
                <a:latin typeface="Source Sans Pro"/>
              </a:rPr>
              <a:t>Brief (10 min)  ›  Method walk-through (15 min)  ›  Animation canvas (60–90 min)  ›  Harvest (20 min)</a:t>
            </a:r>
          </a:p>
        </p:txBody>
      </p:sp>
      <p:pic>
        <p:nvPicPr>
          <p:cNvPr id="23" name="Picture 22"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24" name="TextBox 23"/>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0058400" cy="274320"/>
          </a:xfrm>
          <a:prstGeom prst="rect">
            <a:avLst/>
          </a:prstGeom>
          <a:noFill/>
        </p:spPr>
        <p:txBody>
          <a:bodyPr wrap="square" lIns="0" rIns="0" tIns="0" bIns="0">
            <a:spAutoFit/>
          </a:bodyPr>
          <a:lstStyle/>
          <a:p>
            <a:pPr algn="l"/>
            <a:r>
              <a:rPr sz="1000" b="1" i="0">
                <a:solidFill>
                  <a:srgbClr val="757575"/>
                </a:solidFill>
                <a:latin typeface="Source Sans Pro"/>
              </a:rPr>
              <a:t>TOOL 65  ·  ANIMATION CANVAS  ·  </a:t>
            </a:r>
            <a:r>
              <a:rPr sz="1000" b="1" i="0">
                <a:solidFill>
                  <a:srgbClr val="0D0D0D"/>
                </a:solidFill>
                <a:latin typeface="Source Sans Pro"/>
              </a:rPr>
              <a:t>SKY VIEW FACTOR &amp; URBAN COMFORT ANALYSIS</a:t>
            </a:r>
          </a:p>
        </p:txBody>
      </p:sp>
      <p:sp>
        <p:nvSpPr>
          <p:cNvPr id="4" name="TextBox 3"/>
          <p:cNvSpPr txBox="1"/>
          <p:nvPr/>
        </p:nvSpPr>
        <p:spPr>
          <a:xfrm>
            <a:off x="457200" y="640080"/>
            <a:ext cx="8229600" cy="640080"/>
          </a:xfrm>
          <a:prstGeom prst="rect">
            <a:avLst/>
          </a:prstGeom>
          <a:noFill/>
        </p:spPr>
        <p:txBody>
          <a:bodyPr wrap="square" lIns="0" rIns="0" tIns="0" bIns="0">
            <a:spAutoFit/>
          </a:bodyPr>
          <a:lstStyle/>
          <a:p>
            <a:pPr algn="l"/>
            <a:r>
              <a:rPr sz="2400" b="0" i="0">
                <a:solidFill>
                  <a:srgbClr val="0D0D0D"/>
                </a:solidFill>
                <a:latin typeface="Palatino Linotype"/>
              </a:rPr>
              <a:t>SVF heatmap × comfort drivers</a:t>
            </a:r>
          </a:p>
        </p:txBody>
      </p:sp>
      <p:sp>
        <p:nvSpPr>
          <p:cNvPr id="5" name="TextBox 4"/>
          <p:cNvSpPr txBox="1"/>
          <p:nvPr/>
        </p:nvSpPr>
        <p:spPr>
          <a:xfrm>
            <a:off x="8778240" y="640080"/>
            <a:ext cx="2926080" cy="640080"/>
          </a:xfrm>
          <a:prstGeom prst="rect">
            <a:avLst/>
          </a:prstGeom>
          <a:noFill/>
        </p:spPr>
        <p:txBody>
          <a:bodyPr wrap="square" lIns="0" rIns="0" tIns="0" bIns="0">
            <a:spAutoFit/>
          </a:bodyPr>
          <a:lstStyle/>
          <a:p>
            <a:pPr algn="r"/>
            <a:r>
              <a:rPr sz="850" b="1" i="0">
                <a:solidFill>
                  <a:srgbClr val="757575"/>
                </a:solidFill>
                <a:latin typeface="Source Sans Pro"/>
              </a:rPr>
              <a:t>Duration</a:t>
            </a:r>
          </a:p>
          <a:p>
            <a:pPr algn="r"/>
            <a:r>
              <a:rPr sz="1000" b="0" i="0">
                <a:solidFill>
                  <a:srgbClr val="0D0D0D"/>
                </a:solidFill>
                <a:latin typeface="Source Sans Pro"/>
              </a:rPr>
              <a:t>2 to 4 days of field photography, 1 week of digital pro…</a:t>
            </a:r>
          </a:p>
        </p:txBody>
      </p:sp>
      <p:sp>
        <p:nvSpPr>
          <p:cNvPr id="6" name="Rounded Rectangle 5"/>
          <p:cNvSpPr/>
          <p:nvPr/>
        </p:nvSpPr>
        <p:spPr>
          <a:xfrm>
            <a:off x="457200" y="1417320"/>
            <a:ext cx="6400800" cy="475488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600200"/>
            <a:ext cx="5943600" cy="365760"/>
          </a:xfrm>
          <a:prstGeom prst="rect">
            <a:avLst/>
          </a:prstGeom>
          <a:noFill/>
        </p:spPr>
        <p:txBody>
          <a:bodyPr wrap="square" lIns="0" rIns="0" tIns="0" bIns="0">
            <a:spAutoFit/>
          </a:bodyPr>
          <a:lstStyle/>
          <a:p>
            <a:pPr algn="l"/>
            <a:r>
              <a:rPr sz="1300" b="0" i="1">
                <a:solidFill>
                  <a:srgbClr val="0D0D0D"/>
                </a:solidFill>
                <a:latin typeface="Palatino Linotype"/>
              </a:rPr>
              <a:t>Sky view factor heatmap</a:t>
            </a:r>
          </a:p>
        </p:txBody>
      </p:sp>
      <p:sp>
        <p:nvSpPr>
          <p:cNvPr id="8" name="Rectangle 7"/>
          <p:cNvSpPr/>
          <p:nvPr/>
        </p:nvSpPr>
        <p:spPr>
          <a:xfrm>
            <a:off x="914400" y="2194560"/>
            <a:ext cx="548640" cy="579120"/>
          </a:xfrm>
          <a:prstGeom prst="rect">
            <a:avLst/>
          </a:prstGeom>
          <a:solidFill>
            <a:srgbClr val="00ED93"/>
          </a:solidFill>
          <a:ln w="254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463040" y="2194560"/>
            <a:ext cx="548640" cy="579120"/>
          </a:xfrm>
          <a:prstGeom prst="rect">
            <a:avLst/>
          </a:prstGeom>
          <a:solidFill>
            <a:srgbClr val="FF674D"/>
          </a:solidFill>
          <a:ln w="254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011680" y="2194560"/>
            <a:ext cx="548640" cy="579120"/>
          </a:xfrm>
          <a:prstGeom prst="rect">
            <a:avLst/>
          </a:prstGeom>
          <a:solidFill>
            <a:srgbClr val="00ED93"/>
          </a:solidFill>
          <a:ln w="254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560320" y="2194560"/>
            <a:ext cx="548640" cy="579120"/>
          </a:xfrm>
          <a:prstGeom prst="rect">
            <a:avLst/>
          </a:prstGeom>
          <a:solidFill>
            <a:srgbClr val="FF674D"/>
          </a:solidFill>
          <a:ln w="254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108960" y="2194560"/>
            <a:ext cx="548640" cy="579120"/>
          </a:xfrm>
          <a:prstGeom prst="rect">
            <a:avLst/>
          </a:prstGeom>
          <a:solidFill>
            <a:srgbClr val="00ED93"/>
          </a:solidFill>
          <a:ln w="254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657600" y="2194560"/>
            <a:ext cx="548640" cy="579120"/>
          </a:xfrm>
          <a:prstGeom prst="rect">
            <a:avLst/>
          </a:prstGeom>
          <a:solidFill>
            <a:srgbClr val="FF674D"/>
          </a:solidFill>
          <a:ln w="254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06240" y="2194560"/>
            <a:ext cx="548640" cy="579120"/>
          </a:xfrm>
          <a:prstGeom prst="rect">
            <a:avLst/>
          </a:prstGeom>
          <a:solidFill>
            <a:srgbClr val="00ED93"/>
          </a:solidFill>
          <a:ln w="254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754880" y="2194560"/>
            <a:ext cx="548640" cy="579120"/>
          </a:xfrm>
          <a:prstGeom prst="rect">
            <a:avLst/>
          </a:prstGeom>
          <a:solidFill>
            <a:srgbClr val="FF674D"/>
          </a:solidFill>
          <a:ln w="254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303520" y="2194560"/>
            <a:ext cx="548640" cy="579120"/>
          </a:xfrm>
          <a:prstGeom prst="rect">
            <a:avLst/>
          </a:prstGeom>
          <a:solidFill>
            <a:srgbClr val="00ED93"/>
          </a:solidFill>
          <a:ln w="254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852160" y="2194560"/>
            <a:ext cx="548640" cy="579120"/>
          </a:xfrm>
          <a:prstGeom prst="rect">
            <a:avLst/>
          </a:prstGeom>
          <a:solidFill>
            <a:srgbClr val="FF674D"/>
          </a:solidFill>
          <a:ln w="254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914400" y="2773680"/>
            <a:ext cx="548640" cy="579120"/>
          </a:xfrm>
          <a:prstGeom prst="rect">
            <a:avLst/>
          </a:prstGeom>
          <a:solidFill>
            <a:srgbClr val="0D0D0D"/>
          </a:solidFill>
          <a:ln w="254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463040" y="2773680"/>
            <a:ext cx="548640" cy="579120"/>
          </a:xfrm>
          <a:prstGeom prst="rect">
            <a:avLst/>
          </a:prstGeom>
          <a:solidFill>
            <a:srgbClr val="FFD200"/>
          </a:solidFill>
          <a:ln w="254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011680" y="2773680"/>
            <a:ext cx="548640" cy="579120"/>
          </a:xfrm>
          <a:prstGeom prst="rect">
            <a:avLst/>
          </a:prstGeom>
          <a:solidFill>
            <a:srgbClr val="0D0D0D"/>
          </a:solidFill>
          <a:ln w="254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560320" y="2773680"/>
            <a:ext cx="548640" cy="579120"/>
          </a:xfrm>
          <a:prstGeom prst="rect">
            <a:avLst/>
          </a:prstGeom>
          <a:solidFill>
            <a:srgbClr val="FFD200"/>
          </a:solidFill>
          <a:ln w="254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108960" y="2773680"/>
            <a:ext cx="548640" cy="579120"/>
          </a:xfrm>
          <a:prstGeom prst="rect">
            <a:avLst/>
          </a:prstGeom>
          <a:solidFill>
            <a:srgbClr val="0D0D0D"/>
          </a:solidFill>
          <a:ln w="254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657600" y="2773680"/>
            <a:ext cx="548640" cy="579120"/>
          </a:xfrm>
          <a:prstGeom prst="rect">
            <a:avLst/>
          </a:prstGeom>
          <a:solidFill>
            <a:srgbClr val="FFD200"/>
          </a:solidFill>
          <a:ln w="254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206240" y="2773680"/>
            <a:ext cx="548640" cy="579120"/>
          </a:xfrm>
          <a:prstGeom prst="rect">
            <a:avLst/>
          </a:prstGeom>
          <a:solidFill>
            <a:srgbClr val="0D0D0D"/>
          </a:solidFill>
          <a:ln w="254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754880" y="2773680"/>
            <a:ext cx="548640" cy="579120"/>
          </a:xfrm>
          <a:prstGeom prst="rect">
            <a:avLst/>
          </a:prstGeom>
          <a:solidFill>
            <a:srgbClr val="FFD200"/>
          </a:solidFill>
          <a:ln w="254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303520" y="2773680"/>
            <a:ext cx="548640" cy="579120"/>
          </a:xfrm>
          <a:prstGeom prst="rect">
            <a:avLst/>
          </a:prstGeom>
          <a:solidFill>
            <a:srgbClr val="0D0D0D"/>
          </a:solidFill>
          <a:ln w="254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852160" y="2773680"/>
            <a:ext cx="548640" cy="579120"/>
          </a:xfrm>
          <a:prstGeom prst="rect">
            <a:avLst/>
          </a:prstGeom>
          <a:solidFill>
            <a:srgbClr val="FFD200"/>
          </a:solidFill>
          <a:ln w="254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14400" y="3352800"/>
            <a:ext cx="548640" cy="579120"/>
          </a:xfrm>
          <a:prstGeom prst="rect">
            <a:avLst/>
          </a:prstGeom>
          <a:solidFill>
            <a:srgbClr val="FF674D"/>
          </a:solidFill>
          <a:ln w="254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463040" y="3352800"/>
            <a:ext cx="548640" cy="579120"/>
          </a:xfrm>
          <a:prstGeom prst="rect">
            <a:avLst/>
          </a:prstGeom>
          <a:solidFill>
            <a:srgbClr val="00ED93"/>
          </a:solidFill>
          <a:ln w="254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011680" y="3352800"/>
            <a:ext cx="548640" cy="579120"/>
          </a:xfrm>
          <a:prstGeom prst="rect">
            <a:avLst/>
          </a:prstGeom>
          <a:solidFill>
            <a:srgbClr val="FF674D"/>
          </a:solidFill>
          <a:ln w="254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560320" y="3352800"/>
            <a:ext cx="548640" cy="579120"/>
          </a:xfrm>
          <a:prstGeom prst="rect">
            <a:avLst/>
          </a:prstGeom>
          <a:solidFill>
            <a:srgbClr val="00ED93"/>
          </a:solidFill>
          <a:ln w="254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08960" y="3352800"/>
            <a:ext cx="548640" cy="579120"/>
          </a:xfrm>
          <a:prstGeom prst="rect">
            <a:avLst/>
          </a:prstGeom>
          <a:solidFill>
            <a:srgbClr val="FF674D"/>
          </a:solidFill>
          <a:ln w="254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657600" y="3352800"/>
            <a:ext cx="548640" cy="579120"/>
          </a:xfrm>
          <a:prstGeom prst="rect">
            <a:avLst/>
          </a:prstGeom>
          <a:solidFill>
            <a:srgbClr val="00ED93"/>
          </a:solidFill>
          <a:ln w="254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206240" y="3352800"/>
            <a:ext cx="548640" cy="579120"/>
          </a:xfrm>
          <a:prstGeom prst="rect">
            <a:avLst/>
          </a:prstGeom>
          <a:solidFill>
            <a:srgbClr val="FF674D"/>
          </a:solidFill>
          <a:ln w="254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754880" y="3352800"/>
            <a:ext cx="548640" cy="579120"/>
          </a:xfrm>
          <a:prstGeom prst="rect">
            <a:avLst/>
          </a:prstGeom>
          <a:solidFill>
            <a:srgbClr val="00ED93"/>
          </a:solidFill>
          <a:ln w="254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303520" y="3352800"/>
            <a:ext cx="548640" cy="579120"/>
          </a:xfrm>
          <a:prstGeom prst="rect">
            <a:avLst/>
          </a:prstGeom>
          <a:solidFill>
            <a:srgbClr val="FF674D"/>
          </a:solidFill>
          <a:ln w="254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852160" y="3352800"/>
            <a:ext cx="548640" cy="579120"/>
          </a:xfrm>
          <a:prstGeom prst="rect">
            <a:avLst/>
          </a:prstGeom>
          <a:solidFill>
            <a:srgbClr val="00ED93"/>
          </a:solidFill>
          <a:ln w="254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14400" y="3931920"/>
            <a:ext cx="548640" cy="579120"/>
          </a:xfrm>
          <a:prstGeom prst="rect">
            <a:avLst/>
          </a:prstGeom>
          <a:solidFill>
            <a:srgbClr val="FFD200"/>
          </a:solidFill>
          <a:ln w="254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463040" y="3931920"/>
            <a:ext cx="548640" cy="579120"/>
          </a:xfrm>
          <a:prstGeom prst="rect">
            <a:avLst/>
          </a:prstGeom>
          <a:solidFill>
            <a:srgbClr val="0D0D0D"/>
          </a:solidFill>
          <a:ln w="254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2011680" y="3931920"/>
            <a:ext cx="548640" cy="579120"/>
          </a:xfrm>
          <a:prstGeom prst="rect">
            <a:avLst/>
          </a:prstGeom>
          <a:solidFill>
            <a:srgbClr val="FFD200"/>
          </a:solidFill>
          <a:ln w="254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2560320" y="3931920"/>
            <a:ext cx="548640" cy="579120"/>
          </a:xfrm>
          <a:prstGeom prst="rect">
            <a:avLst/>
          </a:prstGeom>
          <a:solidFill>
            <a:srgbClr val="0D0D0D"/>
          </a:solidFill>
          <a:ln w="254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3108960" y="3931920"/>
            <a:ext cx="548640" cy="579120"/>
          </a:xfrm>
          <a:prstGeom prst="rect">
            <a:avLst/>
          </a:prstGeom>
          <a:solidFill>
            <a:srgbClr val="FFD200"/>
          </a:solidFill>
          <a:ln w="254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3657600" y="3931920"/>
            <a:ext cx="548640" cy="579120"/>
          </a:xfrm>
          <a:prstGeom prst="rect">
            <a:avLst/>
          </a:prstGeom>
          <a:solidFill>
            <a:srgbClr val="0D0D0D"/>
          </a:solidFill>
          <a:ln w="254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4206240" y="3931920"/>
            <a:ext cx="548640" cy="579120"/>
          </a:xfrm>
          <a:prstGeom prst="rect">
            <a:avLst/>
          </a:prstGeom>
          <a:solidFill>
            <a:srgbClr val="FFD200"/>
          </a:solidFill>
          <a:ln w="254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4754880" y="3931920"/>
            <a:ext cx="548640" cy="579120"/>
          </a:xfrm>
          <a:prstGeom prst="rect">
            <a:avLst/>
          </a:prstGeom>
          <a:solidFill>
            <a:srgbClr val="0D0D0D"/>
          </a:solidFill>
          <a:ln w="254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5303520" y="3931920"/>
            <a:ext cx="548640" cy="579120"/>
          </a:xfrm>
          <a:prstGeom prst="rect">
            <a:avLst/>
          </a:prstGeom>
          <a:solidFill>
            <a:srgbClr val="FFD200"/>
          </a:solidFill>
          <a:ln w="254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5852160" y="3931920"/>
            <a:ext cx="548640" cy="579120"/>
          </a:xfrm>
          <a:prstGeom prst="rect">
            <a:avLst/>
          </a:prstGeom>
          <a:solidFill>
            <a:srgbClr val="0D0D0D"/>
          </a:solidFill>
          <a:ln w="254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914400" y="4511040"/>
            <a:ext cx="548640" cy="579120"/>
          </a:xfrm>
          <a:prstGeom prst="rect">
            <a:avLst/>
          </a:prstGeom>
          <a:solidFill>
            <a:srgbClr val="00ED93"/>
          </a:solidFill>
          <a:ln w="254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1463040" y="4511040"/>
            <a:ext cx="548640" cy="579120"/>
          </a:xfrm>
          <a:prstGeom prst="rect">
            <a:avLst/>
          </a:prstGeom>
          <a:solidFill>
            <a:srgbClr val="FF674D"/>
          </a:solidFill>
          <a:ln w="254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2011680" y="4511040"/>
            <a:ext cx="548640" cy="579120"/>
          </a:xfrm>
          <a:prstGeom prst="rect">
            <a:avLst/>
          </a:prstGeom>
          <a:solidFill>
            <a:srgbClr val="00ED93"/>
          </a:solidFill>
          <a:ln w="254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2560320" y="4511040"/>
            <a:ext cx="548640" cy="579120"/>
          </a:xfrm>
          <a:prstGeom prst="rect">
            <a:avLst/>
          </a:prstGeom>
          <a:solidFill>
            <a:srgbClr val="FF674D"/>
          </a:solidFill>
          <a:ln w="254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3108960" y="4511040"/>
            <a:ext cx="548640" cy="579120"/>
          </a:xfrm>
          <a:prstGeom prst="rect">
            <a:avLst/>
          </a:prstGeom>
          <a:solidFill>
            <a:srgbClr val="00ED93"/>
          </a:solidFill>
          <a:ln w="254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3657600" y="4511040"/>
            <a:ext cx="548640" cy="579120"/>
          </a:xfrm>
          <a:prstGeom prst="rect">
            <a:avLst/>
          </a:prstGeom>
          <a:solidFill>
            <a:srgbClr val="FF674D"/>
          </a:solidFill>
          <a:ln w="254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4206240" y="4511040"/>
            <a:ext cx="548640" cy="579120"/>
          </a:xfrm>
          <a:prstGeom prst="rect">
            <a:avLst/>
          </a:prstGeom>
          <a:solidFill>
            <a:srgbClr val="00ED93"/>
          </a:solidFill>
          <a:ln w="254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4754880" y="4511040"/>
            <a:ext cx="548640" cy="579120"/>
          </a:xfrm>
          <a:prstGeom prst="rect">
            <a:avLst/>
          </a:prstGeom>
          <a:solidFill>
            <a:srgbClr val="FF674D"/>
          </a:solidFill>
          <a:ln w="254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5303520" y="4511040"/>
            <a:ext cx="548640" cy="579120"/>
          </a:xfrm>
          <a:prstGeom prst="rect">
            <a:avLst/>
          </a:prstGeom>
          <a:solidFill>
            <a:srgbClr val="00ED93"/>
          </a:solidFill>
          <a:ln w="254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5852160" y="4511040"/>
            <a:ext cx="548640" cy="579120"/>
          </a:xfrm>
          <a:prstGeom prst="rect">
            <a:avLst/>
          </a:prstGeom>
          <a:solidFill>
            <a:srgbClr val="FF674D"/>
          </a:solidFill>
          <a:ln w="254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914400" y="5090160"/>
            <a:ext cx="548640" cy="579120"/>
          </a:xfrm>
          <a:prstGeom prst="rect">
            <a:avLst/>
          </a:prstGeom>
          <a:solidFill>
            <a:srgbClr val="0D0D0D"/>
          </a:solidFill>
          <a:ln w="254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1463040" y="5090160"/>
            <a:ext cx="548640" cy="579120"/>
          </a:xfrm>
          <a:prstGeom prst="rect">
            <a:avLst/>
          </a:prstGeom>
          <a:solidFill>
            <a:srgbClr val="FFD200"/>
          </a:solidFill>
          <a:ln w="254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2011680" y="5090160"/>
            <a:ext cx="548640" cy="579120"/>
          </a:xfrm>
          <a:prstGeom prst="rect">
            <a:avLst/>
          </a:prstGeom>
          <a:solidFill>
            <a:srgbClr val="0D0D0D"/>
          </a:solidFill>
          <a:ln w="254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2560320" y="5090160"/>
            <a:ext cx="548640" cy="579120"/>
          </a:xfrm>
          <a:prstGeom prst="rect">
            <a:avLst/>
          </a:prstGeom>
          <a:solidFill>
            <a:srgbClr val="FFD200"/>
          </a:solidFill>
          <a:ln w="254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3108960" y="5090160"/>
            <a:ext cx="548640" cy="579120"/>
          </a:xfrm>
          <a:prstGeom prst="rect">
            <a:avLst/>
          </a:prstGeom>
          <a:solidFill>
            <a:srgbClr val="0D0D0D"/>
          </a:solidFill>
          <a:ln w="254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3657600" y="5090160"/>
            <a:ext cx="548640" cy="579120"/>
          </a:xfrm>
          <a:prstGeom prst="rect">
            <a:avLst/>
          </a:prstGeom>
          <a:solidFill>
            <a:srgbClr val="FFD200"/>
          </a:solidFill>
          <a:ln w="254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4206240" y="5090160"/>
            <a:ext cx="548640" cy="579120"/>
          </a:xfrm>
          <a:prstGeom prst="rect">
            <a:avLst/>
          </a:prstGeom>
          <a:solidFill>
            <a:srgbClr val="0D0D0D"/>
          </a:solidFill>
          <a:ln w="254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4754880" y="5090160"/>
            <a:ext cx="548640" cy="579120"/>
          </a:xfrm>
          <a:prstGeom prst="rect">
            <a:avLst/>
          </a:prstGeom>
          <a:solidFill>
            <a:srgbClr val="FFD200"/>
          </a:solidFill>
          <a:ln w="254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5303520" y="5090160"/>
            <a:ext cx="548640" cy="579120"/>
          </a:xfrm>
          <a:prstGeom prst="rect">
            <a:avLst/>
          </a:prstGeom>
          <a:solidFill>
            <a:srgbClr val="0D0D0D"/>
          </a:solidFill>
          <a:ln w="254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5852160" y="5090160"/>
            <a:ext cx="548640" cy="579120"/>
          </a:xfrm>
          <a:prstGeom prst="rect">
            <a:avLst/>
          </a:prstGeom>
          <a:solidFill>
            <a:srgbClr val="FFD200"/>
          </a:solidFill>
          <a:ln w="254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ounded Rectangle 67"/>
          <p:cNvSpPr/>
          <p:nvPr/>
        </p:nvSpPr>
        <p:spPr>
          <a:xfrm>
            <a:off x="7086600" y="1417320"/>
            <a:ext cx="4648200" cy="475488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7269480" y="1600200"/>
            <a:ext cx="4282440" cy="365760"/>
          </a:xfrm>
          <a:prstGeom prst="rect">
            <a:avLst/>
          </a:prstGeom>
          <a:noFill/>
        </p:spPr>
        <p:txBody>
          <a:bodyPr wrap="square" lIns="0" rIns="0" tIns="0" bIns="0">
            <a:spAutoFit/>
          </a:bodyPr>
          <a:lstStyle/>
          <a:p>
            <a:pPr algn="l"/>
            <a:r>
              <a:rPr sz="1300" b="0" i="1">
                <a:solidFill>
                  <a:srgbClr val="0D0D0D"/>
                </a:solidFill>
                <a:latin typeface="Palatino Linotype"/>
              </a:rPr>
              <a:t>Comfort drivers</a:t>
            </a:r>
          </a:p>
        </p:txBody>
      </p:sp>
      <p:sp>
        <p:nvSpPr>
          <p:cNvPr id="70" name="Rounded Rectangle 69"/>
          <p:cNvSpPr/>
          <p:nvPr/>
        </p:nvSpPr>
        <p:spPr>
          <a:xfrm>
            <a:off x="7269480" y="2194560"/>
            <a:ext cx="4282440" cy="329184"/>
          </a:xfrm>
          <a:prstGeom prst="roundRect">
            <a:avLst>
              <a:gd name="adj" fmla="val 50000"/>
            </a:avLst>
          </a:prstGeom>
          <a:solidFill>
            <a:srgbClr val="B0DAF1"/>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50">
                <a:solidFill>
                  <a:srgbClr val="0D0D0D"/>
                </a:solidFill>
                <a:latin typeface="Source Sans Pro"/>
              </a:rPr>
              <a:t>Air temperature</a:t>
            </a:r>
          </a:p>
        </p:txBody>
      </p:sp>
      <p:sp>
        <p:nvSpPr>
          <p:cNvPr id="71" name="Rounded Rectangle 70"/>
          <p:cNvSpPr/>
          <p:nvPr/>
        </p:nvSpPr>
        <p:spPr>
          <a:xfrm>
            <a:off x="7269480" y="2743200"/>
            <a:ext cx="4282440" cy="329184"/>
          </a:xfrm>
          <a:prstGeom prst="roundRect">
            <a:avLst>
              <a:gd name="adj" fmla="val 50000"/>
            </a:avLst>
          </a:prstGeom>
          <a:solidFill>
            <a:srgbClr val="B0DAF1"/>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50">
                <a:solidFill>
                  <a:srgbClr val="0D0D0D"/>
                </a:solidFill>
                <a:latin typeface="Source Sans Pro"/>
              </a:rPr>
              <a:t>Humidity</a:t>
            </a:r>
          </a:p>
        </p:txBody>
      </p:sp>
      <p:sp>
        <p:nvSpPr>
          <p:cNvPr id="72" name="Rounded Rectangle 71"/>
          <p:cNvSpPr/>
          <p:nvPr/>
        </p:nvSpPr>
        <p:spPr>
          <a:xfrm>
            <a:off x="7269480" y="3291840"/>
            <a:ext cx="4282440" cy="329184"/>
          </a:xfrm>
          <a:prstGeom prst="roundRect">
            <a:avLst>
              <a:gd name="adj" fmla="val 50000"/>
            </a:avLst>
          </a:prstGeom>
          <a:solidFill>
            <a:srgbClr val="B0DAF1"/>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50">
                <a:solidFill>
                  <a:srgbClr val="0D0D0D"/>
                </a:solidFill>
                <a:latin typeface="Source Sans Pro"/>
              </a:rPr>
              <a:t>Wind speed</a:t>
            </a:r>
          </a:p>
        </p:txBody>
      </p:sp>
      <p:sp>
        <p:nvSpPr>
          <p:cNvPr id="73" name="Rounded Rectangle 72"/>
          <p:cNvSpPr/>
          <p:nvPr/>
        </p:nvSpPr>
        <p:spPr>
          <a:xfrm>
            <a:off x="7269480" y="3840480"/>
            <a:ext cx="4282440" cy="329184"/>
          </a:xfrm>
          <a:prstGeom prst="roundRect">
            <a:avLst>
              <a:gd name="adj" fmla="val 50000"/>
            </a:avLst>
          </a:prstGeom>
          <a:solidFill>
            <a:srgbClr val="B0DAF1"/>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50">
                <a:solidFill>
                  <a:srgbClr val="0D0D0D"/>
                </a:solidFill>
                <a:latin typeface="Source Sans Pro"/>
              </a:rPr>
              <a:t>Solar radiation</a:t>
            </a:r>
          </a:p>
        </p:txBody>
      </p:sp>
      <p:sp>
        <p:nvSpPr>
          <p:cNvPr id="74" name="Rounded Rectangle 73"/>
          <p:cNvSpPr/>
          <p:nvPr/>
        </p:nvSpPr>
        <p:spPr>
          <a:xfrm>
            <a:off x="7269480" y="4389120"/>
            <a:ext cx="4282440" cy="329184"/>
          </a:xfrm>
          <a:prstGeom prst="roundRect">
            <a:avLst>
              <a:gd name="adj" fmla="val 50000"/>
            </a:avLst>
          </a:prstGeom>
          <a:solidFill>
            <a:srgbClr val="B0DAF1"/>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50">
                <a:solidFill>
                  <a:srgbClr val="0D0D0D"/>
                </a:solidFill>
                <a:latin typeface="Source Sans Pro"/>
              </a:rPr>
              <a:t>Surface materials</a:t>
            </a:r>
          </a:p>
        </p:txBody>
      </p:sp>
      <p:sp>
        <p:nvSpPr>
          <p:cNvPr id="75" name="Rounded Rectangle 74"/>
          <p:cNvSpPr/>
          <p:nvPr/>
        </p:nvSpPr>
        <p:spPr>
          <a:xfrm>
            <a:off x="7269480" y="4937760"/>
            <a:ext cx="4282440" cy="329184"/>
          </a:xfrm>
          <a:prstGeom prst="roundRect">
            <a:avLst>
              <a:gd name="adj" fmla="val 50000"/>
            </a:avLst>
          </a:prstGeom>
          <a:solidFill>
            <a:srgbClr val="B0DAF1"/>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50">
                <a:solidFill>
                  <a:srgbClr val="0D0D0D"/>
                </a:solidFill>
                <a:latin typeface="Source Sans Pro"/>
              </a:rPr>
              <a:t>Vegetation cover</a:t>
            </a:r>
          </a:p>
        </p:txBody>
      </p:sp>
      <p:pic>
        <p:nvPicPr>
          <p:cNvPr id="76" name="Picture 75"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77" name="TextBox 76"/>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0" rIns="0" tIns="0" bIns="0">
            <a:spAutoFit/>
          </a:bodyPr>
          <a:lstStyle/>
          <a:p>
            <a:pPr algn="l"/>
            <a:r>
              <a:rPr sz="1000" b="1" i="0">
                <a:solidFill>
                  <a:srgbClr val="757575"/>
                </a:solidFill>
                <a:latin typeface="Source Sans Pro"/>
              </a:rPr>
              <a:t>TOOL 65  ·  HARVEST</a:t>
            </a:r>
          </a:p>
        </p:txBody>
      </p:sp>
      <p:sp>
        <p:nvSpPr>
          <p:cNvPr id="4" name="TextBox 3"/>
          <p:cNvSpPr txBox="1"/>
          <p:nvPr/>
        </p:nvSpPr>
        <p:spPr>
          <a:xfrm>
            <a:off x="457200" y="594360"/>
            <a:ext cx="10515600" cy="640080"/>
          </a:xfrm>
          <a:prstGeom prst="rect">
            <a:avLst/>
          </a:prstGeom>
          <a:noFill/>
        </p:spPr>
        <p:txBody>
          <a:bodyPr wrap="square" lIns="0" rIns="0" tIns="0" bIns="0">
            <a:spAutoFit/>
          </a:bodyPr>
          <a:lstStyle/>
          <a:p>
            <a:pPr algn="l"/>
            <a:r>
              <a:rPr sz="2800" b="0" i="0">
                <a:solidFill>
                  <a:srgbClr val="0D0D0D"/>
                </a:solidFill>
                <a:latin typeface="Palatino Linotype"/>
              </a:rPr>
              <a:t>Harvesting our  </a:t>
            </a:r>
            <a:r>
              <a:rPr sz="2800" b="0" i="1">
                <a:solidFill>
                  <a:srgbClr val="0D0D0D"/>
                </a:solidFill>
                <a:latin typeface="Palatino Linotype"/>
              </a:rPr>
              <a:t>learnings</a:t>
            </a:r>
          </a:p>
        </p:txBody>
      </p:sp>
      <p:sp>
        <p:nvSpPr>
          <p:cNvPr id="5" name="TextBox 4"/>
          <p:cNvSpPr txBox="1"/>
          <p:nvPr/>
        </p:nvSpPr>
        <p:spPr>
          <a:xfrm>
            <a:off x="457200" y="1234440"/>
            <a:ext cx="10515600" cy="365760"/>
          </a:xfrm>
          <a:prstGeom prst="rect">
            <a:avLst/>
          </a:prstGeom>
          <a:noFill/>
        </p:spPr>
        <p:txBody>
          <a:bodyPr wrap="square" lIns="0" rIns="0" tIns="0" bIns="0">
            <a:spAutoFit/>
          </a:bodyPr>
          <a:lstStyle/>
          <a:p>
            <a:pPr algn="l"/>
            <a:r>
              <a:rPr sz="1300" b="0" i="1">
                <a:solidFill>
                  <a:srgbClr val="757575"/>
                </a:solidFill>
                <a:latin typeface="Palatino Linotype"/>
              </a:rPr>
              <a:t>After running the canvas, capture three layers of insight.</a:t>
            </a:r>
          </a:p>
        </p:txBody>
      </p:sp>
      <p:sp>
        <p:nvSpPr>
          <p:cNvPr id="6" name="Rounded Rectangle 5"/>
          <p:cNvSpPr/>
          <p:nvPr/>
        </p:nvSpPr>
        <p:spPr>
          <a:xfrm>
            <a:off x="4572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Stand-out signals, surprising stories, ideas to remember</a:t>
            </a:r>
          </a:p>
        </p:txBody>
      </p:sp>
      <p:cxnSp>
        <p:nvCxnSpPr>
          <p:cNvPr id="8" name="Connector 7"/>
          <p:cNvCxnSpPr/>
          <p:nvPr/>
        </p:nvCxnSpPr>
        <p:spPr>
          <a:xfrm>
            <a:off x="7772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772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772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772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772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772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772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2926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126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Concrete adaptations to our context, our team, our constraints</a:t>
            </a:r>
          </a:p>
        </p:txBody>
      </p:sp>
      <p:cxnSp>
        <p:nvCxnSpPr>
          <p:cNvPr id="17" name="Connector 16"/>
          <p:cNvCxnSpPr/>
          <p:nvPr/>
        </p:nvCxnSpPr>
        <p:spPr>
          <a:xfrm>
            <a:off x="46126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46126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46126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46126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6126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46126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46126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81280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480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Skills, allies, resources, decisions still to secure</a:t>
            </a:r>
          </a:p>
        </p:txBody>
      </p:sp>
      <p:cxnSp>
        <p:nvCxnSpPr>
          <p:cNvPr id="26" name="Connector 25"/>
          <p:cNvCxnSpPr/>
          <p:nvPr/>
        </p:nvCxnSpPr>
        <p:spPr>
          <a:xfrm>
            <a:off x="84480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4480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84480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84480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84480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84480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84480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1035304" y="1801368"/>
            <a:ext cx="2450592" cy="420624"/>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What inspires me</a:t>
            </a:r>
          </a:p>
        </p:txBody>
      </p:sp>
      <p:sp>
        <p:nvSpPr>
          <p:cNvPr id="34" name="Rounded Rectangle 33"/>
          <p:cNvSpPr/>
          <p:nvPr/>
        </p:nvSpPr>
        <p:spPr>
          <a:xfrm>
            <a:off x="4632960" y="1801368"/>
            <a:ext cx="2926080" cy="420624"/>
          </a:xfrm>
          <a:prstGeom prst="roundRect">
            <a:avLst>
              <a:gd name="adj" fmla="val 50000"/>
            </a:avLst>
          </a:prstGeom>
          <a:solidFill>
            <a:srgbClr val="FF674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How to apply it here</a:t>
            </a:r>
          </a:p>
        </p:txBody>
      </p:sp>
      <p:sp>
        <p:nvSpPr>
          <p:cNvPr id="35" name="Rounded Rectangle 34"/>
          <p:cNvSpPr/>
          <p:nvPr/>
        </p:nvSpPr>
        <p:spPr>
          <a:xfrm>
            <a:off x="8102600" y="1801368"/>
            <a:ext cx="3657600" cy="420624"/>
          </a:xfrm>
          <a:prstGeom prst="roundRect">
            <a:avLst>
              <a:gd name="adj" fmla="val 50000"/>
            </a:avLst>
          </a:prstGeom>
          <a:solidFill>
            <a:srgbClr val="00ED93"/>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What we need to be autonomous</a:t>
            </a:r>
          </a:p>
        </p:txBody>
      </p:sp>
      <p:sp>
        <p:nvSpPr>
          <p:cNvPr id="36" name="TextBox 35"/>
          <p:cNvSpPr txBox="1"/>
          <p:nvPr/>
        </p:nvSpPr>
        <p:spPr>
          <a:xfrm>
            <a:off x="457200" y="6263640"/>
            <a:ext cx="11277600" cy="274320"/>
          </a:xfrm>
          <a:prstGeom prst="rect">
            <a:avLst/>
          </a:prstGeom>
          <a:noFill/>
        </p:spPr>
        <p:txBody>
          <a:bodyPr wrap="square" lIns="0" rIns="0" tIns="0" bIns="0">
            <a:spAutoFit/>
          </a:bodyPr>
          <a:lstStyle/>
          <a:p>
            <a:pPr algn="ctr"/>
            <a:r>
              <a:rPr sz="1000" b="0" i="1">
                <a:solidFill>
                  <a:srgbClr val="757575"/>
                </a:solidFill>
                <a:latin typeface="Palatino Linotype"/>
              </a:rPr>
              <a:t>Each participant fills a copy. Then debrief together to surface patterns and next steps.</a:t>
            </a:r>
          </a:p>
        </p:txBody>
      </p:sp>
      <p:pic>
        <p:nvPicPr>
          <p:cNvPr id="37" name="Picture 36"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38" name="TextBox 37"/>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